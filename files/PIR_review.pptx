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276" r:id="rId3"/>
    <p:sldId id="330" r:id="rId4"/>
    <p:sldId id="331" r:id="rId5"/>
    <p:sldId id="308" r:id="rId6"/>
    <p:sldId id="300" r:id="rId7"/>
    <p:sldId id="298" r:id="rId8"/>
    <p:sldId id="269" r:id="rId9"/>
    <p:sldId id="299" r:id="rId10"/>
    <p:sldId id="301" r:id="rId11"/>
    <p:sldId id="302" r:id="rId12"/>
    <p:sldId id="357" r:id="rId13"/>
    <p:sldId id="355" r:id="rId14"/>
    <p:sldId id="332" r:id="rId15"/>
    <p:sldId id="339" r:id="rId16"/>
    <p:sldId id="329" r:id="rId17"/>
    <p:sldId id="336" r:id="rId18"/>
    <p:sldId id="337" r:id="rId19"/>
    <p:sldId id="333" r:id="rId20"/>
    <p:sldId id="353" r:id="rId21"/>
    <p:sldId id="340" r:id="rId22"/>
    <p:sldId id="346" r:id="rId23"/>
    <p:sldId id="344" r:id="rId24"/>
    <p:sldId id="345" r:id="rId25"/>
    <p:sldId id="349" r:id="rId26"/>
    <p:sldId id="350" r:id="rId27"/>
    <p:sldId id="352" r:id="rId28"/>
    <p:sldId id="341" r:id="rId29"/>
    <p:sldId id="347" r:id="rId30"/>
    <p:sldId id="338" r:id="rId31"/>
    <p:sldId id="356" r:id="rId32"/>
    <p:sldId id="342" r:id="rId33"/>
    <p:sldId id="358" r:id="rId34"/>
    <p:sldId id="361" r:id="rId35"/>
    <p:sldId id="374" r:id="rId36"/>
    <p:sldId id="362" r:id="rId37"/>
    <p:sldId id="373" r:id="rId38"/>
    <p:sldId id="375" r:id="rId39"/>
    <p:sldId id="380" r:id="rId40"/>
    <p:sldId id="267" r:id="rId41"/>
    <p:sldId id="385" r:id="rId42"/>
    <p:sldId id="257" r:id="rId43"/>
    <p:sldId id="258" r:id="rId44"/>
    <p:sldId id="259" r:id="rId45"/>
    <p:sldId id="268" r:id="rId46"/>
    <p:sldId id="386" r:id="rId47"/>
    <p:sldId id="270" r:id="rId48"/>
    <p:sldId id="260" r:id="rId49"/>
    <p:sldId id="390" r:id="rId50"/>
    <p:sldId id="266" r:id="rId51"/>
    <p:sldId id="391" r:id="rId52"/>
    <p:sldId id="271" r:id="rId53"/>
    <p:sldId id="272" r:id="rId54"/>
    <p:sldId id="273" r:id="rId55"/>
    <p:sldId id="264" r:id="rId56"/>
    <p:sldId id="377" r:id="rId57"/>
    <p:sldId id="393" r:id="rId58"/>
    <p:sldId id="392" r:id="rId59"/>
    <p:sldId id="370" r:id="rId60"/>
    <p:sldId id="360" r:id="rId61"/>
    <p:sldId id="365" r:id="rId62"/>
    <p:sldId id="366" r:id="rId63"/>
    <p:sldId id="387" r:id="rId64"/>
    <p:sldId id="367"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inkpad" initials="T" lastIdx="1" clrIdx="0">
    <p:extLst>
      <p:ext uri="{19B8F6BF-5375-455C-9EA6-DF929625EA0E}">
        <p15:presenceInfo xmlns:p15="http://schemas.microsoft.com/office/powerpoint/2012/main" userId="Thinkpa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54" autoAdjust="0"/>
    <p:restoredTop sz="81786" autoAdjust="0"/>
  </p:normalViewPr>
  <p:slideViewPr>
    <p:cSldViewPr snapToGrid="0">
      <p:cViewPr>
        <p:scale>
          <a:sx n="100" d="100"/>
          <a:sy n="100" d="100"/>
        </p:scale>
        <p:origin x="10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23DFB0-2DDB-44C3-97FA-2B5D4C08F131}" type="datetimeFigureOut">
              <a:rPr lang="en-US" smtClean="0"/>
              <a:t>5/28/2026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F0CBD4-9D5C-44A4-B11F-F79AF78C86E0}" type="slidenum">
              <a:rPr lang="en-US" smtClean="0"/>
              <a:t>‹#›</a:t>
            </a:fld>
            <a:endParaRPr lang="en-US"/>
          </a:p>
        </p:txBody>
      </p:sp>
    </p:spTree>
    <p:extLst>
      <p:ext uri="{BB962C8B-B14F-4D97-AF65-F5344CB8AC3E}">
        <p14:creationId xmlns:p14="http://schemas.microsoft.com/office/powerpoint/2010/main" val="378173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a:t>
            </a:fld>
            <a:endParaRPr lang="en-US"/>
          </a:p>
        </p:txBody>
      </p:sp>
    </p:spTree>
    <p:extLst>
      <p:ext uri="{BB962C8B-B14F-4D97-AF65-F5344CB8AC3E}">
        <p14:creationId xmlns:p14="http://schemas.microsoft.com/office/powerpoint/2010/main" val="3351396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a:t>
            </a:fld>
            <a:endParaRPr lang="en-US"/>
          </a:p>
        </p:txBody>
      </p:sp>
    </p:spTree>
    <p:extLst>
      <p:ext uri="{BB962C8B-B14F-4D97-AF65-F5344CB8AC3E}">
        <p14:creationId xmlns:p14="http://schemas.microsoft.com/office/powerpoint/2010/main" val="2619763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a:t>
            </a:fld>
            <a:endParaRPr lang="en-US"/>
          </a:p>
        </p:txBody>
      </p:sp>
    </p:spTree>
    <p:extLst>
      <p:ext uri="{BB962C8B-B14F-4D97-AF65-F5344CB8AC3E}">
        <p14:creationId xmlns:p14="http://schemas.microsoft.com/office/powerpoint/2010/main" val="2574182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4</a:t>
            </a:fld>
            <a:endParaRPr lang="en-US"/>
          </a:p>
        </p:txBody>
      </p:sp>
    </p:spTree>
    <p:extLst>
      <p:ext uri="{BB962C8B-B14F-4D97-AF65-F5344CB8AC3E}">
        <p14:creationId xmlns:p14="http://schemas.microsoft.com/office/powerpoint/2010/main" val="4037134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6</a:t>
            </a:fld>
            <a:endParaRPr lang="en-US"/>
          </a:p>
        </p:txBody>
      </p:sp>
    </p:spTree>
    <p:extLst>
      <p:ext uri="{BB962C8B-B14F-4D97-AF65-F5344CB8AC3E}">
        <p14:creationId xmlns:p14="http://schemas.microsoft.com/office/powerpoint/2010/main" val="132158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7</a:t>
            </a:fld>
            <a:endParaRPr lang="en-US"/>
          </a:p>
        </p:txBody>
      </p:sp>
    </p:spTree>
    <p:extLst>
      <p:ext uri="{BB962C8B-B14F-4D97-AF65-F5344CB8AC3E}">
        <p14:creationId xmlns:p14="http://schemas.microsoft.com/office/powerpoint/2010/main" val="1044868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8</a:t>
            </a:fld>
            <a:endParaRPr lang="en-US"/>
          </a:p>
        </p:txBody>
      </p:sp>
    </p:spTree>
    <p:extLst>
      <p:ext uri="{BB962C8B-B14F-4D97-AF65-F5344CB8AC3E}">
        <p14:creationId xmlns:p14="http://schemas.microsoft.com/office/powerpoint/2010/main" val="1322139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9</a:t>
            </a:fld>
            <a:endParaRPr lang="en-US"/>
          </a:p>
        </p:txBody>
      </p:sp>
    </p:spTree>
    <p:extLst>
      <p:ext uri="{BB962C8B-B14F-4D97-AF65-F5344CB8AC3E}">
        <p14:creationId xmlns:p14="http://schemas.microsoft.com/office/powerpoint/2010/main" val="2242083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10</a:t>
            </a:fld>
            <a:endParaRPr lang="en-US"/>
          </a:p>
        </p:txBody>
      </p:sp>
    </p:spTree>
    <p:extLst>
      <p:ext uri="{BB962C8B-B14F-4D97-AF65-F5344CB8AC3E}">
        <p14:creationId xmlns:p14="http://schemas.microsoft.com/office/powerpoint/2010/main" val="823331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11</a:t>
            </a:fld>
            <a:endParaRPr lang="en-US"/>
          </a:p>
        </p:txBody>
      </p:sp>
    </p:spTree>
    <p:extLst>
      <p:ext uri="{BB962C8B-B14F-4D97-AF65-F5344CB8AC3E}">
        <p14:creationId xmlns:p14="http://schemas.microsoft.com/office/powerpoint/2010/main" val="1690069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12</a:t>
            </a:fld>
            <a:endParaRPr lang="en-US"/>
          </a:p>
        </p:txBody>
      </p:sp>
    </p:spTree>
    <p:extLst>
      <p:ext uri="{BB962C8B-B14F-4D97-AF65-F5344CB8AC3E}">
        <p14:creationId xmlns:p14="http://schemas.microsoft.com/office/powerpoint/2010/main" val="1747341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13</a:t>
            </a:fld>
            <a:endParaRPr lang="en-US"/>
          </a:p>
        </p:txBody>
      </p:sp>
    </p:spTree>
    <p:extLst>
      <p:ext uri="{BB962C8B-B14F-4D97-AF65-F5344CB8AC3E}">
        <p14:creationId xmlns:p14="http://schemas.microsoft.com/office/powerpoint/2010/main" val="3467520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14</a:t>
            </a:fld>
            <a:endParaRPr lang="en-US"/>
          </a:p>
        </p:txBody>
      </p:sp>
    </p:spTree>
    <p:extLst>
      <p:ext uri="{BB962C8B-B14F-4D97-AF65-F5344CB8AC3E}">
        <p14:creationId xmlns:p14="http://schemas.microsoft.com/office/powerpoint/2010/main" val="515614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15</a:t>
            </a:fld>
            <a:endParaRPr lang="en-US"/>
          </a:p>
        </p:txBody>
      </p:sp>
    </p:spTree>
    <p:extLst>
      <p:ext uri="{BB962C8B-B14F-4D97-AF65-F5344CB8AC3E}">
        <p14:creationId xmlns:p14="http://schemas.microsoft.com/office/powerpoint/2010/main" val="1676103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16</a:t>
            </a:fld>
            <a:endParaRPr lang="en-US"/>
          </a:p>
        </p:txBody>
      </p:sp>
    </p:spTree>
    <p:extLst>
      <p:ext uri="{BB962C8B-B14F-4D97-AF65-F5344CB8AC3E}">
        <p14:creationId xmlns:p14="http://schemas.microsoft.com/office/powerpoint/2010/main" val="4110362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17</a:t>
            </a:fld>
            <a:endParaRPr lang="en-US"/>
          </a:p>
        </p:txBody>
      </p:sp>
    </p:spTree>
    <p:extLst>
      <p:ext uri="{BB962C8B-B14F-4D97-AF65-F5344CB8AC3E}">
        <p14:creationId xmlns:p14="http://schemas.microsoft.com/office/powerpoint/2010/main" val="3437092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18</a:t>
            </a:fld>
            <a:endParaRPr lang="en-US"/>
          </a:p>
        </p:txBody>
      </p:sp>
    </p:spTree>
    <p:extLst>
      <p:ext uri="{BB962C8B-B14F-4D97-AF65-F5344CB8AC3E}">
        <p14:creationId xmlns:p14="http://schemas.microsoft.com/office/powerpoint/2010/main" val="22444253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19</a:t>
            </a:fld>
            <a:endParaRPr lang="en-US"/>
          </a:p>
        </p:txBody>
      </p:sp>
    </p:spTree>
    <p:extLst>
      <p:ext uri="{BB962C8B-B14F-4D97-AF65-F5344CB8AC3E}">
        <p14:creationId xmlns:p14="http://schemas.microsoft.com/office/powerpoint/2010/main" val="25222685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20</a:t>
            </a:fld>
            <a:endParaRPr lang="en-US"/>
          </a:p>
        </p:txBody>
      </p:sp>
    </p:spTree>
    <p:extLst>
      <p:ext uri="{BB962C8B-B14F-4D97-AF65-F5344CB8AC3E}">
        <p14:creationId xmlns:p14="http://schemas.microsoft.com/office/powerpoint/2010/main" val="3588060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21</a:t>
            </a:fld>
            <a:endParaRPr lang="en-US"/>
          </a:p>
        </p:txBody>
      </p:sp>
    </p:spTree>
    <p:extLst>
      <p:ext uri="{BB962C8B-B14F-4D97-AF65-F5344CB8AC3E}">
        <p14:creationId xmlns:p14="http://schemas.microsoft.com/office/powerpoint/2010/main" val="29864918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22</a:t>
            </a:fld>
            <a:endParaRPr lang="en-US"/>
          </a:p>
        </p:txBody>
      </p:sp>
    </p:spTree>
    <p:extLst>
      <p:ext uri="{BB962C8B-B14F-4D97-AF65-F5344CB8AC3E}">
        <p14:creationId xmlns:p14="http://schemas.microsoft.com/office/powerpoint/2010/main" val="336425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23</a:t>
            </a:fld>
            <a:endParaRPr lang="en-US"/>
          </a:p>
        </p:txBody>
      </p:sp>
    </p:spTree>
    <p:extLst>
      <p:ext uri="{BB962C8B-B14F-4D97-AF65-F5344CB8AC3E}">
        <p14:creationId xmlns:p14="http://schemas.microsoft.com/office/powerpoint/2010/main" val="22300263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24</a:t>
            </a:fld>
            <a:endParaRPr lang="en-US"/>
          </a:p>
        </p:txBody>
      </p:sp>
    </p:spTree>
    <p:extLst>
      <p:ext uri="{BB962C8B-B14F-4D97-AF65-F5344CB8AC3E}">
        <p14:creationId xmlns:p14="http://schemas.microsoft.com/office/powerpoint/2010/main" val="2367172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25</a:t>
            </a:fld>
            <a:endParaRPr lang="en-US"/>
          </a:p>
        </p:txBody>
      </p:sp>
    </p:spTree>
    <p:extLst>
      <p:ext uri="{BB962C8B-B14F-4D97-AF65-F5344CB8AC3E}">
        <p14:creationId xmlns:p14="http://schemas.microsoft.com/office/powerpoint/2010/main" val="37804104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26</a:t>
            </a:fld>
            <a:endParaRPr lang="en-US"/>
          </a:p>
        </p:txBody>
      </p:sp>
    </p:spTree>
    <p:extLst>
      <p:ext uri="{BB962C8B-B14F-4D97-AF65-F5344CB8AC3E}">
        <p14:creationId xmlns:p14="http://schemas.microsoft.com/office/powerpoint/2010/main" val="6306348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27</a:t>
            </a:fld>
            <a:endParaRPr lang="en-US"/>
          </a:p>
        </p:txBody>
      </p:sp>
    </p:spTree>
    <p:extLst>
      <p:ext uri="{BB962C8B-B14F-4D97-AF65-F5344CB8AC3E}">
        <p14:creationId xmlns:p14="http://schemas.microsoft.com/office/powerpoint/2010/main" val="18904785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28</a:t>
            </a:fld>
            <a:endParaRPr lang="en-US"/>
          </a:p>
        </p:txBody>
      </p:sp>
    </p:spTree>
    <p:extLst>
      <p:ext uri="{BB962C8B-B14F-4D97-AF65-F5344CB8AC3E}">
        <p14:creationId xmlns:p14="http://schemas.microsoft.com/office/powerpoint/2010/main" val="39885168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29</a:t>
            </a:fld>
            <a:endParaRPr lang="en-US"/>
          </a:p>
        </p:txBody>
      </p:sp>
    </p:spTree>
    <p:extLst>
      <p:ext uri="{BB962C8B-B14F-4D97-AF65-F5344CB8AC3E}">
        <p14:creationId xmlns:p14="http://schemas.microsoft.com/office/powerpoint/2010/main" val="28794818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30</a:t>
            </a:fld>
            <a:endParaRPr lang="en-US"/>
          </a:p>
        </p:txBody>
      </p:sp>
    </p:spTree>
    <p:extLst>
      <p:ext uri="{BB962C8B-B14F-4D97-AF65-F5344CB8AC3E}">
        <p14:creationId xmlns:p14="http://schemas.microsoft.com/office/powerpoint/2010/main" val="21500920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31</a:t>
            </a:fld>
            <a:endParaRPr lang="en-US"/>
          </a:p>
        </p:txBody>
      </p:sp>
    </p:spTree>
    <p:extLst>
      <p:ext uri="{BB962C8B-B14F-4D97-AF65-F5344CB8AC3E}">
        <p14:creationId xmlns:p14="http://schemas.microsoft.com/office/powerpoint/2010/main" val="26669589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32</a:t>
            </a:fld>
            <a:endParaRPr lang="en-US"/>
          </a:p>
        </p:txBody>
      </p:sp>
    </p:spTree>
    <p:extLst>
      <p:ext uri="{BB962C8B-B14F-4D97-AF65-F5344CB8AC3E}">
        <p14:creationId xmlns:p14="http://schemas.microsoft.com/office/powerpoint/2010/main" val="3906529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33</a:t>
            </a:fld>
            <a:endParaRPr lang="en-US"/>
          </a:p>
        </p:txBody>
      </p:sp>
    </p:spTree>
    <p:extLst>
      <p:ext uri="{BB962C8B-B14F-4D97-AF65-F5344CB8AC3E}">
        <p14:creationId xmlns:p14="http://schemas.microsoft.com/office/powerpoint/2010/main" val="35549498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34</a:t>
            </a:fld>
            <a:endParaRPr lang="en-US"/>
          </a:p>
        </p:txBody>
      </p:sp>
    </p:spTree>
    <p:extLst>
      <p:ext uri="{BB962C8B-B14F-4D97-AF65-F5344CB8AC3E}">
        <p14:creationId xmlns:p14="http://schemas.microsoft.com/office/powerpoint/2010/main" val="42450366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35</a:t>
            </a:fld>
            <a:endParaRPr lang="en-US"/>
          </a:p>
        </p:txBody>
      </p:sp>
    </p:spTree>
    <p:extLst>
      <p:ext uri="{BB962C8B-B14F-4D97-AF65-F5344CB8AC3E}">
        <p14:creationId xmlns:p14="http://schemas.microsoft.com/office/powerpoint/2010/main" val="2710303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36</a:t>
            </a:fld>
            <a:endParaRPr lang="en-US"/>
          </a:p>
        </p:txBody>
      </p:sp>
    </p:spTree>
    <p:extLst>
      <p:ext uri="{BB962C8B-B14F-4D97-AF65-F5344CB8AC3E}">
        <p14:creationId xmlns:p14="http://schemas.microsoft.com/office/powerpoint/2010/main" val="2199492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37</a:t>
            </a:fld>
            <a:endParaRPr lang="en-US"/>
          </a:p>
        </p:txBody>
      </p:sp>
    </p:spTree>
    <p:extLst>
      <p:ext uri="{BB962C8B-B14F-4D97-AF65-F5344CB8AC3E}">
        <p14:creationId xmlns:p14="http://schemas.microsoft.com/office/powerpoint/2010/main" val="4440122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38</a:t>
            </a:fld>
            <a:endParaRPr lang="en-US"/>
          </a:p>
        </p:txBody>
      </p:sp>
    </p:spTree>
    <p:extLst>
      <p:ext uri="{BB962C8B-B14F-4D97-AF65-F5344CB8AC3E}">
        <p14:creationId xmlns:p14="http://schemas.microsoft.com/office/powerpoint/2010/main" val="28568772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39</a:t>
            </a:fld>
            <a:endParaRPr lang="en-US"/>
          </a:p>
        </p:txBody>
      </p:sp>
    </p:spTree>
    <p:extLst>
      <p:ext uri="{BB962C8B-B14F-4D97-AF65-F5344CB8AC3E}">
        <p14:creationId xmlns:p14="http://schemas.microsoft.com/office/powerpoint/2010/main" val="1361096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dirty="0"/>
              <a:t>Now we move to RLWE-based CPIR schemes using the hypercube database layout.</a:t>
            </a:r>
          </a:p>
          <a:p>
            <a:endParaRPr lang="en-US" sz="1200" dirty="0"/>
          </a:p>
          <a:p>
            <a:r>
              <a:rPr lang="en-US" sz="1200" dirty="0"/>
              <a:t>The previous slides introduced the general hypercube idea: split the database into dimensions, encode the target index as coordinates, and let the server fold the database dimension by dimension under encryption.</a:t>
            </a:r>
          </a:p>
          <a:p>
            <a:endParaRPr lang="en-US" sz="1200" dirty="0"/>
          </a:p>
          <a:p>
            <a:r>
              <a:rPr lang="en-US" sz="1200" dirty="0"/>
              <a:t>In this section, the goal is to compare three concrete schemes: XPIR, SealPIR, and OnionPIR.</a:t>
            </a:r>
          </a:p>
          <a:p>
            <a:endParaRPr lang="en-US" sz="1200" dirty="0"/>
          </a:p>
          <a:p>
            <a:r>
              <a:rPr lang="en-US" sz="1200" dirty="0"/>
              <a:t>The main story is simple: XPIR gives the baseline hypercube construction, SealPIR compresses the query, and OnionPIR improves the response size using RGSW and external products.</a:t>
            </a:r>
          </a:p>
        </p:txBody>
      </p:sp>
      <p:sp>
        <p:nvSpPr>
          <p:cNvPr id="4" name="Номер слайда 3"/>
          <p:cNvSpPr>
            <a:spLocks noGrp="1"/>
          </p:cNvSpPr>
          <p:nvPr>
            <p:ph type="sldNum" sz="quarter" idx="5"/>
          </p:nvPr>
        </p:nvSpPr>
        <p:spPr/>
        <p:txBody>
          <a:bodyPr/>
          <a:lstStyle/>
          <a:p>
            <a:fld id="{77F0CBD4-9D5C-44A4-B11F-F79AF78C86E0}" type="slidenum">
              <a:rPr lang="en-US" smtClean="0"/>
              <a:t>49</a:t>
            </a:fld>
            <a:endParaRPr lang="en-US"/>
          </a:p>
        </p:txBody>
      </p:sp>
    </p:spTree>
    <p:extLst>
      <p:ext uri="{BB962C8B-B14F-4D97-AF65-F5344CB8AC3E}">
        <p14:creationId xmlns:p14="http://schemas.microsoft.com/office/powerpoint/2010/main" val="6912753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XPIR is the baseline RLWE-based hypercube PIR scheme.</a:t>
            </a:r>
          </a:p>
          <a:p>
            <a:endParaRPr lang="en-US" sz="1200" dirty="0"/>
          </a:p>
          <a:p>
            <a:r>
              <a:rPr lang="en-US" sz="1200" dirty="0"/>
              <a:t>The server reshapes the database into a two-dimensional grid D1 × D2. Usually, both dimensions are close to √n, so we can think of the database as a matrix.</a:t>
            </a:r>
          </a:p>
          <a:p>
            <a:endParaRPr lang="en-US" sz="1200" dirty="0"/>
          </a:p>
          <a:p>
            <a:r>
              <a:rPr lang="en-US" sz="1200" dirty="0"/>
              <a:t>The client wants record i. Instead of sending i directly, the client decomposes it into two coordinates: i → (i1, i2). Here, i1 is the row coordinate and i2 is the column coordinate.</a:t>
            </a:r>
          </a:p>
          <a:p>
            <a:endParaRPr lang="en-US" sz="1200" dirty="0"/>
          </a:p>
          <a:p>
            <a:r>
              <a:rPr lang="en-US" sz="1200" dirty="0"/>
              <a:t>For each dimension j, the client builds a unit selector vector I_j ∈ {0,1}^{D_j}. So I_1 selects the row, and I_2 selects the column.</a:t>
            </a:r>
          </a:p>
          <a:p>
            <a:endParaRPr lang="en-US" sz="1200" dirty="0"/>
          </a:p>
          <a:p>
            <a:r>
              <a:rPr lang="en-US" sz="1200" dirty="0"/>
              <a:t>The notation I_j[k] means the k-th entry of selector vector I_j. It equals 1 only when k = i_j, and 0 everywhere else.</a:t>
            </a:r>
          </a:p>
          <a:p>
            <a:endParaRPr lang="en-US" sz="1200" dirty="0"/>
          </a:p>
          <a:p>
            <a:r>
              <a:rPr lang="en-US" sz="1200" dirty="0"/>
              <a:t>Then the client encrypts every selector entry: q_{j,k} = FHE.RLWE.Enc(sk, Δ · I_j[k]). Here, q means the encrypted query. The first index j tells us the dimension. The second index k tells us the position inside that dimension.</a:t>
            </a:r>
          </a:p>
          <a:p>
            <a:endParaRPr lang="en-US" sz="1200" dirty="0"/>
          </a:p>
          <a:p>
            <a:r>
              <a:rPr lang="en-US" sz="1200" dirty="0"/>
              <a:t>So q_{1,k} means: encrypted selector bit for row k. And q_{2,k} means: encrypted selector bit for column k.</a:t>
            </a:r>
          </a:p>
          <a:p>
            <a:endParaRPr lang="en-US" sz="1200" dirty="0"/>
          </a:p>
          <a:p>
            <a:r>
              <a:rPr lang="en-US" sz="1200" dirty="0"/>
              <a:t>For d = 2, the client sends 2√n ciphertexts, because it sends one encrypted vector for rows and one encrypted vector for columns.</a:t>
            </a:r>
          </a:p>
          <a:p>
            <a:endParaRPr lang="en-US" sz="1200" dirty="0"/>
          </a:p>
          <a:p>
            <a:r>
              <a:rPr lang="en-US" sz="1200" dirty="0"/>
              <a:t>Now on the server side, m_{k,j} means a plaintext database value. Here k is the row index being scanned, and j is the column that remains after the first fold.</a:t>
            </a:r>
          </a:p>
          <a:p>
            <a:endParaRPr lang="en-US" sz="1200" dirty="0"/>
          </a:p>
          <a:p>
            <a:r>
              <a:rPr lang="en-US" sz="1200" dirty="0"/>
              <a:t>The first server fold is R^(1)_j = Σ_k FHE.PlainMult(q_{1,k}, m_{k,j}). This means: for each column j, the server loops over all rows k. Each row value m_{k,j} is multiplied by the encrypted row selector q_{1,k}.</a:t>
            </a:r>
          </a:p>
          <a:p>
            <a:endParaRPr lang="en-US" sz="1200" dirty="0"/>
          </a:p>
          <a:p>
            <a:r>
              <a:rPr lang="en-US" sz="1200" dirty="0"/>
              <a:t>Only one q_{1,k} encrypts 1. All others encrypt 0. So all non-target rows disappear, and the selected row remains encrypted.</a:t>
            </a:r>
          </a:p>
          <a:p>
            <a:endParaRPr lang="en-US" sz="1200" dirty="0"/>
          </a:p>
          <a:p>
            <a:r>
              <a:rPr lang="en-US" sz="1200" dirty="0"/>
              <a:t>After this first fold, the database matrix has been collapsed into encrypted intermediate values for the selected row.</a:t>
            </a:r>
          </a:p>
          <a:p>
            <a:endParaRPr lang="en-US" sz="1200" dirty="0"/>
          </a:p>
          <a:p>
            <a:r>
              <a:rPr lang="en-US" sz="1200" dirty="0"/>
              <a:t>Then the second dimension uses the column selector q_{2,k} to select the correct column. The result is an encryption of the target database element.</a:t>
            </a:r>
          </a:p>
          <a:p>
            <a:endParaRPr lang="en-US" sz="1200" dirty="0"/>
          </a:p>
          <a:p>
            <a:r>
              <a:rPr lang="en-US" sz="1200" dirty="0"/>
              <a:t>The key point is that the server performs the selection without knowing which row or column was selected, because all selector bits are encrypted.</a:t>
            </a:r>
          </a:p>
          <a:p>
            <a:endParaRPr lang="en-US" sz="1200" dirty="0"/>
          </a:p>
          <a:p>
            <a:r>
              <a:rPr lang="en-US" sz="1200" dirty="0"/>
              <a:t>The limitation is that the query is large: O(√n), and the response expands by F^(d−1). For d = 2, this is F, usually around five or six.</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dirty="0"/>
              <a:t>SealPIR keeps the same hypercube idea as XPIR, but it compresses the query.</a:t>
            </a:r>
          </a:p>
          <a:p>
            <a:endParaRPr lang="en-US" sz="1200" dirty="0"/>
          </a:p>
          <a:p>
            <a:r>
              <a:rPr lang="en-US" sz="1200" dirty="0"/>
              <a:t>In XPIR, the client sends every encrypted selector bit explicitly: q_{j,0}, q_{j,1}, ..., q_{j,D_j−1}. That means one ciphertext per possible coordinate position in dimension j.</a:t>
            </a:r>
          </a:p>
          <a:p>
            <a:endParaRPr lang="en-US" sz="1200" dirty="0"/>
          </a:p>
          <a:p>
            <a:r>
              <a:rPr lang="en-US" sz="1200" dirty="0"/>
              <a:t>SealPIR changes this by sending a single encrypted monomial per dimension instead of the full encrypted selector vector.</a:t>
            </a:r>
          </a:p>
          <a:p>
            <a:endParaRPr lang="en-US" sz="1200" dirty="0"/>
          </a:p>
          <a:p>
            <a:r>
              <a:rPr lang="en-US" sz="1200" dirty="0"/>
              <a:t>Concrete example: suppose D_j = 8 and the target coordinate in this dimension is i_j = 3.</a:t>
            </a:r>
          </a:p>
          <a:p>
            <a:endParaRPr lang="en-US" sz="1200" dirty="0"/>
          </a:p>
          <a:p>
            <a:r>
              <a:rPr lang="en-US" sz="1200" dirty="0"/>
              <a:t>The plaintext selector vector would be: I_j = [0, 0, 0, 1, 0, 0, 0, 0].</a:t>
            </a:r>
          </a:p>
          <a:p>
            <a:endParaRPr lang="en-US" sz="1200" dirty="0"/>
          </a:p>
          <a:p>
            <a:r>
              <a:rPr lang="en-US" sz="1200" dirty="0"/>
              <a:t>Here I_j is the unit selector vector for dimension j, and I_j[k] is its k-th entry. I_j[k] = 1 only when k = i_j; otherwise it is 0.</a:t>
            </a:r>
          </a:p>
          <a:p>
            <a:endParaRPr lang="en-US" sz="1200" dirty="0"/>
          </a:p>
          <a:p>
            <a:r>
              <a:rPr lang="en-US" sz="1200" dirty="0"/>
              <a:t>Written as a polynomial, the same selector is the monomial X^3:</a:t>
            </a:r>
          </a:p>
          <a:p>
            <a:endParaRPr lang="en-US" sz="1200" dirty="0"/>
          </a:p>
          <a:p>
            <a:r>
              <a:rPr lang="en-US" sz="1200" dirty="0"/>
              <a:t>X^3 = 0 + 0X + 0X^2 + 1X^3 + 0X^4 + ...</a:t>
            </a:r>
          </a:p>
          <a:p>
            <a:endParaRPr lang="en-US" sz="1200" dirty="0"/>
          </a:p>
          <a:p>
            <a:r>
              <a:rPr lang="en-US" sz="1200" dirty="0"/>
              <a:t>So the coefficient at position 3 is 1, and all other coefficients are 0. The nonzero coefficient marks the selected coordinate.</a:t>
            </a:r>
          </a:p>
          <a:p>
            <a:endParaRPr lang="en-US" sz="1200" dirty="0"/>
          </a:p>
          <a:p>
            <a:r>
              <a:rPr lang="en-US" sz="1200" dirty="0"/>
              <a:t>In XPIR, this same selector would be sent as many ciphertexts:</a:t>
            </a:r>
          </a:p>
          <a:p>
            <a:endParaRPr lang="en-US" sz="1200" dirty="0"/>
          </a:p>
          <a:p>
            <a:r>
              <a:rPr lang="en-US" sz="1200" dirty="0"/>
              <a:t>[Enc(0), Enc(0), Enc(0), Enc(1), Enc(0), Enc(0), Enc(0), Enc(0)].</a:t>
            </a:r>
          </a:p>
          <a:p>
            <a:endParaRPr lang="en-US" sz="1200" dirty="0"/>
          </a:p>
          <a:p>
            <a:r>
              <a:rPr lang="en-US" sz="1200" dirty="0"/>
              <a:t>Equivalently, XPIR sends q_{j,k} = FHE.RLWE.Enc(sk, Δ · I_j[k]) for every k.</a:t>
            </a:r>
          </a:p>
          <a:p>
            <a:endParaRPr lang="en-US" sz="1200" dirty="0"/>
          </a:p>
          <a:p>
            <a:r>
              <a:rPr lang="en-US" sz="1200" dirty="0"/>
              <a:t>SealPIR instead sends one ciphertext:</a:t>
            </a:r>
          </a:p>
          <a:p>
            <a:endParaRPr lang="en-US" sz="1200" dirty="0"/>
          </a:p>
          <a:p>
            <a:r>
              <a:rPr lang="en-US" sz="1200" dirty="0"/>
              <a:t>c_j = FHE.RLWE.Enc(sk, X^3).</a:t>
            </a:r>
          </a:p>
          <a:p>
            <a:endParaRPr lang="en-US" sz="1200" dirty="0"/>
          </a:p>
          <a:p>
            <a:r>
              <a:rPr lang="en-US" sz="1200" dirty="0"/>
              <a:t>More generally, for target coordinate i_j, SealPIR sends:</a:t>
            </a:r>
          </a:p>
          <a:p>
            <a:endParaRPr lang="en-US" sz="1200" dirty="0"/>
          </a:p>
          <a:p>
            <a:r>
              <a:rPr lang="en-US" sz="1200" dirty="0"/>
              <a:t>c_j = FHE.RLWE.Enc(sk, X^{i_j}).</a:t>
            </a:r>
          </a:p>
          <a:p>
            <a:endParaRPr lang="en-US" sz="1200" dirty="0"/>
          </a:p>
          <a:p>
            <a:r>
              <a:rPr lang="en-US" sz="1200" dirty="0"/>
              <a:t>Here c_j is the compressed query ciphertext for dimension j. It replaces the full list q_{j,0}, q_{j,1}, ..., q_{j,D_j−1}.</a:t>
            </a:r>
          </a:p>
          <a:p>
            <a:endParaRPr lang="en-US" sz="1200" dirty="0"/>
          </a:p>
          <a:p>
            <a:r>
              <a:rPr lang="en-US" sz="1200" dirty="0"/>
              <a:t>For d = 2, the complete query is q = (c_1, c_2), so the client sends only two ciphertexts instead of 2√n ciphertexts.</a:t>
            </a:r>
          </a:p>
          <a:p>
            <a:endParaRPr lang="en-US" sz="1200" dirty="0"/>
          </a:p>
          <a:p>
            <a:r>
              <a:rPr lang="en-US" sz="1200" dirty="0"/>
              <a:t>Then the server runs EXPAND.</a:t>
            </a:r>
          </a:p>
          <a:p>
            <a:endParaRPr lang="en-US" sz="1200" dirty="0"/>
          </a:p>
          <a:p>
            <a:r>
              <a:rPr lang="en-US" sz="1200" dirty="0"/>
              <a:t>EXPAND converts the compressed monomial ciphertext back into the XPIR-style encrypted selector vector:</a:t>
            </a:r>
          </a:p>
          <a:p>
            <a:endParaRPr lang="en-US" sz="1200" dirty="0"/>
          </a:p>
          <a:p>
            <a:r>
              <a:rPr lang="en-US" sz="1200" dirty="0"/>
              <a:t>c_j = Enc(X^{i_j})  →  q_j = (q_{j,0}, q_{j,1}, ..., q_{j,D_j−1}).</a:t>
            </a:r>
          </a:p>
          <a:p>
            <a:endParaRPr lang="en-US" sz="1200" dirty="0"/>
          </a:p>
          <a:p>
            <a:r>
              <a:rPr lang="en-US" sz="1200" dirty="0"/>
              <a:t>For the example i_j = 3, the expanded vector looks like:</a:t>
            </a:r>
          </a:p>
          <a:p>
            <a:endParaRPr lang="en-US" sz="1200" dirty="0"/>
          </a:p>
          <a:p>
            <a:r>
              <a:rPr lang="en-US" sz="1200" dirty="0"/>
              <a:t>q_j = [Enc(0), Enc(0), Enc(0), Enc(1), Enc(0), Enc(0), Enc(0), Enc(0)].</a:t>
            </a:r>
          </a:p>
          <a:p>
            <a:endParaRPr lang="en-US" sz="1200" dirty="0"/>
          </a:p>
          <a:p>
            <a:r>
              <a:rPr lang="en-US" sz="1200" dirty="0"/>
              <a:t>So after EXPAND, q_{j,k} again means the encrypted selector bit for dimension j and position k.</a:t>
            </a:r>
          </a:p>
          <a:p>
            <a:endParaRPr lang="en-US" sz="1200" dirty="0"/>
          </a:p>
          <a:p>
            <a:r>
              <a:rPr lang="en-US" sz="1200" dirty="0"/>
              <a:t>At this point, the server computation becomes XPIR-like again. The server folds the database using terms such as:</a:t>
            </a:r>
          </a:p>
          <a:p>
            <a:endParaRPr lang="en-US" sz="1200" dirty="0"/>
          </a:p>
          <a:p>
            <a:r>
              <a:rPr lang="en-US" sz="1200" dirty="0"/>
              <a:t>Σ_k FHE.PlainMult(q_{j,k}, m_{k,j}).</a:t>
            </a:r>
          </a:p>
          <a:p>
            <a:endParaRPr lang="en-US" sz="1200" dirty="0"/>
          </a:p>
          <a:p>
            <a:r>
              <a:rPr lang="en-US" sz="1200" dirty="0"/>
              <a:t>Here k is the loop index over positions in the current dimension. The term m_{k,j} is the plaintext database block being multiplied by the encrypted selector bit q_{j,k}.</a:t>
            </a:r>
          </a:p>
          <a:p>
            <a:endParaRPr lang="en-US" sz="1200" dirty="0"/>
          </a:p>
          <a:p>
            <a:r>
              <a:rPr lang="en-US" sz="1200" dirty="0"/>
              <a:t>Only the encrypted selector corresponding to k = i_j encrypts 1; all others encrypt 0. Therefore only the target branch survives in the sum.</a:t>
            </a:r>
          </a:p>
          <a:p>
            <a:endParaRPr lang="en-US" sz="1200" dirty="0"/>
          </a:p>
          <a:p>
            <a:r>
              <a:rPr lang="en-US" sz="1200" dirty="0"/>
              <a:t>So SealPIR’s main improvement is not a different folding logic. The improvement is that the client uploads c_j = Enc(X^{i_j}) and lets the server expand it into q_j internally.</a:t>
            </a:r>
          </a:p>
          <a:p>
            <a:endParaRPr lang="en-US" sz="1200" dirty="0"/>
          </a:p>
          <a:p>
            <a:r>
              <a:rPr lang="en-US" sz="1200" dirty="0"/>
              <a:t>That is why SealPIR has query size O(d), while XPIR has query size O(d√[d]{n}). The response expansion problem remains the same as XPIR: F^{d−1}.</a:t>
            </a:r>
          </a:p>
        </p:txBody>
      </p:sp>
      <p:sp>
        <p:nvSpPr>
          <p:cNvPr id="4" name="Номер слайда 3"/>
          <p:cNvSpPr>
            <a:spLocks noGrp="1"/>
          </p:cNvSpPr>
          <p:nvPr>
            <p:ph type="sldNum" sz="quarter" idx="5"/>
          </p:nvPr>
        </p:nvSpPr>
        <p:spPr/>
        <p:txBody>
          <a:bodyPr/>
          <a:lstStyle/>
          <a:p>
            <a:fld id="{77F0CBD4-9D5C-44A4-B11F-F79AF78C86E0}" type="slidenum">
              <a:rPr lang="en-US" smtClean="0"/>
              <a:t>51</a:t>
            </a:fld>
            <a:endParaRPr lang="en-US"/>
          </a:p>
        </p:txBody>
      </p:sp>
    </p:spTree>
    <p:extLst>
      <p:ext uri="{BB962C8B-B14F-4D97-AF65-F5344CB8AC3E}">
        <p14:creationId xmlns:p14="http://schemas.microsoft.com/office/powerpoint/2010/main" val="6912753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dirty="0"/>
              <a:t>Before explaining OnionPIR, we need RGSW, because OnionPIR relies on RLWE-to-RGSW external products.</a:t>
            </a:r>
          </a:p>
          <a:p>
            <a:endParaRPr lang="en-US" sz="1200" dirty="0"/>
          </a:p>
          <a:p>
            <a:r>
              <a:rPr lang="en-US" sz="1200" dirty="0"/>
              <a:t>The first object is the gadget vector: g = [1, g, g^2, ..., g^{ℓ−1}].</a:t>
            </a:r>
          </a:p>
          <a:p>
            <a:endParaRPr lang="en-US" sz="1200" dirty="0"/>
          </a:p>
          <a:p>
            <a:r>
              <a:rPr lang="en-US" sz="1200" dirty="0"/>
              <a:t>For example, if g = 4 and ℓ = 3, then the gadget vector is [1, 4, 16]. This is similar to a positional number system. A message can be represented across multiple scales: m, 4m, and 16m.</a:t>
            </a:r>
          </a:p>
          <a:p>
            <a:endParaRPr lang="en-US" sz="1200" dirty="0"/>
          </a:p>
          <a:p>
            <a:r>
              <a:rPr lang="en-US" sz="1200" dirty="0"/>
              <a:t>Then we build the gadget matrix G = I_2 ⊗ g^T.</a:t>
            </a:r>
          </a:p>
          <a:p>
            <a:endParaRPr lang="en-US" sz="1200" dirty="0"/>
          </a:p>
          <a:p>
            <a:r>
              <a:rPr lang="en-US" sz="1200" dirty="0"/>
              <a:t>The I_2 part exists because an RLWE ciphertext has two polynomial components, usually written as (a,b). The gadget matrix applies the gadget decomposition separately to both components.</a:t>
            </a:r>
          </a:p>
          <a:p>
            <a:endParaRPr lang="en-US" sz="1200" dirty="0"/>
          </a:p>
          <a:p>
            <a:r>
              <a:rPr lang="en-US" sz="1200" dirty="0"/>
              <a:t>The upper rows correspond to the first polynomial slot, and the lower rows correspond to the second polynomial slot.</a:t>
            </a:r>
          </a:p>
          <a:p>
            <a:endParaRPr lang="en-US" sz="1200" dirty="0"/>
          </a:p>
          <a:p>
            <a:r>
              <a:rPr lang="en-US" sz="1200" dirty="0"/>
              <a:t>The important point is that G gives us a structured way to decompose ciphertexts into small base-g digits. This is what later makes external product possible.</a:t>
            </a:r>
          </a:p>
        </p:txBody>
      </p:sp>
      <p:sp>
        <p:nvSpPr>
          <p:cNvPr id="4" name="Номер слайда 3"/>
          <p:cNvSpPr>
            <a:spLocks noGrp="1"/>
          </p:cNvSpPr>
          <p:nvPr>
            <p:ph type="sldNum" sz="quarter" idx="5"/>
          </p:nvPr>
        </p:nvSpPr>
        <p:spPr/>
        <p:txBody>
          <a:bodyPr/>
          <a:lstStyle/>
          <a:p>
            <a:fld id="{77F0CBD4-9D5C-44A4-B11F-F79AF78C86E0}" type="slidenum">
              <a:rPr lang="en-US" smtClean="0"/>
              <a:t>52</a:t>
            </a:fld>
            <a:endParaRPr lang="en-US"/>
          </a:p>
        </p:txBody>
      </p:sp>
    </p:spTree>
    <p:extLst>
      <p:ext uri="{BB962C8B-B14F-4D97-AF65-F5344CB8AC3E}">
        <p14:creationId xmlns:p14="http://schemas.microsoft.com/office/powerpoint/2010/main" val="6912753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dirty="0"/>
              <a:t>Now we can describe the RGSW ciphertext itself.</a:t>
            </a:r>
          </a:p>
          <a:p>
            <a:endParaRPr lang="en-US" sz="1200" dirty="0"/>
          </a:p>
          <a:p>
            <a:r>
              <a:rPr lang="en-US" sz="1200" dirty="0"/>
              <a:t>An RGSW encryption of a message m has the form C = Z + mG.</a:t>
            </a:r>
          </a:p>
          <a:p>
            <a:endParaRPr lang="en-US" sz="1200" dirty="0"/>
          </a:p>
          <a:p>
            <a:r>
              <a:rPr lang="en-US" sz="1200" dirty="0"/>
              <a:t>Here, Z is a stack of RLWE encryptions of zero. The mG part inserts the message m into the ciphertext at different gadget scales.</a:t>
            </a:r>
          </a:p>
          <a:p>
            <a:endParaRPr lang="en-US" sz="1200" dirty="0"/>
          </a:p>
          <a:p>
            <a:r>
              <a:rPr lang="en-US" sz="1200" dirty="0"/>
              <a:t>In the example with g = 4 and ℓ = 3, we get 2ℓ = 6 RLWE ciphertext rows.</a:t>
            </a:r>
          </a:p>
          <a:p>
            <a:endParaRPr lang="en-US" sz="1200" dirty="0"/>
          </a:p>
          <a:p>
            <a:r>
              <a:rPr lang="en-US" sz="1200" dirty="0"/>
              <a:t>Rows 1 to 3 place the message into the first RLWE component at scales 1, 4, and 16. Rows 4 to 6 do the same for the second RLWE component.</a:t>
            </a:r>
          </a:p>
          <a:p>
            <a:endParaRPr lang="en-US" sz="1200" dirty="0"/>
          </a:p>
          <a:p>
            <a:r>
              <a:rPr lang="en-US" sz="1200" dirty="0"/>
              <a:t>Even though the message is structurally embedded into the ciphertext, each row still looks like an RLWE encryption of zero plus noise. Without the secret key, the server cannot recover m.</a:t>
            </a:r>
          </a:p>
          <a:p>
            <a:endParaRPr lang="en-US" sz="1200" dirty="0"/>
          </a:p>
          <a:p>
            <a:r>
              <a:rPr lang="en-US" sz="1200" dirty="0"/>
              <a:t>The reason RGSW is useful is not compactness. It is much larger than a normal RLWE ciphertext.</a:t>
            </a:r>
          </a:p>
          <a:p>
            <a:endParaRPr lang="en-US" sz="1200" dirty="0"/>
          </a:p>
          <a:p>
            <a:r>
              <a:rPr lang="en-US" sz="1200" dirty="0"/>
              <a:t>Its value is that it supports external product, which lets us multiply an RLWE ciphertext by an encrypted selector while keeping noise growth manageable.</a:t>
            </a:r>
          </a:p>
        </p:txBody>
      </p:sp>
      <p:sp>
        <p:nvSpPr>
          <p:cNvPr id="4" name="Номер слайда 3"/>
          <p:cNvSpPr>
            <a:spLocks noGrp="1"/>
          </p:cNvSpPr>
          <p:nvPr>
            <p:ph type="sldNum" sz="quarter" idx="5"/>
          </p:nvPr>
        </p:nvSpPr>
        <p:spPr/>
        <p:txBody>
          <a:bodyPr/>
          <a:lstStyle/>
          <a:p>
            <a:fld id="{77F0CBD4-9D5C-44A4-B11F-F79AF78C86E0}" type="slidenum">
              <a:rPr lang="en-US" smtClean="0"/>
              <a:t>53</a:t>
            </a:fld>
            <a:endParaRPr lang="en-US"/>
          </a:p>
        </p:txBody>
      </p:sp>
    </p:spTree>
    <p:extLst>
      <p:ext uri="{BB962C8B-B14F-4D97-AF65-F5344CB8AC3E}">
        <p14:creationId xmlns:p14="http://schemas.microsoft.com/office/powerpoint/2010/main" val="6912753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dirty="0"/>
              <a:t>The external product is the operation FHE.ExternalProduct(c, C) = G^{-1}(c) · C.</a:t>
            </a:r>
          </a:p>
          <a:p>
            <a:endParaRPr lang="en-US" sz="1200" dirty="0"/>
          </a:p>
          <a:p>
            <a:r>
              <a:rPr lang="en-US" sz="1200" dirty="0"/>
              <a:t>Here, c is an RLWE ciphertext, and C is an RGSW ciphertext. The output is again a normal RLWE ciphertext.</a:t>
            </a:r>
          </a:p>
          <a:p>
            <a:endParaRPr lang="en-US" sz="1200" dirty="0"/>
          </a:p>
          <a:p>
            <a:r>
              <a:rPr lang="en-US" sz="1200" dirty="0"/>
              <a:t>The first step is gadget decomposition. We take each coefficient of the RLWE ciphertext and decompose it in base g. So instead of working with large coefficients directly, we split them into small digits.</a:t>
            </a:r>
          </a:p>
          <a:p>
            <a:endParaRPr lang="en-US" sz="1200" dirty="0"/>
          </a:p>
          <a:p>
            <a:r>
              <a:rPr lang="en-US" sz="1200" dirty="0"/>
              <a:t>Then these small digit polynomials are multiplied by the rows of the RGSW ciphertext.</a:t>
            </a:r>
          </a:p>
          <a:p>
            <a:endParaRPr lang="en-US" sz="1200" dirty="0"/>
          </a:p>
          <a:p>
            <a:r>
              <a:rPr lang="en-US" sz="1200" dirty="0"/>
              <a:t>Because the RGSW rows contain the message at matching gadget scales, the scales cancel out during reconstruction.</a:t>
            </a:r>
          </a:p>
          <a:p>
            <a:endParaRPr lang="en-US" sz="1200" dirty="0"/>
          </a:p>
          <a:p>
            <a:r>
              <a:rPr lang="en-US" sz="1200" dirty="0"/>
              <a:t>The result is an RLWE ciphertext encrypting the product m_1 · m_2.</a:t>
            </a:r>
          </a:p>
          <a:p>
            <a:endParaRPr lang="en-US" sz="1200" dirty="0"/>
          </a:p>
          <a:p>
            <a:r>
              <a:rPr lang="en-US" sz="1200" dirty="0"/>
              <a:t>The key advantage is noise behavior. RLWE-by-RLWE multiplication causes quadratic noise growth, which becomes unusable after a few levels.</a:t>
            </a:r>
          </a:p>
          <a:p>
            <a:endParaRPr lang="en-US" sz="1200" dirty="0"/>
          </a:p>
          <a:p>
            <a:r>
              <a:rPr lang="en-US" sz="1200" dirty="0"/>
              <a:t>But RLWE-by-RGSW external product gives additive noise growth, because the decomposed digits are small.</a:t>
            </a:r>
          </a:p>
          <a:p>
            <a:endParaRPr lang="en-US" sz="1200" dirty="0"/>
          </a:p>
          <a:p>
            <a:r>
              <a:rPr lang="en-US" sz="1200" dirty="0"/>
              <a:t>This is the technical reason OnionPIR can support more hypercube dimensions without the response exploding.</a:t>
            </a:r>
          </a:p>
        </p:txBody>
      </p:sp>
      <p:sp>
        <p:nvSpPr>
          <p:cNvPr id="4" name="Номер слайда 3"/>
          <p:cNvSpPr>
            <a:spLocks noGrp="1"/>
          </p:cNvSpPr>
          <p:nvPr>
            <p:ph type="sldNum" sz="quarter" idx="5"/>
          </p:nvPr>
        </p:nvSpPr>
        <p:spPr/>
        <p:txBody>
          <a:bodyPr/>
          <a:lstStyle/>
          <a:p>
            <a:fld id="{77F0CBD4-9D5C-44A4-B11F-F79AF78C86E0}" type="slidenum">
              <a:rPr lang="en-US" smtClean="0"/>
              <a:t>54</a:t>
            </a:fld>
            <a:endParaRPr lang="en-US"/>
          </a:p>
        </p:txBody>
      </p:sp>
    </p:spTree>
    <p:extLst>
      <p:ext uri="{BB962C8B-B14F-4D97-AF65-F5344CB8AC3E}">
        <p14:creationId xmlns:p14="http://schemas.microsoft.com/office/powerpoint/2010/main" val="6912753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OnionPIR improves the response size problem.</a:t>
            </a:r>
          </a:p>
          <a:p>
            <a:endParaRPr lang="en-US" sz="1200" dirty="0"/>
          </a:p>
          <a:p>
            <a:r>
              <a:rPr lang="en-US" sz="1200" dirty="0"/>
              <a:t>XPIR and SealPIR both rely mainly on plaintext-ciphertext multiplication during the hypercube folding process. This causes response expansion as the number of dimensions grows.</a:t>
            </a:r>
          </a:p>
          <a:p>
            <a:endParaRPr lang="en-US" sz="1200" dirty="0"/>
          </a:p>
          <a:p>
            <a:r>
              <a:rPr lang="en-US" sz="1200" dirty="0"/>
              <a:t>OnionPIR changes the structure. It uses a higher-dimensional database layout and introduces RGSW ciphertexts for dimensions 2 to d.</a:t>
            </a:r>
          </a:p>
          <a:p>
            <a:endParaRPr lang="en-US" sz="1200" dirty="0"/>
          </a:p>
          <a:p>
            <a:r>
              <a:rPr lang="en-US" sz="1200" dirty="0"/>
              <a:t>The database dimensions are chosen as D_1 = 128 and D_2 = D_3 = ... = D_d = 4. So the number of dimensions is d = 1 + ceil(log_4(n / D_1)).</a:t>
            </a:r>
          </a:p>
          <a:p>
            <a:endParaRPr lang="en-US" sz="1200" dirty="0"/>
          </a:p>
          <a:p>
            <a:r>
              <a:rPr lang="en-US" sz="1200" dirty="0"/>
              <a:t>The client still decomposes the target index: i → (i_1, i_2, ..., i_d).</a:t>
            </a:r>
          </a:p>
          <a:p>
            <a:endParaRPr lang="en-US" sz="1200" dirty="0"/>
          </a:p>
          <a:p>
            <a:r>
              <a:rPr lang="en-US" sz="1200" dirty="0"/>
              <a:t>For each dimension j, the client has a selector vector I_j. Again, I_j[k] means the k-th selector bit in dimension j. It equals 1 only when k = i_j, and 0 otherwise.</a:t>
            </a:r>
          </a:p>
          <a:p>
            <a:endParaRPr lang="en-US" sz="1200" dirty="0"/>
          </a:p>
          <a:p>
            <a:r>
              <a:rPr lang="en-US" sz="1200" dirty="0"/>
              <a:t>For the first dimension, the query is RLWE-based: q_{1,k} = FHE.RLWE.Enc(sk, Δ · I_1[k]). So q_{1,k} is the encrypted selector bit for position k in the first dimension.</a:t>
            </a:r>
          </a:p>
          <a:p>
            <a:endParaRPr lang="en-US" sz="1200" dirty="0"/>
          </a:p>
          <a:p>
            <a:r>
              <a:rPr lang="en-US" sz="1200" dirty="0"/>
              <a:t>For dimensions j ≥ 2, OnionPIR uses RGSW ciphertexts: q_{j,k} = FHE.RGSW.Enc(sk, I_j[k]).</a:t>
            </a:r>
          </a:p>
          <a:p>
            <a:endParaRPr lang="en-US" sz="1200" dirty="0"/>
          </a:p>
          <a:p>
            <a:r>
              <a:rPr lang="en-US" sz="1200" dirty="0"/>
              <a:t>This is the key difference. The later selector bits are not encrypted as normal RLWE ciphertexts. They are encrypted as RGSW ciphertexts so the server can use external product.</a:t>
            </a:r>
          </a:p>
          <a:p>
            <a:endParaRPr lang="en-US" sz="1200" dirty="0"/>
          </a:p>
          <a:p>
            <a:r>
              <a:rPr lang="en-US" sz="1200" dirty="0"/>
              <a:t>The first dimension fold is still similar to XPIR: R^(1)_j = Σ_k FHE.PlainMult(q_{1,k}, m_{k,j}).</a:t>
            </a:r>
          </a:p>
          <a:p>
            <a:endParaRPr lang="en-US" sz="1200" dirty="0"/>
          </a:p>
          <a:p>
            <a:r>
              <a:rPr lang="en-US" sz="1200" dirty="0"/>
              <a:t>Here k loops over positions in the first dimension. q_{1,k} is the encrypted selector bit. m_{k,j} is the plaintext database block at position k, block or column j. R^(1)_j is the encrypted intermediate result after collapsing the first dimension.</a:t>
            </a:r>
          </a:p>
          <a:p>
            <a:endParaRPr lang="en-US" sz="1200" dirty="0"/>
          </a:p>
          <a:p>
            <a:r>
              <a:rPr lang="en-US" sz="1200" dirty="0"/>
              <a:t>Only the term where k = i_1 survives.</a:t>
            </a:r>
          </a:p>
          <a:p>
            <a:endParaRPr lang="en-US" sz="1200" dirty="0"/>
          </a:p>
          <a:p>
            <a:r>
              <a:rPr lang="en-US" sz="1200" dirty="0"/>
              <a:t>For later dimensions, OnionPIR switches to external products: R^(ℓ)_j = Σ_k FHE.ExternalProd(R^(ℓ−1)_k, q_{ℓ,k}).</a:t>
            </a:r>
          </a:p>
          <a:p>
            <a:endParaRPr lang="en-US" sz="1200" dirty="0"/>
          </a:p>
          <a:p>
            <a:r>
              <a:rPr lang="en-US" sz="1200" dirty="0"/>
              <a:t>Here, ℓ is the current dimension-pass counter. It is not an exponent. It means: after processing dimension ℓ.</a:t>
            </a:r>
          </a:p>
          <a:p>
            <a:endParaRPr lang="en-US" sz="1200" dirty="0"/>
          </a:p>
          <a:p>
            <a:r>
              <a:rPr lang="en-US" sz="1200" dirty="0"/>
              <a:t>So R^(1) means the intermediate result after dimension 1. R^(2) means the intermediate result after dimension 2. The final result is R^(d), after all dimensions are folded.</a:t>
            </a:r>
          </a:p>
          <a:p>
            <a:endParaRPr lang="en-US" sz="1200" dirty="0"/>
          </a:p>
          <a:p>
            <a:r>
              <a:rPr lang="en-US" sz="1200" dirty="0"/>
              <a:t>In the external product expression, R^(ℓ−1)_k is the previous intermediate ciphertext at position k, and q_{ℓ,k} is the RGSW-encrypted selector bit for dimension ℓ, position k.</a:t>
            </a:r>
          </a:p>
          <a:p>
            <a:endParaRPr lang="en-US" sz="1200" dirty="0"/>
          </a:p>
          <a:p>
            <a:r>
              <a:rPr lang="en-US" sz="1200" dirty="0"/>
              <a:t>Again, only one selector bit encrypts 1, so only the target branch survives.</a:t>
            </a:r>
          </a:p>
          <a:p>
            <a:endParaRPr lang="en-US" sz="1200" dirty="0"/>
          </a:p>
          <a:p>
            <a:r>
              <a:rPr lang="en-US" sz="1200" dirty="0"/>
              <a:t>The important point is noise growth. With normal ciphertext multiplication, noise grows too quickly and the response expands. With RLWE-by-RGSW external product, noise growth is additive, not quadratic.</a:t>
            </a:r>
          </a:p>
          <a:p>
            <a:endParaRPr lang="en-US" sz="1200" dirty="0"/>
          </a:p>
          <a:p>
            <a:r>
              <a:rPr lang="en-US" sz="1200" dirty="0"/>
              <a:t>That is why OnionPIR can use more dimensions and still return a constant-size response.</a:t>
            </a:r>
          </a:p>
          <a:p>
            <a:endParaRPr lang="en-US" sz="1200" dirty="0"/>
          </a:p>
          <a:p>
            <a:r>
              <a:rPr lang="en-US" sz="1200" dirty="0"/>
              <a:t>In the parameters shown here, the client sends a packed query of around 64 KB, and the server returns one BFV ciphertext of around 128 KB.</a:t>
            </a:r>
          </a:p>
          <a:p>
            <a:endParaRPr lang="en-US" sz="1200" dirty="0"/>
          </a:p>
          <a:p>
            <a:r>
              <a:rPr lang="en-US" sz="1200" dirty="0"/>
              <a:t>So the comparison is: XPIR gives the baseline hypercube PIR. SealPIR compresses the query. OnionPIR makes the response efficient using RGSW selectors and external products.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56</a:t>
            </a:fld>
            <a:endParaRPr lang="en-US"/>
          </a:p>
        </p:txBody>
      </p:sp>
    </p:spTree>
    <p:extLst>
      <p:ext uri="{BB962C8B-B14F-4D97-AF65-F5344CB8AC3E}">
        <p14:creationId xmlns:p14="http://schemas.microsoft.com/office/powerpoint/2010/main" val="122411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57</a:t>
            </a:fld>
            <a:endParaRPr lang="en-US"/>
          </a:p>
        </p:txBody>
      </p:sp>
    </p:spTree>
    <p:extLst>
      <p:ext uri="{BB962C8B-B14F-4D97-AF65-F5344CB8AC3E}">
        <p14:creationId xmlns:p14="http://schemas.microsoft.com/office/powerpoint/2010/main" val="39341654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58</a:t>
            </a:fld>
            <a:endParaRPr lang="en-US"/>
          </a:p>
        </p:txBody>
      </p:sp>
    </p:spTree>
    <p:extLst>
      <p:ext uri="{BB962C8B-B14F-4D97-AF65-F5344CB8AC3E}">
        <p14:creationId xmlns:p14="http://schemas.microsoft.com/office/powerpoint/2010/main" val="698556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59</a:t>
            </a:fld>
            <a:endParaRPr lang="en-US"/>
          </a:p>
        </p:txBody>
      </p:sp>
    </p:spTree>
    <p:extLst>
      <p:ext uri="{BB962C8B-B14F-4D97-AF65-F5344CB8AC3E}">
        <p14:creationId xmlns:p14="http://schemas.microsoft.com/office/powerpoint/2010/main" val="30054960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60</a:t>
            </a:fld>
            <a:endParaRPr lang="en-US"/>
          </a:p>
        </p:txBody>
      </p:sp>
    </p:spTree>
    <p:extLst>
      <p:ext uri="{BB962C8B-B14F-4D97-AF65-F5344CB8AC3E}">
        <p14:creationId xmlns:p14="http://schemas.microsoft.com/office/powerpoint/2010/main" val="17463116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61</a:t>
            </a:fld>
            <a:endParaRPr lang="en-US"/>
          </a:p>
        </p:txBody>
      </p:sp>
    </p:spTree>
    <p:extLst>
      <p:ext uri="{BB962C8B-B14F-4D97-AF65-F5344CB8AC3E}">
        <p14:creationId xmlns:p14="http://schemas.microsoft.com/office/powerpoint/2010/main" val="22702477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62</a:t>
            </a:fld>
            <a:endParaRPr lang="en-US"/>
          </a:p>
        </p:txBody>
      </p:sp>
    </p:spTree>
    <p:extLst>
      <p:ext uri="{BB962C8B-B14F-4D97-AF65-F5344CB8AC3E}">
        <p14:creationId xmlns:p14="http://schemas.microsoft.com/office/powerpoint/2010/main" val="9801610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63</a:t>
            </a:fld>
            <a:endParaRPr lang="en-US"/>
          </a:p>
        </p:txBody>
      </p:sp>
    </p:spTree>
    <p:extLst>
      <p:ext uri="{BB962C8B-B14F-4D97-AF65-F5344CB8AC3E}">
        <p14:creationId xmlns:p14="http://schemas.microsoft.com/office/powerpoint/2010/main" val="34932530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Номер слайда 3"/>
          <p:cNvSpPr>
            <a:spLocks noGrp="1"/>
          </p:cNvSpPr>
          <p:nvPr>
            <p:ph type="sldNum" sz="quarter" idx="5"/>
          </p:nvPr>
        </p:nvSpPr>
        <p:spPr/>
        <p:txBody>
          <a:bodyPr/>
          <a:lstStyle/>
          <a:p>
            <a:fld id="{77F0CBD4-9D5C-44A4-B11F-F79AF78C86E0}" type="slidenum">
              <a:rPr lang="en-US" smtClean="0"/>
              <a:t>64</a:t>
            </a:fld>
            <a:endParaRPr lang="en-US"/>
          </a:p>
        </p:txBody>
      </p:sp>
    </p:spTree>
    <p:extLst>
      <p:ext uri="{BB962C8B-B14F-4D97-AF65-F5344CB8AC3E}">
        <p14:creationId xmlns:p14="http://schemas.microsoft.com/office/powerpoint/2010/main" val="848479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6B8458-6F94-489E-9D43-55295043A87C}"/>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E23EC541-CDD0-41A8-B3E8-8CD0E88131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E3997962-88A7-4635-97AD-9D9C0A561EAD}"/>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5" name="Нижний колонтитул 4">
            <a:extLst>
              <a:ext uri="{FF2B5EF4-FFF2-40B4-BE49-F238E27FC236}">
                <a16:creationId xmlns:a16="http://schemas.microsoft.com/office/drawing/2014/main" id="{5BF46AFA-9FF7-4D92-A211-05322A9F52CA}"/>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148B6180-39FA-4FFC-BC49-46E9BF31B96D}"/>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466348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CAB749-CE47-43C8-BA15-8B57BC63DC35}"/>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F2062520-2ABA-4FBD-8F51-774F48C31C73}"/>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A47B20BE-3514-4D96-A638-F950AB646D31}"/>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5" name="Нижний колонтитул 4">
            <a:extLst>
              <a:ext uri="{FF2B5EF4-FFF2-40B4-BE49-F238E27FC236}">
                <a16:creationId xmlns:a16="http://schemas.microsoft.com/office/drawing/2014/main" id="{4FD6F8C9-629E-4DDA-8096-D29F667EE06A}"/>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07BF6E39-FE71-4903-BD62-06A323136445}"/>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795901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80B189-2395-4338-9854-7AF6480209D6}"/>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C6670A1E-0F6B-49FE-A22B-551348857C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10DF7BC-55AB-481C-BEF5-A20B9F82C526}"/>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5" name="Нижний колонтитул 4">
            <a:extLst>
              <a:ext uri="{FF2B5EF4-FFF2-40B4-BE49-F238E27FC236}">
                <a16:creationId xmlns:a16="http://schemas.microsoft.com/office/drawing/2014/main" id="{6F871B8B-C688-4334-8F8D-08A6122C3D2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90B5FD2E-63CD-4068-9809-6126BE72C03C}"/>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186136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80A3A0-37DF-4008-A64D-0284B843D674}"/>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B908C586-19B8-4C76-964C-C93932F331ED}"/>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7B959F17-B1CB-4445-A45A-73039D2B4D0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0E2B320A-96C6-4B37-A4ED-2CF2EDD78122}"/>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6" name="Нижний колонтитул 5">
            <a:extLst>
              <a:ext uri="{FF2B5EF4-FFF2-40B4-BE49-F238E27FC236}">
                <a16:creationId xmlns:a16="http://schemas.microsoft.com/office/drawing/2014/main" id="{A48DC566-6533-48C8-AAFF-D284BD721D78}"/>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7692A0FA-469C-430C-AE24-515F128635F4}"/>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2388694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098A0B-0B6E-4BEE-A227-E3D904CE4386}"/>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B9FEAFAA-E41B-48AD-B576-F3B632DA22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CB83333-DEFB-4838-B6C5-EA650A85EEA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E97EB28E-81E5-41C0-A2EE-98D5886157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D6FB937-BDDB-43F3-B8FE-9EEAA52C312A}"/>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5BE92BDE-0A4F-40DE-8B72-EE869A6A43DD}"/>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8" name="Нижний колонтитул 7">
            <a:extLst>
              <a:ext uri="{FF2B5EF4-FFF2-40B4-BE49-F238E27FC236}">
                <a16:creationId xmlns:a16="http://schemas.microsoft.com/office/drawing/2014/main" id="{1806E9B7-554D-444C-9C8B-DABD37CCA51A}"/>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2F6A8BE7-0496-4E29-A3F1-01D34234F67E}"/>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3834904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9EEFB4-1051-4352-97D6-261FD3235DAC}"/>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02253A8C-E9CA-4822-BB1B-3C9150BF7952}"/>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4" name="Нижний колонтитул 3">
            <a:extLst>
              <a:ext uri="{FF2B5EF4-FFF2-40B4-BE49-F238E27FC236}">
                <a16:creationId xmlns:a16="http://schemas.microsoft.com/office/drawing/2014/main" id="{724E8A33-29B4-4699-B164-1FE0FE4D189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6E2AC517-E1D8-40B0-BA84-5BBE1F053537}"/>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521022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D3C050AE-A2B9-4CE5-9ED3-F3720DE4F82E}"/>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3" name="Нижний колонтитул 2">
            <a:extLst>
              <a:ext uri="{FF2B5EF4-FFF2-40B4-BE49-F238E27FC236}">
                <a16:creationId xmlns:a16="http://schemas.microsoft.com/office/drawing/2014/main" id="{956392F9-FF73-43B6-8319-8E499DF87754}"/>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8FEB1138-691A-47E6-BD3A-C8228569B508}"/>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276161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01BC7E-8CE5-4704-A885-E0523F2273B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C202FE7C-7A75-4DC0-A9AF-9499AFA77F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5E3E7E24-8E8D-4C1F-A520-754A8B9DF4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CAC6461-E97C-4D0D-B4BD-66702C74E8BB}"/>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6" name="Нижний колонтитул 5">
            <a:extLst>
              <a:ext uri="{FF2B5EF4-FFF2-40B4-BE49-F238E27FC236}">
                <a16:creationId xmlns:a16="http://schemas.microsoft.com/office/drawing/2014/main" id="{49379DF8-72DB-4059-B90E-D08E5ACCE069}"/>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F128C2A2-D267-49CA-8153-87B1CEFA386C}"/>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321628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AC04E6-7B42-4C58-942F-AFF30809EFF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C5E26798-B32E-4460-8A8F-7D519EF2DC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0F0F9ECB-702B-4F3A-8A45-8D18B7119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9A27408-10A9-432C-A6A4-FE136ADE02B5}"/>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6" name="Нижний колонтитул 5">
            <a:extLst>
              <a:ext uri="{FF2B5EF4-FFF2-40B4-BE49-F238E27FC236}">
                <a16:creationId xmlns:a16="http://schemas.microsoft.com/office/drawing/2014/main" id="{5D1286E1-ADF5-42E6-AB33-406FC88AEFDD}"/>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4BA03B7-20EC-487F-874E-E4F73001445F}"/>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388912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D308A-14E4-4B2C-84AF-F39CFDF17119}"/>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209D548B-DE1C-4046-819B-FB8D25BB5784}"/>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FA769B27-D7F5-43F2-9114-A3FAC00EB76D}"/>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5" name="Нижний колонтитул 4">
            <a:extLst>
              <a:ext uri="{FF2B5EF4-FFF2-40B4-BE49-F238E27FC236}">
                <a16:creationId xmlns:a16="http://schemas.microsoft.com/office/drawing/2014/main" id="{A00BE380-AD18-484B-8BC6-87C88D3A686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3EE444D3-F0BA-424C-A830-1012990793E0}"/>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367138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2BC12254-4EC1-45D4-8B6E-9E1CE6D8FE3F}"/>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9FC49C04-B1EE-4CB9-A036-074CC271D4B5}"/>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8746FA07-44D3-407D-9828-F135D38087FF}"/>
              </a:ext>
            </a:extLst>
          </p:cNvPr>
          <p:cNvSpPr>
            <a:spLocks noGrp="1"/>
          </p:cNvSpPr>
          <p:nvPr>
            <p:ph type="dt" sz="half" idx="10"/>
          </p:nvPr>
        </p:nvSpPr>
        <p:spPr/>
        <p:txBody>
          <a:bodyPr/>
          <a:lstStyle/>
          <a:p>
            <a:fld id="{96D648EF-0F30-490A-A7A1-FD6ABEEDCF45}" type="datetimeFigureOut">
              <a:rPr lang="en-US" smtClean="0"/>
              <a:t>5/28/2026</a:t>
            </a:fld>
            <a:endParaRPr lang="en-US"/>
          </a:p>
        </p:txBody>
      </p:sp>
      <p:sp>
        <p:nvSpPr>
          <p:cNvPr id="5" name="Нижний колонтитул 4">
            <a:extLst>
              <a:ext uri="{FF2B5EF4-FFF2-40B4-BE49-F238E27FC236}">
                <a16:creationId xmlns:a16="http://schemas.microsoft.com/office/drawing/2014/main" id="{2416DBF0-6331-477E-B509-AD83A21656C1}"/>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A926874-1B5E-42E8-A27C-9C74CAE45BD8}"/>
              </a:ext>
            </a:extLst>
          </p:cNvPr>
          <p:cNvSpPr>
            <a:spLocks noGrp="1"/>
          </p:cNvSpPr>
          <p:nvPr>
            <p:ph type="sldNum" sz="quarter" idx="12"/>
          </p:nvPr>
        </p:nvSpPr>
        <p:spPr/>
        <p:txBody>
          <a:bodyPr/>
          <a:lstStyle/>
          <a:p>
            <a:fld id="{14DDCE2C-1EAC-4FD7-9FCA-CDAC6ED86490}" type="slidenum">
              <a:rPr lang="en-US" smtClean="0"/>
              <a:t>‹#›</a:t>
            </a:fld>
            <a:endParaRPr lang="en-US"/>
          </a:p>
        </p:txBody>
      </p:sp>
    </p:spTree>
    <p:extLst>
      <p:ext uri="{BB962C8B-B14F-4D97-AF65-F5344CB8AC3E}">
        <p14:creationId xmlns:p14="http://schemas.microsoft.com/office/powerpoint/2010/main" val="1409523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0194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339D70-A534-4480-86D2-1C377E3A2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D280A155-FD5D-4B3A-B098-89528403D3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E0D5BA6-E7E5-4662-9C41-EA49A53551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D648EF-0F30-490A-A7A1-FD6ABEEDCF45}" type="datetimeFigureOut">
              <a:rPr lang="en-US" smtClean="0"/>
              <a:t>5/28/2026</a:t>
            </a:fld>
            <a:endParaRPr lang="en-US"/>
          </a:p>
        </p:txBody>
      </p:sp>
      <p:sp>
        <p:nvSpPr>
          <p:cNvPr id="5" name="Нижний колонтитул 4">
            <a:extLst>
              <a:ext uri="{FF2B5EF4-FFF2-40B4-BE49-F238E27FC236}">
                <a16:creationId xmlns:a16="http://schemas.microsoft.com/office/drawing/2014/main" id="{30ACFAEF-2169-4167-84BF-C20A5F04F3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1B2071CD-450E-4906-909E-6773E59F4B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DDCE2C-1EAC-4FD7-9FCA-CDAC6ED86490}" type="slidenum">
              <a:rPr lang="en-US" smtClean="0"/>
              <a:t>‹#›</a:t>
            </a:fld>
            <a:endParaRPr lang="en-US"/>
          </a:p>
        </p:txBody>
      </p:sp>
    </p:spTree>
    <p:extLst>
      <p:ext uri="{BB962C8B-B14F-4D97-AF65-F5344CB8AC3E}">
        <p14:creationId xmlns:p14="http://schemas.microsoft.com/office/powerpoint/2010/main" val="2219800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5.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1.png"/><Relationship Id="rId2" Type="http://schemas.openxmlformats.org/officeDocument/2006/relationships/notesSlide" Target="../notesSlides/notesSlide7.xml"/><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png"/><Relationship Id="rId5" Type="http://schemas.openxmlformats.org/officeDocument/2006/relationships/image" Target="../media/image610.png"/><Relationship Id="rId15" Type="http://schemas.openxmlformats.org/officeDocument/2006/relationships/image" Target="../media/image16.png"/><Relationship Id="rId23" Type="http://schemas.openxmlformats.org/officeDocument/2006/relationships/image" Target="../media/image24.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6.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26.png"/><Relationship Id="rId21" Type="http://schemas.openxmlformats.org/officeDocument/2006/relationships/image" Target="../media/image44.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notesSlide" Target="../notesSlides/notesSlide8.xml"/><Relationship Id="rId16" Type="http://schemas.openxmlformats.org/officeDocument/2006/relationships/image" Target="../media/image39.png"/><Relationship Id="rId20"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23" Type="http://schemas.openxmlformats.org/officeDocument/2006/relationships/image" Target="../media/image1.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 Id="rId22" Type="http://schemas.openxmlformats.org/officeDocument/2006/relationships/image" Target="../media/image45.png"/></Relationships>
</file>

<file path=ppt/slides/_rels/slide9.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61.png"/><Relationship Id="rId26" Type="http://schemas.openxmlformats.org/officeDocument/2006/relationships/image" Target="../media/image69.png"/><Relationship Id="rId3" Type="http://schemas.openxmlformats.org/officeDocument/2006/relationships/image" Target="../media/image46.png"/><Relationship Id="rId21" Type="http://schemas.openxmlformats.org/officeDocument/2006/relationships/image" Target="../media/image64.png"/><Relationship Id="rId34" Type="http://schemas.openxmlformats.org/officeDocument/2006/relationships/image" Target="../media/image77.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8.png"/><Relationship Id="rId33" Type="http://schemas.openxmlformats.org/officeDocument/2006/relationships/image" Target="../media/image76.png"/><Relationship Id="rId2" Type="http://schemas.openxmlformats.org/officeDocument/2006/relationships/notesSlide" Target="../notesSlides/notesSlide9.xml"/><Relationship Id="rId16" Type="http://schemas.openxmlformats.org/officeDocument/2006/relationships/image" Target="../media/image59.png"/><Relationship Id="rId20" Type="http://schemas.openxmlformats.org/officeDocument/2006/relationships/image" Target="../media/image63.png"/><Relationship Id="rId29"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7.png"/><Relationship Id="rId32" Type="http://schemas.openxmlformats.org/officeDocument/2006/relationships/image" Target="../media/image75.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6.png"/><Relationship Id="rId28" Type="http://schemas.openxmlformats.org/officeDocument/2006/relationships/image" Target="../media/image71.png"/><Relationship Id="rId10" Type="http://schemas.openxmlformats.org/officeDocument/2006/relationships/image" Target="../media/image53.png"/><Relationship Id="rId19" Type="http://schemas.openxmlformats.org/officeDocument/2006/relationships/image" Target="../media/image62.png"/><Relationship Id="rId31" Type="http://schemas.openxmlformats.org/officeDocument/2006/relationships/image" Target="../media/image74.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5.png"/><Relationship Id="rId27" Type="http://schemas.openxmlformats.org/officeDocument/2006/relationships/image" Target="../media/image70.png"/><Relationship Id="rId30" Type="http://schemas.openxmlformats.org/officeDocument/2006/relationships/image" Target="../media/image73.png"/><Relationship Id="rId35" Type="http://schemas.openxmlformats.org/officeDocument/2006/relationships/image" Target="../media/image1.png"/><Relationship Id="rId8" Type="http://schemas.openxmlformats.org/officeDocument/2006/relationships/image" Target="../media/image51.png"/></Relationships>
</file>

<file path=ppt/slides/_rels/slide10.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1.png"/><Relationship Id="rId3" Type="http://schemas.openxmlformats.org/officeDocument/2006/relationships/image" Target="../media/image78.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 Type="http://schemas.openxmlformats.org/officeDocument/2006/relationships/notesSlide" Target="../notesSlides/notesSlide10.xml"/><Relationship Id="rId16"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84.png"/><Relationship Id="rId5" Type="http://schemas.openxmlformats.org/officeDocument/2006/relationships/image" Target="../media/image54.png"/><Relationship Id="rId15" Type="http://schemas.openxmlformats.org/officeDocument/2006/relationships/image" Target="../media/image88.png"/><Relationship Id="rId10" Type="http://schemas.openxmlformats.org/officeDocument/2006/relationships/image" Target="../media/image83.png"/><Relationship Id="rId4" Type="http://schemas.openxmlformats.org/officeDocument/2006/relationships/image" Target="../media/image79.png"/><Relationship Id="rId9" Type="http://schemas.openxmlformats.org/officeDocument/2006/relationships/image" Target="../media/image82.png"/><Relationship Id="rId14" Type="http://schemas.openxmlformats.org/officeDocument/2006/relationships/image" Target="../media/image87.png"/></Relationships>
</file>

<file path=ppt/slides/_rels/slide1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1.png"/><Relationship Id="rId7" Type="http://schemas.openxmlformats.org/officeDocument/2006/relationships/image" Target="../media/image95.png"/><Relationship Id="rId12" Type="http://schemas.openxmlformats.org/officeDocument/2006/relationships/hyperlink" Target="https://www.youtube.com/watch?v=zLmJUNILKII"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png"/></Relationships>
</file>

<file path=ppt/slides/_rels/slide16.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7.png"/><Relationship Id="rId3" Type="http://schemas.openxmlformats.org/officeDocument/2006/relationships/image" Target="../media/image1.png"/><Relationship Id="rId7" Type="http://schemas.openxmlformats.org/officeDocument/2006/relationships/image" Target="../media/image103.png"/><Relationship Id="rId12" Type="http://schemas.openxmlformats.org/officeDocument/2006/relationships/image" Target="../media/image106.png"/><Relationship Id="rId17" Type="http://schemas.openxmlformats.org/officeDocument/2006/relationships/image" Target="../media/image109.png"/><Relationship Id="rId2" Type="http://schemas.openxmlformats.org/officeDocument/2006/relationships/notesSlide" Target="../notesSlides/notesSlide16.xml"/><Relationship Id="rId16"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image" Target="../media/image105.png"/><Relationship Id="rId5" Type="http://schemas.openxmlformats.org/officeDocument/2006/relationships/image" Target="../media/image101.png"/><Relationship Id="rId15" Type="http://schemas.openxmlformats.org/officeDocument/2006/relationships/hyperlink" Target="https://doi.org/10.1145/1060590.1060603" TargetMode="External"/><Relationship Id="rId10" Type="http://schemas.openxmlformats.org/officeDocument/2006/relationships/image" Target="../media/image980.png"/><Relationship Id="rId4" Type="http://schemas.openxmlformats.org/officeDocument/2006/relationships/image" Target="../media/image100.png"/><Relationship Id="rId9" Type="http://schemas.openxmlformats.org/officeDocument/2006/relationships/image" Target="../media/image970.png"/><Relationship Id="rId14" Type="http://schemas.openxmlformats.org/officeDocument/2006/relationships/hyperlink" Target="https://arxiv.org/pdf/2503.05136" TargetMode="External"/></Relationships>
</file>

<file path=ppt/slides/_rels/slide17.xml.rels><?xml version="1.0" encoding="UTF-8" standalone="yes"?>
<Relationships xmlns="http://schemas.openxmlformats.org/package/2006/relationships"><Relationship Id="rId13" Type="http://schemas.openxmlformats.org/officeDocument/2006/relationships/image" Target="../media/image115.png"/><Relationship Id="rId18" Type="http://schemas.openxmlformats.org/officeDocument/2006/relationships/image" Target="../media/image118.png"/><Relationship Id="rId3" Type="http://schemas.openxmlformats.org/officeDocument/2006/relationships/image" Target="../media/image1.png"/><Relationship Id="rId12" Type="http://schemas.openxmlformats.org/officeDocument/2006/relationships/image" Target="../media/image114.png"/><Relationship Id="rId17" Type="http://schemas.openxmlformats.org/officeDocument/2006/relationships/image" Target="../media/image117.png"/><Relationship Id="rId2" Type="http://schemas.openxmlformats.org/officeDocument/2006/relationships/notesSlide" Target="../notesSlides/notesSlide17.xml"/><Relationship Id="rId16" Type="http://schemas.openxmlformats.org/officeDocument/2006/relationships/image" Target="../media/image116.png"/><Relationship Id="rId20"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12.png"/><Relationship Id="rId11" Type="http://schemas.openxmlformats.org/officeDocument/2006/relationships/image" Target="../media/image113.png"/><Relationship Id="rId5" Type="http://schemas.openxmlformats.org/officeDocument/2006/relationships/image" Target="../media/image111.png"/><Relationship Id="rId15" Type="http://schemas.openxmlformats.org/officeDocument/2006/relationships/hyperlink" Target="https://dl.acm.org/doi/10.1145/2535925" TargetMode="External"/><Relationship Id="rId10" Type="http://schemas.openxmlformats.org/officeDocument/2006/relationships/image" Target="../media/image1100.png"/><Relationship Id="rId19" Type="http://schemas.openxmlformats.org/officeDocument/2006/relationships/image" Target="../media/image119.png"/><Relationship Id="rId4" Type="http://schemas.openxmlformats.org/officeDocument/2006/relationships/image" Target="../media/image110.png"/><Relationship Id="rId14" Type="http://schemas.openxmlformats.org/officeDocument/2006/relationships/hyperlink" Target="https://arxiv.org/pdf/2503.05136"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www.ayoub-benaissa.com/blog/homomorphic-encryption-types/" TargetMode="External"/><Relationship Id="rId5" Type="http://schemas.openxmlformats.org/officeDocument/2006/relationships/hyperlink" Target="https://en.wikipedia.org/wiki/Directed_acyclic_graph" TargetMode="External"/><Relationship Id="rId4" Type="http://schemas.openxmlformats.org/officeDocument/2006/relationships/image" Target="../media/image121.png"/></Relationships>
</file>

<file path=ppt/slides/_rels/slide20.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png"/><Relationship Id="rId7" Type="http://schemas.openxmlformats.org/officeDocument/2006/relationships/image" Target="../media/image12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hyperlink" Target="https://eprint.iacr.org/2012/144.pdf"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35.png"/><Relationship Id="rId3" Type="http://schemas.openxmlformats.org/officeDocument/2006/relationships/image" Target="../media/image1.png"/><Relationship Id="rId7" Type="http://schemas.openxmlformats.org/officeDocument/2006/relationships/image" Target="../media/image129.png"/><Relationship Id="rId12" Type="http://schemas.openxmlformats.org/officeDocument/2006/relationships/image" Target="../media/image13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127.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 Id="rId14" Type="http://schemas.openxmlformats.org/officeDocument/2006/relationships/hyperlink" Target="https://eprint.iacr.org/2012/144.pdf"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png"/><Relationship Id="rId7" Type="http://schemas.openxmlformats.org/officeDocument/2006/relationships/image" Target="../media/image137.png"/><Relationship Id="rId12" Type="http://schemas.openxmlformats.org/officeDocument/2006/relationships/image" Target="../media/image14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27.png"/><Relationship Id="rId15" Type="http://schemas.openxmlformats.org/officeDocument/2006/relationships/hyperlink" Target="https://eprint.iacr.org/2012/144.pdf" TargetMode="External"/><Relationship Id="rId10" Type="http://schemas.openxmlformats.org/officeDocument/2006/relationships/image" Target="../media/image140.png"/><Relationship Id="rId4" Type="http://schemas.openxmlformats.org/officeDocument/2006/relationships/image" Target="../media/image126.png"/><Relationship Id="rId9" Type="http://schemas.openxmlformats.org/officeDocument/2006/relationships/image" Target="../media/image139.png"/><Relationship Id="rId14" Type="http://schemas.openxmlformats.org/officeDocument/2006/relationships/image" Target="../media/image144.png"/></Relationships>
</file>

<file path=ppt/slides/_rels/slide23.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image" Target="../media/image151.png"/><Relationship Id="rId18" Type="http://schemas.openxmlformats.org/officeDocument/2006/relationships/image" Target="../media/image156.png"/><Relationship Id="rId3" Type="http://schemas.openxmlformats.org/officeDocument/2006/relationships/image" Target="../media/image1.png"/><Relationship Id="rId7" Type="http://schemas.openxmlformats.org/officeDocument/2006/relationships/image" Target="../media/image137.png"/><Relationship Id="rId12" Type="http://schemas.openxmlformats.org/officeDocument/2006/relationships/image" Target="../media/image150.png"/><Relationship Id="rId17" Type="http://schemas.openxmlformats.org/officeDocument/2006/relationships/image" Target="../media/image155.png"/><Relationship Id="rId2" Type="http://schemas.openxmlformats.org/officeDocument/2006/relationships/notesSlide" Target="../notesSlides/notesSlide23.xml"/><Relationship Id="rId16" Type="http://schemas.openxmlformats.org/officeDocument/2006/relationships/image" Target="../media/image154.png"/><Relationship Id="rId1" Type="http://schemas.openxmlformats.org/officeDocument/2006/relationships/slideLayout" Target="../slideLayouts/slideLayout2.xml"/><Relationship Id="rId6" Type="http://schemas.openxmlformats.org/officeDocument/2006/relationships/image" Target="../media/image145.png"/><Relationship Id="rId11" Type="http://schemas.openxmlformats.org/officeDocument/2006/relationships/image" Target="../media/image149.png"/><Relationship Id="rId5" Type="http://schemas.openxmlformats.org/officeDocument/2006/relationships/image" Target="../media/image127.png"/><Relationship Id="rId15" Type="http://schemas.openxmlformats.org/officeDocument/2006/relationships/image" Target="../media/image153.png"/><Relationship Id="rId10" Type="http://schemas.openxmlformats.org/officeDocument/2006/relationships/image" Target="../media/image148.png"/><Relationship Id="rId19" Type="http://schemas.openxmlformats.org/officeDocument/2006/relationships/hyperlink" Target="https://eprint.iacr.org/2012/144.pdf" TargetMode="External"/><Relationship Id="rId4" Type="http://schemas.openxmlformats.org/officeDocument/2006/relationships/image" Target="../media/image126.png"/><Relationship Id="rId9" Type="http://schemas.openxmlformats.org/officeDocument/2006/relationships/image" Target="../media/image147.png"/><Relationship Id="rId14" Type="http://schemas.openxmlformats.org/officeDocument/2006/relationships/image" Target="../media/image152.png"/></Relationships>
</file>

<file path=ppt/slides/_rels/slide24.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9.png"/><Relationship Id="rId18" Type="http://schemas.openxmlformats.org/officeDocument/2006/relationships/image" Target="../media/image164.png"/><Relationship Id="rId3" Type="http://schemas.openxmlformats.org/officeDocument/2006/relationships/image" Target="../media/image1.png"/><Relationship Id="rId7" Type="http://schemas.openxmlformats.org/officeDocument/2006/relationships/image" Target="../media/image151.png"/><Relationship Id="rId12" Type="http://schemas.openxmlformats.org/officeDocument/2006/relationships/image" Target="../media/image158.png"/><Relationship Id="rId17" Type="http://schemas.openxmlformats.org/officeDocument/2006/relationships/image" Target="../media/image163.png"/><Relationship Id="rId2" Type="http://schemas.openxmlformats.org/officeDocument/2006/relationships/notesSlide" Target="../notesSlides/notesSlide24.xml"/><Relationship Id="rId16"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hyperlink" Target="https://eprint.iacr.org/2012/144.pdf" TargetMode="External"/><Relationship Id="rId5" Type="http://schemas.openxmlformats.org/officeDocument/2006/relationships/image" Target="../media/image127.png"/><Relationship Id="rId15" Type="http://schemas.openxmlformats.org/officeDocument/2006/relationships/image" Target="../media/image161.png"/><Relationship Id="rId10" Type="http://schemas.openxmlformats.org/officeDocument/2006/relationships/image" Target="../media/image157.png"/><Relationship Id="rId4" Type="http://schemas.openxmlformats.org/officeDocument/2006/relationships/image" Target="../media/image126.png"/><Relationship Id="rId9" Type="http://schemas.openxmlformats.org/officeDocument/2006/relationships/image" Target="../media/image137.png"/><Relationship Id="rId14" Type="http://schemas.openxmlformats.org/officeDocument/2006/relationships/image" Target="../media/image160.png"/></Relationships>
</file>

<file path=ppt/slides/_rels/slide25.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png"/><Relationship Id="rId7" Type="http://schemas.openxmlformats.org/officeDocument/2006/relationships/image" Target="../media/image168.png"/><Relationship Id="rId12" Type="http://schemas.openxmlformats.org/officeDocument/2006/relationships/image" Target="../media/image17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66.png"/><Relationship Id="rId10" Type="http://schemas.openxmlformats.org/officeDocument/2006/relationships/image" Target="../media/image171.png"/><Relationship Id="rId4" Type="http://schemas.openxmlformats.org/officeDocument/2006/relationships/image" Target="../media/image165.png"/><Relationship Id="rId9" Type="http://schemas.openxmlformats.org/officeDocument/2006/relationships/image" Target="../media/image170.png"/></Relationships>
</file>

<file path=ppt/slides/_rels/slide26.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1.png"/><Relationship Id="rId7" Type="http://schemas.openxmlformats.org/officeDocument/2006/relationships/image" Target="../media/image17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76.png"/><Relationship Id="rId5" Type="http://schemas.openxmlformats.org/officeDocument/2006/relationships/image" Target="../media/image175.png"/><Relationship Id="rId10" Type="http://schemas.openxmlformats.org/officeDocument/2006/relationships/hyperlink" Target="https://eprint.iacr.org/2012/144.pdf" TargetMode="External"/><Relationship Id="rId4" Type="http://schemas.openxmlformats.org/officeDocument/2006/relationships/image" Target="../media/image174.png"/><Relationship Id="rId9" Type="http://schemas.openxmlformats.org/officeDocument/2006/relationships/image" Target="../media/image179.png"/></Relationships>
</file>

<file path=ppt/slides/_rels/slide27.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18" Type="http://schemas.openxmlformats.org/officeDocument/2006/relationships/image" Target="../media/image193.png"/><Relationship Id="rId3" Type="http://schemas.openxmlformats.org/officeDocument/2006/relationships/image" Target="../media/image1.png"/><Relationship Id="rId7" Type="http://schemas.openxmlformats.org/officeDocument/2006/relationships/image" Target="../media/image182.png"/><Relationship Id="rId12" Type="http://schemas.openxmlformats.org/officeDocument/2006/relationships/image" Target="../media/image187.png"/><Relationship Id="rId17" Type="http://schemas.openxmlformats.org/officeDocument/2006/relationships/image" Target="../media/image192.png"/><Relationship Id="rId2" Type="http://schemas.openxmlformats.org/officeDocument/2006/relationships/notesSlide" Target="../notesSlides/notesSlide27.xml"/><Relationship Id="rId16"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10" Type="http://schemas.openxmlformats.org/officeDocument/2006/relationships/image" Target="../media/image185.png"/><Relationship Id="rId4" Type="http://schemas.openxmlformats.org/officeDocument/2006/relationships/hyperlink" Target="https://eprint.iacr.org/2012/144.pdf" TargetMode="External"/><Relationship Id="rId9" Type="http://schemas.openxmlformats.org/officeDocument/2006/relationships/image" Target="../media/image184.png"/><Relationship Id="rId14" Type="http://schemas.openxmlformats.org/officeDocument/2006/relationships/image" Target="../media/image18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6" Type="http://schemas.openxmlformats.org/officeDocument/2006/relationships/image" Target="../media/image201.png"/><Relationship Id="rId13" Type="http://schemas.openxmlformats.org/officeDocument/2006/relationships/image" Target="../media/image202.png"/><Relationship Id="rId18" Type="http://schemas.openxmlformats.org/officeDocument/2006/relationships/image" Target="../media/image207.png"/><Relationship Id="rId39" Type="http://schemas.openxmlformats.org/officeDocument/2006/relationships/image" Target="../media/image181.png"/><Relationship Id="rId21" Type="http://schemas.openxmlformats.org/officeDocument/2006/relationships/image" Target="../media/image210.png"/><Relationship Id="rId34" Type="http://schemas.openxmlformats.org/officeDocument/2006/relationships/image" Target="../media/image1940.png"/><Relationship Id="rId7" Type="http://schemas.openxmlformats.org/officeDocument/2006/relationships/image" Target="../media/image196.png"/><Relationship Id="rId25" Type="http://schemas.openxmlformats.org/officeDocument/2006/relationships/image" Target="../media/image200.png"/><Relationship Id="rId12" Type="http://schemas.openxmlformats.org/officeDocument/2006/relationships/image" Target="../media/image2010.png"/><Relationship Id="rId17" Type="http://schemas.openxmlformats.org/officeDocument/2006/relationships/image" Target="../media/image206.png"/><Relationship Id="rId33" Type="http://schemas.openxmlformats.org/officeDocument/2006/relationships/image" Target="../media/image218.png"/><Relationship Id="rId38" Type="http://schemas.openxmlformats.org/officeDocument/2006/relationships/image" Target="../media/image180.png"/><Relationship Id="rId2" Type="http://schemas.openxmlformats.org/officeDocument/2006/relationships/notesSlide" Target="../notesSlides/notesSlide29.xml"/><Relationship Id="rId16" Type="http://schemas.openxmlformats.org/officeDocument/2006/relationships/image" Target="../media/image205.png"/><Relationship Id="rId20" Type="http://schemas.openxmlformats.org/officeDocument/2006/relationships/image" Target="../media/image209.png"/><Relationship Id="rId29" Type="http://schemas.openxmlformats.org/officeDocument/2006/relationships/image" Target="../media/image214.png"/><Relationship Id="rId41" Type="http://schemas.openxmlformats.org/officeDocument/2006/relationships/image" Target="../media/image189.png"/><Relationship Id="rId1" Type="http://schemas.openxmlformats.org/officeDocument/2006/relationships/slideLayout" Target="../slideLayouts/slideLayout2.xml"/><Relationship Id="rId6" Type="http://schemas.openxmlformats.org/officeDocument/2006/relationships/image" Target="../media/image195.png"/><Relationship Id="rId24" Type="http://schemas.openxmlformats.org/officeDocument/2006/relationships/image" Target="../media/image199.png"/><Relationship Id="rId11" Type="http://schemas.openxmlformats.org/officeDocument/2006/relationships/image" Target="../media/image2000.png"/><Relationship Id="rId32" Type="http://schemas.openxmlformats.org/officeDocument/2006/relationships/image" Target="../media/image217.png"/><Relationship Id="rId37" Type="http://schemas.openxmlformats.org/officeDocument/2006/relationships/image" Target="../media/image221.png"/><Relationship Id="rId40" Type="http://schemas.openxmlformats.org/officeDocument/2006/relationships/image" Target="../media/image182.png"/><Relationship Id="rId5" Type="http://schemas.openxmlformats.org/officeDocument/2006/relationships/image" Target="../media/image194.png"/><Relationship Id="rId23" Type="http://schemas.openxmlformats.org/officeDocument/2006/relationships/image" Target="../media/image212.png"/><Relationship Id="rId15" Type="http://schemas.openxmlformats.org/officeDocument/2006/relationships/image" Target="../media/image204.png"/><Relationship Id="rId28" Type="http://schemas.openxmlformats.org/officeDocument/2006/relationships/image" Target="../media/image213.png"/><Relationship Id="rId36" Type="http://schemas.openxmlformats.org/officeDocument/2006/relationships/image" Target="../media/image220.png"/><Relationship Id="rId19" Type="http://schemas.openxmlformats.org/officeDocument/2006/relationships/image" Target="../media/image208.png"/><Relationship Id="rId31" Type="http://schemas.openxmlformats.org/officeDocument/2006/relationships/image" Target="../media/image216.png"/><Relationship Id="rId4" Type="http://schemas.openxmlformats.org/officeDocument/2006/relationships/image" Target="../media/image1930.png"/><Relationship Id="rId9" Type="http://schemas.openxmlformats.org/officeDocument/2006/relationships/image" Target="../media/image198.png"/><Relationship Id="rId14" Type="http://schemas.openxmlformats.org/officeDocument/2006/relationships/image" Target="../media/image203.png"/><Relationship Id="rId27" Type="http://schemas.openxmlformats.org/officeDocument/2006/relationships/image" Target="../media/image211.png"/><Relationship Id="rId30" Type="http://schemas.openxmlformats.org/officeDocument/2006/relationships/image" Target="../media/image215.png"/><Relationship Id="rId35" Type="http://schemas.openxmlformats.org/officeDocument/2006/relationships/image" Target="../media/image219.png"/><Relationship Id="rId8" Type="http://schemas.openxmlformats.org/officeDocument/2006/relationships/image" Target="../media/image197.png"/><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3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www.youtube.com/watch?v=SEBdYXxijSo" TargetMode="External"/><Relationship Id="rId5" Type="http://schemas.openxmlformats.org/officeDocument/2006/relationships/image" Target="../media/image223.png"/><Relationship Id="rId4" Type="http://schemas.openxmlformats.org/officeDocument/2006/relationships/image" Target="../media/image222.png"/></Relationships>
</file>

<file path=ppt/slides/_rels/slide31.xml.rels><?xml version="1.0" encoding="UTF-8" standalone="yes"?>
<Relationships xmlns="http://schemas.openxmlformats.org/package/2006/relationships"><Relationship Id="rId3" Type="http://schemas.openxmlformats.org/officeDocument/2006/relationships/hyperlink" Target="https://eprint.iacr.org/2014/1025"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eprint.iacr.org/2021/1081.pdf" TargetMode="External"/><Relationship Id="rId4" Type="http://schemas.openxmlformats.org/officeDocument/2006/relationships/hyperlink" Target="https://eprint.iacr.org/2017/1142.pdf"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s://eprint.iacr.org/2022/368" TargetMode="External"/><Relationship Id="rId13" Type="http://schemas.openxmlformats.org/officeDocument/2006/relationships/hyperlink" Target="https://eprint.iacr.org/2024/482.pdf" TargetMode="External"/><Relationship Id="rId18" Type="http://schemas.openxmlformats.org/officeDocument/2006/relationships/hyperlink" Target="https://eprint.iacr.org/2023/1733" TargetMode="External"/><Relationship Id="rId3" Type="http://schemas.openxmlformats.org/officeDocument/2006/relationships/image" Target="../media/image1.png"/><Relationship Id="rId21" Type="http://schemas.openxmlformats.org/officeDocument/2006/relationships/hyperlink" Target="https://eprint.iacr.org/2024/266" TargetMode="External"/><Relationship Id="rId7" Type="http://schemas.openxmlformats.org/officeDocument/2006/relationships/hyperlink" Target="https://eprint.iacr.org/2021/1081" TargetMode="External"/><Relationship Id="rId12" Type="http://schemas.openxmlformats.org/officeDocument/2006/relationships/hyperlink" Target="https://eprint.iacr.org/2022/981" TargetMode="External"/><Relationship Id="rId17" Type="http://schemas.openxmlformats.org/officeDocument/2006/relationships/hyperlink" Target="https://eprint.iacr.org/2025/1352.pdf" TargetMode="External"/><Relationship Id="rId2" Type="http://schemas.openxmlformats.org/officeDocument/2006/relationships/notesSlide" Target="../notesSlides/notesSlide32.xml"/><Relationship Id="rId16" Type="http://schemas.openxmlformats.org/officeDocument/2006/relationships/hyperlink" Target="https://eprint.iacr.org/2023/1438" TargetMode="External"/><Relationship Id="rId20" Type="http://schemas.openxmlformats.org/officeDocument/2006/relationships/hyperlink" Target="https://dl.acm.org/doi/10.1145/3658644.3690233" TargetMode="External"/><Relationship Id="rId1" Type="http://schemas.openxmlformats.org/officeDocument/2006/relationships/slideLayout" Target="../slideLayouts/slideLayout2.xml"/><Relationship Id="rId6" Type="http://schemas.openxmlformats.org/officeDocument/2006/relationships/hyperlink" Target="https://www.usenix.org/system/files/osdi21-ahmad.pdf" TargetMode="External"/><Relationship Id="rId11" Type="http://schemas.openxmlformats.org/officeDocument/2006/relationships/hyperlink" Target="https://eprint.iacr.org/2022/949" TargetMode="External"/><Relationship Id="rId5" Type="http://schemas.openxmlformats.org/officeDocument/2006/relationships/hyperlink" Target="https://eprint.iacr.org/2019/1483.pdf" TargetMode="External"/><Relationship Id="rId15" Type="http://schemas.openxmlformats.org/officeDocument/2006/relationships/hyperlink" Target="https://eprint.iacr.org/2023/452" TargetMode="External"/><Relationship Id="rId10" Type="http://schemas.openxmlformats.org/officeDocument/2006/relationships/hyperlink" Target="https://eprint.iacr.org/2022/081.pdf" TargetMode="External"/><Relationship Id="rId19" Type="http://schemas.openxmlformats.org/officeDocument/2006/relationships/hyperlink" Target="https://www.usenix.org/system/files/usenixsecurity24-menon.pdf" TargetMode="External"/><Relationship Id="rId4" Type="http://schemas.openxmlformats.org/officeDocument/2006/relationships/hyperlink" Target="https://eprint.iacr.org/2017/1142.pdf" TargetMode="External"/><Relationship Id="rId9" Type="http://schemas.openxmlformats.org/officeDocument/2006/relationships/hyperlink" Target="https://eprint.iacr.org/2024/1165" TargetMode="External"/><Relationship Id="rId14" Type="http://schemas.openxmlformats.org/officeDocument/2006/relationships/hyperlink" Target="https://eprint.iacr.org/2023/1072" TargetMode="External"/><Relationship Id="rId22" Type="http://schemas.openxmlformats.org/officeDocument/2006/relationships/hyperlink" Target="https://arxiv.org/abs/2405.17307"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eprint.iacr.org/2022/981.pdf"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29.png"/><Relationship Id="rId13" Type="http://schemas.openxmlformats.org/officeDocument/2006/relationships/image" Target="../media/image2340.png"/><Relationship Id="rId18" Type="http://schemas.openxmlformats.org/officeDocument/2006/relationships/image" Target="../media/image238.png"/><Relationship Id="rId3" Type="http://schemas.openxmlformats.org/officeDocument/2006/relationships/image" Target="../media/image224.png"/><Relationship Id="rId21" Type="http://schemas.openxmlformats.org/officeDocument/2006/relationships/image" Target="../media/image241.png"/><Relationship Id="rId7" Type="http://schemas.openxmlformats.org/officeDocument/2006/relationships/image" Target="../media/image228.png"/><Relationship Id="rId12" Type="http://schemas.openxmlformats.org/officeDocument/2006/relationships/image" Target="../media/image234.png"/><Relationship Id="rId17" Type="http://schemas.openxmlformats.org/officeDocument/2006/relationships/image" Target="../media/image237.png"/><Relationship Id="rId2" Type="http://schemas.openxmlformats.org/officeDocument/2006/relationships/notesSlide" Target="../notesSlides/notesSlide35.xml"/><Relationship Id="rId16" Type="http://schemas.openxmlformats.org/officeDocument/2006/relationships/image" Target="../media/image236.png"/><Relationship Id="rId20" Type="http://schemas.openxmlformats.org/officeDocument/2006/relationships/image" Target="../media/image240.png"/><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3.png"/><Relationship Id="rId5" Type="http://schemas.openxmlformats.org/officeDocument/2006/relationships/image" Target="../media/image226.png"/><Relationship Id="rId15" Type="http://schemas.openxmlformats.org/officeDocument/2006/relationships/image" Target="../media/image255.png"/><Relationship Id="rId10" Type="http://schemas.openxmlformats.org/officeDocument/2006/relationships/image" Target="../media/image232.png"/><Relationship Id="rId19" Type="http://schemas.openxmlformats.org/officeDocument/2006/relationships/image" Target="../media/image239.png"/><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 Id="rId22" Type="http://schemas.openxmlformats.org/officeDocument/2006/relationships/image" Target="../media/image242.png"/></Relationships>
</file>

<file path=ppt/slides/_rels/slide36.xml.rels><?xml version="1.0" encoding="UTF-8" standalone="yes"?>
<Relationships xmlns="http://schemas.openxmlformats.org/package/2006/relationships"><Relationship Id="rId3" Type="http://schemas.openxmlformats.org/officeDocument/2006/relationships/hyperlink" Target="https://eprint.iacr.org/2022/949.pdf"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247.png"/><Relationship Id="rId13" Type="http://schemas.openxmlformats.org/officeDocument/2006/relationships/image" Target="../media/image253.png"/><Relationship Id="rId3" Type="http://schemas.openxmlformats.org/officeDocument/2006/relationships/image" Target="../media/image243.png"/><Relationship Id="rId7" Type="http://schemas.openxmlformats.org/officeDocument/2006/relationships/image" Target="../media/image246.png"/><Relationship Id="rId12" Type="http://schemas.openxmlformats.org/officeDocument/2006/relationships/image" Target="../media/image25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45.png"/><Relationship Id="rId11" Type="http://schemas.openxmlformats.org/officeDocument/2006/relationships/image" Target="../media/image250.png"/><Relationship Id="rId5" Type="http://schemas.openxmlformats.org/officeDocument/2006/relationships/image" Target="../media/image2440.png"/><Relationship Id="rId10" Type="http://schemas.openxmlformats.org/officeDocument/2006/relationships/image" Target="../media/image249.png"/><Relationship Id="rId4" Type="http://schemas.openxmlformats.org/officeDocument/2006/relationships/image" Target="../media/image244.png"/><Relationship Id="rId9" Type="http://schemas.openxmlformats.org/officeDocument/2006/relationships/image" Target="../media/image248.png"/><Relationship Id="rId14" Type="http://schemas.openxmlformats.org/officeDocument/2006/relationships/image" Target="../media/image254.png"/></Relationships>
</file>

<file path=ppt/slides/_rels/slide38.xml.rels><?xml version="1.0" encoding="UTF-8" standalone="yes"?>
<Relationships xmlns="http://schemas.openxmlformats.org/package/2006/relationships"><Relationship Id="rId8" Type="http://schemas.openxmlformats.org/officeDocument/2006/relationships/image" Target="../media/image2540.png"/><Relationship Id="rId13" Type="http://schemas.openxmlformats.org/officeDocument/2006/relationships/image" Target="../media/image259.png"/><Relationship Id="rId3" Type="http://schemas.openxmlformats.org/officeDocument/2006/relationships/image" Target="../media/image1.png"/><Relationship Id="rId7" Type="http://schemas.openxmlformats.org/officeDocument/2006/relationships/image" Target="../media/image2530.png"/><Relationship Id="rId12" Type="http://schemas.openxmlformats.org/officeDocument/2006/relationships/image" Target="../media/image258.png"/><Relationship Id="rId2" Type="http://schemas.openxmlformats.org/officeDocument/2006/relationships/notesSlide" Target="../notesSlides/notesSlide38.xml"/><Relationship Id="rId16" Type="http://schemas.openxmlformats.org/officeDocument/2006/relationships/image" Target="../media/image262.png"/><Relationship Id="rId1" Type="http://schemas.openxmlformats.org/officeDocument/2006/relationships/slideLayout" Target="../slideLayouts/slideLayout2.xml"/><Relationship Id="rId6" Type="http://schemas.openxmlformats.org/officeDocument/2006/relationships/image" Target="../media/image252.png"/><Relationship Id="rId11" Type="http://schemas.openxmlformats.org/officeDocument/2006/relationships/image" Target="../media/image257.png"/><Relationship Id="rId5" Type="http://schemas.openxmlformats.org/officeDocument/2006/relationships/image" Target="../media/image256.png"/><Relationship Id="rId15" Type="http://schemas.openxmlformats.org/officeDocument/2006/relationships/image" Target="../media/image261.png"/><Relationship Id="rId10" Type="http://schemas.openxmlformats.org/officeDocument/2006/relationships/image" Target="../media/image2560.png"/><Relationship Id="rId4" Type="http://schemas.openxmlformats.org/officeDocument/2006/relationships/image" Target="../media/image2500.png"/><Relationship Id="rId9" Type="http://schemas.openxmlformats.org/officeDocument/2006/relationships/image" Target="../media/image255.png"/><Relationship Id="rId14" Type="http://schemas.openxmlformats.org/officeDocument/2006/relationships/image" Target="../media/image26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3.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notesSlide" Target="../notesSlides/notesSlide40.xml"/><Relationship Id="rId1" Type="http://schemas.openxmlformats.org/officeDocument/2006/relationships/slideLayout" Target="../slideLayouts/slideLayout12.xml"/><Relationship Id="rId4" Type="http://schemas.openxmlformats.org/officeDocument/2006/relationships/image" Target="../media/image265.png"/></Relationships>
</file>

<file path=ppt/slides/_rels/slide42.xml.rels><?xml version="1.0" encoding="UTF-8" standalone="yes"?>
<Relationships xmlns="http://schemas.openxmlformats.org/package/2006/relationships"><Relationship Id="rId8" Type="http://schemas.openxmlformats.org/officeDocument/2006/relationships/image" Target="../media/image271.png"/><Relationship Id="rId3" Type="http://schemas.openxmlformats.org/officeDocument/2006/relationships/image" Target="../media/image266.png"/><Relationship Id="rId7" Type="http://schemas.openxmlformats.org/officeDocument/2006/relationships/image" Target="../media/image27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269.png"/><Relationship Id="rId5" Type="http://schemas.openxmlformats.org/officeDocument/2006/relationships/image" Target="../media/image268.png"/><Relationship Id="rId4" Type="http://schemas.openxmlformats.org/officeDocument/2006/relationships/image" Target="../media/image267.png"/><Relationship Id="rId9" Type="http://schemas.openxmlformats.org/officeDocument/2006/relationships/image" Target="../media/image272.png"/></Relationships>
</file>

<file path=ppt/slides/_rels/slide43.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275.png"/><Relationship Id="rId4" Type="http://schemas.openxmlformats.org/officeDocument/2006/relationships/image" Target="../media/image274.png"/></Relationships>
</file>

<file path=ppt/slides/_rels/slide44.xml.rels><?xml version="1.0" encoding="UTF-8" standalone="yes"?>
<Relationships xmlns="http://schemas.openxmlformats.org/package/2006/relationships"><Relationship Id="rId3" Type="http://schemas.openxmlformats.org/officeDocument/2006/relationships/image" Target="../media/image276.png"/><Relationship Id="rId2" Type="http://schemas.openxmlformats.org/officeDocument/2006/relationships/notesSlide" Target="../notesSlides/notesSlide43.xml"/><Relationship Id="rId1" Type="http://schemas.openxmlformats.org/officeDocument/2006/relationships/slideLayout" Target="../slideLayouts/slideLayout12.xml"/><Relationship Id="rId5" Type="http://schemas.openxmlformats.org/officeDocument/2006/relationships/image" Target="../media/image278.png"/><Relationship Id="rId4" Type="http://schemas.openxmlformats.org/officeDocument/2006/relationships/image" Target="../media/image277.png"/></Relationships>
</file>

<file path=ppt/slides/_rels/slide45.xml.rels><?xml version="1.0" encoding="UTF-8" standalone="yes"?>
<Relationships xmlns="http://schemas.openxmlformats.org/package/2006/relationships"><Relationship Id="rId2" Type="http://schemas.openxmlformats.org/officeDocument/2006/relationships/image" Target="../media/image279.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8" Type="http://schemas.openxmlformats.org/officeDocument/2006/relationships/image" Target="../media/image286.png"/><Relationship Id="rId3" Type="http://schemas.openxmlformats.org/officeDocument/2006/relationships/image" Target="../media/image281.png"/><Relationship Id="rId7" Type="http://schemas.openxmlformats.org/officeDocument/2006/relationships/image" Target="../media/image285.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284.png"/><Relationship Id="rId5" Type="http://schemas.openxmlformats.org/officeDocument/2006/relationships/image" Target="../media/image283.png"/><Relationship Id="rId4" Type="http://schemas.openxmlformats.org/officeDocument/2006/relationships/image" Target="../media/image282.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288.png"/></Relationships>
</file>

<file path=ppt/slides/_rels/slide53.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29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7F00BA-292C-4753-A201-BADCE0E89915}"/>
              </a:ext>
            </a:extLst>
          </p:cNvPr>
          <p:cNvSpPr>
            <a:spLocks noGrp="1"/>
          </p:cNvSpPr>
          <p:nvPr>
            <p:ph type="ctrTitle"/>
          </p:nvPr>
        </p:nvSpPr>
        <p:spPr>
          <a:xfrm>
            <a:off x="571500" y="1591874"/>
            <a:ext cx="11048999" cy="2164233"/>
          </a:xfrm>
        </p:spPr>
        <p:txBody>
          <a:bodyPr>
            <a:normAutofit/>
          </a:bodyPr>
          <a:lstStyle/>
          <a:p>
            <a:r>
              <a:rPr lang="en-US" sz="4800" dirty="0"/>
              <a:t>Private Information Retrieval</a:t>
            </a:r>
          </a:p>
        </p:txBody>
      </p:sp>
      <p:sp>
        <p:nvSpPr>
          <p:cNvPr id="3" name="Подзаголовок 2">
            <a:extLst>
              <a:ext uri="{FF2B5EF4-FFF2-40B4-BE49-F238E27FC236}">
                <a16:creationId xmlns:a16="http://schemas.microsoft.com/office/drawing/2014/main" id="{31E9EC06-0D8F-40A3-AA3E-5682986DAB30}"/>
              </a:ext>
            </a:extLst>
          </p:cNvPr>
          <p:cNvSpPr>
            <a:spLocks noGrp="1"/>
          </p:cNvSpPr>
          <p:nvPr>
            <p:ph type="subTitle" idx="1"/>
          </p:nvPr>
        </p:nvSpPr>
        <p:spPr>
          <a:xfrm>
            <a:off x="147144" y="6021953"/>
            <a:ext cx="5424981" cy="669777"/>
          </a:xfrm>
        </p:spPr>
        <p:txBody>
          <a:bodyPr>
            <a:normAutofit fontScale="92500" lnSpcReduction="10000"/>
          </a:bodyPr>
          <a:lstStyle/>
          <a:p>
            <a:pPr algn="l"/>
            <a:r>
              <a:rPr lang="en-US" sz="1800" dirty="0"/>
              <a:t>Student: Artur </a:t>
            </a:r>
            <a:r>
              <a:rPr lang="en-US" sz="1800" dirty="0" err="1"/>
              <a:t>Iasenovets</a:t>
            </a:r>
            <a:r>
              <a:rPr lang="en-US" sz="1800" dirty="0"/>
              <a:t> (</a:t>
            </a:r>
            <a:r>
              <a:rPr lang="zh-CN" altLang="en-US" sz="1800" dirty="0"/>
              <a:t>苗藤</a:t>
            </a:r>
            <a:r>
              <a:rPr lang="en-US" altLang="zh-CN" sz="1800" dirty="0"/>
              <a:t>)</a:t>
            </a:r>
            <a:r>
              <a:rPr lang="zh-CN" altLang="en-US" sz="1800" dirty="0"/>
              <a:t> </a:t>
            </a:r>
            <a:r>
              <a:rPr lang="en-US" altLang="zh-CN" sz="1800" dirty="0"/>
              <a:t>– L202420002</a:t>
            </a:r>
          </a:p>
          <a:p>
            <a:pPr algn="l"/>
            <a:r>
              <a:rPr lang="en-US" altLang="zh-CN" sz="1800" dirty="0"/>
              <a:t>Supervisor: Tang Fei (</a:t>
            </a:r>
            <a:r>
              <a:rPr lang="zh-CN" altLang="en-US" sz="1800" dirty="0"/>
              <a:t>唐飞</a:t>
            </a:r>
            <a:r>
              <a:rPr lang="en-US" altLang="zh-CN" sz="1800" dirty="0"/>
              <a:t>)</a:t>
            </a:r>
          </a:p>
        </p:txBody>
      </p:sp>
      <p:sp>
        <p:nvSpPr>
          <p:cNvPr id="6" name="Подзаголовок 2">
            <a:extLst>
              <a:ext uri="{FF2B5EF4-FFF2-40B4-BE49-F238E27FC236}">
                <a16:creationId xmlns:a16="http://schemas.microsoft.com/office/drawing/2014/main" id="{AF8C64C5-9A4E-4548-8DA9-6BC0214E180A}"/>
              </a:ext>
            </a:extLst>
          </p:cNvPr>
          <p:cNvSpPr txBox="1">
            <a:spLocks/>
          </p:cNvSpPr>
          <p:nvPr/>
        </p:nvSpPr>
        <p:spPr>
          <a:xfrm>
            <a:off x="7199587" y="6356842"/>
            <a:ext cx="4845269" cy="47273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800" dirty="0"/>
              <a:t>September, 2025</a:t>
            </a:r>
          </a:p>
        </p:txBody>
      </p:sp>
      <p:sp>
        <p:nvSpPr>
          <p:cNvPr id="5" name="文本框 9">
            <a:extLst>
              <a:ext uri="{FF2B5EF4-FFF2-40B4-BE49-F238E27FC236}">
                <a16:creationId xmlns:a16="http://schemas.microsoft.com/office/drawing/2014/main" id="{129A5202-3357-4DC3-8F63-2649FAA704AE}"/>
              </a:ext>
            </a:extLst>
          </p:cNvPr>
          <p:cNvSpPr txBox="1"/>
          <p:nvPr/>
        </p:nvSpPr>
        <p:spPr>
          <a:xfrm>
            <a:off x="1299595" y="183700"/>
            <a:ext cx="4174732" cy="430164"/>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Title slide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7" name="组合 22">
            <a:extLst>
              <a:ext uri="{FF2B5EF4-FFF2-40B4-BE49-F238E27FC236}">
                <a16:creationId xmlns:a16="http://schemas.microsoft.com/office/drawing/2014/main" id="{C81BFEE3-B757-49AF-90A6-D65BD1D4DBDE}"/>
              </a:ext>
            </a:extLst>
          </p:cNvPr>
          <p:cNvGrpSpPr/>
          <p:nvPr/>
        </p:nvGrpSpPr>
        <p:grpSpPr>
          <a:xfrm>
            <a:off x="11236541" y="460205"/>
            <a:ext cx="258653" cy="233204"/>
            <a:chOff x="3720691" y="2824413"/>
            <a:chExt cx="1341120" cy="1209172"/>
          </a:xfrm>
        </p:grpSpPr>
        <p:sp>
          <p:nvSpPr>
            <p:cNvPr id="8" name="Freeform 5">
              <a:extLst>
                <a:ext uri="{FF2B5EF4-FFF2-40B4-BE49-F238E27FC236}">
                  <a16:creationId xmlns:a16="http://schemas.microsoft.com/office/drawing/2014/main" id="{2FAAF0C5-F374-4B31-8DCC-077658B75589}"/>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9" name="Freeform 5">
              <a:extLst>
                <a:ext uri="{FF2B5EF4-FFF2-40B4-BE49-F238E27FC236}">
                  <a16:creationId xmlns:a16="http://schemas.microsoft.com/office/drawing/2014/main" id="{849CC3F3-878F-41ED-821C-468CCDFC4BE0}"/>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grpSp>
        <p:nvGrpSpPr>
          <p:cNvPr id="10" name="组合 47">
            <a:extLst>
              <a:ext uri="{FF2B5EF4-FFF2-40B4-BE49-F238E27FC236}">
                <a16:creationId xmlns:a16="http://schemas.microsoft.com/office/drawing/2014/main" id="{CD0A3686-4C07-41DC-808E-343291674838}"/>
              </a:ext>
            </a:extLst>
          </p:cNvPr>
          <p:cNvGrpSpPr/>
          <p:nvPr/>
        </p:nvGrpSpPr>
        <p:grpSpPr>
          <a:xfrm>
            <a:off x="10640968" y="1516795"/>
            <a:ext cx="278312" cy="184463"/>
            <a:chOff x="9482595" y="2565731"/>
            <a:chExt cx="278384" cy="184511"/>
          </a:xfrm>
        </p:grpSpPr>
        <p:sp>
          <p:nvSpPr>
            <p:cNvPr id="11" name="椭圆 48">
              <a:extLst>
                <a:ext uri="{FF2B5EF4-FFF2-40B4-BE49-F238E27FC236}">
                  <a16:creationId xmlns:a16="http://schemas.microsoft.com/office/drawing/2014/main" id="{3BE98030-F198-41A8-8BBD-337C26B22B3B}"/>
                </a:ext>
              </a:extLst>
            </p:cNvPr>
            <p:cNvSpPr/>
            <p:nvPr/>
          </p:nvSpPr>
          <p:spPr>
            <a:xfrm>
              <a:off x="9482595" y="2565731"/>
              <a:ext cx="71376" cy="713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2" name="椭圆 49">
              <a:extLst>
                <a:ext uri="{FF2B5EF4-FFF2-40B4-BE49-F238E27FC236}">
                  <a16:creationId xmlns:a16="http://schemas.microsoft.com/office/drawing/2014/main" id="{6A3B71A3-89B5-45B2-888D-EFBC10131105}"/>
                </a:ext>
              </a:extLst>
            </p:cNvPr>
            <p:cNvSpPr/>
            <p:nvPr/>
          </p:nvSpPr>
          <p:spPr>
            <a:xfrm>
              <a:off x="9625979" y="2615242"/>
              <a:ext cx="135000" cy="135000"/>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grpSp>
      <p:sp>
        <p:nvSpPr>
          <p:cNvPr id="13" name="矩形 2">
            <a:extLst>
              <a:ext uri="{FF2B5EF4-FFF2-40B4-BE49-F238E27FC236}">
                <a16:creationId xmlns:a16="http://schemas.microsoft.com/office/drawing/2014/main" id="{071005FA-D731-4833-9383-E9238CEDEDC9}"/>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4" name="图片 3" descr="重庆邮电大学标准校徽 (1)">
            <a:extLst>
              <a:ext uri="{FF2B5EF4-FFF2-40B4-BE49-F238E27FC236}">
                <a16:creationId xmlns:a16="http://schemas.microsoft.com/office/drawing/2014/main" id="{8B5BC98F-0103-42A0-ADAC-1AFC09E728F5}"/>
              </a:ext>
            </a:extLst>
          </p:cNvPr>
          <p:cNvPicPr>
            <a:picLocks noChangeAspect="1"/>
          </p:cNvPicPr>
          <p:nvPr/>
        </p:nvPicPr>
        <p:blipFill>
          <a:blip r:embed="rId3"/>
          <a:stretch>
            <a:fillRect/>
          </a:stretch>
        </p:blipFill>
        <p:spPr>
          <a:xfrm>
            <a:off x="549659" y="190896"/>
            <a:ext cx="612897" cy="612897"/>
          </a:xfrm>
          <a:prstGeom prst="rect">
            <a:avLst/>
          </a:prstGeom>
        </p:spPr>
      </p:pic>
    </p:spTree>
    <p:extLst>
      <p:ext uri="{BB962C8B-B14F-4D97-AF65-F5344CB8AC3E}">
        <p14:creationId xmlns:p14="http://schemas.microsoft.com/office/powerpoint/2010/main" val="2391436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66DD1C0B-BD95-41F4-A0A3-F30CB998453D}"/>
              </a:ext>
            </a:extLst>
          </p:cNvPr>
          <p:cNvSpPr txBox="1"/>
          <p:nvPr/>
        </p:nvSpPr>
        <p:spPr>
          <a:xfrm>
            <a:off x="838200" y="1690688"/>
            <a:ext cx="8532303" cy="3293209"/>
          </a:xfrm>
          <a:prstGeom prst="rect">
            <a:avLst/>
          </a:prstGeom>
          <a:noFill/>
        </p:spPr>
        <p:txBody>
          <a:bodyPr wrap="square">
            <a:spAutoFit/>
          </a:bodyPr>
          <a:lstStyle/>
          <a:p>
            <a:pPr marL="342900" indent="-342900" algn="just">
              <a:buFont typeface="+mj-lt"/>
              <a:buAutoNum type="arabicPeriod"/>
            </a:pPr>
            <a:r>
              <a:rPr lang="en-US" sz="1600" dirty="0"/>
              <a:t>Contents (current slide)</a:t>
            </a:r>
          </a:p>
          <a:p>
            <a:pPr marL="342900" indent="-342900" algn="just">
              <a:buFont typeface="+mj-lt"/>
              <a:buAutoNum type="arabicPeriod"/>
            </a:pPr>
            <a:r>
              <a:rPr lang="en-US" sz="1600" dirty="0"/>
              <a:t>PIR Schemes Taxonomy</a:t>
            </a:r>
          </a:p>
          <a:p>
            <a:pPr marL="342900" indent="-342900" algn="just">
              <a:buFont typeface="+mj-lt"/>
              <a:buAutoNum type="arabicPeriod"/>
            </a:pPr>
            <a:r>
              <a:rPr lang="en-US" sz="1600" dirty="0"/>
              <a:t>Challenges in CPIR</a:t>
            </a:r>
          </a:p>
          <a:p>
            <a:pPr marL="342900" indent="-342900" algn="just">
              <a:buFont typeface="+mj-lt"/>
              <a:buAutoNum type="arabicPeriod"/>
            </a:pPr>
            <a:r>
              <a:rPr lang="en-US" sz="1600" b="1" dirty="0"/>
              <a:t>PIANO</a:t>
            </a:r>
            <a:r>
              <a:rPr lang="en-US" sz="1600" dirty="0"/>
              <a:t> (</a:t>
            </a:r>
            <a:r>
              <a:rPr lang="en-US" sz="1600" i="1" dirty="0"/>
              <a:t>IEEE S&amp;P ’24</a:t>
            </a:r>
            <a:r>
              <a:rPr lang="en-US" sz="1600" dirty="0"/>
              <a:t>)</a:t>
            </a:r>
          </a:p>
          <a:p>
            <a:pPr marL="342900" indent="-342900" algn="just">
              <a:buFont typeface="+mj-lt"/>
              <a:buAutoNum type="arabicPeriod"/>
            </a:pPr>
            <a:r>
              <a:rPr lang="en-US" sz="1600" b="1" dirty="0"/>
              <a:t>BFV-based PIR </a:t>
            </a:r>
            <a:r>
              <a:rPr lang="en-US" sz="1600" dirty="0"/>
              <a:t>(</a:t>
            </a:r>
            <a:r>
              <a:rPr lang="en-US" sz="1600" i="1" dirty="0"/>
              <a:t>learning example</a:t>
            </a:r>
            <a:r>
              <a:rPr lang="en-US" sz="1600" dirty="0"/>
              <a:t>)</a:t>
            </a:r>
          </a:p>
          <a:p>
            <a:pPr marL="800100" lvl="1" indent="-342900" algn="just">
              <a:buFont typeface="+mj-lt"/>
              <a:buAutoNum type="arabicPeriod"/>
            </a:pPr>
            <a:r>
              <a:rPr lang="en-US" sz="1600" dirty="0"/>
              <a:t>Basic LWE/RLWE CS</a:t>
            </a:r>
          </a:p>
          <a:p>
            <a:pPr marL="800100" lvl="1" indent="-342900" algn="just">
              <a:buFont typeface="+mj-lt"/>
              <a:buAutoNum type="arabicPeriod"/>
            </a:pPr>
            <a:r>
              <a:rPr lang="en-US" sz="1600" dirty="0"/>
              <a:t>BFV.SHE scheme from RLWE CS</a:t>
            </a:r>
          </a:p>
          <a:p>
            <a:pPr marL="800100" lvl="1" indent="-342900" algn="just">
              <a:buFont typeface="+mj-lt"/>
              <a:buAutoNum type="arabicPeriod"/>
            </a:pPr>
            <a:r>
              <a:rPr lang="en-US" sz="1600" dirty="0"/>
              <a:t>CPIR from BFV.SHE scheme</a:t>
            </a:r>
          </a:p>
          <a:p>
            <a:pPr marL="342900" indent="-342900" algn="just">
              <a:buFont typeface="+mj-lt"/>
              <a:buAutoNum type="arabicPeriod"/>
            </a:pPr>
            <a:r>
              <a:rPr lang="en-US" sz="1600" dirty="0"/>
              <a:t>Preprocessing PIR Taxonomy</a:t>
            </a:r>
          </a:p>
          <a:p>
            <a:pPr marL="342900" indent="-342900" algn="just">
              <a:buFont typeface="+mj-lt"/>
              <a:buAutoNum type="arabicPeriod"/>
            </a:pPr>
            <a:r>
              <a:rPr lang="en-US" sz="1600" b="1" dirty="0" err="1"/>
              <a:t>FrodoPIR</a:t>
            </a:r>
            <a:r>
              <a:rPr lang="en-US" sz="1600" b="1" dirty="0"/>
              <a:t> </a:t>
            </a:r>
            <a:r>
              <a:rPr lang="en-US" sz="1600" dirty="0"/>
              <a:t>(</a:t>
            </a:r>
            <a:r>
              <a:rPr lang="en-US" sz="1600" i="1" dirty="0" err="1"/>
              <a:t>PoPETs</a:t>
            </a:r>
            <a:r>
              <a:rPr lang="en-US" sz="1600" i="1" dirty="0"/>
              <a:t> ‘23)</a:t>
            </a:r>
            <a:r>
              <a:rPr lang="en-US" sz="1600" b="1" dirty="0"/>
              <a:t> -&gt; </a:t>
            </a:r>
            <a:r>
              <a:rPr lang="en-US" sz="1600" b="1" dirty="0" err="1"/>
              <a:t>SimplePIR</a:t>
            </a:r>
            <a:r>
              <a:rPr lang="en-US" sz="1600" dirty="0"/>
              <a:t> (</a:t>
            </a:r>
            <a:r>
              <a:rPr lang="en-US" sz="1600" i="1" dirty="0"/>
              <a:t>USENIX ‘23</a:t>
            </a:r>
            <a:r>
              <a:rPr lang="en-US" sz="1600" dirty="0"/>
              <a:t>) </a:t>
            </a:r>
            <a:r>
              <a:rPr lang="en-US" sz="1600" i="1" dirty="0">
                <a:solidFill>
                  <a:schemeClr val="bg1">
                    <a:lumMod val="65000"/>
                  </a:schemeClr>
                </a:solidFill>
              </a:rPr>
              <a:t>(LWE-based PPIR) </a:t>
            </a:r>
          </a:p>
          <a:p>
            <a:pPr marL="342900" indent="-342900" algn="just">
              <a:buFont typeface="+mj-lt"/>
              <a:buAutoNum type="arabicPeriod"/>
            </a:pPr>
            <a:r>
              <a:rPr lang="en-US" sz="1600" b="1" dirty="0"/>
              <a:t>XPIR</a:t>
            </a:r>
            <a:r>
              <a:rPr lang="en-US" sz="1600" dirty="0"/>
              <a:t> -&gt; </a:t>
            </a:r>
            <a:r>
              <a:rPr lang="en-US" sz="1600" b="1" dirty="0" err="1"/>
              <a:t>SealPIR</a:t>
            </a:r>
            <a:r>
              <a:rPr lang="en-US" sz="1600" dirty="0"/>
              <a:t> -&gt; </a:t>
            </a:r>
            <a:r>
              <a:rPr lang="en-US" sz="1600" b="1" dirty="0" err="1"/>
              <a:t>OnionPIR</a:t>
            </a:r>
            <a:r>
              <a:rPr lang="en-US" sz="1600" dirty="0"/>
              <a:t> </a:t>
            </a:r>
            <a:r>
              <a:rPr lang="en-US" sz="1600" i="1" dirty="0">
                <a:solidFill>
                  <a:schemeClr val="bg1">
                    <a:lumMod val="65000"/>
                  </a:schemeClr>
                </a:solidFill>
              </a:rPr>
              <a:t>(RLWE-based PPIR) </a:t>
            </a:r>
            <a:endParaRPr lang="en-US" sz="1600" dirty="0"/>
          </a:p>
          <a:p>
            <a:pPr marL="342900" indent="-342900" algn="just">
              <a:buFont typeface="+mj-lt"/>
              <a:buAutoNum type="arabicPeriod"/>
            </a:pPr>
            <a:r>
              <a:rPr lang="en-US" sz="1600" b="1" dirty="0" err="1"/>
              <a:t>Hintless</a:t>
            </a:r>
            <a:r>
              <a:rPr lang="en-US" sz="1600" b="1" dirty="0"/>
              <a:t> -&gt; YPIR -&gt; InsPIRe </a:t>
            </a:r>
            <a:r>
              <a:rPr lang="en-US" sz="1600" i="1" dirty="0">
                <a:solidFill>
                  <a:schemeClr val="bg1">
                    <a:lumMod val="65000"/>
                  </a:schemeClr>
                </a:solidFill>
              </a:rPr>
              <a:t>(RLWE-based Silent PPIR)</a:t>
            </a:r>
            <a:endParaRPr lang="en-US" sz="1600" i="1" dirty="0"/>
          </a:p>
          <a:p>
            <a:pPr marL="342900" indent="-342900" algn="just">
              <a:buFont typeface="+mj-lt"/>
              <a:buAutoNum type="arabicPeriod"/>
            </a:pPr>
            <a:r>
              <a:rPr lang="en-US" sz="1600" dirty="0"/>
              <a:t>…..</a:t>
            </a:r>
          </a:p>
        </p:txBody>
      </p:sp>
      <p:sp>
        <p:nvSpPr>
          <p:cNvPr id="7" name="文本框 9">
            <a:extLst>
              <a:ext uri="{FF2B5EF4-FFF2-40B4-BE49-F238E27FC236}">
                <a16:creationId xmlns:a16="http://schemas.microsoft.com/office/drawing/2014/main" id="{00FA6250-5667-46DE-981B-DE3AA359010D}"/>
              </a:ext>
            </a:extLst>
          </p:cNvPr>
          <p:cNvSpPr txBox="1"/>
          <p:nvPr/>
        </p:nvSpPr>
        <p:spPr>
          <a:xfrm>
            <a:off x="1299595" y="183700"/>
            <a:ext cx="4174732" cy="430164"/>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Contents</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8" name="组合 22">
            <a:extLst>
              <a:ext uri="{FF2B5EF4-FFF2-40B4-BE49-F238E27FC236}">
                <a16:creationId xmlns:a16="http://schemas.microsoft.com/office/drawing/2014/main" id="{753562DE-BBEB-435F-9548-051CE1E6701D}"/>
              </a:ext>
            </a:extLst>
          </p:cNvPr>
          <p:cNvGrpSpPr/>
          <p:nvPr/>
        </p:nvGrpSpPr>
        <p:grpSpPr>
          <a:xfrm>
            <a:off x="11236541" y="460205"/>
            <a:ext cx="258653" cy="233204"/>
            <a:chOff x="3720691" y="2824413"/>
            <a:chExt cx="1341120" cy="1209172"/>
          </a:xfrm>
        </p:grpSpPr>
        <p:sp>
          <p:nvSpPr>
            <p:cNvPr id="10" name="Freeform 5">
              <a:extLst>
                <a:ext uri="{FF2B5EF4-FFF2-40B4-BE49-F238E27FC236}">
                  <a16:creationId xmlns:a16="http://schemas.microsoft.com/office/drawing/2014/main" id="{B647DE18-6820-4D8B-A0A0-E7FC55EAC5DB}"/>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1" name="Freeform 5">
              <a:extLst>
                <a:ext uri="{FF2B5EF4-FFF2-40B4-BE49-F238E27FC236}">
                  <a16:creationId xmlns:a16="http://schemas.microsoft.com/office/drawing/2014/main" id="{364A9732-E766-4A23-B779-CFE365E02C07}"/>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grpSp>
        <p:nvGrpSpPr>
          <p:cNvPr id="14" name="组合 47">
            <a:extLst>
              <a:ext uri="{FF2B5EF4-FFF2-40B4-BE49-F238E27FC236}">
                <a16:creationId xmlns:a16="http://schemas.microsoft.com/office/drawing/2014/main" id="{2AA47792-6E63-49B6-94B0-882EE7BD444D}"/>
              </a:ext>
            </a:extLst>
          </p:cNvPr>
          <p:cNvGrpSpPr/>
          <p:nvPr/>
        </p:nvGrpSpPr>
        <p:grpSpPr>
          <a:xfrm>
            <a:off x="10640968" y="1516795"/>
            <a:ext cx="278312" cy="184463"/>
            <a:chOff x="9482595" y="2565731"/>
            <a:chExt cx="278384" cy="184511"/>
          </a:xfrm>
        </p:grpSpPr>
        <p:sp>
          <p:nvSpPr>
            <p:cNvPr id="15" name="椭圆 48">
              <a:extLst>
                <a:ext uri="{FF2B5EF4-FFF2-40B4-BE49-F238E27FC236}">
                  <a16:creationId xmlns:a16="http://schemas.microsoft.com/office/drawing/2014/main" id="{CED0810E-0E08-46CA-9853-00481C9D4D48}"/>
                </a:ext>
              </a:extLst>
            </p:cNvPr>
            <p:cNvSpPr/>
            <p:nvPr/>
          </p:nvSpPr>
          <p:spPr>
            <a:xfrm>
              <a:off x="9482595" y="2565731"/>
              <a:ext cx="71376" cy="713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6" name="椭圆 49">
              <a:extLst>
                <a:ext uri="{FF2B5EF4-FFF2-40B4-BE49-F238E27FC236}">
                  <a16:creationId xmlns:a16="http://schemas.microsoft.com/office/drawing/2014/main" id="{D4F5AD11-23A8-45C5-9543-E4BFD937F50B}"/>
                </a:ext>
              </a:extLst>
            </p:cNvPr>
            <p:cNvSpPr/>
            <p:nvPr/>
          </p:nvSpPr>
          <p:spPr>
            <a:xfrm>
              <a:off x="9625979" y="2615242"/>
              <a:ext cx="135000" cy="135000"/>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grpSp>
      <p:sp>
        <p:nvSpPr>
          <p:cNvPr id="17" name="矩形 2">
            <a:extLst>
              <a:ext uri="{FF2B5EF4-FFF2-40B4-BE49-F238E27FC236}">
                <a16:creationId xmlns:a16="http://schemas.microsoft.com/office/drawing/2014/main" id="{21755ECA-F305-4951-B838-415C63138EF6}"/>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8" name="图片 3" descr="重庆邮电大学标准校徽 (1)">
            <a:extLst>
              <a:ext uri="{FF2B5EF4-FFF2-40B4-BE49-F238E27FC236}">
                <a16:creationId xmlns:a16="http://schemas.microsoft.com/office/drawing/2014/main" id="{FFDF112F-7591-47BF-BBFB-378A9CD8DCBB}"/>
              </a:ext>
            </a:extLst>
          </p:cNvPr>
          <p:cNvPicPr>
            <a:picLocks noChangeAspect="1"/>
          </p:cNvPicPr>
          <p:nvPr/>
        </p:nvPicPr>
        <p:blipFill>
          <a:blip r:embed="rId3"/>
          <a:stretch>
            <a:fillRect/>
          </a:stretch>
        </p:blipFill>
        <p:spPr>
          <a:xfrm>
            <a:off x="549659" y="190896"/>
            <a:ext cx="612897" cy="612897"/>
          </a:xfrm>
          <a:prstGeom prst="rect">
            <a:avLst/>
          </a:prstGeom>
        </p:spPr>
      </p:pic>
    </p:spTree>
    <p:extLst>
      <p:ext uri="{BB962C8B-B14F-4D97-AF65-F5344CB8AC3E}">
        <p14:creationId xmlns:p14="http://schemas.microsoft.com/office/powerpoint/2010/main" val="3911979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9">
            <a:extLst>
              <a:ext uri="{FF2B5EF4-FFF2-40B4-BE49-F238E27FC236}">
                <a16:creationId xmlns:a16="http://schemas.microsoft.com/office/drawing/2014/main" id="{00FA6250-5667-46DE-981B-DE3AA359010D}"/>
              </a:ext>
            </a:extLst>
          </p:cNvPr>
          <p:cNvSpPr txBox="1"/>
          <p:nvPr/>
        </p:nvSpPr>
        <p:spPr>
          <a:xfrm>
            <a:off x="1299595" y="183700"/>
            <a:ext cx="4174732" cy="430164"/>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Taxonomy of 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8" name="组合 22">
            <a:extLst>
              <a:ext uri="{FF2B5EF4-FFF2-40B4-BE49-F238E27FC236}">
                <a16:creationId xmlns:a16="http://schemas.microsoft.com/office/drawing/2014/main" id="{753562DE-BBEB-435F-9548-051CE1E6701D}"/>
              </a:ext>
            </a:extLst>
          </p:cNvPr>
          <p:cNvGrpSpPr/>
          <p:nvPr/>
        </p:nvGrpSpPr>
        <p:grpSpPr>
          <a:xfrm>
            <a:off x="11236541" y="460205"/>
            <a:ext cx="258653" cy="233204"/>
            <a:chOff x="3720691" y="2824413"/>
            <a:chExt cx="1341120" cy="1209172"/>
          </a:xfrm>
        </p:grpSpPr>
        <p:sp>
          <p:nvSpPr>
            <p:cNvPr id="10" name="Freeform 5">
              <a:extLst>
                <a:ext uri="{FF2B5EF4-FFF2-40B4-BE49-F238E27FC236}">
                  <a16:creationId xmlns:a16="http://schemas.microsoft.com/office/drawing/2014/main" id="{B647DE18-6820-4D8B-A0A0-E7FC55EAC5DB}"/>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1" name="Freeform 5">
              <a:extLst>
                <a:ext uri="{FF2B5EF4-FFF2-40B4-BE49-F238E27FC236}">
                  <a16:creationId xmlns:a16="http://schemas.microsoft.com/office/drawing/2014/main" id="{364A9732-E766-4A23-B779-CFE365E02C07}"/>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grpSp>
        <p:nvGrpSpPr>
          <p:cNvPr id="14" name="组合 47">
            <a:extLst>
              <a:ext uri="{FF2B5EF4-FFF2-40B4-BE49-F238E27FC236}">
                <a16:creationId xmlns:a16="http://schemas.microsoft.com/office/drawing/2014/main" id="{2AA47792-6E63-49B6-94B0-882EE7BD444D}"/>
              </a:ext>
            </a:extLst>
          </p:cNvPr>
          <p:cNvGrpSpPr/>
          <p:nvPr/>
        </p:nvGrpSpPr>
        <p:grpSpPr>
          <a:xfrm>
            <a:off x="10640968" y="1516795"/>
            <a:ext cx="278312" cy="184463"/>
            <a:chOff x="9482595" y="2565731"/>
            <a:chExt cx="278384" cy="184511"/>
          </a:xfrm>
        </p:grpSpPr>
        <p:sp>
          <p:nvSpPr>
            <p:cNvPr id="15" name="椭圆 48">
              <a:extLst>
                <a:ext uri="{FF2B5EF4-FFF2-40B4-BE49-F238E27FC236}">
                  <a16:creationId xmlns:a16="http://schemas.microsoft.com/office/drawing/2014/main" id="{CED0810E-0E08-46CA-9853-00481C9D4D48}"/>
                </a:ext>
              </a:extLst>
            </p:cNvPr>
            <p:cNvSpPr/>
            <p:nvPr/>
          </p:nvSpPr>
          <p:spPr>
            <a:xfrm>
              <a:off x="9482595" y="2565731"/>
              <a:ext cx="71376" cy="713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6" name="椭圆 49">
              <a:extLst>
                <a:ext uri="{FF2B5EF4-FFF2-40B4-BE49-F238E27FC236}">
                  <a16:creationId xmlns:a16="http://schemas.microsoft.com/office/drawing/2014/main" id="{D4F5AD11-23A8-45C5-9543-E4BFD937F50B}"/>
                </a:ext>
              </a:extLst>
            </p:cNvPr>
            <p:cNvSpPr/>
            <p:nvPr/>
          </p:nvSpPr>
          <p:spPr>
            <a:xfrm>
              <a:off x="9625979" y="2615242"/>
              <a:ext cx="135000" cy="135000"/>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grpSp>
      <p:sp>
        <p:nvSpPr>
          <p:cNvPr id="17" name="矩形 2">
            <a:extLst>
              <a:ext uri="{FF2B5EF4-FFF2-40B4-BE49-F238E27FC236}">
                <a16:creationId xmlns:a16="http://schemas.microsoft.com/office/drawing/2014/main" id="{21755ECA-F305-4951-B838-415C63138EF6}"/>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8" name="图片 3" descr="重庆邮电大学标准校徽 (1)">
            <a:extLst>
              <a:ext uri="{FF2B5EF4-FFF2-40B4-BE49-F238E27FC236}">
                <a16:creationId xmlns:a16="http://schemas.microsoft.com/office/drawing/2014/main" id="{FFDF112F-7591-47BF-BBFB-378A9CD8DCBB}"/>
              </a:ext>
            </a:extLst>
          </p:cNvPr>
          <p:cNvPicPr>
            <a:picLocks noChangeAspect="1"/>
          </p:cNvPicPr>
          <p:nvPr/>
        </p:nvPicPr>
        <p:blipFill>
          <a:blip r:embed="rId3"/>
          <a:stretch>
            <a:fillRect/>
          </a:stretch>
        </p:blipFill>
        <p:spPr>
          <a:xfrm>
            <a:off x="549659" y="190896"/>
            <a:ext cx="612897" cy="612897"/>
          </a:xfrm>
          <a:prstGeom prst="rect">
            <a:avLst/>
          </a:prstGeom>
        </p:spPr>
      </p:pic>
      <p:graphicFrame>
        <p:nvGraphicFramePr>
          <p:cNvPr id="12" name="Таблица 26">
            <a:extLst>
              <a:ext uri="{FF2B5EF4-FFF2-40B4-BE49-F238E27FC236}">
                <a16:creationId xmlns:a16="http://schemas.microsoft.com/office/drawing/2014/main" id="{BE352593-C481-4159-A78E-6A872B94B459}"/>
              </a:ext>
            </a:extLst>
          </p:cNvPr>
          <p:cNvGraphicFramePr>
            <a:graphicFrameLocks noGrp="1"/>
          </p:cNvGraphicFramePr>
          <p:nvPr>
            <p:extLst>
              <p:ext uri="{D42A27DB-BD31-4B8C-83A1-F6EECF244321}">
                <p14:modId xmlns:p14="http://schemas.microsoft.com/office/powerpoint/2010/main" val="232245198"/>
              </p:ext>
            </p:extLst>
          </p:nvPr>
        </p:nvGraphicFramePr>
        <p:xfrm>
          <a:off x="452972" y="1001864"/>
          <a:ext cx="11286056" cy="5665240"/>
        </p:xfrm>
        <a:graphic>
          <a:graphicData uri="http://schemas.openxmlformats.org/drawingml/2006/table">
            <a:tbl>
              <a:tblPr/>
              <a:tblGrid>
                <a:gridCol w="2821514">
                  <a:extLst>
                    <a:ext uri="{9D8B030D-6E8A-4147-A177-3AD203B41FA5}">
                      <a16:colId xmlns:a16="http://schemas.microsoft.com/office/drawing/2014/main" val="1367483894"/>
                    </a:ext>
                  </a:extLst>
                </a:gridCol>
                <a:gridCol w="2821514">
                  <a:extLst>
                    <a:ext uri="{9D8B030D-6E8A-4147-A177-3AD203B41FA5}">
                      <a16:colId xmlns:a16="http://schemas.microsoft.com/office/drawing/2014/main" val="2041462668"/>
                    </a:ext>
                  </a:extLst>
                </a:gridCol>
                <a:gridCol w="2821514">
                  <a:extLst>
                    <a:ext uri="{9D8B030D-6E8A-4147-A177-3AD203B41FA5}">
                      <a16:colId xmlns:a16="http://schemas.microsoft.com/office/drawing/2014/main" val="4169282995"/>
                    </a:ext>
                  </a:extLst>
                </a:gridCol>
                <a:gridCol w="2821514">
                  <a:extLst>
                    <a:ext uri="{9D8B030D-6E8A-4147-A177-3AD203B41FA5}">
                      <a16:colId xmlns:a16="http://schemas.microsoft.com/office/drawing/2014/main" val="3642437413"/>
                    </a:ext>
                  </a:extLst>
                </a:gridCol>
              </a:tblGrid>
              <a:tr h="195566">
                <a:tc>
                  <a:txBody>
                    <a:bodyPr/>
                    <a:lstStyle/>
                    <a:p>
                      <a:r>
                        <a:rPr lang="en-US" sz="1600" b="1" dirty="0"/>
                        <a:t>Category</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Scheme</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Year</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Journal / Venue</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028799"/>
                  </a:ext>
                </a:extLst>
              </a:tr>
              <a:tr h="195566">
                <a:tc rowSpan="5">
                  <a:txBody>
                    <a:bodyPr/>
                    <a:lstStyle/>
                    <a:p>
                      <a:r>
                        <a:rPr lang="en-US" sz="1600" b="1" dirty="0"/>
                        <a:t>Information-theoretic PIR (ITPIR)</a:t>
                      </a:r>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sz="1600"/>
                        <a:t>Chor et al. (PIR) [11]</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1998</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ACM</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3916285"/>
                  </a:ext>
                </a:extLst>
              </a:tr>
              <a:tr h="342240">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600" dirty="0"/>
                        <a:t>Beimel et al. [13]</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2002</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IEEE SFCS</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3423292"/>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Goldberg et al. [14]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2007</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3050290"/>
                  </a:ext>
                </a:extLst>
              </a:tr>
              <a:tr h="342240">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Devet</a:t>
                      </a:r>
                      <a:r>
                        <a:rPr lang="en-US" sz="1600" dirty="0"/>
                        <a:t>, Goldberg et al. [15]</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2012</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USENIX Security</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1409680"/>
                  </a:ext>
                </a:extLst>
              </a:tr>
              <a:tr h="342240">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RAID-PIR [16]</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2014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ACM CCSW</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8067650"/>
                  </a:ext>
                </a:extLst>
              </a:tr>
              <a:tr h="342240">
                <a:tc rowSpan="4">
                  <a:txBody>
                    <a:bodyPr/>
                    <a:lstStyle/>
                    <a:p>
                      <a:r>
                        <a:rPr lang="en-US" sz="1600" b="1" dirty="0"/>
                        <a:t>Single-server PIR (CPIR)</a:t>
                      </a:r>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SealPIR</a:t>
                      </a:r>
                      <a:r>
                        <a:rPr lang="en-US" sz="1600" dirty="0"/>
                        <a:t> [22]</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2018</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3006448"/>
                  </a:ext>
                </a:extLst>
              </a:tr>
              <a:tr h="342240">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FastPIR [23]</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2021</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USENIX OSDI</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29498"/>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OnionPIR</a:t>
                      </a:r>
                      <a:r>
                        <a:rPr lang="en-US" sz="1600" dirty="0"/>
                        <a:t> [24]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2021</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ACM CCS</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43405"/>
                  </a:ext>
                </a:extLst>
              </a:tr>
              <a:tr h="195566">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Spiral [25]</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2022</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6558099"/>
                  </a:ext>
                </a:extLst>
              </a:tr>
              <a:tr h="195566">
                <a:tc rowSpan="8">
                  <a:txBody>
                    <a:bodyPr/>
                    <a:lstStyle/>
                    <a:p>
                      <a:r>
                        <a:rPr lang="en-US" sz="1600" b="1" dirty="0"/>
                        <a:t>Preprocessing PIR (PPIR)</a:t>
                      </a:r>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SimplePIR</a:t>
                      </a:r>
                      <a:r>
                        <a:rPr lang="en-US" sz="1600" dirty="0"/>
                        <a:t> [27]</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2023</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USENIX Security</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3191630"/>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PAI [32]</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2023</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EPRINT</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449974"/>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Piano [28]</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840516"/>
                  </a:ext>
                </a:extLst>
              </a:tr>
              <a:tr h="195566">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HintlessPIR</a:t>
                      </a:r>
                      <a:r>
                        <a:rPr lang="en-US" sz="1600" dirty="0"/>
                        <a:t> [29]</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CRYPTO</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8649025"/>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YPIR [30]</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USENIX Security</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5771959"/>
                  </a:ext>
                </a:extLst>
              </a:tr>
              <a:tr h="342240">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err="1"/>
                        <a:t>KsPIR</a:t>
                      </a:r>
                      <a:r>
                        <a:rPr lang="en-US" sz="1600" dirty="0"/>
                        <a:t> [33]</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ACM CCS</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588443"/>
                  </a:ext>
                </a:extLst>
              </a:tr>
              <a:tr h="342240">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InsPIRe [31]</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2026</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7269753"/>
                  </a:ext>
                </a:extLst>
              </a:tr>
              <a:tr h="342240">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1600" dirty="0"/>
                        <a:t>….</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600" dirty="0">
                        <a:highlight>
                          <a:srgbClr val="FFFF00"/>
                        </a:highlight>
                      </a:endParaRP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600" dirty="0">
                        <a:highlight>
                          <a:srgbClr val="FFFF00"/>
                        </a:highlight>
                      </a:endParaRP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1734920"/>
                  </a:ext>
                </a:extLst>
              </a:tr>
            </a:tbl>
          </a:graphicData>
        </a:graphic>
      </p:graphicFrame>
    </p:spTree>
    <p:extLst>
      <p:ext uri="{BB962C8B-B14F-4D97-AF65-F5344CB8AC3E}">
        <p14:creationId xmlns:p14="http://schemas.microsoft.com/office/powerpoint/2010/main" val="1731190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9">
            <a:extLst>
              <a:ext uri="{FF2B5EF4-FFF2-40B4-BE49-F238E27FC236}">
                <a16:creationId xmlns:a16="http://schemas.microsoft.com/office/drawing/2014/main" id="{00FA6250-5667-46DE-981B-DE3AA359010D}"/>
              </a:ext>
            </a:extLst>
          </p:cNvPr>
          <p:cNvSpPr txBox="1"/>
          <p:nvPr/>
        </p:nvSpPr>
        <p:spPr>
          <a:xfrm>
            <a:off x="1299595" y="183700"/>
            <a:ext cx="4174732" cy="430164"/>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Challenges in CPIR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8" name="组合 22">
            <a:extLst>
              <a:ext uri="{FF2B5EF4-FFF2-40B4-BE49-F238E27FC236}">
                <a16:creationId xmlns:a16="http://schemas.microsoft.com/office/drawing/2014/main" id="{753562DE-BBEB-435F-9548-051CE1E6701D}"/>
              </a:ext>
            </a:extLst>
          </p:cNvPr>
          <p:cNvGrpSpPr/>
          <p:nvPr/>
        </p:nvGrpSpPr>
        <p:grpSpPr>
          <a:xfrm>
            <a:off x="11236541" y="460205"/>
            <a:ext cx="258653" cy="233204"/>
            <a:chOff x="3720691" y="2824413"/>
            <a:chExt cx="1341120" cy="1209172"/>
          </a:xfrm>
        </p:grpSpPr>
        <p:sp>
          <p:nvSpPr>
            <p:cNvPr id="10" name="Freeform 5">
              <a:extLst>
                <a:ext uri="{FF2B5EF4-FFF2-40B4-BE49-F238E27FC236}">
                  <a16:creationId xmlns:a16="http://schemas.microsoft.com/office/drawing/2014/main" id="{B647DE18-6820-4D8B-A0A0-E7FC55EAC5DB}"/>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1" name="Freeform 5">
              <a:extLst>
                <a:ext uri="{FF2B5EF4-FFF2-40B4-BE49-F238E27FC236}">
                  <a16:creationId xmlns:a16="http://schemas.microsoft.com/office/drawing/2014/main" id="{364A9732-E766-4A23-B779-CFE365E02C07}"/>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grpSp>
        <p:nvGrpSpPr>
          <p:cNvPr id="14" name="组合 47">
            <a:extLst>
              <a:ext uri="{FF2B5EF4-FFF2-40B4-BE49-F238E27FC236}">
                <a16:creationId xmlns:a16="http://schemas.microsoft.com/office/drawing/2014/main" id="{2AA47792-6E63-49B6-94B0-882EE7BD444D}"/>
              </a:ext>
            </a:extLst>
          </p:cNvPr>
          <p:cNvGrpSpPr/>
          <p:nvPr/>
        </p:nvGrpSpPr>
        <p:grpSpPr>
          <a:xfrm>
            <a:off x="10640968" y="1516795"/>
            <a:ext cx="278312" cy="184463"/>
            <a:chOff x="9482595" y="2565731"/>
            <a:chExt cx="278384" cy="184511"/>
          </a:xfrm>
        </p:grpSpPr>
        <p:sp>
          <p:nvSpPr>
            <p:cNvPr id="15" name="椭圆 48">
              <a:extLst>
                <a:ext uri="{FF2B5EF4-FFF2-40B4-BE49-F238E27FC236}">
                  <a16:creationId xmlns:a16="http://schemas.microsoft.com/office/drawing/2014/main" id="{CED0810E-0E08-46CA-9853-00481C9D4D48}"/>
                </a:ext>
              </a:extLst>
            </p:cNvPr>
            <p:cNvSpPr/>
            <p:nvPr/>
          </p:nvSpPr>
          <p:spPr>
            <a:xfrm>
              <a:off x="9482595" y="2565731"/>
              <a:ext cx="71376" cy="713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6" name="椭圆 49">
              <a:extLst>
                <a:ext uri="{FF2B5EF4-FFF2-40B4-BE49-F238E27FC236}">
                  <a16:creationId xmlns:a16="http://schemas.microsoft.com/office/drawing/2014/main" id="{D4F5AD11-23A8-45C5-9543-E4BFD937F50B}"/>
                </a:ext>
              </a:extLst>
            </p:cNvPr>
            <p:cNvSpPr/>
            <p:nvPr/>
          </p:nvSpPr>
          <p:spPr>
            <a:xfrm>
              <a:off x="9625979" y="2615242"/>
              <a:ext cx="135000" cy="135000"/>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grpSp>
      <p:sp>
        <p:nvSpPr>
          <p:cNvPr id="17" name="矩形 2">
            <a:extLst>
              <a:ext uri="{FF2B5EF4-FFF2-40B4-BE49-F238E27FC236}">
                <a16:creationId xmlns:a16="http://schemas.microsoft.com/office/drawing/2014/main" id="{21755ECA-F305-4951-B838-415C63138EF6}"/>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8" name="图片 3" descr="重庆邮电大学标准校徽 (1)">
            <a:extLst>
              <a:ext uri="{FF2B5EF4-FFF2-40B4-BE49-F238E27FC236}">
                <a16:creationId xmlns:a16="http://schemas.microsoft.com/office/drawing/2014/main" id="{FFDF112F-7591-47BF-BBFB-378A9CD8DCBB}"/>
              </a:ext>
            </a:extLst>
          </p:cNvPr>
          <p:cNvPicPr>
            <a:picLocks noChangeAspect="1"/>
          </p:cNvPicPr>
          <p:nvPr/>
        </p:nvPicPr>
        <p:blipFill>
          <a:blip r:embed="rId3"/>
          <a:stretch>
            <a:fillRect/>
          </a:stretch>
        </p:blipFill>
        <p:spPr>
          <a:xfrm>
            <a:off x="549659" y="190896"/>
            <a:ext cx="612897" cy="612897"/>
          </a:xfrm>
          <a:prstGeom prst="rect">
            <a:avLst/>
          </a:prstGeom>
        </p:spPr>
      </p:pic>
      <p:grpSp>
        <p:nvGrpSpPr>
          <p:cNvPr id="4" name="Группа 3">
            <a:extLst>
              <a:ext uri="{FF2B5EF4-FFF2-40B4-BE49-F238E27FC236}">
                <a16:creationId xmlns:a16="http://schemas.microsoft.com/office/drawing/2014/main" id="{B690D300-4C4C-4468-A633-C319587A3CB8}"/>
              </a:ext>
            </a:extLst>
          </p:cNvPr>
          <p:cNvGrpSpPr/>
          <p:nvPr/>
        </p:nvGrpSpPr>
        <p:grpSpPr>
          <a:xfrm>
            <a:off x="1024855" y="2517496"/>
            <a:ext cx="10033103" cy="2427844"/>
            <a:chOff x="1024855" y="1230436"/>
            <a:chExt cx="10033103" cy="2427844"/>
          </a:xfrm>
        </p:grpSpPr>
        <p:cxnSp>
          <p:nvCxnSpPr>
            <p:cNvPr id="3" name="Прямая со стрелкой 2">
              <a:extLst>
                <a:ext uri="{FF2B5EF4-FFF2-40B4-BE49-F238E27FC236}">
                  <a16:creationId xmlns:a16="http://schemas.microsoft.com/office/drawing/2014/main" id="{8BD9A007-702F-4252-ADB8-E66E3946EFB4}"/>
                </a:ext>
              </a:extLst>
            </p:cNvPr>
            <p:cNvCxnSpPr>
              <a:cxnSpLocks/>
            </p:cNvCxnSpPr>
            <p:nvPr/>
          </p:nvCxnSpPr>
          <p:spPr>
            <a:xfrm flipV="1">
              <a:off x="1476462" y="1604533"/>
              <a:ext cx="0" cy="184348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a:extLst>
                <a:ext uri="{FF2B5EF4-FFF2-40B4-BE49-F238E27FC236}">
                  <a16:creationId xmlns:a16="http://schemas.microsoft.com/office/drawing/2014/main" id="{9D9FA9F3-CB19-4083-A036-8B30FEFCC8C5}"/>
                </a:ext>
              </a:extLst>
            </p:cNvPr>
            <p:cNvCxnSpPr>
              <a:cxnSpLocks/>
            </p:cNvCxnSpPr>
            <p:nvPr/>
          </p:nvCxnSpPr>
          <p:spPr>
            <a:xfrm>
              <a:off x="6964260" y="1747145"/>
              <a:ext cx="0" cy="180992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7E68094-F64D-4984-B7AF-BC7BC658D33F}"/>
                </a:ext>
              </a:extLst>
            </p:cNvPr>
            <p:cNvSpPr txBox="1"/>
            <p:nvPr/>
          </p:nvSpPr>
          <p:spPr>
            <a:xfrm>
              <a:off x="1883510" y="1230436"/>
              <a:ext cx="3804226" cy="2427844"/>
            </a:xfrm>
            <a:prstGeom prst="rect">
              <a:avLst/>
            </a:prstGeom>
            <a:noFill/>
          </p:spPr>
          <p:txBody>
            <a:bodyPr wrap="square">
              <a:spAutoFit/>
            </a:bodyPr>
            <a:lstStyle/>
            <a:p>
              <a:pPr marL="0" marR="0" algn="just">
                <a:lnSpc>
                  <a:spcPct val="150000"/>
                </a:lnSpc>
                <a:spcBef>
                  <a:spcPts val="1200"/>
                </a:spcBef>
                <a:spcAft>
                  <a:spcPts val="0"/>
                </a:spcAft>
              </a:pPr>
              <a:r>
                <a:rPr lang="en-US" b="1" dirty="0">
                  <a:effectLst/>
                  <a:latin typeface="Times New Roman" panose="02020603050405020304" pitchFamily="18" charset="0"/>
                  <a:ea typeface="宋体" panose="02010600030101010101" pitchFamily="2" charset="-122"/>
                  <a:cs typeface="Times New Roman" panose="02020603050405020304" pitchFamily="18" charset="0"/>
                </a:rPr>
                <a:t>Throughput (computation cost)</a:t>
              </a:r>
            </a:p>
            <a:p>
              <a:pPr marL="0" marR="0" algn="just">
                <a:lnSpc>
                  <a:spcPct val="150000"/>
                </a:lnSpc>
                <a:spcBef>
                  <a:spcPts val="1200"/>
                </a:spcBef>
                <a:spcAft>
                  <a:spcPts val="0"/>
                </a:spcAft>
              </a:pPr>
              <a:r>
                <a:rPr lang="en-US" dirty="0">
                  <a:effectLst/>
                  <a:latin typeface="Times New Roman" panose="02020603050405020304" pitchFamily="18" charset="0"/>
                  <a:ea typeface="宋体" panose="02010600030101010101" pitchFamily="2" charset="-122"/>
                  <a:cs typeface="Times New Roman" panose="02020603050405020304" pitchFamily="18" charset="0"/>
                </a:rPr>
                <a:t>=</a:t>
              </a:r>
              <a:r>
                <a:rPr lang="en-US" dirty="0">
                  <a:latin typeface="Times New Roman" panose="02020603050405020304" pitchFamily="18" charset="0"/>
                  <a:ea typeface="宋体" panose="02010600030101010101" pitchFamily="2" charset="-122"/>
                  <a:cs typeface="Times New Roman" panose="02020603050405020304" pitchFamily="18" charset="0"/>
                </a:rPr>
                <a:t> how many requests per </a:t>
              </a:r>
              <a:r>
                <a:rPr lang="en-US" i="1" dirty="0">
                  <a:latin typeface="Times New Roman" panose="02020603050405020304" pitchFamily="18" charset="0"/>
                  <a:ea typeface="宋体" panose="02010600030101010101" pitchFamily="2" charset="-122"/>
                  <a:cs typeface="Times New Roman" panose="02020603050405020304" pitchFamily="18" charset="0"/>
                </a:rPr>
                <a:t>t</a:t>
              </a:r>
              <a:r>
                <a:rPr lang="en-US" dirty="0">
                  <a:latin typeface="Times New Roman" panose="02020603050405020304" pitchFamily="18" charset="0"/>
                  <a:ea typeface="宋体" panose="02010600030101010101" pitchFamily="2" charset="-122"/>
                  <a:cs typeface="Times New Roman" panose="02020603050405020304" pitchFamily="18" charset="0"/>
                </a:rPr>
                <a:t> server can process and respond</a:t>
              </a:r>
            </a:p>
            <a:p>
              <a:pPr marL="0" marR="0" algn="just">
                <a:lnSpc>
                  <a:spcPct val="150000"/>
                </a:lnSpc>
                <a:spcBef>
                  <a:spcPts val="1200"/>
                </a:spcBef>
                <a:spcAft>
                  <a:spcPts val="0"/>
                </a:spcAft>
              </a:pPr>
              <a:r>
                <a:rPr lang="en-US" dirty="0" err="1">
                  <a:latin typeface="Times New Roman" panose="02020603050405020304" pitchFamily="18" charset="0"/>
                  <a:ea typeface="宋体" panose="02010600030101010101" pitchFamily="2" charset="-122"/>
                  <a:cs typeface="Times New Roman" panose="02020603050405020304" pitchFamily="18" charset="0"/>
                </a:rPr>
                <a:t>db</a:t>
              </a:r>
              <a:r>
                <a:rPr lang="en-US" dirty="0">
                  <a:latin typeface="Times New Roman" panose="02020603050405020304" pitchFamily="18" charset="0"/>
                  <a:ea typeface="宋体" panose="02010600030101010101" pitchFamily="2" charset="-122"/>
                  <a:cs typeface="Times New Roman" panose="02020603050405020304" pitchFamily="18" charset="0"/>
                </a:rPr>
                <a:t> size – server time ratio (amount of time needed per </a:t>
              </a:r>
              <a:r>
                <a:rPr lang="en-US" dirty="0" err="1">
                  <a:latin typeface="Times New Roman" panose="02020603050405020304" pitchFamily="18" charset="0"/>
                  <a:ea typeface="宋体" panose="02010600030101010101" pitchFamily="2" charset="-122"/>
                  <a:cs typeface="Times New Roman" panose="02020603050405020304" pitchFamily="18" charset="0"/>
                </a:rPr>
                <a:t>db</a:t>
              </a:r>
              <a:r>
                <a:rPr lang="en-US" dirty="0">
                  <a:latin typeface="Times New Roman" panose="02020603050405020304" pitchFamily="18" charset="0"/>
                  <a:ea typeface="宋体" panose="02010600030101010101" pitchFamily="2" charset="-122"/>
                  <a:cs typeface="Times New Roman" panose="02020603050405020304" pitchFamily="18" charset="0"/>
                </a:rPr>
                <a:t> entry)</a:t>
              </a:r>
              <a:endParaRPr lang="en-US"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TextBox 20">
              <a:extLst>
                <a:ext uri="{FF2B5EF4-FFF2-40B4-BE49-F238E27FC236}">
                  <a16:creationId xmlns:a16="http://schemas.microsoft.com/office/drawing/2014/main" id="{C7230A64-5CC3-4744-9B70-CAF1E1EFAD76}"/>
                </a:ext>
              </a:extLst>
            </p:cNvPr>
            <p:cNvSpPr txBox="1"/>
            <p:nvPr/>
          </p:nvSpPr>
          <p:spPr>
            <a:xfrm>
              <a:off x="7260847" y="1230436"/>
              <a:ext cx="3797111" cy="1442959"/>
            </a:xfrm>
            <a:prstGeom prst="rect">
              <a:avLst/>
            </a:prstGeom>
            <a:noFill/>
          </p:spPr>
          <p:txBody>
            <a:bodyPr wrap="square">
              <a:spAutoFit/>
            </a:bodyPr>
            <a:lstStyle/>
            <a:p>
              <a:pPr marL="0" marR="0" algn="just">
                <a:lnSpc>
                  <a:spcPct val="150000"/>
                </a:lnSpc>
                <a:spcBef>
                  <a:spcPts val="1200"/>
                </a:spcBef>
                <a:spcAft>
                  <a:spcPts val="0"/>
                </a:spcAft>
              </a:pPr>
              <a:r>
                <a:rPr lang="en-US" b="1" dirty="0">
                  <a:effectLst/>
                  <a:latin typeface="Times New Roman" panose="02020603050405020304" pitchFamily="18" charset="0"/>
                  <a:ea typeface="宋体" panose="02010600030101010101" pitchFamily="2" charset="-122"/>
                  <a:cs typeface="Times New Roman" panose="02020603050405020304" pitchFamily="18" charset="0"/>
                </a:rPr>
                <a:t>Bandwidth (communication cost)</a:t>
              </a:r>
            </a:p>
            <a:p>
              <a:pPr marL="0" marR="0" algn="just">
                <a:lnSpc>
                  <a:spcPct val="150000"/>
                </a:lnSpc>
                <a:spcBef>
                  <a:spcPts val="1200"/>
                </a:spcBef>
                <a:spcAft>
                  <a:spcPts val="0"/>
                </a:spcAft>
              </a:pPr>
              <a:r>
                <a:rPr lang="en-US" dirty="0">
                  <a:effectLst/>
                  <a:latin typeface="Times New Roman" panose="02020603050405020304" pitchFamily="18" charset="0"/>
                  <a:ea typeface="宋体" panose="02010600030101010101" pitchFamily="2" charset="-122"/>
                  <a:cs typeface="Times New Roman" panose="02020603050405020304" pitchFamily="18" charset="0"/>
                </a:rPr>
                <a:t>= how much data is being transmitted for 1 PIR query? (and </a:t>
              </a:r>
              <a:r>
                <a:rPr lang="en-US" b="1" u="sng" dirty="0">
                  <a:effectLst/>
                  <a:latin typeface="Times New Roman" panose="02020603050405020304" pitchFamily="18" charset="0"/>
                  <a:ea typeface="宋体" panose="02010600030101010101" pitchFamily="2" charset="-122"/>
                  <a:cs typeface="Times New Roman" panose="02020603050405020304" pitchFamily="18" charset="0"/>
                </a:rPr>
                <a:t>when</a:t>
              </a:r>
              <a:r>
                <a:rPr lang="en-US" dirty="0">
                  <a:effectLst/>
                  <a:latin typeface="Times New Roman" panose="02020603050405020304" pitchFamily="18" charset="0"/>
                  <a:ea typeface="宋体" panose="02010600030101010101" pitchFamily="2" charset="-122"/>
                  <a:cs typeface="Times New Roman" panose="02020603050405020304" pitchFamily="18" charset="0"/>
                </a:rPr>
                <a:t>)</a:t>
              </a:r>
            </a:p>
          </p:txBody>
        </p:sp>
        <p:cxnSp>
          <p:nvCxnSpPr>
            <p:cNvPr id="36" name="Прямая со стрелкой 35">
              <a:extLst>
                <a:ext uri="{FF2B5EF4-FFF2-40B4-BE49-F238E27FC236}">
                  <a16:creationId xmlns:a16="http://schemas.microsoft.com/office/drawing/2014/main" id="{8813EA17-AA3C-4B86-9F6F-16F7A08C2FAB}"/>
                </a:ext>
              </a:extLst>
            </p:cNvPr>
            <p:cNvCxnSpPr>
              <a:cxnSpLocks/>
            </p:cNvCxnSpPr>
            <p:nvPr/>
          </p:nvCxnSpPr>
          <p:spPr>
            <a:xfrm>
              <a:off x="1024855" y="1660459"/>
              <a:ext cx="0" cy="176854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Прямая со стрелкой 37">
              <a:extLst>
                <a:ext uri="{FF2B5EF4-FFF2-40B4-BE49-F238E27FC236}">
                  <a16:creationId xmlns:a16="http://schemas.microsoft.com/office/drawing/2014/main" id="{69C3D2FA-696D-4AE6-9C79-CDAA3A79930B}"/>
                </a:ext>
              </a:extLst>
            </p:cNvPr>
            <p:cNvCxnSpPr>
              <a:cxnSpLocks/>
            </p:cNvCxnSpPr>
            <p:nvPr/>
          </p:nvCxnSpPr>
          <p:spPr>
            <a:xfrm flipV="1">
              <a:off x="6616118" y="1701258"/>
              <a:ext cx="0" cy="18099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76061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01</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748751" y="4035046"/>
            <a:ext cx="1058519" cy="45249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Piano</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56515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5</a:t>
            </a:fld>
            <a:endParaRPr lang="en-US"/>
          </a:p>
        </p:txBody>
      </p:sp>
      <p:sp>
        <p:nvSpPr>
          <p:cNvPr id="6" name="TextBox 5">
            <a:extLst>
              <a:ext uri="{FF2B5EF4-FFF2-40B4-BE49-F238E27FC236}">
                <a16:creationId xmlns:a16="http://schemas.microsoft.com/office/drawing/2014/main" id="{56C091CB-04A1-461E-A09E-E1B049200A50}"/>
              </a:ext>
            </a:extLst>
          </p:cNvPr>
          <p:cNvSpPr txBox="1"/>
          <p:nvPr/>
        </p:nvSpPr>
        <p:spPr>
          <a:xfrm>
            <a:off x="185855" y="6263401"/>
            <a:ext cx="4562896"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Client-Stored Database Hints</a:t>
            </a:r>
          </a:p>
        </p:txBody>
      </p:sp>
      <p:sp>
        <p:nvSpPr>
          <p:cNvPr id="8" name="TextBox 7">
            <a:extLst>
              <a:ext uri="{FF2B5EF4-FFF2-40B4-BE49-F238E27FC236}">
                <a16:creationId xmlns:a16="http://schemas.microsoft.com/office/drawing/2014/main" id="{708187BC-8A44-4A7F-8E8B-1E1F187D7A00}"/>
              </a:ext>
            </a:extLst>
          </p:cNvPr>
          <p:cNvSpPr txBox="1"/>
          <p:nvPr/>
        </p:nvSpPr>
        <p:spPr>
          <a:xfrm>
            <a:off x="5684940" y="4118210"/>
            <a:ext cx="2262930" cy="369332"/>
          </a:xfrm>
          <a:prstGeom prst="rect">
            <a:avLst/>
          </a:prstGeom>
          <a:noFill/>
        </p:spPr>
        <p:txBody>
          <a:bodyPr wrap="square">
            <a:spAutoFit/>
          </a:bodyPr>
          <a:lstStyle/>
          <a:p>
            <a:r>
              <a:rPr lang="en-US" altLang="zh-CN" sz="18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IEEE S&amp;P `24</a:t>
            </a:r>
            <a:endParaRPr lang="en-US" dirty="0"/>
          </a:p>
        </p:txBody>
      </p:sp>
      <p:sp>
        <p:nvSpPr>
          <p:cNvPr id="11" name="TextBox 10">
            <a:extLst>
              <a:ext uri="{FF2B5EF4-FFF2-40B4-BE49-F238E27FC236}">
                <a16:creationId xmlns:a16="http://schemas.microsoft.com/office/drawing/2014/main" id="{CB2C09F0-84A8-4430-AC8F-8ED1C8087BE3}"/>
              </a:ext>
            </a:extLst>
          </p:cNvPr>
          <p:cNvSpPr txBox="1"/>
          <p:nvPr/>
        </p:nvSpPr>
        <p:spPr>
          <a:xfrm>
            <a:off x="185855" y="5805327"/>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PRFs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A9B45B2-8878-4DAE-88D1-752A900DC4E6}"/>
              </a:ext>
            </a:extLst>
          </p:cNvPr>
          <p:cNvSpPr txBox="1"/>
          <p:nvPr/>
        </p:nvSpPr>
        <p:spPr>
          <a:xfrm>
            <a:off x="838200" y="5987391"/>
            <a:ext cx="6096000" cy="307777"/>
          </a:xfrm>
          <a:prstGeom prst="rect">
            <a:avLst/>
          </a:prstGeom>
          <a:noFill/>
        </p:spPr>
        <p:txBody>
          <a:bodyPr wrap="square">
            <a:spAutoFit/>
          </a:bodyPr>
          <a:lstStyle/>
          <a:p>
            <a:r>
              <a:rPr lang="en-US" sz="1400" dirty="0"/>
              <a:t>https://eprint.iacr.org/2023/452.pdf</a:t>
            </a:r>
          </a:p>
        </p:txBody>
      </p:sp>
      <p:pic>
        <p:nvPicPr>
          <p:cNvPr id="5" name="Рисунок 4">
            <a:extLst>
              <a:ext uri="{FF2B5EF4-FFF2-40B4-BE49-F238E27FC236}">
                <a16:creationId xmlns:a16="http://schemas.microsoft.com/office/drawing/2014/main" id="{8E49B7B6-AF1F-42F1-8068-E57E55AD8A0B}"/>
              </a:ext>
            </a:extLst>
          </p:cNvPr>
          <p:cNvPicPr>
            <a:picLocks noChangeAspect="1"/>
          </p:cNvPicPr>
          <p:nvPr/>
        </p:nvPicPr>
        <p:blipFill>
          <a:blip r:embed="rId3"/>
          <a:stretch>
            <a:fillRect/>
          </a:stretch>
        </p:blipFill>
        <p:spPr>
          <a:xfrm>
            <a:off x="836736" y="1999337"/>
            <a:ext cx="5610225" cy="2047875"/>
          </a:xfrm>
          <a:prstGeom prst="rect">
            <a:avLst/>
          </a:prstGeom>
        </p:spPr>
      </p:pic>
      <p:pic>
        <p:nvPicPr>
          <p:cNvPr id="15" name="Рисунок 14">
            <a:extLst>
              <a:ext uri="{FF2B5EF4-FFF2-40B4-BE49-F238E27FC236}">
                <a16:creationId xmlns:a16="http://schemas.microsoft.com/office/drawing/2014/main" id="{5BE6C7C2-24FD-4F79-AFD8-80A7745524DD}"/>
              </a:ext>
            </a:extLst>
          </p:cNvPr>
          <p:cNvPicPr>
            <a:picLocks noChangeAspect="1"/>
          </p:cNvPicPr>
          <p:nvPr/>
        </p:nvPicPr>
        <p:blipFill>
          <a:blip r:embed="rId4"/>
          <a:stretch>
            <a:fillRect/>
          </a:stretch>
        </p:blipFill>
        <p:spPr>
          <a:xfrm>
            <a:off x="836736" y="4305320"/>
            <a:ext cx="5295900" cy="736239"/>
          </a:xfrm>
          <a:prstGeom prst="rect">
            <a:avLst/>
          </a:prstGeom>
        </p:spPr>
      </p:pic>
      <p:sp>
        <p:nvSpPr>
          <p:cNvPr id="18" name="TextBox 17">
            <a:extLst>
              <a:ext uri="{FF2B5EF4-FFF2-40B4-BE49-F238E27FC236}">
                <a16:creationId xmlns:a16="http://schemas.microsoft.com/office/drawing/2014/main" id="{3ED17478-34BA-4B34-9479-9348584F2AE5}"/>
              </a:ext>
            </a:extLst>
          </p:cNvPr>
          <p:cNvSpPr txBox="1"/>
          <p:nvPr/>
        </p:nvSpPr>
        <p:spPr>
          <a:xfrm>
            <a:off x="836736" y="6295168"/>
            <a:ext cx="6097464" cy="307777"/>
          </a:xfrm>
          <a:prstGeom prst="rect">
            <a:avLst/>
          </a:prstGeom>
          <a:noFill/>
        </p:spPr>
        <p:txBody>
          <a:bodyPr wrap="square">
            <a:spAutoFit/>
          </a:bodyPr>
          <a:lstStyle/>
          <a:p>
            <a:r>
              <a:rPr lang="en-US" sz="1400" dirty="0"/>
              <a:t>https://github.com/wuwuz/Piano-PIR-new</a:t>
            </a:r>
          </a:p>
        </p:txBody>
      </p:sp>
      <p:pic>
        <p:nvPicPr>
          <p:cNvPr id="19" name="Рисунок 18">
            <a:extLst>
              <a:ext uri="{FF2B5EF4-FFF2-40B4-BE49-F238E27FC236}">
                <a16:creationId xmlns:a16="http://schemas.microsoft.com/office/drawing/2014/main" id="{D915B3FC-E484-412B-AB19-535AD89D9897}"/>
              </a:ext>
            </a:extLst>
          </p:cNvPr>
          <p:cNvPicPr>
            <a:picLocks noChangeAspect="1"/>
          </p:cNvPicPr>
          <p:nvPr/>
        </p:nvPicPr>
        <p:blipFill>
          <a:blip r:embed="rId5"/>
          <a:stretch>
            <a:fillRect/>
          </a:stretch>
        </p:blipFill>
        <p:spPr>
          <a:xfrm>
            <a:off x="6934200" y="1999337"/>
            <a:ext cx="4655616" cy="4396582"/>
          </a:xfrm>
          <a:prstGeom prst="rect">
            <a:avLst/>
          </a:prstGeom>
        </p:spPr>
      </p:pic>
      <p:sp>
        <p:nvSpPr>
          <p:cNvPr id="8" name="文本框 9">
            <a:extLst>
              <a:ext uri="{FF2B5EF4-FFF2-40B4-BE49-F238E27FC236}">
                <a16:creationId xmlns:a16="http://schemas.microsoft.com/office/drawing/2014/main" id="{5B804888-FF54-4F48-8AAB-0EBEB9A924B0}"/>
              </a:ext>
            </a:extLst>
          </p:cNvPr>
          <p:cNvSpPr txBox="1"/>
          <p:nvPr/>
        </p:nvSpPr>
        <p:spPr>
          <a:xfrm>
            <a:off x="1299595" y="183700"/>
            <a:ext cx="4174732" cy="430164"/>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Piano</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27716BBF-3D95-42FF-BCC3-2F14030DA6EE}"/>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73FA324A-F69F-429D-9872-77C296BB44F4}"/>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7C7E9086-C613-421E-8744-1B89ADE29857}"/>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2BCBB8C5-A0EE-4AD8-A645-EDEF658A43DC}"/>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4F409496-C2EB-4948-AB18-7CD4F8B0BCB3}"/>
              </a:ext>
            </a:extLst>
          </p:cNvPr>
          <p:cNvPicPr>
            <a:picLocks noChangeAspect="1"/>
          </p:cNvPicPr>
          <p:nvPr/>
        </p:nvPicPr>
        <p:blipFill>
          <a:blip r:embed="rId6"/>
          <a:stretch>
            <a:fillRect/>
          </a:stretch>
        </p:blipFill>
        <p:spPr>
          <a:xfrm>
            <a:off x="549659" y="190896"/>
            <a:ext cx="612897" cy="612897"/>
          </a:xfrm>
          <a:prstGeom prst="rect">
            <a:avLst/>
          </a:prstGeom>
        </p:spPr>
      </p:pic>
    </p:spTree>
    <p:extLst>
      <p:ext uri="{BB962C8B-B14F-4D97-AF65-F5344CB8AC3E}">
        <p14:creationId xmlns:p14="http://schemas.microsoft.com/office/powerpoint/2010/main" val="1716310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42226C64-0C9C-4C75-A68E-4E14301AA36B}"/>
              </a:ext>
            </a:extLst>
          </p:cNvPr>
          <p:cNvPicPr>
            <a:picLocks noChangeAspect="1"/>
          </p:cNvPicPr>
          <p:nvPr/>
        </p:nvPicPr>
        <p:blipFill>
          <a:blip r:embed="rId3"/>
          <a:stretch>
            <a:fillRect/>
          </a:stretch>
        </p:blipFill>
        <p:spPr>
          <a:xfrm>
            <a:off x="7597962" y="1856890"/>
            <a:ext cx="3135767" cy="3144219"/>
          </a:xfrm>
          <a:prstGeom prst="rect">
            <a:avLst/>
          </a:prstGeom>
        </p:spPr>
      </p:pic>
      <p:sp>
        <p:nvSpPr>
          <p:cNvPr id="4" name="TextBox 3">
            <a:extLst>
              <a:ext uri="{FF2B5EF4-FFF2-40B4-BE49-F238E27FC236}">
                <a16:creationId xmlns:a16="http://schemas.microsoft.com/office/drawing/2014/main" id="{F0299AAD-4460-42E4-87B4-E609BF61B430}"/>
              </a:ext>
            </a:extLst>
          </p:cNvPr>
          <p:cNvSpPr txBox="1"/>
          <p:nvPr/>
        </p:nvSpPr>
        <p:spPr>
          <a:xfrm>
            <a:off x="663766" y="1127697"/>
            <a:ext cx="2637659" cy="369332"/>
          </a:xfrm>
          <a:prstGeom prst="rect">
            <a:avLst/>
          </a:prstGeom>
          <a:noFill/>
        </p:spPr>
        <p:txBody>
          <a:bodyPr wrap="square">
            <a:spAutoFit/>
          </a:bodyPr>
          <a:lstStyle/>
          <a:p>
            <a:r>
              <a:rPr lang="en-US" b="1" dirty="0"/>
              <a:t>Main construction:</a:t>
            </a:r>
            <a:endParaRPr lang="en-US" b="1" baseline="30000" dirty="0"/>
          </a:p>
        </p:txBody>
      </p:sp>
      <p:pic>
        <p:nvPicPr>
          <p:cNvPr id="58" name="Рисунок 57">
            <a:extLst>
              <a:ext uri="{FF2B5EF4-FFF2-40B4-BE49-F238E27FC236}">
                <a16:creationId xmlns:a16="http://schemas.microsoft.com/office/drawing/2014/main" id="{150411F4-F0A7-4266-B4EA-6BC7E6920A19}"/>
              </a:ext>
            </a:extLst>
          </p:cNvPr>
          <p:cNvPicPr>
            <a:picLocks noChangeAspect="1"/>
          </p:cNvPicPr>
          <p:nvPr/>
        </p:nvPicPr>
        <p:blipFill>
          <a:blip r:embed="rId4"/>
          <a:stretch>
            <a:fillRect/>
          </a:stretch>
        </p:blipFill>
        <p:spPr>
          <a:xfrm>
            <a:off x="719080" y="1566872"/>
            <a:ext cx="6143625" cy="647700"/>
          </a:xfrm>
          <a:prstGeom prst="rect">
            <a:avLst/>
          </a:prstGeom>
        </p:spPr>
      </p:pic>
      <p:grpSp>
        <p:nvGrpSpPr>
          <p:cNvPr id="75" name="Группа 74">
            <a:extLst>
              <a:ext uri="{FF2B5EF4-FFF2-40B4-BE49-F238E27FC236}">
                <a16:creationId xmlns:a16="http://schemas.microsoft.com/office/drawing/2014/main" id="{F23A71C5-C295-4CF1-B721-48440157A859}"/>
              </a:ext>
            </a:extLst>
          </p:cNvPr>
          <p:cNvGrpSpPr/>
          <p:nvPr/>
        </p:nvGrpSpPr>
        <p:grpSpPr>
          <a:xfrm>
            <a:off x="8591235" y="2219206"/>
            <a:ext cx="2604941" cy="2763564"/>
            <a:chOff x="7105663" y="2129863"/>
            <a:chExt cx="2604941" cy="2763564"/>
          </a:xfrm>
        </p:grpSpPr>
        <p:sp>
          <p:nvSpPr>
            <p:cNvPr id="68" name="Левая фигурная скобка 67">
              <a:extLst>
                <a:ext uri="{FF2B5EF4-FFF2-40B4-BE49-F238E27FC236}">
                  <a16:creationId xmlns:a16="http://schemas.microsoft.com/office/drawing/2014/main" id="{52134FF6-4C65-4FDC-8BDF-C76492412404}"/>
                </a:ext>
              </a:extLst>
            </p:cNvPr>
            <p:cNvSpPr/>
            <p:nvPr/>
          </p:nvSpPr>
          <p:spPr>
            <a:xfrm>
              <a:off x="7684477" y="3525141"/>
              <a:ext cx="96715" cy="67064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4" name="Группа 73">
              <a:extLst>
                <a:ext uri="{FF2B5EF4-FFF2-40B4-BE49-F238E27FC236}">
                  <a16:creationId xmlns:a16="http://schemas.microsoft.com/office/drawing/2014/main" id="{5C1C0C38-DE61-4FBC-A52D-4F04057A4891}"/>
                </a:ext>
              </a:extLst>
            </p:cNvPr>
            <p:cNvGrpSpPr/>
            <p:nvPr/>
          </p:nvGrpSpPr>
          <p:grpSpPr>
            <a:xfrm>
              <a:off x="7105663" y="2129863"/>
              <a:ext cx="2604941" cy="2763564"/>
              <a:chOff x="7105663" y="2129863"/>
              <a:chExt cx="2604941" cy="2763564"/>
            </a:xfrm>
          </p:grpSpPr>
          <p:sp>
            <p:nvSpPr>
              <p:cNvPr id="62" name="Левая фигурная скобка 61">
                <a:extLst>
                  <a:ext uri="{FF2B5EF4-FFF2-40B4-BE49-F238E27FC236}">
                    <a16:creationId xmlns:a16="http://schemas.microsoft.com/office/drawing/2014/main" id="{C4B024EC-69BB-4359-AA37-3B8DE9623177}"/>
                  </a:ext>
                </a:extLst>
              </p:cNvPr>
              <p:cNvSpPr/>
              <p:nvPr/>
            </p:nvSpPr>
            <p:spPr>
              <a:xfrm>
                <a:off x="7684477" y="2129863"/>
                <a:ext cx="96715" cy="67064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64947FB1-D034-48BD-8F8C-0B64338B86A7}"/>
                      </a:ext>
                    </a:extLst>
                  </p:cNvPr>
                  <p:cNvSpPr txBox="1"/>
                  <p:nvPr/>
                </p:nvSpPr>
                <p:spPr>
                  <a:xfrm>
                    <a:off x="7164174" y="2210062"/>
                    <a:ext cx="567772" cy="215444"/>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sz="1400" b="0" i="1" smtClean="0">
                              <a:latin typeface="Cambria Math" panose="02040503050406030204" pitchFamily="18" charset="0"/>
                            </a:rPr>
                            <m:t>[0…3]</m:t>
                          </m:r>
                        </m:oMath>
                      </m:oMathPara>
                    </a14:m>
                    <a:endParaRPr lang="en-US" sz="1400" dirty="0"/>
                  </a:p>
                </p:txBody>
              </p:sp>
            </mc:Choice>
            <mc:Fallback xmlns="">
              <p:sp>
                <p:nvSpPr>
                  <p:cNvPr id="63" name="TextBox 62">
                    <a:extLst>
                      <a:ext uri="{FF2B5EF4-FFF2-40B4-BE49-F238E27FC236}">
                        <a16:creationId xmlns:a16="http://schemas.microsoft.com/office/drawing/2014/main" id="{64947FB1-D034-48BD-8F8C-0B64338B86A7}"/>
                      </a:ext>
                    </a:extLst>
                  </p:cNvPr>
                  <p:cNvSpPr txBox="1">
                    <a:spLocks noRot="1" noChangeAspect="1" noMove="1" noResize="1" noEditPoints="1" noAdjustHandles="1" noChangeArrowheads="1" noChangeShapeType="1" noTextEdit="1"/>
                  </p:cNvSpPr>
                  <p:nvPr/>
                </p:nvSpPr>
                <p:spPr>
                  <a:xfrm>
                    <a:off x="7164174" y="2210062"/>
                    <a:ext cx="567772" cy="215444"/>
                  </a:xfrm>
                  <a:prstGeom prst="rect">
                    <a:avLst/>
                  </a:prstGeom>
                  <a:blipFill>
                    <a:blip r:embed="rId5"/>
                    <a:stretch>
                      <a:fillRect l="-10753" t="-2857" r="-9677" b="-34286"/>
                    </a:stretch>
                  </a:blipFill>
                </p:spPr>
                <p:txBody>
                  <a:bodyPr/>
                  <a:lstStyle/>
                  <a:p>
                    <a:r>
                      <a:rPr lang="en-US">
                        <a:noFill/>
                      </a:rPr>
                      <a:t> </a:t>
                    </a:r>
                  </a:p>
                </p:txBody>
              </p:sp>
            </mc:Fallback>
          </mc:AlternateContent>
          <p:sp>
            <p:nvSpPr>
              <p:cNvPr id="66" name="Левая фигурная скобка 65">
                <a:extLst>
                  <a:ext uri="{FF2B5EF4-FFF2-40B4-BE49-F238E27FC236}">
                    <a16:creationId xmlns:a16="http://schemas.microsoft.com/office/drawing/2014/main" id="{916801E1-9F1D-4D22-A9C3-0E351445EE28}"/>
                  </a:ext>
                </a:extLst>
              </p:cNvPr>
              <p:cNvSpPr/>
              <p:nvPr/>
            </p:nvSpPr>
            <p:spPr>
              <a:xfrm>
                <a:off x="7684477" y="2827502"/>
                <a:ext cx="96715" cy="67064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Левая фигурная скобка 69">
                <a:extLst>
                  <a:ext uri="{FF2B5EF4-FFF2-40B4-BE49-F238E27FC236}">
                    <a16:creationId xmlns:a16="http://schemas.microsoft.com/office/drawing/2014/main" id="{71945344-8376-4A80-8AD5-4276F392272C}"/>
                  </a:ext>
                </a:extLst>
              </p:cNvPr>
              <p:cNvSpPr/>
              <p:nvPr/>
            </p:nvSpPr>
            <p:spPr>
              <a:xfrm>
                <a:off x="7684477" y="4222780"/>
                <a:ext cx="96715" cy="67064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Левая фигурная скобка 71">
                <a:extLst>
                  <a:ext uri="{FF2B5EF4-FFF2-40B4-BE49-F238E27FC236}">
                    <a16:creationId xmlns:a16="http://schemas.microsoft.com/office/drawing/2014/main" id="{CB1C5A76-CA45-4A26-BEBB-B2B3BCADF781}"/>
                  </a:ext>
                </a:extLst>
              </p:cNvPr>
              <p:cNvSpPr/>
              <p:nvPr/>
            </p:nvSpPr>
            <p:spPr>
              <a:xfrm flipH="1">
                <a:off x="8783730" y="2144408"/>
                <a:ext cx="96714" cy="27490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441FAD0-564C-495D-A640-89AC22B4408C}"/>
                      </a:ext>
                    </a:extLst>
                  </p:cNvPr>
                  <p:cNvSpPr txBox="1"/>
                  <p:nvPr/>
                </p:nvSpPr>
                <p:spPr>
                  <a:xfrm>
                    <a:off x="8875247" y="3247809"/>
                    <a:ext cx="835357" cy="215444"/>
                  </a:xfrm>
                  <a:prstGeom prst="rect">
                    <a:avLst/>
                  </a:prstGeom>
                  <a:noFill/>
                </p:spPr>
                <p:txBody>
                  <a:bodyPr wrap="none" lIns="0" tIns="0" rIns="0" bIns="0" rtlCol="0">
                    <a:spAutoFit/>
                  </a:bodyPr>
                  <a:lstStyle/>
                  <a:p>
                    <a:pPr/>
                    <a14:m>
                      <m:oMathPara xmlns:m="http://schemas.openxmlformats.org/officeDocument/2006/math">
                        <m:oMathParaPr>
                          <m:jc m:val="center"/>
                        </m:oMathParaPr>
                        <m:oMath xmlns:m="http://schemas.openxmlformats.org/officeDocument/2006/math">
                          <m:d>
                            <m:dPr>
                              <m:begChr m:val="|"/>
                              <m:endChr m:val="|"/>
                              <m:ctrlPr>
                                <a:rPr lang="en-US" sz="1400" i="1" dirty="0" smtClean="0">
                                  <a:latin typeface="Cambria Math" panose="02040503050406030204" pitchFamily="18" charset="0"/>
                                </a:rPr>
                              </m:ctrlPr>
                            </m:dPr>
                            <m:e>
                              <m:r>
                                <a:rPr lang="en-US" sz="1400" b="0" i="1" dirty="0" smtClean="0">
                                  <a:latin typeface="Cambria Math" panose="02040503050406030204" pitchFamily="18" charset="0"/>
                                </a:rPr>
                                <m:t>𝐷𝐵</m:t>
                              </m:r>
                            </m:e>
                          </m:d>
                          <m:r>
                            <a:rPr lang="en-US" sz="1400" i="1" dirty="0">
                              <a:latin typeface="Cambria Math" panose="02040503050406030204" pitchFamily="18" charset="0"/>
                            </a:rPr>
                            <m:t>=</m:t>
                          </m:r>
                          <m:r>
                            <a:rPr lang="en-US" sz="1400" b="0" i="1" dirty="0" smtClean="0">
                              <a:latin typeface="Cambria Math" panose="02040503050406030204" pitchFamily="18" charset="0"/>
                            </a:rPr>
                            <m:t>16</m:t>
                          </m:r>
                        </m:oMath>
                      </m:oMathPara>
                    </a14:m>
                    <a:endParaRPr lang="en-US" sz="1400" dirty="0"/>
                  </a:p>
                </p:txBody>
              </p:sp>
            </mc:Choice>
            <mc:Fallback xmlns="">
              <p:sp>
                <p:nvSpPr>
                  <p:cNvPr id="73" name="TextBox 72">
                    <a:extLst>
                      <a:ext uri="{FF2B5EF4-FFF2-40B4-BE49-F238E27FC236}">
                        <a16:creationId xmlns:a16="http://schemas.microsoft.com/office/drawing/2014/main" id="{D441FAD0-564C-495D-A640-89AC22B4408C}"/>
                      </a:ext>
                    </a:extLst>
                  </p:cNvPr>
                  <p:cNvSpPr txBox="1">
                    <a:spLocks noRot="1" noChangeAspect="1" noMove="1" noResize="1" noEditPoints="1" noAdjustHandles="1" noChangeArrowheads="1" noChangeShapeType="1" noTextEdit="1"/>
                  </p:cNvSpPr>
                  <p:nvPr/>
                </p:nvSpPr>
                <p:spPr>
                  <a:xfrm>
                    <a:off x="8875247" y="3247809"/>
                    <a:ext cx="835357" cy="215444"/>
                  </a:xfrm>
                  <a:prstGeom prst="rect">
                    <a:avLst/>
                  </a:prstGeom>
                  <a:blipFill>
                    <a:blip r:embed="rId6"/>
                    <a:stretch>
                      <a:fillRect r="-4380" b="-5714"/>
                    </a:stretch>
                  </a:blipFill>
                </p:spPr>
                <p:txBody>
                  <a:bodyPr/>
                  <a:lstStyle/>
                  <a:p>
                    <a:r>
                      <a:rPr lang="en-US">
                        <a:noFill/>
                      </a:rPr>
                      <a:t> </a:t>
                    </a:r>
                  </a:p>
                </p:txBody>
              </p:sp>
            </mc:Fallback>
          </mc:AlternateContent>
          <p:sp>
            <p:nvSpPr>
              <p:cNvPr id="99" name="TextBox 98">
                <a:extLst>
                  <a:ext uri="{FF2B5EF4-FFF2-40B4-BE49-F238E27FC236}">
                    <a16:creationId xmlns:a16="http://schemas.microsoft.com/office/drawing/2014/main" id="{9778050D-96AD-4596-BDE2-B1FD7B9DDA5B}"/>
                  </a:ext>
                </a:extLst>
              </p:cNvPr>
              <p:cNvSpPr txBox="1"/>
              <p:nvPr/>
            </p:nvSpPr>
            <p:spPr>
              <a:xfrm>
                <a:off x="9069393" y="3024477"/>
                <a:ext cx="567772" cy="215444"/>
              </a:xfrm>
              <a:prstGeom prst="rect">
                <a:avLst/>
              </a:prstGeom>
              <a:noFill/>
            </p:spPr>
            <p:txBody>
              <a:bodyPr wrap="square" lIns="0" tIns="0" rIns="0" bIns="0" rtlCol="0">
                <a:spAutoFit/>
              </a:bodyPr>
              <a:lstStyle/>
              <a:p>
                <a:endParaRPr lang="en-US" sz="1400" dirty="0"/>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2A76CD7A-E098-4A23-A034-56CE3428D61F}"/>
                      </a:ext>
                    </a:extLst>
                  </p:cNvPr>
                  <p:cNvSpPr txBox="1"/>
                  <p:nvPr/>
                </p:nvSpPr>
                <p:spPr>
                  <a:xfrm>
                    <a:off x="7184938" y="2916755"/>
                    <a:ext cx="567772" cy="215444"/>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sz="1400" b="0" i="1" smtClean="0">
                              <a:latin typeface="Cambria Math" panose="02040503050406030204" pitchFamily="18" charset="0"/>
                            </a:rPr>
                            <m:t>[4…7]</m:t>
                          </m:r>
                        </m:oMath>
                      </m:oMathPara>
                    </a14:m>
                    <a:endParaRPr lang="en-US" sz="1400" dirty="0"/>
                  </a:p>
                </p:txBody>
              </p:sp>
            </mc:Choice>
            <mc:Fallback xmlns="">
              <p:sp>
                <p:nvSpPr>
                  <p:cNvPr id="100" name="TextBox 99">
                    <a:extLst>
                      <a:ext uri="{FF2B5EF4-FFF2-40B4-BE49-F238E27FC236}">
                        <a16:creationId xmlns:a16="http://schemas.microsoft.com/office/drawing/2014/main" id="{2A76CD7A-E098-4A23-A034-56CE3428D61F}"/>
                      </a:ext>
                    </a:extLst>
                  </p:cNvPr>
                  <p:cNvSpPr txBox="1">
                    <a:spLocks noRot="1" noChangeAspect="1" noMove="1" noResize="1" noEditPoints="1" noAdjustHandles="1" noChangeArrowheads="1" noChangeShapeType="1" noTextEdit="1"/>
                  </p:cNvSpPr>
                  <p:nvPr/>
                </p:nvSpPr>
                <p:spPr>
                  <a:xfrm>
                    <a:off x="7184938" y="2916755"/>
                    <a:ext cx="567772" cy="215444"/>
                  </a:xfrm>
                  <a:prstGeom prst="rect">
                    <a:avLst/>
                  </a:prstGeom>
                  <a:blipFill>
                    <a:blip r:embed="rId7"/>
                    <a:stretch>
                      <a:fillRect l="-10753" t="-2857" r="-9677"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DCFADB61-2D36-4942-BAD5-CB1A2D7C36FC}"/>
                      </a:ext>
                    </a:extLst>
                  </p:cNvPr>
                  <p:cNvSpPr txBox="1"/>
                  <p:nvPr/>
                </p:nvSpPr>
                <p:spPr>
                  <a:xfrm>
                    <a:off x="7205702" y="3623448"/>
                    <a:ext cx="567772" cy="215444"/>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sz="1400" b="0" i="1" smtClean="0">
                              <a:latin typeface="Cambria Math" panose="02040503050406030204" pitchFamily="18" charset="0"/>
                            </a:rPr>
                            <m:t>[8..11]</m:t>
                          </m:r>
                        </m:oMath>
                      </m:oMathPara>
                    </a14:m>
                    <a:endParaRPr lang="en-US" sz="1400" dirty="0"/>
                  </a:p>
                </p:txBody>
              </p:sp>
            </mc:Choice>
            <mc:Fallback xmlns="">
              <p:sp>
                <p:nvSpPr>
                  <p:cNvPr id="101" name="TextBox 100">
                    <a:extLst>
                      <a:ext uri="{FF2B5EF4-FFF2-40B4-BE49-F238E27FC236}">
                        <a16:creationId xmlns:a16="http://schemas.microsoft.com/office/drawing/2014/main" id="{DCFADB61-2D36-4942-BAD5-CB1A2D7C36FC}"/>
                      </a:ext>
                    </a:extLst>
                  </p:cNvPr>
                  <p:cNvSpPr txBox="1">
                    <a:spLocks noRot="1" noChangeAspect="1" noMove="1" noResize="1" noEditPoints="1" noAdjustHandles="1" noChangeArrowheads="1" noChangeShapeType="1" noTextEdit="1"/>
                  </p:cNvSpPr>
                  <p:nvPr/>
                </p:nvSpPr>
                <p:spPr>
                  <a:xfrm>
                    <a:off x="7205702" y="3623448"/>
                    <a:ext cx="567772" cy="215444"/>
                  </a:xfrm>
                  <a:prstGeom prst="rect">
                    <a:avLst/>
                  </a:prstGeom>
                  <a:blipFill>
                    <a:blip r:embed="rId8"/>
                    <a:stretch>
                      <a:fillRect l="-13978" t="-5714" r="-13978"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5C7F0E4C-1A4C-4CCF-8ADD-EDDA24C563EF}"/>
                      </a:ext>
                    </a:extLst>
                  </p:cNvPr>
                  <p:cNvSpPr txBox="1"/>
                  <p:nvPr/>
                </p:nvSpPr>
                <p:spPr>
                  <a:xfrm>
                    <a:off x="7105663" y="4321087"/>
                    <a:ext cx="567772" cy="215444"/>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sz="1400" b="0" i="1" smtClean="0">
                              <a:latin typeface="Cambria Math" panose="02040503050406030204" pitchFamily="18" charset="0"/>
                            </a:rPr>
                            <m:t>[12..15]</m:t>
                          </m:r>
                        </m:oMath>
                      </m:oMathPara>
                    </a14:m>
                    <a:endParaRPr lang="en-US" sz="1400" dirty="0"/>
                  </a:p>
                </p:txBody>
              </p:sp>
            </mc:Choice>
            <mc:Fallback xmlns="">
              <p:sp>
                <p:nvSpPr>
                  <p:cNvPr id="102" name="TextBox 101">
                    <a:extLst>
                      <a:ext uri="{FF2B5EF4-FFF2-40B4-BE49-F238E27FC236}">
                        <a16:creationId xmlns:a16="http://schemas.microsoft.com/office/drawing/2014/main" id="{5C7F0E4C-1A4C-4CCF-8ADD-EDDA24C563EF}"/>
                      </a:ext>
                    </a:extLst>
                  </p:cNvPr>
                  <p:cNvSpPr txBox="1">
                    <a:spLocks noRot="1" noChangeAspect="1" noMove="1" noResize="1" noEditPoints="1" noAdjustHandles="1" noChangeArrowheads="1" noChangeShapeType="1" noTextEdit="1"/>
                  </p:cNvSpPr>
                  <p:nvPr/>
                </p:nvSpPr>
                <p:spPr>
                  <a:xfrm>
                    <a:off x="7105663" y="4321087"/>
                    <a:ext cx="567772" cy="215444"/>
                  </a:xfrm>
                  <a:prstGeom prst="rect">
                    <a:avLst/>
                  </a:prstGeom>
                  <a:blipFill>
                    <a:blip r:embed="rId9"/>
                    <a:stretch>
                      <a:fillRect l="-15054" t="-2857" r="-29032" b="-34286"/>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490CDBC4-E172-4EC4-BC1F-F8BF1F54FA56}"/>
                  </a:ext>
                </a:extLst>
              </p:cNvPr>
              <p:cNvSpPr txBox="1"/>
              <p:nvPr/>
            </p:nvSpPr>
            <p:spPr>
              <a:xfrm>
                <a:off x="7597961" y="1477103"/>
                <a:ext cx="3755839" cy="215444"/>
              </a:xfrm>
              <a:prstGeom prst="rect">
                <a:avLst/>
              </a:prstGeom>
              <a:noFill/>
            </p:spPr>
            <p:txBody>
              <a:bodyPr wrap="square" lIns="0" tIns="0" rIns="0" bIns="0" rtlCol="0">
                <a:spAutoFit/>
              </a:bodyPr>
              <a:lstStyle/>
              <a:p>
                <a:r>
                  <a:rPr lang="en-US" sz="1400" dirty="0"/>
                  <a:t>For </a:t>
                </a:r>
                <a14:m>
                  <m:oMath xmlns:m="http://schemas.openxmlformats.org/officeDocument/2006/math">
                    <m:r>
                      <a:rPr lang="en-US" sz="1400" b="0" i="1" smtClean="0">
                        <a:latin typeface="Cambria Math" panose="02040503050406030204" pitchFamily="18" charset="0"/>
                      </a:rPr>
                      <m:t>𝑛</m:t>
                    </m:r>
                    <m:r>
                      <a:rPr lang="en-US" sz="1400" b="0" i="1" smtClean="0">
                        <a:latin typeface="Cambria Math" panose="02040503050406030204" pitchFamily="18" charset="0"/>
                      </a:rPr>
                      <m:t>=16</m:t>
                    </m:r>
                  </m:oMath>
                </a14:m>
                <a:r>
                  <a:rPr lang="en-US" sz="1400" dirty="0"/>
                  <a:t>, the server’s DB is split into 4 chunks:</a:t>
                </a:r>
              </a:p>
            </p:txBody>
          </p:sp>
        </mc:Choice>
        <mc:Fallback xmlns="">
          <p:sp>
            <p:nvSpPr>
              <p:cNvPr id="92" name="TextBox 91">
                <a:extLst>
                  <a:ext uri="{FF2B5EF4-FFF2-40B4-BE49-F238E27FC236}">
                    <a16:creationId xmlns:a16="http://schemas.microsoft.com/office/drawing/2014/main" id="{490CDBC4-E172-4EC4-BC1F-F8BF1F54FA56}"/>
                  </a:ext>
                </a:extLst>
              </p:cNvPr>
              <p:cNvSpPr txBox="1">
                <a:spLocks noRot="1" noChangeAspect="1" noMove="1" noResize="1" noEditPoints="1" noAdjustHandles="1" noChangeArrowheads="1" noChangeShapeType="1" noTextEdit="1"/>
              </p:cNvSpPr>
              <p:nvPr/>
            </p:nvSpPr>
            <p:spPr>
              <a:xfrm>
                <a:off x="7597961" y="1477103"/>
                <a:ext cx="3755839" cy="215444"/>
              </a:xfrm>
              <a:prstGeom prst="rect">
                <a:avLst/>
              </a:prstGeom>
              <a:blipFill>
                <a:blip r:embed="rId10"/>
                <a:stretch>
                  <a:fillRect l="-2917" t="-25000" b="-47222"/>
                </a:stretch>
              </a:blipFill>
            </p:spPr>
            <p:txBody>
              <a:bodyPr/>
              <a:lstStyle/>
              <a:p>
                <a:r>
                  <a:rPr lang="en-US">
                    <a:noFill/>
                  </a:rPr>
                  <a:t> </a:t>
                </a:r>
              </a:p>
            </p:txBody>
          </p:sp>
        </mc:Fallback>
      </mc:AlternateContent>
      <p:sp>
        <p:nvSpPr>
          <p:cNvPr id="46" name="TextBox 45">
            <a:extLst>
              <a:ext uri="{FF2B5EF4-FFF2-40B4-BE49-F238E27FC236}">
                <a16:creationId xmlns:a16="http://schemas.microsoft.com/office/drawing/2014/main" id="{F79F4FC0-7E1B-4235-94E3-7CE3BC261B18}"/>
              </a:ext>
            </a:extLst>
          </p:cNvPr>
          <p:cNvSpPr txBox="1"/>
          <p:nvPr/>
        </p:nvSpPr>
        <p:spPr>
          <a:xfrm>
            <a:off x="651639" y="2464768"/>
            <a:ext cx="3005961" cy="369332"/>
          </a:xfrm>
          <a:prstGeom prst="rect">
            <a:avLst/>
          </a:prstGeom>
          <a:noFill/>
        </p:spPr>
        <p:txBody>
          <a:bodyPr wrap="square">
            <a:spAutoFit/>
          </a:bodyPr>
          <a:lstStyle/>
          <a:p>
            <a:r>
              <a:rPr lang="en-US" b="1" dirty="0"/>
              <a:t>Parameters selection: Theory</a:t>
            </a:r>
            <a:endParaRPr lang="en-US" b="1" baseline="30000" dirty="0"/>
          </a:p>
        </p:txBody>
      </p:sp>
      <p:grpSp>
        <p:nvGrpSpPr>
          <p:cNvPr id="128" name="Группа 127">
            <a:extLst>
              <a:ext uri="{FF2B5EF4-FFF2-40B4-BE49-F238E27FC236}">
                <a16:creationId xmlns:a16="http://schemas.microsoft.com/office/drawing/2014/main" id="{066F52CA-5E6E-4DBB-958B-A45189C17E31}"/>
              </a:ext>
            </a:extLst>
          </p:cNvPr>
          <p:cNvGrpSpPr/>
          <p:nvPr/>
        </p:nvGrpSpPr>
        <p:grpSpPr>
          <a:xfrm>
            <a:off x="706954" y="2916845"/>
            <a:ext cx="6926478" cy="1394270"/>
            <a:chOff x="706954" y="3426695"/>
            <a:chExt cx="6926478" cy="1394270"/>
          </a:xfrm>
        </p:grpSpPr>
        <p:sp>
          <p:nvSpPr>
            <p:cNvPr id="76" name="TextBox 75">
              <a:extLst>
                <a:ext uri="{FF2B5EF4-FFF2-40B4-BE49-F238E27FC236}">
                  <a16:creationId xmlns:a16="http://schemas.microsoft.com/office/drawing/2014/main" id="{E3B81BBD-760D-4100-89EC-D45FC69350D5}"/>
                </a:ext>
              </a:extLst>
            </p:cNvPr>
            <p:cNvSpPr txBox="1"/>
            <p:nvPr/>
          </p:nvSpPr>
          <p:spPr>
            <a:xfrm>
              <a:off x="706954" y="3426695"/>
              <a:ext cx="1995739" cy="215444"/>
            </a:xfrm>
            <a:prstGeom prst="rect">
              <a:avLst/>
            </a:prstGeom>
            <a:noFill/>
          </p:spPr>
          <p:txBody>
            <a:bodyPr wrap="none" lIns="0" tIns="0" rIns="0" bIns="0" rtlCol="0">
              <a:spAutoFit/>
            </a:bodyPr>
            <a:lstStyle/>
            <a:p>
              <a:r>
                <a:rPr lang="en-US" sz="1400" dirty="0"/>
                <a:t>Asymptotic targets (paper):</a:t>
              </a:r>
            </a:p>
          </p:txBody>
        </p:sp>
        <p:grpSp>
          <p:nvGrpSpPr>
            <p:cNvPr id="117" name="Группа 116">
              <a:extLst>
                <a:ext uri="{FF2B5EF4-FFF2-40B4-BE49-F238E27FC236}">
                  <a16:creationId xmlns:a16="http://schemas.microsoft.com/office/drawing/2014/main" id="{276D97A3-7EF1-4D6C-9BFA-C8441EBAB594}"/>
                </a:ext>
              </a:extLst>
            </p:cNvPr>
            <p:cNvGrpSpPr/>
            <p:nvPr/>
          </p:nvGrpSpPr>
          <p:grpSpPr>
            <a:xfrm>
              <a:off x="807505" y="3763156"/>
              <a:ext cx="4924006" cy="238938"/>
              <a:chOff x="807505" y="3680411"/>
              <a:chExt cx="4924006" cy="238938"/>
            </a:xfrm>
          </p:grpSpPr>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C4BC0D71-45D4-4528-84B0-8509658E127E}"/>
                      </a:ext>
                    </a:extLst>
                  </p:cNvPr>
                  <p:cNvSpPr txBox="1"/>
                  <p:nvPr/>
                </p:nvSpPr>
                <p:spPr>
                  <a:xfrm>
                    <a:off x="807505" y="3680411"/>
                    <a:ext cx="891270" cy="217817"/>
                  </a:xfrm>
                  <a:prstGeom prst="rect">
                    <a:avLst/>
                  </a:prstGeom>
                  <a:noFill/>
                </p:spPr>
                <p:txBody>
                  <a:bodyPr wrap="none" lIns="0" tIns="0" rIns="0" bIns="0" rtlCol="0">
                    <a:spAutoFit/>
                  </a:bodyPr>
                  <a:lstStyle/>
                  <a:p>
                    <a14:m>
                      <m:oMath xmlns:m="http://schemas.openxmlformats.org/officeDocument/2006/math">
                        <m:r>
                          <a:rPr lang="en-US" sz="1400" i="1" smtClean="0">
                            <a:latin typeface="Cambria Math" panose="02040503050406030204" pitchFamily="18" charset="0"/>
                          </a:rPr>
                          <m:t>𝑄</m:t>
                        </m:r>
                        <m:r>
                          <a:rPr lang="en-US" sz="1400" b="0" i="1" smtClean="0">
                            <a:latin typeface="Cambria Math" panose="02040503050406030204" pitchFamily="18" charset="0"/>
                          </a:rPr>
                          <m:t>=</m:t>
                        </m:r>
                        <m:acc>
                          <m:accPr>
                            <m:chr m:val="̃"/>
                            <m:ctrlPr>
                              <a:rPr lang="en-US" sz="1400" b="0" i="1" smtClean="0">
                                <a:latin typeface="Cambria Math" panose="02040503050406030204" pitchFamily="18" charset="0"/>
                              </a:rPr>
                            </m:ctrlPr>
                          </m:accPr>
                          <m:e>
                            <m:r>
                              <m:rPr>
                                <m:nor/>
                              </m:rPr>
                              <a:rPr lang="en-US" sz="1400"/>
                              <m:t>O</m:t>
                            </m:r>
                          </m:e>
                        </m:acc>
                        <m:r>
                          <a:rPr lang="en-US" sz="1400" b="0" i="1" smtClean="0">
                            <a:latin typeface="Cambria Math" panose="02040503050406030204" pitchFamily="18" charset="0"/>
                          </a:rPr>
                          <m:t>(</m:t>
                        </m:r>
                        <m:rad>
                          <m:radPr>
                            <m:degHide m:val="on"/>
                            <m:ctrlPr>
                              <a:rPr lang="en-US" sz="1400" i="1" smtClean="0">
                                <a:latin typeface="Cambria Math" panose="02040503050406030204" pitchFamily="18" charset="0"/>
                              </a:rPr>
                            </m:ctrlPr>
                          </m:radPr>
                          <m:deg/>
                          <m:e>
                            <m:r>
                              <a:rPr lang="en-US" sz="1400" b="0" i="1" smtClean="0">
                                <a:latin typeface="Cambria Math" panose="02040503050406030204" pitchFamily="18" charset="0"/>
                              </a:rPr>
                              <m:t>𝑛</m:t>
                            </m:r>
                          </m:e>
                        </m:rad>
                        <m:r>
                          <a:rPr lang="en-US" sz="1400" b="0" i="1" smtClean="0">
                            <a:latin typeface="Cambria Math" panose="02040503050406030204" pitchFamily="18" charset="0"/>
                          </a:rPr>
                          <m:t>)</m:t>
                        </m:r>
                      </m:oMath>
                    </a14:m>
                    <a:r>
                      <a:rPr lang="en-US" sz="1400" dirty="0"/>
                      <a:t>,</a:t>
                    </a:r>
                  </a:p>
                </p:txBody>
              </p:sp>
            </mc:Choice>
            <mc:Fallback xmlns="">
              <p:sp>
                <p:nvSpPr>
                  <p:cNvPr id="108" name="TextBox 107">
                    <a:extLst>
                      <a:ext uri="{FF2B5EF4-FFF2-40B4-BE49-F238E27FC236}">
                        <a16:creationId xmlns:a16="http://schemas.microsoft.com/office/drawing/2014/main" id="{C4BC0D71-45D4-4528-84B0-8509658E127E}"/>
                      </a:ext>
                    </a:extLst>
                  </p:cNvPr>
                  <p:cNvSpPr txBox="1">
                    <a:spLocks noRot="1" noChangeAspect="1" noMove="1" noResize="1" noEditPoints="1" noAdjustHandles="1" noChangeArrowheads="1" noChangeShapeType="1" noTextEdit="1"/>
                  </p:cNvSpPr>
                  <p:nvPr/>
                </p:nvSpPr>
                <p:spPr>
                  <a:xfrm>
                    <a:off x="807505" y="3680411"/>
                    <a:ext cx="891270" cy="217817"/>
                  </a:xfrm>
                  <a:prstGeom prst="rect">
                    <a:avLst/>
                  </a:prstGeom>
                  <a:blipFill>
                    <a:blip r:embed="rId11"/>
                    <a:stretch>
                      <a:fillRect l="-8844" t="-22222" r="-10884"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179C3F0D-11B6-4033-BAF5-36D551C2BC17}"/>
                      </a:ext>
                    </a:extLst>
                  </p:cNvPr>
                  <p:cNvSpPr txBox="1"/>
                  <p:nvPr/>
                </p:nvSpPr>
                <p:spPr>
                  <a:xfrm>
                    <a:off x="1861923" y="3682784"/>
                    <a:ext cx="2028376" cy="217817"/>
                  </a:xfrm>
                  <a:prstGeom prst="rect">
                    <a:avLst/>
                  </a:prstGeom>
                  <a:noFill/>
                </p:spPr>
                <p:txBody>
                  <a:bodyPr wrap="none" lIns="0" tIns="0" rIns="0" bIns="0" rtlCol="0">
                    <a:spAutoFit/>
                  </a:bodyPr>
                  <a:lstStyle/>
                  <a:p>
                    <a14:m>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𝑀</m:t>
                            </m:r>
                          </m:e>
                          <m:sub>
                            <m:r>
                              <a:rPr lang="en-US" sz="1400" i="1">
                                <a:latin typeface="Cambria Math" panose="02040503050406030204" pitchFamily="18" charset="0"/>
                              </a:rPr>
                              <m:t>1</m:t>
                            </m:r>
                          </m:sub>
                        </m:sSub>
                        <m:r>
                          <a:rPr lang="en-US" sz="1400" b="0" i="1" smtClean="0">
                            <a:latin typeface="Cambria Math" panose="02040503050406030204" pitchFamily="18" charset="0"/>
                          </a:rPr>
                          <m:t>=</m:t>
                        </m:r>
                        <m:r>
                          <m:rPr>
                            <m:nor/>
                          </m:rPr>
                          <a:rPr lang="el-GR" sz="1400"/>
                          <m:t>Θ</m:t>
                        </m:r>
                        <m:r>
                          <m:rPr>
                            <m:nor/>
                          </m:rPr>
                          <a:rPr lang="en-US" sz="1400" b="0" i="0" smtClean="0"/>
                          <m:t>(</m:t>
                        </m:r>
                        <m:rad>
                          <m:radPr>
                            <m:degHide m:val="on"/>
                            <m:ctrlPr>
                              <a:rPr lang="en-US" sz="1400" i="1">
                                <a:latin typeface="Cambria Math" panose="02040503050406030204" pitchFamily="18" charset="0"/>
                              </a:rPr>
                            </m:ctrlPr>
                          </m:radPr>
                          <m:deg/>
                          <m:e>
                            <m:r>
                              <a:rPr lang="en-US" sz="1400" i="1">
                                <a:latin typeface="Cambria Math" panose="02040503050406030204" pitchFamily="18" charset="0"/>
                              </a:rPr>
                              <m:t>𝑛</m:t>
                            </m:r>
                          </m:e>
                        </m:rad>
                        <m:r>
                          <a:rPr lang="en-US" sz="1400" b="0" i="1" smtClean="0">
                            <a:latin typeface="Cambria Math" panose="02040503050406030204" pitchFamily="18" charset="0"/>
                          </a:rPr>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log</m:t>
                            </m:r>
                          </m:fName>
                          <m:e>
                            <m:r>
                              <a:rPr lang="en-US" sz="1400" b="0" i="1" smtClean="0">
                                <a:latin typeface="Cambria Math" panose="02040503050406030204" pitchFamily="18" charset="0"/>
                              </a:rPr>
                              <m:t>𝑘</m:t>
                            </m:r>
                          </m:e>
                        </m:func>
                        <m:r>
                          <a:rPr lang="en-US" sz="1400" b="0" i="1" smtClean="0">
                            <a:latin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𝛼</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𝑘</m:t>
                        </m:r>
                        <m:r>
                          <a:rPr lang="en-US" sz="1400" b="0" i="1" smtClean="0">
                            <a:latin typeface="Cambria Math" panose="02040503050406030204" pitchFamily="18" charset="0"/>
                            <a:ea typeface="Cambria Math" panose="02040503050406030204" pitchFamily="18" charset="0"/>
                          </a:rPr>
                          <m:t>))</m:t>
                        </m:r>
                      </m:oMath>
                    </a14:m>
                    <a:r>
                      <a:rPr lang="en-US" sz="1400" dirty="0"/>
                      <a:t>,</a:t>
                    </a:r>
                  </a:p>
                </p:txBody>
              </p:sp>
            </mc:Choice>
            <mc:Fallback xmlns="">
              <p:sp>
                <p:nvSpPr>
                  <p:cNvPr id="111" name="TextBox 110">
                    <a:extLst>
                      <a:ext uri="{FF2B5EF4-FFF2-40B4-BE49-F238E27FC236}">
                        <a16:creationId xmlns:a16="http://schemas.microsoft.com/office/drawing/2014/main" id="{179C3F0D-11B6-4033-BAF5-36D551C2BC17}"/>
                      </a:ext>
                    </a:extLst>
                  </p:cNvPr>
                  <p:cNvSpPr txBox="1">
                    <a:spLocks noRot="1" noChangeAspect="1" noMove="1" noResize="1" noEditPoints="1" noAdjustHandles="1" noChangeArrowheads="1" noChangeShapeType="1" noTextEdit="1"/>
                  </p:cNvSpPr>
                  <p:nvPr/>
                </p:nvSpPr>
                <p:spPr>
                  <a:xfrm>
                    <a:off x="1861923" y="3682784"/>
                    <a:ext cx="2028376" cy="217817"/>
                  </a:xfrm>
                  <a:prstGeom prst="rect">
                    <a:avLst/>
                  </a:prstGeom>
                  <a:blipFill>
                    <a:blip r:embed="rId12"/>
                    <a:stretch>
                      <a:fillRect l="-3003" t="-25714" r="-4505" b="-5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C869A89C-C852-489F-A85F-B33882D203DB}"/>
                      </a:ext>
                    </a:extLst>
                  </p:cNvPr>
                  <p:cNvSpPr txBox="1"/>
                  <p:nvPr/>
                </p:nvSpPr>
                <p:spPr>
                  <a:xfrm>
                    <a:off x="4054129" y="3703905"/>
                    <a:ext cx="1677382" cy="215444"/>
                  </a:xfrm>
                  <a:prstGeom prst="rect">
                    <a:avLst/>
                  </a:prstGeom>
                  <a:noFill/>
                </p:spPr>
                <p:txBody>
                  <a:bodyPr wrap="none" lIns="0" tIns="0" rIns="0" bIns="0" rtlCol="0">
                    <a:spAutoFit/>
                  </a:bodyPr>
                  <a:lstStyle/>
                  <a:p>
                    <a14:m>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𝑀</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r>
                          <m:rPr>
                            <m:nor/>
                          </m:rPr>
                          <a:rPr lang="el-GR" sz="1400"/>
                          <m:t>Θ</m:t>
                        </m:r>
                        <m:r>
                          <m:rPr>
                            <m:nor/>
                          </m:rPr>
                          <a:rPr lang="en-US" sz="1400" b="0" i="0" smtClean="0"/>
                          <m:t>(</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log</m:t>
                            </m:r>
                          </m:fName>
                          <m:e>
                            <m:r>
                              <a:rPr lang="en-US" sz="1400" b="0" i="1" smtClean="0">
                                <a:latin typeface="Cambria Math" panose="02040503050406030204" pitchFamily="18" charset="0"/>
                              </a:rPr>
                              <m:t>𝑘</m:t>
                            </m:r>
                          </m:e>
                        </m:func>
                        <m:r>
                          <a:rPr lang="en-US" sz="1400" b="0" i="1" smtClean="0">
                            <a:latin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𝛼</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𝑘</m:t>
                        </m:r>
                        <m:r>
                          <a:rPr lang="en-US" sz="1400" b="0" i="1" smtClean="0">
                            <a:latin typeface="Cambria Math" panose="02040503050406030204" pitchFamily="18" charset="0"/>
                            <a:ea typeface="Cambria Math" panose="02040503050406030204" pitchFamily="18" charset="0"/>
                          </a:rPr>
                          <m:t>))</m:t>
                        </m:r>
                      </m:oMath>
                    </a14:m>
                    <a:r>
                      <a:rPr lang="en-US" sz="1400" dirty="0"/>
                      <a:t>,</a:t>
                    </a:r>
                  </a:p>
                </p:txBody>
              </p:sp>
            </mc:Choice>
            <mc:Fallback xmlns="">
              <p:sp>
                <p:nvSpPr>
                  <p:cNvPr id="114" name="TextBox 113">
                    <a:extLst>
                      <a:ext uri="{FF2B5EF4-FFF2-40B4-BE49-F238E27FC236}">
                        <a16:creationId xmlns:a16="http://schemas.microsoft.com/office/drawing/2014/main" id="{C869A89C-C852-489F-A85F-B33882D203DB}"/>
                      </a:ext>
                    </a:extLst>
                  </p:cNvPr>
                  <p:cNvSpPr txBox="1">
                    <a:spLocks noRot="1" noChangeAspect="1" noMove="1" noResize="1" noEditPoints="1" noAdjustHandles="1" noChangeArrowheads="1" noChangeShapeType="1" noTextEdit="1"/>
                  </p:cNvSpPr>
                  <p:nvPr/>
                </p:nvSpPr>
                <p:spPr>
                  <a:xfrm>
                    <a:off x="4054129" y="3703905"/>
                    <a:ext cx="1677382" cy="215444"/>
                  </a:xfrm>
                  <a:prstGeom prst="rect">
                    <a:avLst/>
                  </a:prstGeom>
                  <a:blipFill>
                    <a:blip r:embed="rId13"/>
                    <a:stretch>
                      <a:fillRect l="-3636" t="-25000" r="-5455" b="-4722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E8E9EF2-C69E-4438-A61C-2CED886CEAB6}"/>
                    </a:ext>
                  </a:extLst>
                </p:cNvPr>
                <p:cNvSpPr txBox="1"/>
                <p:nvPr/>
              </p:nvSpPr>
              <p:spPr>
                <a:xfrm>
                  <a:off x="706954" y="4125484"/>
                  <a:ext cx="6926478" cy="215444"/>
                </a:xfrm>
                <a:prstGeom prst="rect">
                  <a:avLst/>
                </a:prstGeom>
                <a:noFill/>
              </p:spPr>
              <p:txBody>
                <a:bodyPr wrap="square" lIns="0" tIns="0" rIns="0" bIns="0" rtlCol="0">
                  <a:spAutoFit/>
                </a:bodyPr>
                <a:lstStyle/>
                <a:p>
                  <a:r>
                    <a:rPr lang="en-US" sz="1400" dirty="0"/>
                    <a:t>w</a:t>
                  </a:r>
                  <a:r>
                    <a:rPr lang="en-US" sz="1400" b="0" dirty="0"/>
                    <a:t>here </a:t>
                  </a:r>
                  <a14:m>
                    <m:oMath xmlns:m="http://schemas.openxmlformats.org/officeDocument/2006/math">
                      <m:r>
                        <a:rPr lang="en-US" sz="1400" b="0" i="1" smtClean="0">
                          <a:latin typeface="Cambria Math" panose="02040503050406030204" pitchFamily="18" charset="0"/>
                          <a:ea typeface="Cambria Math" panose="02040503050406030204" pitchFamily="18" charset="0"/>
                        </a:rPr>
                        <m:t>𝑘</m:t>
                      </m:r>
                    </m:oMath>
                  </a14:m>
                  <a:r>
                    <a:rPr lang="en-US" sz="1400" b="0" dirty="0"/>
                    <a:t> is the (statistical) security parameter and </a:t>
                  </a:r>
                  <a14:m>
                    <m:oMath xmlns:m="http://schemas.openxmlformats.org/officeDocument/2006/math">
                      <m:r>
                        <a:rPr lang="en-US" sz="1400" i="1">
                          <a:latin typeface="Cambria Math" panose="02040503050406030204" pitchFamily="18" charset="0"/>
                          <a:ea typeface="Cambria Math" panose="02040503050406030204" pitchFamily="18" charset="0"/>
                        </a:rPr>
                        <m:t>𝛼</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𝑘</m:t>
                          </m:r>
                        </m:e>
                      </m:d>
                    </m:oMath>
                  </a14:m>
                  <a:r>
                    <a:rPr lang="en-US" sz="1400" b="0" dirty="0"/>
                    <a:t> is a tiny super-constant (</a:t>
                  </a:r>
                  <a:r>
                    <a:rPr lang="en-US" sz="1100" b="0" dirty="0"/>
                    <a:t>polylog factor</a:t>
                  </a:r>
                  <a:r>
                    <a:rPr lang="en-US" sz="1400" b="0" dirty="0"/>
                    <a:t>).</a:t>
                  </a:r>
                </a:p>
              </p:txBody>
            </p:sp>
          </mc:Choice>
          <mc:Fallback xmlns="">
            <p:sp>
              <p:nvSpPr>
                <p:cNvPr id="115" name="TextBox 114">
                  <a:extLst>
                    <a:ext uri="{FF2B5EF4-FFF2-40B4-BE49-F238E27FC236}">
                      <a16:creationId xmlns:a16="http://schemas.microsoft.com/office/drawing/2014/main" id="{3E8E9EF2-C69E-4438-A61C-2CED886CEAB6}"/>
                    </a:ext>
                  </a:extLst>
                </p:cNvPr>
                <p:cNvSpPr txBox="1">
                  <a:spLocks noRot="1" noChangeAspect="1" noMove="1" noResize="1" noEditPoints="1" noAdjustHandles="1" noChangeArrowheads="1" noChangeShapeType="1" noTextEdit="1"/>
                </p:cNvSpPr>
                <p:nvPr/>
              </p:nvSpPr>
              <p:spPr>
                <a:xfrm>
                  <a:off x="706954" y="4125484"/>
                  <a:ext cx="6926478" cy="215444"/>
                </a:xfrm>
                <a:prstGeom prst="rect">
                  <a:avLst/>
                </a:prstGeom>
                <a:blipFill>
                  <a:blip r:embed="rId14"/>
                  <a:stretch>
                    <a:fillRect l="-1585" t="-25714" b="-5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BF997E7E-8508-4C93-9C89-E40B5976897D}"/>
                    </a:ext>
                  </a:extLst>
                </p:cNvPr>
                <p:cNvSpPr txBox="1"/>
                <p:nvPr/>
              </p:nvSpPr>
              <p:spPr>
                <a:xfrm>
                  <a:off x="706954" y="4387705"/>
                  <a:ext cx="6502000" cy="433260"/>
                </a:xfrm>
                <a:prstGeom prst="rect">
                  <a:avLst/>
                </a:prstGeom>
                <a:noFill/>
              </p:spPr>
              <p:txBody>
                <a:bodyPr wrap="square" lIns="0" tIns="0" rIns="0" bIns="0" rtlCol="0">
                  <a:spAutoFit/>
                </a:bodyPr>
                <a:lstStyle/>
                <a:p>
                  <a:r>
                    <a:rPr lang="en-US" sz="1400" b="0" dirty="0"/>
                    <a:t>Intuition: </a:t>
                  </a:r>
                  <a:r>
                    <a:rPr lang="en-US" sz="1400" dirty="0"/>
                    <a:t>with these budgets, each chunk is hit only polylog-many times </a:t>
                  </a:r>
                  <a:r>
                    <a:rPr lang="en-US" sz="1400" dirty="0" err="1"/>
                    <a:t>w.h.p</a:t>
                  </a:r>
                  <a:r>
                    <a:rPr lang="en-US" sz="1400" dirty="0"/>
                    <a:t>., so we won’t run out of replacements/backups; online comm stay  </a:t>
                  </a:r>
                  <a14:m>
                    <m:oMath xmlns:m="http://schemas.openxmlformats.org/officeDocument/2006/math">
                      <m:r>
                        <m:rPr>
                          <m:nor/>
                        </m:rPr>
                        <a:rPr lang="en-US" sz="1400"/>
                        <m:t>O</m:t>
                      </m:r>
                      <m:d>
                        <m:dPr>
                          <m:ctrlPr>
                            <a:rPr lang="en-US" sz="1400" b="0" i="1" smtClean="0">
                              <a:latin typeface="Cambria Math" panose="02040503050406030204" pitchFamily="18" charset="0"/>
                            </a:rPr>
                          </m:ctrlPr>
                        </m:dPr>
                        <m:e>
                          <m:rad>
                            <m:radPr>
                              <m:degHide m:val="on"/>
                              <m:ctrlPr>
                                <a:rPr lang="en-US" sz="1400" i="1" smtClean="0">
                                  <a:latin typeface="Cambria Math" panose="02040503050406030204" pitchFamily="18" charset="0"/>
                                </a:rPr>
                              </m:ctrlPr>
                            </m:radPr>
                            <m:deg/>
                            <m:e>
                              <m:r>
                                <a:rPr lang="en-US" sz="1400" b="0" i="1" smtClean="0">
                                  <a:latin typeface="Cambria Math" panose="02040503050406030204" pitchFamily="18" charset="0"/>
                                </a:rPr>
                                <m:t>𝑛</m:t>
                              </m:r>
                            </m:e>
                          </m:rad>
                        </m:e>
                      </m:d>
                      <m:r>
                        <a:rPr lang="en-US" sz="1400" b="0" i="0" smtClean="0">
                          <a:latin typeface="Cambria Math" panose="02040503050406030204" pitchFamily="18" charset="0"/>
                        </a:rPr>
                        <m:t>.</m:t>
                      </m:r>
                    </m:oMath>
                  </a14:m>
                  <a:endParaRPr lang="en-US" sz="1400" b="0" dirty="0"/>
                </a:p>
              </p:txBody>
            </p:sp>
          </mc:Choice>
          <mc:Fallback xmlns="">
            <p:sp>
              <p:nvSpPr>
                <p:cNvPr id="116" name="TextBox 115">
                  <a:extLst>
                    <a:ext uri="{FF2B5EF4-FFF2-40B4-BE49-F238E27FC236}">
                      <a16:creationId xmlns:a16="http://schemas.microsoft.com/office/drawing/2014/main" id="{BF997E7E-8508-4C93-9C89-E40B5976897D}"/>
                    </a:ext>
                  </a:extLst>
                </p:cNvPr>
                <p:cNvSpPr txBox="1">
                  <a:spLocks noRot="1" noChangeAspect="1" noMove="1" noResize="1" noEditPoints="1" noAdjustHandles="1" noChangeArrowheads="1" noChangeShapeType="1" noTextEdit="1"/>
                </p:cNvSpPr>
                <p:nvPr/>
              </p:nvSpPr>
              <p:spPr>
                <a:xfrm>
                  <a:off x="706954" y="4387705"/>
                  <a:ext cx="6502000" cy="433260"/>
                </a:xfrm>
                <a:prstGeom prst="rect">
                  <a:avLst/>
                </a:prstGeom>
                <a:blipFill>
                  <a:blip r:embed="rId15"/>
                  <a:stretch>
                    <a:fillRect l="-1687" t="-12676" b="-25352"/>
                  </a:stretch>
                </a:blipFill>
              </p:spPr>
              <p:txBody>
                <a:bodyPr/>
                <a:lstStyle/>
                <a:p>
                  <a:r>
                    <a:rPr lang="en-US">
                      <a:noFill/>
                    </a:rPr>
                    <a:t> </a:t>
                  </a:r>
                </a:p>
              </p:txBody>
            </p:sp>
          </mc:Fallback>
        </mc:AlternateContent>
      </p:grpSp>
      <p:grpSp>
        <p:nvGrpSpPr>
          <p:cNvPr id="158" name="Группа 157">
            <a:extLst>
              <a:ext uri="{FF2B5EF4-FFF2-40B4-BE49-F238E27FC236}">
                <a16:creationId xmlns:a16="http://schemas.microsoft.com/office/drawing/2014/main" id="{BB284B88-9396-49AA-8B9C-5D681CE60376}"/>
              </a:ext>
            </a:extLst>
          </p:cNvPr>
          <p:cNvGrpSpPr/>
          <p:nvPr/>
        </p:nvGrpSpPr>
        <p:grpSpPr>
          <a:xfrm>
            <a:off x="702661" y="2470764"/>
            <a:ext cx="5626278" cy="933440"/>
            <a:chOff x="702661" y="2980614"/>
            <a:chExt cx="5626278" cy="933440"/>
          </a:xfrm>
        </p:grpSpPr>
        <p:grpSp>
          <p:nvGrpSpPr>
            <p:cNvPr id="98" name="Группа 97">
              <a:extLst>
                <a:ext uri="{FF2B5EF4-FFF2-40B4-BE49-F238E27FC236}">
                  <a16:creationId xmlns:a16="http://schemas.microsoft.com/office/drawing/2014/main" id="{4F04E68A-A031-41E6-8758-F77EB792FCE7}"/>
                </a:ext>
              </a:extLst>
            </p:cNvPr>
            <p:cNvGrpSpPr/>
            <p:nvPr/>
          </p:nvGrpSpPr>
          <p:grpSpPr>
            <a:xfrm>
              <a:off x="702661" y="3429108"/>
              <a:ext cx="2954939" cy="484946"/>
              <a:chOff x="-1968680" y="3429108"/>
              <a:chExt cx="2954939" cy="484946"/>
            </a:xfrm>
          </p:grpSpPr>
          <p:sp>
            <p:nvSpPr>
              <p:cNvPr id="90" name="TextBox 89">
                <a:extLst>
                  <a:ext uri="{FF2B5EF4-FFF2-40B4-BE49-F238E27FC236}">
                    <a16:creationId xmlns:a16="http://schemas.microsoft.com/office/drawing/2014/main" id="{B481E930-1E67-451E-8AF1-B3CA60220AE3}"/>
                  </a:ext>
                </a:extLst>
              </p:cNvPr>
              <p:cNvSpPr txBox="1"/>
              <p:nvPr/>
            </p:nvSpPr>
            <p:spPr>
              <a:xfrm>
                <a:off x="-1968680" y="3429108"/>
                <a:ext cx="2954939" cy="215444"/>
              </a:xfrm>
              <a:prstGeom prst="rect">
                <a:avLst/>
              </a:prstGeom>
              <a:noFill/>
            </p:spPr>
            <p:txBody>
              <a:bodyPr wrap="square" lIns="0" tIns="0" rIns="0" bIns="0" rtlCol="0">
                <a:spAutoFit/>
              </a:bodyPr>
              <a:lstStyle/>
              <a:p>
                <a:r>
                  <a:rPr lang="en-US" sz="1400" dirty="0"/>
                  <a:t>For the sake of simplicity, we choose:</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C1160D05-4669-4B87-8F90-D9BB797263D4}"/>
                      </a:ext>
                    </a:extLst>
                  </p:cNvPr>
                  <p:cNvSpPr txBox="1"/>
                  <p:nvPr/>
                </p:nvSpPr>
                <p:spPr>
                  <a:xfrm>
                    <a:off x="-1968679" y="3698610"/>
                    <a:ext cx="2660024" cy="215444"/>
                  </a:xfrm>
                  <a:prstGeom prst="rect">
                    <a:avLst/>
                  </a:prstGeom>
                  <a:noFill/>
                </p:spPr>
                <p:txBody>
                  <a:bodyPr wrap="none" lIns="0" tIns="0" rIns="0" bIns="0" rtlCol="0">
                    <a:spAutoFit/>
                  </a:bodyPr>
                  <a:lstStyle/>
                  <a:p>
                    <a14:m>
                      <m:oMath xmlns:m="http://schemas.openxmlformats.org/officeDocument/2006/math">
                        <m:r>
                          <a:rPr lang="en-US" sz="1400" b="0" i="1" smtClean="0">
                            <a:latin typeface="Cambria Math" panose="02040503050406030204" pitchFamily="18" charset="0"/>
                          </a:rPr>
                          <m:t>𝑛</m:t>
                        </m:r>
                        <m:r>
                          <a:rPr lang="en-US" sz="1400" b="0" i="1" smtClean="0">
                            <a:latin typeface="Cambria Math" panose="02040503050406030204" pitchFamily="18" charset="0"/>
                          </a:rPr>
                          <m:t>=16</m:t>
                        </m:r>
                        <m:r>
                          <a:rPr lang="en-US" sz="1400" b="0" i="0" smtClean="0">
                            <a:latin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rPr>
                              <m:t>𝑀</m:t>
                            </m:r>
                          </m:e>
                          <m:sub>
                            <m:r>
                              <a:rPr lang="en-US" sz="1400" i="1">
                                <a:latin typeface="Cambria Math" panose="02040503050406030204" pitchFamily="18" charset="0"/>
                              </a:rPr>
                              <m:t>1</m:t>
                            </m:r>
                          </m:sub>
                        </m:sSub>
                        <m:r>
                          <a:rPr lang="en-US" sz="1400" b="0" i="1" smtClean="0">
                            <a:latin typeface="Cambria Math" panose="02040503050406030204" pitchFamily="18" charset="0"/>
                          </a:rPr>
                          <m:t>=6</m:t>
                        </m:r>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𝑀</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=2</m:t>
                        </m:r>
                      </m:oMath>
                    </a14:m>
                    <a:r>
                      <a:rPr lang="en-US" sz="1400" dirty="0"/>
                      <a:t> and </a:t>
                    </a:r>
                    <a14:m>
                      <m:oMath xmlns:m="http://schemas.openxmlformats.org/officeDocument/2006/math">
                        <m:r>
                          <a:rPr lang="en-US" sz="1400" i="1">
                            <a:latin typeface="Cambria Math" panose="02040503050406030204" pitchFamily="18" charset="0"/>
                          </a:rPr>
                          <m:t>𝑄</m:t>
                        </m:r>
                        <m:r>
                          <a:rPr lang="en-US" sz="1400" b="0" i="1" smtClean="0">
                            <a:latin typeface="Cambria Math" panose="02040503050406030204" pitchFamily="18" charset="0"/>
                          </a:rPr>
                          <m:t>=4</m:t>
                        </m:r>
                      </m:oMath>
                    </a14:m>
                    <a:r>
                      <a:rPr lang="en-US" sz="1400" dirty="0"/>
                      <a:t> </a:t>
                    </a:r>
                  </a:p>
                </p:txBody>
              </p:sp>
            </mc:Choice>
            <mc:Fallback xmlns="">
              <p:sp>
                <p:nvSpPr>
                  <p:cNvPr id="91" name="TextBox 90">
                    <a:extLst>
                      <a:ext uri="{FF2B5EF4-FFF2-40B4-BE49-F238E27FC236}">
                        <a16:creationId xmlns:a16="http://schemas.microsoft.com/office/drawing/2014/main" id="{C1160D05-4669-4B87-8F90-D9BB797263D4}"/>
                      </a:ext>
                    </a:extLst>
                  </p:cNvPr>
                  <p:cNvSpPr txBox="1">
                    <a:spLocks noRot="1" noChangeAspect="1" noMove="1" noResize="1" noEditPoints="1" noAdjustHandles="1" noChangeArrowheads="1" noChangeShapeType="1" noTextEdit="1"/>
                  </p:cNvSpPr>
                  <p:nvPr/>
                </p:nvSpPr>
                <p:spPr>
                  <a:xfrm>
                    <a:off x="-1968679" y="3698610"/>
                    <a:ext cx="2660024" cy="215444"/>
                  </a:xfrm>
                  <a:prstGeom prst="rect">
                    <a:avLst/>
                  </a:prstGeom>
                  <a:blipFill>
                    <a:blip r:embed="rId16"/>
                    <a:stretch>
                      <a:fillRect l="-1602" t="-28571" b="-51429"/>
                    </a:stretch>
                  </a:blipFill>
                </p:spPr>
                <p:txBody>
                  <a:bodyPr/>
                  <a:lstStyle/>
                  <a:p>
                    <a:r>
                      <a:rPr lang="en-US">
                        <a:noFill/>
                      </a:rPr>
                      <a:t> </a:t>
                    </a:r>
                  </a:p>
                </p:txBody>
              </p:sp>
            </mc:Fallback>
          </mc:AlternateContent>
        </p:grpSp>
        <p:sp>
          <p:nvSpPr>
            <p:cNvPr id="121" name="TextBox 120">
              <a:extLst>
                <a:ext uri="{FF2B5EF4-FFF2-40B4-BE49-F238E27FC236}">
                  <a16:creationId xmlns:a16="http://schemas.microsoft.com/office/drawing/2014/main" id="{B18FE30E-DB05-4E45-B891-25DD7C0E44FE}"/>
                </a:ext>
              </a:extLst>
            </p:cNvPr>
            <p:cNvSpPr txBox="1"/>
            <p:nvPr/>
          </p:nvSpPr>
          <p:spPr>
            <a:xfrm>
              <a:off x="4381870" y="2980614"/>
              <a:ext cx="1947069" cy="369332"/>
            </a:xfrm>
            <a:prstGeom prst="rect">
              <a:avLst/>
            </a:prstGeom>
            <a:noFill/>
          </p:spPr>
          <p:txBody>
            <a:bodyPr wrap="square">
              <a:spAutoFit/>
            </a:bodyPr>
            <a:lstStyle/>
            <a:p>
              <a:r>
                <a:rPr lang="en-US" b="1" dirty="0"/>
                <a:t>-&gt; Learning demo</a:t>
              </a:r>
              <a:endParaRPr lang="en-US" dirty="0"/>
            </a:p>
          </p:txBody>
        </p:sp>
      </p:grpSp>
      <p:grpSp>
        <p:nvGrpSpPr>
          <p:cNvPr id="127" name="Группа 126">
            <a:extLst>
              <a:ext uri="{FF2B5EF4-FFF2-40B4-BE49-F238E27FC236}">
                <a16:creationId xmlns:a16="http://schemas.microsoft.com/office/drawing/2014/main" id="{F9DB4D95-E6FD-4FAE-9045-23E53001FF91}"/>
              </a:ext>
            </a:extLst>
          </p:cNvPr>
          <p:cNvGrpSpPr/>
          <p:nvPr/>
        </p:nvGrpSpPr>
        <p:grpSpPr>
          <a:xfrm>
            <a:off x="400529" y="5410297"/>
            <a:ext cx="9972013" cy="1080424"/>
            <a:chOff x="627233" y="5695003"/>
            <a:chExt cx="9972013" cy="1080424"/>
          </a:xfrm>
        </p:grpSpPr>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AC11858-A587-4375-AC5F-CFA0C56601BD}"/>
                    </a:ext>
                  </a:extLst>
                </p:cNvPr>
                <p:cNvSpPr txBox="1"/>
                <p:nvPr/>
              </p:nvSpPr>
              <p:spPr>
                <a:xfrm>
                  <a:off x="627233" y="5713904"/>
                  <a:ext cx="3426896" cy="646331"/>
                </a:xfrm>
                <a:prstGeom prst="rect">
                  <a:avLst/>
                </a:prstGeom>
                <a:noFill/>
              </p:spPr>
              <p:txBody>
                <a:bodyPr wrap="square" lIns="0" tIns="0" rIns="0" bIns="0" rtlCol="0">
                  <a:spAutoFit/>
                </a:bodyPr>
                <a:lstStyle/>
                <a:p>
                  <a:pPr marL="285750" indent="-285750">
                    <a:buFont typeface="Arial" panose="020B0604020202020204" pitchFamily="34" charset="0"/>
                    <a:buChar char="•"/>
                  </a:pP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𝑀</m:t>
                          </m:r>
                        </m:e>
                        <m:sub>
                          <m:r>
                            <a:rPr lang="en-US" sz="1400" b="0" i="1" smtClean="0">
                              <a:latin typeface="Cambria Math" panose="02040503050406030204" pitchFamily="18" charset="0"/>
                            </a:rPr>
                            <m:t>1</m:t>
                          </m:r>
                        </m:sub>
                      </m:sSub>
                    </m:oMath>
                  </a14:m>
                  <a:r>
                    <a:rPr lang="en-US" sz="1400" dirty="0"/>
                    <a:t>: # of primary hints; </a:t>
                  </a:r>
                  <a:endParaRPr lang="en-US" sz="1400" i="1" dirty="0">
                    <a:latin typeface="Cambria Math" panose="02040503050406030204" pitchFamily="18" charset="0"/>
                  </a:endParaRPr>
                </a:p>
                <a:p>
                  <a:pPr marL="285750" indent="-285750">
                    <a:buFont typeface="Arial" panose="020B0604020202020204" pitchFamily="34" charset="0"/>
                    <a:buChar char="•"/>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𝑀</m:t>
                          </m:r>
                        </m:e>
                        <m:sub>
                          <m:r>
                            <a:rPr lang="en-US" sz="1400" i="1">
                              <a:latin typeface="Cambria Math" panose="02040503050406030204" pitchFamily="18" charset="0"/>
                            </a:rPr>
                            <m:t>2</m:t>
                          </m:r>
                        </m:sub>
                      </m:sSub>
                    </m:oMath>
                  </a14:m>
                  <a:r>
                    <a:rPr lang="en-US" sz="1400" dirty="0"/>
                    <a:t>: # of backups/replacements per chunk; </a:t>
                  </a:r>
                </a:p>
                <a:p>
                  <a:pPr marL="285750" indent="-285750">
                    <a:buFont typeface="Arial" panose="020B0604020202020204" pitchFamily="34" charset="0"/>
                    <a:buChar char="•"/>
                  </a:pPr>
                  <a14:m>
                    <m:oMath xmlns:m="http://schemas.openxmlformats.org/officeDocument/2006/math">
                      <m:r>
                        <a:rPr lang="en-US" sz="1400" b="0" i="1" smtClean="0">
                          <a:latin typeface="Cambria Math" panose="02040503050406030204" pitchFamily="18" charset="0"/>
                        </a:rPr>
                        <m:t>𝑄</m:t>
                      </m:r>
                    </m:oMath>
                  </a14:m>
                  <a:r>
                    <a:rPr lang="en-US" sz="1400" dirty="0"/>
                    <a:t>: # of supported queries.</a:t>
                  </a:r>
                </a:p>
              </p:txBody>
            </p:sp>
          </mc:Choice>
          <mc:Fallback xmlns="">
            <p:sp>
              <p:nvSpPr>
                <p:cNvPr id="36" name="TextBox 35">
                  <a:extLst>
                    <a:ext uri="{FF2B5EF4-FFF2-40B4-BE49-F238E27FC236}">
                      <a16:creationId xmlns:a16="http://schemas.microsoft.com/office/drawing/2014/main" id="{6AC11858-A587-4375-AC5F-CFA0C56601BD}"/>
                    </a:ext>
                  </a:extLst>
                </p:cNvPr>
                <p:cNvSpPr txBox="1">
                  <a:spLocks noRot="1" noChangeAspect="1" noMove="1" noResize="1" noEditPoints="1" noAdjustHandles="1" noChangeArrowheads="1" noChangeShapeType="1" noTextEdit="1"/>
                </p:cNvSpPr>
                <p:nvPr/>
              </p:nvSpPr>
              <p:spPr>
                <a:xfrm>
                  <a:off x="627233" y="5713904"/>
                  <a:ext cx="3426896" cy="646331"/>
                </a:xfrm>
                <a:prstGeom prst="rect">
                  <a:avLst/>
                </a:prstGeom>
                <a:blipFill>
                  <a:blip r:embed="rId17"/>
                  <a:stretch>
                    <a:fillRect l="-3025" t="-7547" r="-2491" b="-160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360DC4A3-CC2A-48D3-9E1C-27F36F10E7CA}"/>
                    </a:ext>
                  </a:extLst>
                </p:cNvPr>
                <p:cNvSpPr txBox="1"/>
                <p:nvPr/>
              </p:nvSpPr>
              <p:spPr>
                <a:xfrm>
                  <a:off x="4054129" y="5695003"/>
                  <a:ext cx="6545117" cy="1080424"/>
                </a:xfrm>
                <a:prstGeom prst="rect">
                  <a:avLst/>
                </a:prstGeom>
                <a:noFill/>
              </p:spPr>
              <p:txBody>
                <a:bodyPr wrap="square" lIns="0" tIns="0" rIns="0" bIns="0" rtlCol="0">
                  <a:spAutoFit/>
                </a:bodyPr>
                <a:lstStyle/>
                <a:p>
                  <a:pPr marL="285750" indent="-285750">
                    <a:buFont typeface="Arial" panose="020B0604020202020204" pitchFamily="34" charset="0"/>
                    <a:buChar char="•"/>
                  </a:pPr>
                  <a14:m>
                    <m:oMath xmlns:m="http://schemas.openxmlformats.org/officeDocument/2006/math">
                      <m:acc>
                        <m:accPr>
                          <m:chr m:val="̃"/>
                          <m:ctrlPr>
                            <a:rPr lang="en-US" sz="1400" i="1" smtClean="0">
                              <a:latin typeface="Cambria Math" panose="02040503050406030204" pitchFamily="18" charset="0"/>
                            </a:rPr>
                          </m:ctrlPr>
                        </m:accPr>
                        <m:e>
                          <m:r>
                            <m:rPr>
                              <m:nor/>
                            </m:rPr>
                            <a:rPr lang="en-US" sz="1400"/>
                            <m:t>O</m:t>
                          </m:r>
                        </m:e>
                      </m:acc>
                      <m:d>
                        <m:dPr>
                          <m:ctrlPr>
                            <a:rPr lang="en-US" sz="1400" b="0" i="1" smtClean="0">
                              <a:latin typeface="Cambria Math" panose="02040503050406030204" pitchFamily="18" charset="0"/>
                            </a:rPr>
                          </m:ctrlPr>
                        </m:dPr>
                        <m:e>
                          <m:r>
                            <m:rPr>
                              <m:nor/>
                            </m:rPr>
                            <a:rPr lang="en-US" sz="1400"/>
                            <m:t>⋅</m:t>
                          </m:r>
                        </m:e>
                      </m:d>
                      <m:r>
                        <m:rPr>
                          <m:nor/>
                        </m:rPr>
                        <a:rPr lang="en-US" sz="1400"/>
                        <m:t>:</m:t>
                      </m:r>
                    </m:oMath>
                  </a14:m>
                  <a:r>
                    <a:rPr lang="en-US" sz="1400" dirty="0"/>
                    <a:t> hides polylog factors;</a:t>
                  </a:r>
                </a:p>
                <a:p>
                  <a:pPr marL="285750" indent="-285750">
                    <a:buFont typeface="Arial" panose="020B0604020202020204" pitchFamily="34" charset="0"/>
                    <a:buChar char="•"/>
                  </a:pPr>
                  <a14:m>
                    <m:oMath xmlns:m="http://schemas.openxmlformats.org/officeDocument/2006/math">
                      <m:r>
                        <m:rPr>
                          <m:sty m:val="p"/>
                        </m:rPr>
                        <a:rPr lang="en-US" sz="1400" i="1">
                          <a:latin typeface="Cambria Math" panose="02040503050406030204" pitchFamily="18" charset="0"/>
                        </a:rPr>
                        <m:t>l</m:t>
                      </m:r>
                      <m:r>
                        <m:rPr>
                          <m:sty m:val="p"/>
                        </m:rPr>
                        <a:rPr lang="en-US" sz="1400">
                          <a:latin typeface="Cambria Math" panose="02040503050406030204" pitchFamily="18" charset="0"/>
                        </a:rPr>
                        <m:t>og</m:t>
                      </m:r>
                    </m:oMath>
                  </a14:m>
                  <a:r>
                    <a:rPr lang="en-US" sz="1400" dirty="0"/>
                    <a:t>: any fixed base in </a:t>
                  </a:r>
                  <a14:m>
                    <m:oMath xmlns:m="http://schemas.openxmlformats.org/officeDocument/2006/math">
                      <m:r>
                        <m:rPr>
                          <m:nor/>
                        </m:rPr>
                        <a:rPr lang="en-US" sz="1400"/>
                        <m:t>O</m:t>
                      </m:r>
                      <m:d>
                        <m:dPr>
                          <m:ctrlPr>
                            <a:rPr lang="en-US" sz="1400" i="1">
                              <a:latin typeface="Cambria Math" panose="02040503050406030204" pitchFamily="18" charset="0"/>
                            </a:rPr>
                          </m:ctrlPr>
                        </m:dPr>
                        <m:e>
                          <m:r>
                            <m:rPr>
                              <m:nor/>
                            </m:rPr>
                            <a:rPr lang="en-US" sz="1400"/>
                            <m:t>⋅</m:t>
                          </m:r>
                        </m:e>
                      </m:d>
                    </m:oMath>
                  </a14:m>
                  <a:r>
                    <a:rPr lang="en-US" sz="1400" b="0" dirty="0"/>
                    <a:t>;</a:t>
                  </a:r>
                </a:p>
                <a:p>
                  <a:pPr marL="285750" indent="-285750">
                    <a:buFont typeface="Arial" panose="020B0604020202020204" pitchFamily="34" charset="0"/>
                    <a:buChar char="•"/>
                  </a:pPr>
                  <a:r>
                    <a:rPr lang="en-US" sz="1400" dirty="0" err="1"/>
                    <a:t>targetChunkSize</a:t>
                  </a:r>
                  <a:r>
                    <a:rPr lang="en-US" sz="1400" dirty="0"/>
                    <a:t> := 2 * </a:t>
                  </a:r>
                  <a14:m>
                    <m:oMath xmlns:m="http://schemas.openxmlformats.org/officeDocument/2006/math">
                      <m:rad>
                        <m:radPr>
                          <m:degHide m:val="on"/>
                          <m:ctrlPr>
                            <a:rPr lang="en-US" sz="1400" i="1">
                              <a:latin typeface="Cambria Math" panose="02040503050406030204" pitchFamily="18" charset="0"/>
                            </a:rPr>
                          </m:ctrlPr>
                        </m:radPr>
                        <m:deg/>
                        <m:e>
                          <m:r>
                            <a:rPr lang="en-US" sz="1400" i="1">
                              <a:latin typeface="Cambria Math" panose="02040503050406030204" pitchFamily="18" charset="0"/>
                            </a:rPr>
                            <m:t>𝑛</m:t>
                          </m:r>
                        </m:e>
                      </m:rad>
                    </m:oMath>
                  </a14:m>
                  <a:endParaRPr lang="en-US" sz="1400" dirty="0"/>
                </a:p>
                <a:p>
                  <a:pPr marL="285750" indent="-285750">
                    <a:buFont typeface="Arial" panose="020B0604020202020204" pitchFamily="34" charset="0"/>
                    <a:buChar char="•"/>
                  </a:pPr>
                  <a:r>
                    <a:rPr lang="en-US" sz="1400" dirty="0" err="1"/>
                    <a:t>ChunkSize</a:t>
                  </a:r>
                  <a:r>
                    <a:rPr lang="en-US" sz="1400" dirty="0"/>
                    <a:t> := power-of-two &gt; </a:t>
                  </a:r>
                  <a:r>
                    <a:rPr lang="en-US" sz="1400" dirty="0" err="1"/>
                    <a:t>targetChunkSize</a:t>
                  </a:r>
                  <a:r>
                    <a:rPr lang="en-US" sz="1400" dirty="0"/>
                    <a:t>; </a:t>
                  </a:r>
                  <a:r>
                    <a:rPr lang="en-US" sz="1400" dirty="0" err="1"/>
                    <a:t>SetSize</a:t>
                  </a:r>
                  <a:r>
                    <a:rPr lang="en-US" sz="1400" dirty="0"/>
                    <a:t> := ceil(n / </a:t>
                  </a:r>
                  <a:r>
                    <a:rPr lang="en-US" sz="1400" dirty="0" err="1"/>
                    <a:t>ChunkSize</a:t>
                  </a:r>
                  <a:r>
                    <a:rPr lang="en-US" sz="1400" dirty="0"/>
                    <a:t>);</a:t>
                  </a:r>
                </a:p>
                <a:p>
                  <a:pPr marL="285750" indent="-285750">
                    <a:buFont typeface="Arial" panose="020B0604020202020204" pitchFamily="34" charset="0"/>
                    <a:buChar char="•"/>
                  </a:pPr>
                  <a14:m>
                    <m:oMath xmlns:m="http://schemas.openxmlformats.org/officeDocument/2006/math">
                      <m:r>
                        <a:rPr lang="en-US" sz="1400" i="1" smtClean="0">
                          <a:latin typeface="Cambria Math" panose="02040503050406030204" pitchFamily="18" charset="0"/>
                          <a:ea typeface="Cambria Math" panose="02040503050406030204" pitchFamily="18" charset="0"/>
                        </a:rPr>
                        <m:t>𝛿</m:t>
                      </m:r>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2</m:t>
                          </m:r>
                        </m:e>
                        <m:sup>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𝑡𝑎𝑟𝑔𝑒𝑡</m:t>
                          </m:r>
                        </m:sup>
                      </m:sSup>
                    </m:oMath>
                  </a14:m>
                  <a:r>
                    <a:rPr lang="en-US" sz="1400" dirty="0"/>
                    <a:t>: total failure probability for “no primary contains x” across Q queries.</a:t>
                  </a:r>
                </a:p>
              </p:txBody>
            </p:sp>
          </mc:Choice>
          <mc:Fallback xmlns="">
            <p:sp>
              <p:nvSpPr>
                <p:cNvPr id="126" name="TextBox 125">
                  <a:extLst>
                    <a:ext uri="{FF2B5EF4-FFF2-40B4-BE49-F238E27FC236}">
                      <a16:creationId xmlns:a16="http://schemas.microsoft.com/office/drawing/2014/main" id="{360DC4A3-CC2A-48D3-9E1C-27F36F10E7CA}"/>
                    </a:ext>
                  </a:extLst>
                </p:cNvPr>
                <p:cNvSpPr txBox="1">
                  <a:spLocks noRot="1" noChangeAspect="1" noMove="1" noResize="1" noEditPoints="1" noAdjustHandles="1" noChangeArrowheads="1" noChangeShapeType="1" noTextEdit="1"/>
                </p:cNvSpPr>
                <p:nvPr/>
              </p:nvSpPr>
              <p:spPr>
                <a:xfrm>
                  <a:off x="4054129" y="5695003"/>
                  <a:ext cx="6545117" cy="1080424"/>
                </a:xfrm>
                <a:prstGeom prst="rect">
                  <a:avLst/>
                </a:prstGeom>
                <a:blipFill>
                  <a:blip r:embed="rId18"/>
                  <a:stretch>
                    <a:fillRect l="-1583" t="-4520" b="-9605"/>
                  </a:stretch>
                </a:blipFill>
              </p:spPr>
              <p:txBody>
                <a:bodyPr/>
                <a:lstStyle/>
                <a:p>
                  <a:r>
                    <a:rPr lang="en-US">
                      <a:noFill/>
                    </a:rPr>
                    <a:t> </a:t>
                  </a:r>
                </a:p>
              </p:txBody>
            </p:sp>
          </mc:Fallback>
        </mc:AlternateContent>
      </p:grpSp>
      <p:sp>
        <p:nvSpPr>
          <p:cNvPr id="119" name="TextBox 118">
            <a:extLst>
              <a:ext uri="{FF2B5EF4-FFF2-40B4-BE49-F238E27FC236}">
                <a16:creationId xmlns:a16="http://schemas.microsoft.com/office/drawing/2014/main" id="{9CD2B83A-81A5-40CB-B93B-037EBF9D8936}"/>
              </a:ext>
            </a:extLst>
          </p:cNvPr>
          <p:cNvSpPr txBox="1"/>
          <p:nvPr/>
        </p:nvSpPr>
        <p:spPr>
          <a:xfrm>
            <a:off x="3476046" y="2461625"/>
            <a:ext cx="1231968" cy="369332"/>
          </a:xfrm>
          <a:prstGeom prst="rect">
            <a:avLst/>
          </a:prstGeom>
          <a:noFill/>
        </p:spPr>
        <p:txBody>
          <a:bodyPr wrap="square">
            <a:spAutoFit/>
          </a:bodyPr>
          <a:lstStyle/>
          <a:p>
            <a:r>
              <a:rPr lang="en-US" b="1" dirty="0"/>
              <a:t>-&gt; Code</a:t>
            </a:r>
            <a:endParaRPr lang="en-US" dirty="0"/>
          </a:p>
        </p:txBody>
      </p:sp>
      <p:grpSp>
        <p:nvGrpSpPr>
          <p:cNvPr id="164" name="Группа 163">
            <a:extLst>
              <a:ext uri="{FF2B5EF4-FFF2-40B4-BE49-F238E27FC236}">
                <a16:creationId xmlns:a16="http://schemas.microsoft.com/office/drawing/2014/main" id="{80C85CB2-68FD-4EEE-84AD-A9E12C42C54B}"/>
              </a:ext>
            </a:extLst>
          </p:cNvPr>
          <p:cNvGrpSpPr/>
          <p:nvPr/>
        </p:nvGrpSpPr>
        <p:grpSpPr>
          <a:xfrm>
            <a:off x="601151" y="2870005"/>
            <a:ext cx="6446389" cy="2056967"/>
            <a:chOff x="519637" y="6937452"/>
            <a:chExt cx="6446389" cy="2056967"/>
          </a:xfrm>
        </p:grpSpPr>
        <p:grpSp>
          <p:nvGrpSpPr>
            <p:cNvPr id="156" name="Группа 155">
              <a:extLst>
                <a:ext uri="{FF2B5EF4-FFF2-40B4-BE49-F238E27FC236}">
                  <a16:creationId xmlns:a16="http://schemas.microsoft.com/office/drawing/2014/main" id="{C840EDBA-86CD-4EC3-AAEA-47D6657113BB}"/>
                </a:ext>
              </a:extLst>
            </p:cNvPr>
            <p:cNvGrpSpPr/>
            <p:nvPr/>
          </p:nvGrpSpPr>
          <p:grpSpPr>
            <a:xfrm>
              <a:off x="519637" y="6937452"/>
              <a:ext cx="2969446" cy="2056967"/>
              <a:chOff x="623769" y="6852206"/>
              <a:chExt cx="2969446" cy="2056967"/>
            </a:xfrm>
          </p:grpSpPr>
          <p:grpSp>
            <p:nvGrpSpPr>
              <p:cNvPr id="149" name="Группа 148">
                <a:extLst>
                  <a:ext uri="{FF2B5EF4-FFF2-40B4-BE49-F238E27FC236}">
                    <a16:creationId xmlns:a16="http://schemas.microsoft.com/office/drawing/2014/main" id="{F0F7E6C0-DA8E-4BC5-98C6-C9BC99E006C9}"/>
                  </a:ext>
                </a:extLst>
              </p:cNvPr>
              <p:cNvGrpSpPr/>
              <p:nvPr/>
            </p:nvGrpSpPr>
            <p:grpSpPr>
              <a:xfrm>
                <a:off x="635896" y="6852206"/>
                <a:ext cx="2325300" cy="664376"/>
                <a:chOff x="635896" y="6852206"/>
                <a:chExt cx="2325300" cy="664376"/>
              </a:xfrm>
            </p:grpSpPr>
            <p:sp>
              <p:nvSpPr>
                <p:cNvPr id="134" name="TextBox 133">
                  <a:extLst>
                    <a:ext uri="{FF2B5EF4-FFF2-40B4-BE49-F238E27FC236}">
                      <a16:creationId xmlns:a16="http://schemas.microsoft.com/office/drawing/2014/main" id="{CBC29136-D0C2-4CA2-9C49-B7E1CD89DD3F}"/>
                    </a:ext>
                  </a:extLst>
                </p:cNvPr>
                <p:cNvSpPr txBox="1"/>
                <p:nvPr/>
              </p:nvSpPr>
              <p:spPr>
                <a:xfrm>
                  <a:off x="635896" y="6852206"/>
                  <a:ext cx="2325300" cy="307777"/>
                </a:xfrm>
                <a:prstGeom prst="rect">
                  <a:avLst/>
                </a:prstGeom>
                <a:noFill/>
              </p:spPr>
              <p:txBody>
                <a:bodyPr wrap="square">
                  <a:spAutoFit/>
                </a:bodyPr>
                <a:lstStyle/>
                <a:p>
                  <a:r>
                    <a:rPr lang="en-US" sz="1400" dirty="0"/>
                    <a:t>Number of queries Q:</a:t>
                  </a:r>
                </a:p>
              </p:txBody>
            </p:sp>
            <p:pic>
              <p:nvPicPr>
                <p:cNvPr id="144" name="Рисунок 143">
                  <a:extLst>
                    <a:ext uri="{FF2B5EF4-FFF2-40B4-BE49-F238E27FC236}">
                      <a16:creationId xmlns:a16="http://schemas.microsoft.com/office/drawing/2014/main" id="{75BA0DC4-73B0-4380-8DDD-01EDBEE8A996}"/>
                    </a:ext>
                  </a:extLst>
                </p:cNvPr>
                <p:cNvPicPr>
                  <a:picLocks noChangeAspect="1"/>
                </p:cNvPicPr>
                <p:nvPr/>
              </p:nvPicPr>
              <p:blipFill>
                <a:blip r:embed="rId19"/>
                <a:stretch>
                  <a:fillRect/>
                </a:stretch>
              </p:blipFill>
              <p:spPr>
                <a:xfrm>
                  <a:off x="706954" y="7135582"/>
                  <a:ext cx="1838325" cy="381000"/>
                </a:xfrm>
                <a:prstGeom prst="rect">
                  <a:avLst/>
                </a:prstGeom>
              </p:spPr>
            </p:pic>
          </p:grpSp>
          <p:grpSp>
            <p:nvGrpSpPr>
              <p:cNvPr id="148" name="Группа 147">
                <a:extLst>
                  <a:ext uri="{FF2B5EF4-FFF2-40B4-BE49-F238E27FC236}">
                    <a16:creationId xmlns:a16="http://schemas.microsoft.com/office/drawing/2014/main" id="{A212B7A4-FCC8-43EE-B849-B9009C106539}"/>
                  </a:ext>
                </a:extLst>
              </p:cNvPr>
              <p:cNvGrpSpPr/>
              <p:nvPr/>
            </p:nvGrpSpPr>
            <p:grpSpPr>
              <a:xfrm>
                <a:off x="623769" y="7516582"/>
                <a:ext cx="2325300" cy="693804"/>
                <a:chOff x="623769" y="7516582"/>
                <a:chExt cx="2325300" cy="693804"/>
              </a:xfrm>
            </p:grpSpPr>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1AE41FEB-CE10-4956-A7ED-9AC7DF76818C}"/>
                        </a:ext>
                      </a:extLst>
                    </p:cNvPr>
                    <p:cNvSpPr txBox="1"/>
                    <p:nvPr/>
                  </p:nvSpPr>
                  <p:spPr>
                    <a:xfrm>
                      <a:off x="623769" y="7516582"/>
                      <a:ext cx="2325300" cy="307777"/>
                    </a:xfrm>
                    <a:prstGeom prst="rect">
                      <a:avLst/>
                    </a:prstGeom>
                    <a:noFill/>
                  </p:spPr>
                  <p:txBody>
                    <a:bodyPr wrap="square">
                      <a:spAutoFit/>
                    </a:bodyPr>
                    <a:lstStyle/>
                    <a:p>
                      <a:r>
                        <a:rPr lang="en-US" sz="1400" dirty="0"/>
                        <a:t>Primary hints </a:t>
                      </a:r>
                      <a14:m>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𝑀</m:t>
                              </m:r>
                            </m:e>
                            <m:sub>
                              <m:r>
                                <a:rPr lang="en-US" sz="1400" i="1">
                                  <a:latin typeface="Cambria Math" panose="02040503050406030204" pitchFamily="18" charset="0"/>
                                </a:rPr>
                                <m:t>1</m:t>
                              </m:r>
                            </m:sub>
                          </m:sSub>
                          <m:r>
                            <a:rPr lang="en-US" sz="1400" i="1">
                              <a:latin typeface="Cambria Math" panose="02040503050406030204" pitchFamily="18" charset="0"/>
                            </a:rPr>
                            <m:t> </m:t>
                          </m:r>
                        </m:oMath>
                      </a14:m>
                      <a:r>
                        <a:rPr lang="en-US" sz="1400" dirty="0"/>
                        <a:t>:</a:t>
                      </a:r>
                    </a:p>
                  </p:txBody>
                </p:sp>
              </mc:Choice>
              <mc:Fallback xmlns="">
                <p:sp>
                  <p:nvSpPr>
                    <p:cNvPr id="141" name="TextBox 140">
                      <a:extLst>
                        <a:ext uri="{FF2B5EF4-FFF2-40B4-BE49-F238E27FC236}">
                          <a16:creationId xmlns:a16="http://schemas.microsoft.com/office/drawing/2014/main" id="{1AE41FEB-CE10-4956-A7ED-9AC7DF76818C}"/>
                        </a:ext>
                      </a:extLst>
                    </p:cNvPr>
                    <p:cNvSpPr txBox="1">
                      <a:spLocks noRot="1" noChangeAspect="1" noMove="1" noResize="1" noEditPoints="1" noAdjustHandles="1" noChangeArrowheads="1" noChangeShapeType="1" noTextEdit="1"/>
                    </p:cNvSpPr>
                    <p:nvPr/>
                  </p:nvSpPr>
                  <p:spPr>
                    <a:xfrm>
                      <a:off x="623769" y="7516582"/>
                      <a:ext cx="2325300" cy="307777"/>
                    </a:xfrm>
                    <a:prstGeom prst="rect">
                      <a:avLst/>
                    </a:prstGeom>
                    <a:blipFill>
                      <a:blip r:embed="rId20"/>
                      <a:stretch>
                        <a:fillRect l="-787" t="-1961" b="-19608"/>
                      </a:stretch>
                    </a:blipFill>
                  </p:spPr>
                  <p:txBody>
                    <a:bodyPr/>
                    <a:lstStyle/>
                    <a:p>
                      <a:r>
                        <a:rPr lang="en-US">
                          <a:noFill/>
                        </a:rPr>
                        <a:t> </a:t>
                      </a:r>
                    </a:p>
                  </p:txBody>
                </p:sp>
              </mc:Fallback>
            </mc:AlternateContent>
            <p:pic>
              <p:nvPicPr>
                <p:cNvPr id="147" name="Рисунок 146">
                  <a:extLst>
                    <a:ext uri="{FF2B5EF4-FFF2-40B4-BE49-F238E27FC236}">
                      <a16:creationId xmlns:a16="http://schemas.microsoft.com/office/drawing/2014/main" id="{6EE5FA76-CBD1-496A-85C7-EBBEB5DF2760}"/>
                    </a:ext>
                  </a:extLst>
                </p:cNvPr>
                <p:cNvPicPr>
                  <a:picLocks noChangeAspect="1"/>
                </p:cNvPicPr>
                <p:nvPr/>
              </p:nvPicPr>
              <p:blipFill>
                <a:blip r:embed="rId21"/>
                <a:stretch>
                  <a:fillRect/>
                </a:stretch>
              </p:blipFill>
              <p:spPr>
                <a:xfrm>
                  <a:off x="706954" y="7864955"/>
                  <a:ext cx="1838325" cy="345431"/>
                </a:xfrm>
                <a:prstGeom prst="rect">
                  <a:avLst/>
                </a:prstGeom>
              </p:spPr>
            </p:pic>
          </p:grpSp>
          <p:grpSp>
            <p:nvGrpSpPr>
              <p:cNvPr id="155" name="Группа 154">
                <a:extLst>
                  <a:ext uri="{FF2B5EF4-FFF2-40B4-BE49-F238E27FC236}">
                    <a16:creationId xmlns:a16="http://schemas.microsoft.com/office/drawing/2014/main" id="{D0FEFEC6-0E41-41BD-A1BF-85B0D779051D}"/>
                  </a:ext>
                </a:extLst>
              </p:cNvPr>
              <p:cNvGrpSpPr/>
              <p:nvPr/>
            </p:nvGrpSpPr>
            <p:grpSpPr>
              <a:xfrm>
                <a:off x="635896" y="8265547"/>
                <a:ext cx="2957319" cy="643626"/>
                <a:chOff x="5280893" y="6993940"/>
                <a:chExt cx="2957319" cy="643626"/>
              </a:xfrm>
            </p:grpSpPr>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F08B8E11-A16D-48CF-A70C-22E3B1642835}"/>
                        </a:ext>
                      </a:extLst>
                    </p:cNvPr>
                    <p:cNvSpPr txBox="1"/>
                    <p:nvPr/>
                  </p:nvSpPr>
                  <p:spPr>
                    <a:xfrm>
                      <a:off x="5280893" y="6993940"/>
                      <a:ext cx="2957319" cy="307777"/>
                    </a:xfrm>
                    <a:prstGeom prst="rect">
                      <a:avLst/>
                    </a:prstGeom>
                    <a:noFill/>
                  </p:spPr>
                  <p:txBody>
                    <a:bodyPr wrap="square">
                      <a:spAutoFit/>
                    </a:bodyPr>
                    <a:lstStyle/>
                    <a:p>
                      <a:r>
                        <a:rPr lang="en-US" sz="1400" dirty="0"/>
                        <a:t>Backup / replacements </a:t>
                      </a:r>
                      <a14:m>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𝑀</m:t>
                              </m:r>
                            </m:e>
                            <m:sub>
                              <m:r>
                                <a:rPr lang="en-US" sz="1400" b="0" i="1" smtClean="0">
                                  <a:latin typeface="Cambria Math" panose="02040503050406030204" pitchFamily="18" charset="0"/>
                                </a:rPr>
                                <m:t>2</m:t>
                              </m:r>
                            </m:sub>
                          </m:sSub>
                          <m:r>
                            <a:rPr lang="en-US" sz="1400" i="1">
                              <a:latin typeface="Cambria Math" panose="02040503050406030204" pitchFamily="18" charset="0"/>
                            </a:rPr>
                            <m:t> </m:t>
                          </m:r>
                        </m:oMath>
                      </a14:m>
                      <a:r>
                        <a:rPr lang="en-US" sz="1400" dirty="0"/>
                        <a:t>per chunk:</a:t>
                      </a:r>
                    </a:p>
                  </p:txBody>
                </p:sp>
              </mc:Choice>
              <mc:Fallback xmlns="">
                <p:sp>
                  <p:nvSpPr>
                    <p:cNvPr id="151" name="TextBox 150">
                      <a:extLst>
                        <a:ext uri="{FF2B5EF4-FFF2-40B4-BE49-F238E27FC236}">
                          <a16:creationId xmlns:a16="http://schemas.microsoft.com/office/drawing/2014/main" id="{F08B8E11-A16D-48CF-A70C-22E3B1642835}"/>
                        </a:ext>
                      </a:extLst>
                    </p:cNvPr>
                    <p:cNvSpPr txBox="1">
                      <a:spLocks noRot="1" noChangeAspect="1" noMove="1" noResize="1" noEditPoints="1" noAdjustHandles="1" noChangeArrowheads="1" noChangeShapeType="1" noTextEdit="1"/>
                    </p:cNvSpPr>
                    <p:nvPr/>
                  </p:nvSpPr>
                  <p:spPr>
                    <a:xfrm>
                      <a:off x="5280893" y="6993940"/>
                      <a:ext cx="2957319" cy="307777"/>
                    </a:xfrm>
                    <a:prstGeom prst="rect">
                      <a:avLst/>
                    </a:prstGeom>
                    <a:blipFill>
                      <a:blip r:embed="rId22"/>
                      <a:stretch>
                        <a:fillRect l="-619" t="-1961" b="-19608"/>
                      </a:stretch>
                    </a:blipFill>
                  </p:spPr>
                  <p:txBody>
                    <a:bodyPr/>
                    <a:lstStyle/>
                    <a:p>
                      <a:r>
                        <a:rPr lang="en-US">
                          <a:noFill/>
                        </a:rPr>
                        <a:t> </a:t>
                      </a:r>
                    </a:p>
                  </p:txBody>
                </p:sp>
              </mc:Fallback>
            </mc:AlternateContent>
            <p:pic>
              <p:nvPicPr>
                <p:cNvPr id="154" name="Рисунок 153">
                  <a:extLst>
                    <a:ext uri="{FF2B5EF4-FFF2-40B4-BE49-F238E27FC236}">
                      <a16:creationId xmlns:a16="http://schemas.microsoft.com/office/drawing/2014/main" id="{E84442D6-C1AB-43E1-A0BF-7352EBE8977A}"/>
                    </a:ext>
                  </a:extLst>
                </p:cNvPr>
                <p:cNvPicPr>
                  <a:picLocks noChangeAspect="1"/>
                </p:cNvPicPr>
                <p:nvPr/>
              </p:nvPicPr>
              <p:blipFill>
                <a:blip r:embed="rId23"/>
                <a:stretch>
                  <a:fillRect/>
                </a:stretch>
              </p:blipFill>
              <p:spPr>
                <a:xfrm>
                  <a:off x="5347309" y="7301718"/>
                  <a:ext cx="1842967" cy="335848"/>
                </a:xfrm>
                <a:prstGeom prst="rect">
                  <a:avLst/>
                </a:prstGeom>
              </p:spPr>
            </p:pic>
          </p:grpSp>
        </p:grpSp>
        <p:pic>
          <p:nvPicPr>
            <p:cNvPr id="163" name="Рисунок 162">
              <a:extLst>
                <a:ext uri="{FF2B5EF4-FFF2-40B4-BE49-F238E27FC236}">
                  <a16:creationId xmlns:a16="http://schemas.microsoft.com/office/drawing/2014/main" id="{D77C3516-4CBA-4DD3-8245-F08AA1D0C82B}"/>
                </a:ext>
              </a:extLst>
            </p:cNvPr>
            <p:cNvPicPr>
              <a:picLocks noChangeAspect="1"/>
            </p:cNvPicPr>
            <p:nvPr/>
          </p:nvPicPr>
          <p:blipFill>
            <a:blip r:embed="rId24"/>
            <a:stretch>
              <a:fillRect/>
            </a:stretch>
          </p:blipFill>
          <p:spPr>
            <a:xfrm>
              <a:off x="2618180" y="7044515"/>
              <a:ext cx="4347846" cy="1219592"/>
            </a:xfrm>
            <a:prstGeom prst="rect">
              <a:avLst/>
            </a:prstGeom>
          </p:spPr>
        </p:pic>
      </p:grpSp>
      <p:sp>
        <p:nvSpPr>
          <p:cNvPr id="50" name="文本框 9">
            <a:extLst>
              <a:ext uri="{FF2B5EF4-FFF2-40B4-BE49-F238E27FC236}">
                <a16:creationId xmlns:a16="http://schemas.microsoft.com/office/drawing/2014/main" id="{601AE337-34D1-4BA0-991D-514DACE76395}"/>
              </a:ext>
            </a:extLst>
          </p:cNvPr>
          <p:cNvSpPr txBox="1"/>
          <p:nvPr/>
        </p:nvSpPr>
        <p:spPr>
          <a:xfrm>
            <a:off x="1299594" y="183700"/>
            <a:ext cx="5436765"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Offline stage: settings &amp;partition</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51" name="组合 22">
            <a:extLst>
              <a:ext uri="{FF2B5EF4-FFF2-40B4-BE49-F238E27FC236}">
                <a16:creationId xmlns:a16="http://schemas.microsoft.com/office/drawing/2014/main" id="{BAED68EF-9AA7-4A4F-B939-8FECD1EA3F41}"/>
              </a:ext>
            </a:extLst>
          </p:cNvPr>
          <p:cNvGrpSpPr/>
          <p:nvPr/>
        </p:nvGrpSpPr>
        <p:grpSpPr>
          <a:xfrm>
            <a:off x="11236541" y="460205"/>
            <a:ext cx="258653" cy="233204"/>
            <a:chOff x="3720691" y="2824413"/>
            <a:chExt cx="1341120" cy="1209172"/>
          </a:xfrm>
        </p:grpSpPr>
        <p:sp>
          <p:nvSpPr>
            <p:cNvPr id="52" name="Freeform 5">
              <a:extLst>
                <a:ext uri="{FF2B5EF4-FFF2-40B4-BE49-F238E27FC236}">
                  <a16:creationId xmlns:a16="http://schemas.microsoft.com/office/drawing/2014/main" id="{462EE0FC-43F6-4357-86C1-FA2E921CE85B}"/>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53" name="Freeform 5">
              <a:extLst>
                <a:ext uri="{FF2B5EF4-FFF2-40B4-BE49-F238E27FC236}">
                  <a16:creationId xmlns:a16="http://schemas.microsoft.com/office/drawing/2014/main" id="{D80C33EB-F0E2-43D2-A632-2EEB24C455BA}"/>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54" name="矩形 2">
            <a:extLst>
              <a:ext uri="{FF2B5EF4-FFF2-40B4-BE49-F238E27FC236}">
                <a16:creationId xmlns:a16="http://schemas.microsoft.com/office/drawing/2014/main" id="{B1609BE6-C144-42FE-A7A5-60E88712BE07}"/>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55" name="图片 3" descr="重庆邮电大学标准校徽 (1)">
            <a:extLst>
              <a:ext uri="{FF2B5EF4-FFF2-40B4-BE49-F238E27FC236}">
                <a16:creationId xmlns:a16="http://schemas.microsoft.com/office/drawing/2014/main" id="{B492E715-F27A-41A0-98F8-97301AEE41C8}"/>
              </a:ext>
            </a:extLst>
          </p:cNvPr>
          <p:cNvPicPr>
            <a:picLocks noChangeAspect="1"/>
          </p:cNvPicPr>
          <p:nvPr/>
        </p:nvPicPr>
        <p:blipFill>
          <a:blip r:embed="rId25"/>
          <a:stretch>
            <a:fillRect/>
          </a:stretch>
        </p:blipFill>
        <p:spPr>
          <a:xfrm>
            <a:off x="549659" y="190896"/>
            <a:ext cx="612897" cy="612897"/>
          </a:xfrm>
          <a:prstGeom prst="rect">
            <a:avLst/>
          </a:prstGeom>
        </p:spPr>
      </p:pic>
    </p:spTree>
    <p:extLst>
      <p:ext uri="{BB962C8B-B14F-4D97-AF65-F5344CB8AC3E}">
        <p14:creationId xmlns:p14="http://schemas.microsoft.com/office/powerpoint/2010/main" val="520835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8"/>
                                        </p:tgtEl>
                                        <p:attrNameLst>
                                          <p:attrName>style.visibility</p:attrName>
                                        </p:attrNameLst>
                                      </p:cBhvr>
                                      <p:to>
                                        <p:strVal val="visible"/>
                                      </p:to>
                                    </p:set>
                                    <p:animEffect transition="in" filter="fade">
                                      <p:cBhvr>
                                        <p:cTn id="17" dur="500"/>
                                        <p:tgtEl>
                                          <p:spTgt spid="1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500"/>
                                        <p:tgtEl>
                                          <p:spTgt spid="1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128"/>
                                        </p:tgtEl>
                                      </p:cBhvr>
                                    </p:animEffect>
                                    <p:set>
                                      <p:cBhvr>
                                        <p:cTn id="27" dur="1" fill="hold">
                                          <p:stCondLst>
                                            <p:cond delay="499"/>
                                          </p:stCondLst>
                                        </p:cTn>
                                        <p:tgtEl>
                                          <p:spTgt spid="128"/>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119"/>
                                        </p:tgtEl>
                                        <p:attrNameLst>
                                          <p:attrName>style.visibility</p:attrName>
                                        </p:attrNameLst>
                                      </p:cBhvr>
                                      <p:to>
                                        <p:strVal val="visible"/>
                                      </p:to>
                                    </p:set>
                                    <p:animEffect transition="in" filter="fade">
                                      <p:cBhvr>
                                        <p:cTn id="30" dur="500"/>
                                        <p:tgtEl>
                                          <p:spTgt spid="1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4"/>
                                        </p:tgtEl>
                                        <p:attrNameLst>
                                          <p:attrName>style.visibility</p:attrName>
                                        </p:attrNameLst>
                                      </p:cBhvr>
                                      <p:to>
                                        <p:strVal val="visible"/>
                                      </p:to>
                                    </p:set>
                                    <p:animEffect transition="in" filter="fade">
                                      <p:cBhvr>
                                        <p:cTn id="35" dur="500"/>
                                        <p:tgtEl>
                                          <p:spTgt spid="16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nodeType="clickEffect">
                                  <p:stCondLst>
                                    <p:cond delay="0"/>
                                  </p:stCondLst>
                                  <p:childTnLst>
                                    <p:animEffect transition="out" filter="fade">
                                      <p:cBhvr>
                                        <p:cTn id="39" dur="500"/>
                                        <p:tgtEl>
                                          <p:spTgt spid="164"/>
                                        </p:tgtEl>
                                      </p:cBhvr>
                                    </p:animEffect>
                                    <p:set>
                                      <p:cBhvr>
                                        <p:cTn id="40" dur="1" fill="hold">
                                          <p:stCondLst>
                                            <p:cond delay="499"/>
                                          </p:stCondLst>
                                        </p:cTn>
                                        <p:tgtEl>
                                          <p:spTgt spid="164"/>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158"/>
                                        </p:tgtEl>
                                        <p:attrNameLst>
                                          <p:attrName>style.visibility</p:attrName>
                                        </p:attrNameLst>
                                      </p:cBhvr>
                                      <p:to>
                                        <p:strVal val="visible"/>
                                      </p:to>
                                    </p:set>
                                    <p:animEffect transition="in" filter="fade">
                                      <p:cBhvr>
                                        <p:cTn id="43" dur="500"/>
                                        <p:tgtEl>
                                          <p:spTgt spid="158"/>
                                        </p:tgtEl>
                                      </p:cBhvr>
                                    </p:animEffect>
                                  </p:childTnLst>
                                </p:cTn>
                              </p:par>
                              <p:par>
                                <p:cTn id="44" presetID="10" presetClass="entr" presetSubtype="0" fill="hold" nodeType="with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75"/>
                                        </p:tgtEl>
                                        <p:attrNameLst>
                                          <p:attrName>style.visibility</p:attrName>
                                        </p:attrNameLst>
                                      </p:cBhvr>
                                      <p:to>
                                        <p:strVal val="visible"/>
                                      </p:to>
                                    </p:set>
                                    <p:animEffect transition="in" filter="fade">
                                      <p:cBhvr>
                                        <p:cTn id="51" dur="500"/>
                                        <p:tgtEl>
                                          <p:spTgt spid="7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2"/>
                                        </p:tgtEl>
                                        <p:attrNameLst>
                                          <p:attrName>style.visibility</p:attrName>
                                        </p:attrNameLst>
                                      </p:cBhvr>
                                      <p:to>
                                        <p:strVal val="visible"/>
                                      </p:to>
                                    </p:set>
                                    <p:animEffect transition="in" filter="fade">
                                      <p:cBhvr>
                                        <p:cTn id="54"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46" grpId="0"/>
      <p:bldP spid="1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66DD1C0B-BD95-41F4-A0A3-F30CB998453D}"/>
              </a:ext>
            </a:extLst>
          </p:cNvPr>
          <p:cNvSpPr txBox="1"/>
          <p:nvPr/>
        </p:nvSpPr>
        <p:spPr>
          <a:xfrm>
            <a:off x="651639" y="1506022"/>
            <a:ext cx="4655615" cy="369332"/>
          </a:xfrm>
          <a:prstGeom prst="rect">
            <a:avLst/>
          </a:prstGeom>
          <a:noFill/>
        </p:spPr>
        <p:txBody>
          <a:bodyPr wrap="square">
            <a:spAutoFit/>
          </a:bodyPr>
          <a:lstStyle/>
          <a:p>
            <a:r>
              <a:rPr lang="en-US" b="1" dirty="0"/>
              <a:t>Client’s hints BEFORE downloading DB chunks:</a:t>
            </a:r>
            <a:endParaRPr lang="en-US" b="1" baseline="30000" dirty="0"/>
          </a:p>
        </p:txBody>
      </p:sp>
      <p:grpSp>
        <p:nvGrpSpPr>
          <p:cNvPr id="61" name="Группа 60">
            <a:extLst>
              <a:ext uri="{FF2B5EF4-FFF2-40B4-BE49-F238E27FC236}">
                <a16:creationId xmlns:a16="http://schemas.microsoft.com/office/drawing/2014/main" id="{A0771E81-68CF-4F28-B68C-F2487696D553}"/>
              </a:ext>
            </a:extLst>
          </p:cNvPr>
          <p:cNvGrpSpPr/>
          <p:nvPr/>
        </p:nvGrpSpPr>
        <p:grpSpPr>
          <a:xfrm>
            <a:off x="651640" y="1690688"/>
            <a:ext cx="10304382" cy="2047677"/>
            <a:chOff x="651640" y="1690688"/>
            <a:chExt cx="10304382" cy="2047677"/>
          </a:xfrm>
        </p:grpSpPr>
        <p:pic>
          <p:nvPicPr>
            <p:cNvPr id="30" name="Рисунок 29">
              <a:extLst>
                <a:ext uri="{FF2B5EF4-FFF2-40B4-BE49-F238E27FC236}">
                  <a16:creationId xmlns:a16="http://schemas.microsoft.com/office/drawing/2014/main" id="{64D25CC3-8BD6-4FA7-8C74-025A21D17D61}"/>
                </a:ext>
              </a:extLst>
            </p:cNvPr>
            <p:cNvPicPr>
              <a:picLocks noChangeAspect="1"/>
            </p:cNvPicPr>
            <p:nvPr/>
          </p:nvPicPr>
          <p:blipFill>
            <a:blip r:embed="rId3"/>
            <a:stretch>
              <a:fillRect/>
            </a:stretch>
          </p:blipFill>
          <p:spPr>
            <a:xfrm>
              <a:off x="651641" y="1840140"/>
              <a:ext cx="4978378" cy="713389"/>
            </a:xfrm>
            <a:prstGeom prst="rect">
              <a:avLst/>
            </a:prstGeom>
          </p:spPr>
        </p:pic>
        <p:pic>
          <p:nvPicPr>
            <p:cNvPr id="31" name="Рисунок 30">
              <a:extLst>
                <a:ext uri="{FF2B5EF4-FFF2-40B4-BE49-F238E27FC236}">
                  <a16:creationId xmlns:a16="http://schemas.microsoft.com/office/drawing/2014/main" id="{7A4E1932-6D3E-43D0-9BC7-DB6F4E698D9E}"/>
                </a:ext>
              </a:extLst>
            </p:cNvPr>
            <p:cNvPicPr>
              <a:picLocks noChangeAspect="1"/>
            </p:cNvPicPr>
            <p:nvPr/>
          </p:nvPicPr>
          <p:blipFill>
            <a:blip r:embed="rId4"/>
            <a:stretch>
              <a:fillRect/>
            </a:stretch>
          </p:blipFill>
          <p:spPr>
            <a:xfrm>
              <a:off x="7220220" y="1690688"/>
              <a:ext cx="3735802" cy="1219275"/>
            </a:xfrm>
            <a:prstGeom prst="rect">
              <a:avLst/>
            </a:prstGeom>
          </p:spPr>
        </p:pic>
        <p:cxnSp>
          <p:nvCxnSpPr>
            <p:cNvPr id="37" name="Соединитель: уступ 36">
              <a:extLst>
                <a:ext uri="{FF2B5EF4-FFF2-40B4-BE49-F238E27FC236}">
                  <a16:creationId xmlns:a16="http://schemas.microsoft.com/office/drawing/2014/main" id="{F398990C-3C26-4E2C-8808-6DB270A15C26}"/>
                </a:ext>
              </a:extLst>
            </p:cNvPr>
            <p:cNvCxnSpPr/>
            <p:nvPr/>
          </p:nvCxnSpPr>
          <p:spPr>
            <a:xfrm flipV="1">
              <a:off x="5908431" y="2094649"/>
              <a:ext cx="1311789" cy="119575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41" name="Рисунок 40">
              <a:extLst>
                <a:ext uri="{FF2B5EF4-FFF2-40B4-BE49-F238E27FC236}">
                  <a16:creationId xmlns:a16="http://schemas.microsoft.com/office/drawing/2014/main" id="{874E1957-0374-42B6-8EA5-FB44B6429C60}"/>
                </a:ext>
              </a:extLst>
            </p:cNvPr>
            <p:cNvPicPr>
              <a:picLocks noChangeAspect="1"/>
            </p:cNvPicPr>
            <p:nvPr/>
          </p:nvPicPr>
          <p:blipFill>
            <a:blip r:embed="rId5"/>
            <a:stretch>
              <a:fillRect/>
            </a:stretch>
          </p:blipFill>
          <p:spPr>
            <a:xfrm>
              <a:off x="651640" y="2580997"/>
              <a:ext cx="4978378" cy="367408"/>
            </a:xfrm>
            <a:prstGeom prst="rect">
              <a:avLst/>
            </a:prstGeom>
          </p:spPr>
        </p:pic>
        <p:pic>
          <p:nvPicPr>
            <p:cNvPr id="43" name="Рисунок 42">
              <a:extLst>
                <a:ext uri="{FF2B5EF4-FFF2-40B4-BE49-F238E27FC236}">
                  <a16:creationId xmlns:a16="http://schemas.microsoft.com/office/drawing/2014/main" id="{45008F3B-6DF2-482B-AA4A-2CECEFC67F72}"/>
                </a:ext>
              </a:extLst>
            </p:cNvPr>
            <p:cNvPicPr>
              <a:picLocks noChangeAspect="1"/>
            </p:cNvPicPr>
            <p:nvPr/>
          </p:nvPicPr>
          <p:blipFill>
            <a:blip r:embed="rId6"/>
            <a:stretch>
              <a:fillRect/>
            </a:stretch>
          </p:blipFill>
          <p:spPr>
            <a:xfrm>
              <a:off x="651641" y="2959276"/>
              <a:ext cx="4978378" cy="779089"/>
            </a:xfrm>
            <a:prstGeom prst="rect">
              <a:avLst/>
            </a:prstGeom>
          </p:spPr>
        </p:pic>
      </p:grpSp>
      <p:grpSp>
        <p:nvGrpSpPr>
          <p:cNvPr id="62" name="Группа 61">
            <a:extLst>
              <a:ext uri="{FF2B5EF4-FFF2-40B4-BE49-F238E27FC236}">
                <a16:creationId xmlns:a16="http://schemas.microsoft.com/office/drawing/2014/main" id="{8E4BE0CE-4C4A-41FE-AAE0-72BDACE322EF}"/>
              </a:ext>
            </a:extLst>
          </p:cNvPr>
          <p:cNvGrpSpPr/>
          <p:nvPr/>
        </p:nvGrpSpPr>
        <p:grpSpPr>
          <a:xfrm>
            <a:off x="716000" y="1936175"/>
            <a:ext cx="9338238" cy="1605463"/>
            <a:chOff x="716000" y="1936175"/>
            <a:chExt cx="9338238" cy="1605463"/>
          </a:xfrm>
        </p:grpSpPr>
        <p:sp>
          <p:nvSpPr>
            <p:cNvPr id="51" name="Прямоугольник 50">
              <a:extLst>
                <a:ext uri="{FF2B5EF4-FFF2-40B4-BE49-F238E27FC236}">
                  <a16:creationId xmlns:a16="http://schemas.microsoft.com/office/drawing/2014/main" id="{73981BCD-8090-4B18-80B7-2B17BE6AFC9C}"/>
                </a:ext>
              </a:extLst>
            </p:cNvPr>
            <p:cNvSpPr/>
            <p:nvPr/>
          </p:nvSpPr>
          <p:spPr>
            <a:xfrm>
              <a:off x="9560940" y="2025870"/>
              <a:ext cx="493298" cy="13755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Прямоугольник 51">
              <a:extLst>
                <a:ext uri="{FF2B5EF4-FFF2-40B4-BE49-F238E27FC236}">
                  <a16:creationId xmlns:a16="http://schemas.microsoft.com/office/drawing/2014/main" id="{A6BD7BAC-ECF9-486E-8CBD-999D298DE656}"/>
                </a:ext>
              </a:extLst>
            </p:cNvPr>
            <p:cNvSpPr/>
            <p:nvPr/>
          </p:nvSpPr>
          <p:spPr>
            <a:xfrm>
              <a:off x="995506" y="3346971"/>
              <a:ext cx="4290646" cy="1946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Прямоугольник 52">
              <a:extLst>
                <a:ext uri="{FF2B5EF4-FFF2-40B4-BE49-F238E27FC236}">
                  <a16:creationId xmlns:a16="http://schemas.microsoft.com/office/drawing/2014/main" id="{08A29482-A3FD-40C0-9B74-6F645D27EE4F}"/>
                </a:ext>
              </a:extLst>
            </p:cNvPr>
            <p:cNvSpPr/>
            <p:nvPr/>
          </p:nvSpPr>
          <p:spPr>
            <a:xfrm>
              <a:off x="716000" y="1936175"/>
              <a:ext cx="4914017" cy="5524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6" name="Группа 65">
            <a:extLst>
              <a:ext uri="{FF2B5EF4-FFF2-40B4-BE49-F238E27FC236}">
                <a16:creationId xmlns:a16="http://schemas.microsoft.com/office/drawing/2014/main" id="{6C1F8F68-3FE7-4BB8-ACBE-71520C08AA10}"/>
              </a:ext>
            </a:extLst>
          </p:cNvPr>
          <p:cNvGrpSpPr/>
          <p:nvPr/>
        </p:nvGrpSpPr>
        <p:grpSpPr>
          <a:xfrm>
            <a:off x="995506" y="2037949"/>
            <a:ext cx="7737014" cy="1711288"/>
            <a:chOff x="995506" y="2037949"/>
            <a:chExt cx="7737014" cy="1711288"/>
          </a:xfrm>
        </p:grpSpPr>
        <p:sp>
          <p:nvSpPr>
            <p:cNvPr id="64" name="Прямоугольник 63">
              <a:extLst>
                <a:ext uri="{FF2B5EF4-FFF2-40B4-BE49-F238E27FC236}">
                  <a16:creationId xmlns:a16="http://schemas.microsoft.com/office/drawing/2014/main" id="{6904A03E-749A-4EF3-A18B-0EDE5CFCE626}"/>
                </a:ext>
              </a:extLst>
            </p:cNvPr>
            <p:cNvSpPr/>
            <p:nvPr/>
          </p:nvSpPr>
          <p:spPr>
            <a:xfrm>
              <a:off x="995506" y="3569389"/>
              <a:ext cx="1541954" cy="1798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Прямоугольник 64">
              <a:extLst>
                <a:ext uri="{FF2B5EF4-FFF2-40B4-BE49-F238E27FC236}">
                  <a16:creationId xmlns:a16="http://schemas.microsoft.com/office/drawing/2014/main" id="{F3A9E0A5-9EA5-4479-826E-C4FCE45CB90F}"/>
                </a:ext>
              </a:extLst>
            </p:cNvPr>
            <p:cNvSpPr/>
            <p:nvPr/>
          </p:nvSpPr>
          <p:spPr>
            <a:xfrm>
              <a:off x="7888179" y="2037949"/>
              <a:ext cx="844341" cy="1254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0" name="Группа 89">
            <a:extLst>
              <a:ext uri="{FF2B5EF4-FFF2-40B4-BE49-F238E27FC236}">
                <a16:creationId xmlns:a16="http://schemas.microsoft.com/office/drawing/2014/main" id="{6B117A7C-B87E-454A-BAFA-2139DDC94F39}"/>
              </a:ext>
            </a:extLst>
          </p:cNvPr>
          <p:cNvGrpSpPr/>
          <p:nvPr/>
        </p:nvGrpSpPr>
        <p:grpSpPr>
          <a:xfrm>
            <a:off x="8930171" y="2054475"/>
            <a:ext cx="630767" cy="798447"/>
            <a:chOff x="8930171" y="2054475"/>
            <a:chExt cx="630767" cy="798447"/>
          </a:xfrm>
        </p:grpSpPr>
        <p:sp>
          <p:nvSpPr>
            <p:cNvPr id="73" name="Левая фигурная скобка 72">
              <a:extLst>
                <a:ext uri="{FF2B5EF4-FFF2-40B4-BE49-F238E27FC236}">
                  <a16:creationId xmlns:a16="http://schemas.microsoft.com/office/drawing/2014/main" id="{BCC4C5B4-65A3-4C2E-8DCC-01C438D52C60}"/>
                </a:ext>
              </a:extLst>
            </p:cNvPr>
            <p:cNvSpPr/>
            <p:nvPr/>
          </p:nvSpPr>
          <p:spPr>
            <a:xfrm>
              <a:off x="9420700" y="2054475"/>
              <a:ext cx="140238" cy="79844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D6E8B3D6-42F7-4D1B-96AF-8A543D2DE292}"/>
                    </a:ext>
                  </a:extLst>
                </p:cNvPr>
                <p:cNvSpPr txBox="1"/>
                <p:nvPr/>
              </p:nvSpPr>
              <p:spPr>
                <a:xfrm>
                  <a:off x="8930171" y="2299043"/>
                  <a:ext cx="44597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m:t>
                            </m:r>
                            <m:r>
                              <a:rPr lang="en-US" sz="1400" b="0" i="1" smtClean="0">
                                <a:latin typeface="Cambria Math" panose="02040503050406030204" pitchFamily="18" charset="0"/>
                              </a:rPr>
                              <m:t>𝑀</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oMath>
                    </m:oMathPara>
                  </a14:m>
                  <a:endParaRPr lang="en-US" sz="1400" dirty="0"/>
                </a:p>
              </p:txBody>
            </p:sp>
          </mc:Choice>
          <mc:Fallback xmlns="">
            <p:sp>
              <p:nvSpPr>
                <p:cNvPr id="76" name="TextBox 75">
                  <a:extLst>
                    <a:ext uri="{FF2B5EF4-FFF2-40B4-BE49-F238E27FC236}">
                      <a16:creationId xmlns:a16="http://schemas.microsoft.com/office/drawing/2014/main" id="{D6E8B3D6-42F7-4D1B-96AF-8A543D2DE292}"/>
                    </a:ext>
                  </a:extLst>
                </p:cNvPr>
                <p:cNvSpPr txBox="1">
                  <a:spLocks noRot="1" noChangeAspect="1" noMove="1" noResize="1" noEditPoints="1" noAdjustHandles="1" noChangeArrowheads="1" noChangeShapeType="1" noTextEdit="1"/>
                </p:cNvSpPr>
                <p:nvPr/>
              </p:nvSpPr>
              <p:spPr>
                <a:xfrm>
                  <a:off x="8930171" y="2299043"/>
                  <a:ext cx="445973" cy="307777"/>
                </a:xfrm>
                <a:prstGeom prst="rect">
                  <a:avLst/>
                </a:prstGeom>
                <a:blipFill>
                  <a:blip r:embed="rId7"/>
                  <a:stretch>
                    <a:fillRect r="-12329" b="-5882"/>
                  </a:stretch>
                </a:blipFill>
              </p:spPr>
              <p:txBody>
                <a:bodyPr/>
                <a:lstStyle/>
                <a:p>
                  <a:r>
                    <a:rPr lang="en-US">
                      <a:noFill/>
                    </a:rPr>
                    <a:t> </a:t>
                  </a:r>
                </a:p>
              </p:txBody>
            </p:sp>
          </mc:Fallback>
        </mc:AlternateContent>
      </p:grpSp>
      <p:grpSp>
        <p:nvGrpSpPr>
          <p:cNvPr id="93" name="Группа 92">
            <a:extLst>
              <a:ext uri="{FF2B5EF4-FFF2-40B4-BE49-F238E27FC236}">
                <a16:creationId xmlns:a16="http://schemas.microsoft.com/office/drawing/2014/main" id="{2C262B0F-8499-47AA-A2A9-B9EAEA322AE7}"/>
              </a:ext>
            </a:extLst>
          </p:cNvPr>
          <p:cNvGrpSpPr/>
          <p:nvPr/>
        </p:nvGrpSpPr>
        <p:grpSpPr>
          <a:xfrm>
            <a:off x="651640" y="1274754"/>
            <a:ext cx="11250018" cy="3777537"/>
            <a:chOff x="651640" y="1274754"/>
            <a:chExt cx="11250018" cy="3777537"/>
          </a:xfrm>
        </p:grpSpPr>
        <p:grpSp>
          <p:nvGrpSpPr>
            <p:cNvPr id="89" name="Группа 88">
              <a:extLst>
                <a:ext uri="{FF2B5EF4-FFF2-40B4-BE49-F238E27FC236}">
                  <a16:creationId xmlns:a16="http://schemas.microsoft.com/office/drawing/2014/main" id="{7B0E2328-216C-4CAD-815C-B9800EC81A89}"/>
                </a:ext>
              </a:extLst>
            </p:cNvPr>
            <p:cNvGrpSpPr/>
            <p:nvPr/>
          </p:nvGrpSpPr>
          <p:grpSpPr>
            <a:xfrm>
              <a:off x="651640" y="1274754"/>
              <a:ext cx="11250018" cy="3777537"/>
              <a:chOff x="651640" y="1274754"/>
              <a:chExt cx="11250018" cy="3777537"/>
            </a:xfrm>
          </p:grpSpPr>
          <p:sp>
            <p:nvSpPr>
              <p:cNvPr id="80" name="TextBox 79">
                <a:extLst>
                  <a:ext uri="{FF2B5EF4-FFF2-40B4-BE49-F238E27FC236}">
                    <a16:creationId xmlns:a16="http://schemas.microsoft.com/office/drawing/2014/main" id="{CE94A48B-B16C-48F0-9C09-FEAC66BE6823}"/>
                  </a:ext>
                </a:extLst>
              </p:cNvPr>
              <p:cNvSpPr txBox="1"/>
              <p:nvPr/>
            </p:nvSpPr>
            <p:spPr>
              <a:xfrm>
                <a:off x="651640" y="3854781"/>
                <a:ext cx="4714650" cy="307777"/>
              </a:xfrm>
              <a:prstGeom prst="rect">
                <a:avLst/>
              </a:prstGeom>
              <a:noFill/>
            </p:spPr>
            <p:txBody>
              <a:bodyPr wrap="square">
                <a:spAutoFit/>
              </a:bodyPr>
              <a:lstStyle/>
              <a:p>
                <a:r>
                  <a:rPr lang="en-US" sz="1400" dirty="0"/>
                  <a:t>A hint is defined by a PRF key; it chooses </a:t>
                </a:r>
                <a:r>
                  <a:rPr lang="en-US" sz="1400" b="1" dirty="0"/>
                  <a:t>one index per chunk</a:t>
                </a:r>
                <a:r>
                  <a:rPr lang="en-US" sz="1400" dirty="0"/>
                  <a:t>.</a:t>
                </a:r>
              </a:p>
            </p:txBody>
          </p:sp>
          <p:pic>
            <p:nvPicPr>
              <p:cNvPr id="84" name="Рисунок 83">
                <a:extLst>
                  <a:ext uri="{FF2B5EF4-FFF2-40B4-BE49-F238E27FC236}">
                    <a16:creationId xmlns:a16="http://schemas.microsoft.com/office/drawing/2014/main" id="{F82DF18E-CD4D-4052-8181-6DD7897DF6DC}"/>
                  </a:ext>
                </a:extLst>
              </p:cNvPr>
              <p:cNvPicPr>
                <a:picLocks noChangeAspect="1"/>
              </p:cNvPicPr>
              <p:nvPr/>
            </p:nvPicPr>
            <p:blipFill>
              <a:blip r:embed="rId8"/>
              <a:stretch>
                <a:fillRect/>
              </a:stretch>
            </p:blipFill>
            <p:spPr>
              <a:xfrm>
                <a:off x="7238069" y="1274754"/>
                <a:ext cx="3028950" cy="328341"/>
              </a:xfrm>
              <a:prstGeom prst="rect">
                <a:avLst/>
              </a:prstGeom>
            </p:spPr>
          </p:pic>
          <p:pic>
            <p:nvPicPr>
              <p:cNvPr id="86" name="Рисунок 85">
                <a:extLst>
                  <a:ext uri="{FF2B5EF4-FFF2-40B4-BE49-F238E27FC236}">
                    <a16:creationId xmlns:a16="http://schemas.microsoft.com/office/drawing/2014/main" id="{712C60B0-8398-49E5-8847-4704DC57AC63}"/>
                  </a:ext>
                </a:extLst>
              </p:cNvPr>
              <p:cNvPicPr>
                <a:picLocks noChangeAspect="1"/>
              </p:cNvPicPr>
              <p:nvPr/>
            </p:nvPicPr>
            <p:blipFill>
              <a:blip r:embed="rId9"/>
              <a:stretch>
                <a:fillRect/>
              </a:stretch>
            </p:blipFill>
            <p:spPr>
              <a:xfrm>
                <a:off x="10162115" y="2055997"/>
                <a:ext cx="1739543" cy="312812"/>
              </a:xfrm>
              <a:prstGeom prst="rect">
                <a:avLst/>
              </a:prstGeom>
            </p:spPr>
          </p:pic>
          <p:pic>
            <p:nvPicPr>
              <p:cNvPr id="88" name="Рисунок 87">
                <a:extLst>
                  <a:ext uri="{FF2B5EF4-FFF2-40B4-BE49-F238E27FC236}">
                    <a16:creationId xmlns:a16="http://schemas.microsoft.com/office/drawing/2014/main" id="{169FFA2C-21E2-4B77-987D-7A6D75423D4C}"/>
                  </a:ext>
                </a:extLst>
              </p:cNvPr>
              <p:cNvPicPr>
                <a:picLocks noChangeAspect="1"/>
              </p:cNvPicPr>
              <p:nvPr/>
            </p:nvPicPr>
            <p:blipFill>
              <a:blip r:embed="rId10"/>
              <a:stretch>
                <a:fillRect/>
              </a:stretch>
            </p:blipFill>
            <p:spPr>
              <a:xfrm>
                <a:off x="748570" y="4737966"/>
                <a:ext cx="5210175" cy="314325"/>
              </a:xfrm>
              <a:prstGeom prst="rect">
                <a:avLst/>
              </a:prstGeom>
            </p:spPr>
          </p:pic>
        </p:grpSp>
        <p:pic>
          <p:nvPicPr>
            <p:cNvPr id="92" name="Рисунок 91">
              <a:extLst>
                <a:ext uri="{FF2B5EF4-FFF2-40B4-BE49-F238E27FC236}">
                  <a16:creationId xmlns:a16="http://schemas.microsoft.com/office/drawing/2014/main" id="{65C6FA47-90CA-4302-AC95-2490187E25C5}"/>
                </a:ext>
              </a:extLst>
            </p:cNvPr>
            <p:cNvPicPr>
              <a:picLocks noChangeAspect="1"/>
            </p:cNvPicPr>
            <p:nvPr/>
          </p:nvPicPr>
          <p:blipFill>
            <a:blip r:embed="rId11"/>
            <a:stretch>
              <a:fillRect/>
            </a:stretch>
          </p:blipFill>
          <p:spPr>
            <a:xfrm>
              <a:off x="748570" y="4195662"/>
              <a:ext cx="3819255" cy="477407"/>
            </a:xfrm>
            <a:prstGeom prst="rect">
              <a:avLst/>
            </a:prstGeom>
          </p:spPr>
        </p:pic>
      </p:grpSp>
      <p:grpSp>
        <p:nvGrpSpPr>
          <p:cNvPr id="114" name="Группа 113">
            <a:extLst>
              <a:ext uri="{FF2B5EF4-FFF2-40B4-BE49-F238E27FC236}">
                <a16:creationId xmlns:a16="http://schemas.microsoft.com/office/drawing/2014/main" id="{206DAA8C-DA63-4A9C-BC13-4F9CD900F3B7}"/>
              </a:ext>
            </a:extLst>
          </p:cNvPr>
          <p:cNvGrpSpPr/>
          <p:nvPr/>
        </p:nvGrpSpPr>
        <p:grpSpPr>
          <a:xfrm>
            <a:off x="683818" y="2977936"/>
            <a:ext cx="10272205" cy="1593802"/>
            <a:chOff x="683818" y="2977936"/>
            <a:chExt cx="10272205" cy="1593802"/>
          </a:xfrm>
        </p:grpSpPr>
        <p:cxnSp>
          <p:nvCxnSpPr>
            <p:cNvPr id="39" name="Соединитель: уступ 38">
              <a:extLst>
                <a:ext uri="{FF2B5EF4-FFF2-40B4-BE49-F238E27FC236}">
                  <a16:creationId xmlns:a16="http://schemas.microsoft.com/office/drawing/2014/main" id="{54091191-5404-4D0C-8B38-C9795D51830C}"/>
                </a:ext>
              </a:extLst>
            </p:cNvPr>
            <p:cNvCxnSpPr>
              <a:cxnSpLocks/>
            </p:cNvCxnSpPr>
            <p:nvPr/>
          </p:nvCxnSpPr>
          <p:spPr>
            <a:xfrm flipV="1">
              <a:off x="5996354" y="3543487"/>
              <a:ext cx="1099038" cy="48262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4" name="Группа 93">
              <a:extLst>
                <a:ext uri="{FF2B5EF4-FFF2-40B4-BE49-F238E27FC236}">
                  <a16:creationId xmlns:a16="http://schemas.microsoft.com/office/drawing/2014/main" id="{21B2F61A-EA66-400D-B64C-9AE67F4D9D1F}"/>
                </a:ext>
              </a:extLst>
            </p:cNvPr>
            <p:cNvGrpSpPr/>
            <p:nvPr/>
          </p:nvGrpSpPr>
          <p:grpSpPr>
            <a:xfrm>
              <a:off x="7220220" y="2977936"/>
              <a:ext cx="3735803" cy="1593802"/>
              <a:chOff x="7220220" y="4363532"/>
              <a:chExt cx="3735803" cy="1593802"/>
            </a:xfrm>
          </p:grpSpPr>
          <p:pic>
            <p:nvPicPr>
              <p:cNvPr id="68" name="Рисунок 67">
                <a:extLst>
                  <a:ext uri="{FF2B5EF4-FFF2-40B4-BE49-F238E27FC236}">
                    <a16:creationId xmlns:a16="http://schemas.microsoft.com/office/drawing/2014/main" id="{69EAB4B0-8FA5-4AE0-946F-02E2C7602C99}"/>
                  </a:ext>
                </a:extLst>
              </p:cNvPr>
              <p:cNvPicPr>
                <a:picLocks noChangeAspect="1"/>
              </p:cNvPicPr>
              <p:nvPr/>
            </p:nvPicPr>
            <p:blipFill>
              <a:blip r:embed="rId12"/>
              <a:stretch>
                <a:fillRect/>
              </a:stretch>
            </p:blipFill>
            <p:spPr>
              <a:xfrm>
                <a:off x="7220221" y="4363532"/>
                <a:ext cx="3735802" cy="1426397"/>
              </a:xfrm>
              <a:prstGeom prst="rect">
                <a:avLst/>
              </a:prstGeom>
            </p:spPr>
          </p:pic>
          <p:pic>
            <p:nvPicPr>
              <p:cNvPr id="72" name="Рисунок 71">
                <a:extLst>
                  <a:ext uri="{FF2B5EF4-FFF2-40B4-BE49-F238E27FC236}">
                    <a16:creationId xmlns:a16="http://schemas.microsoft.com/office/drawing/2014/main" id="{DAD02DCC-3AD3-4EA0-9538-AF80E86C618F}"/>
                  </a:ext>
                </a:extLst>
              </p:cNvPr>
              <p:cNvPicPr>
                <a:picLocks noChangeAspect="1"/>
              </p:cNvPicPr>
              <p:nvPr/>
            </p:nvPicPr>
            <p:blipFill>
              <a:blip r:embed="rId13"/>
              <a:stretch>
                <a:fillRect/>
              </a:stretch>
            </p:blipFill>
            <p:spPr>
              <a:xfrm>
                <a:off x="7220220" y="5776933"/>
                <a:ext cx="3735802" cy="180401"/>
              </a:xfrm>
              <a:prstGeom prst="rect">
                <a:avLst/>
              </a:prstGeom>
            </p:spPr>
          </p:pic>
        </p:grpSp>
        <p:grpSp>
          <p:nvGrpSpPr>
            <p:cNvPr id="99" name="Группа 98">
              <a:extLst>
                <a:ext uri="{FF2B5EF4-FFF2-40B4-BE49-F238E27FC236}">
                  <a16:creationId xmlns:a16="http://schemas.microsoft.com/office/drawing/2014/main" id="{4362332A-9DCB-446E-AC63-C1C4CE140270}"/>
                </a:ext>
              </a:extLst>
            </p:cNvPr>
            <p:cNvGrpSpPr/>
            <p:nvPr/>
          </p:nvGrpSpPr>
          <p:grpSpPr>
            <a:xfrm>
              <a:off x="683818" y="3854781"/>
              <a:ext cx="4978380" cy="667926"/>
              <a:chOff x="651639" y="3856331"/>
              <a:chExt cx="4978380" cy="667926"/>
            </a:xfrm>
          </p:grpSpPr>
          <p:pic>
            <p:nvPicPr>
              <p:cNvPr id="47" name="Рисунок 46">
                <a:extLst>
                  <a:ext uri="{FF2B5EF4-FFF2-40B4-BE49-F238E27FC236}">
                    <a16:creationId xmlns:a16="http://schemas.microsoft.com/office/drawing/2014/main" id="{6815221B-C65D-40F9-85B6-0512C091D4EA}"/>
                  </a:ext>
                </a:extLst>
              </p:cNvPr>
              <p:cNvPicPr>
                <a:picLocks noChangeAspect="1"/>
              </p:cNvPicPr>
              <p:nvPr/>
            </p:nvPicPr>
            <p:blipFill>
              <a:blip r:embed="rId14"/>
              <a:stretch>
                <a:fillRect/>
              </a:stretch>
            </p:blipFill>
            <p:spPr>
              <a:xfrm>
                <a:off x="651641" y="3856331"/>
                <a:ext cx="4978378" cy="667926"/>
              </a:xfrm>
              <a:prstGeom prst="rect">
                <a:avLst/>
              </a:prstGeom>
            </p:spPr>
          </p:pic>
          <p:pic>
            <p:nvPicPr>
              <p:cNvPr id="98" name="Рисунок 97">
                <a:extLst>
                  <a:ext uri="{FF2B5EF4-FFF2-40B4-BE49-F238E27FC236}">
                    <a16:creationId xmlns:a16="http://schemas.microsoft.com/office/drawing/2014/main" id="{3D20CB4F-9D31-465D-9431-F0D2E7B7AE52}"/>
                  </a:ext>
                </a:extLst>
              </p:cNvPr>
              <p:cNvPicPr>
                <a:picLocks noChangeAspect="1"/>
              </p:cNvPicPr>
              <p:nvPr/>
            </p:nvPicPr>
            <p:blipFill>
              <a:blip r:embed="rId15"/>
              <a:stretch>
                <a:fillRect/>
              </a:stretch>
            </p:blipFill>
            <p:spPr>
              <a:xfrm>
                <a:off x="651639" y="3898308"/>
                <a:ext cx="152400" cy="190500"/>
              </a:xfrm>
              <a:prstGeom prst="rect">
                <a:avLst/>
              </a:prstGeom>
            </p:spPr>
          </p:pic>
        </p:grpSp>
      </p:grpSp>
      <p:grpSp>
        <p:nvGrpSpPr>
          <p:cNvPr id="115" name="Группа 114">
            <a:extLst>
              <a:ext uri="{FF2B5EF4-FFF2-40B4-BE49-F238E27FC236}">
                <a16:creationId xmlns:a16="http://schemas.microsoft.com/office/drawing/2014/main" id="{2EFECD44-1A16-4215-8F03-69519F8449F5}"/>
              </a:ext>
            </a:extLst>
          </p:cNvPr>
          <p:cNvGrpSpPr/>
          <p:nvPr/>
        </p:nvGrpSpPr>
        <p:grpSpPr>
          <a:xfrm>
            <a:off x="719171" y="3351592"/>
            <a:ext cx="8869186" cy="1712215"/>
            <a:chOff x="719171" y="3351592"/>
            <a:chExt cx="8869186" cy="1712215"/>
          </a:xfrm>
        </p:grpSpPr>
        <p:pic>
          <p:nvPicPr>
            <p:cNvPr id="107" name="Рисунок 106">
              <a:extLst>
                <a:ext uri="{FF2B5EF4-FFF2-40B4-BE49-F238E27FC236}">
                  <a16:creationId xmlns:a16="http://schemas.microsoft.com/office/drawing/2014/main" id="{0138B009-C26F-49C4-B12F-737280E6E374}"/>
                </a:ext>
              </a:extLst>
            </p:cNvPr>
            <p:cNvPicPr>
              <a:picLocks noChangeAspect="1"/>
            </p:cNvPicPr>
            <p:nvPr/>
          </p:nvPicPr>
          <p:blipFill>
            <a:blip r:embed="rId16"/>
            <a:stretch>
              <a:fillRect/>
            </a:stretch>
          </p:blipFill>
          <p:spPr>
            <a:xfrm>
              <a:off x="719171" y="4561317"/>
              <a:ext cx="3722996" cy="502490"/>
            </a:xfrm>
            <a:prstGeom prst="rect">
              <a:avLst/>
            </a:prstGeom>
          </p:spPr>
        </p:pic>
        <p:sp>
          <p:nvSpPr>
            <p:cNvPr id="103" name="Прямоугольник 102">
              <a:extLst>
                <a:ext uri="{FF2B5EF4-FFF2-40B4-BE49-F238E27FC236}">
                  <a16:creationId xmlns:a16="http://schemas.microsoft.com/office/drawing/2014/main" id="{7B4BF30E-0F42-41B8-8D98-451D2D489604}"/>
                </a:ext>
              </a:extLst>
            </p:cNvPr>
            <p:cNvSpPr/>
            <p:nvPr/>
          </p:nvSpPr>
          <p:spPr>
            <a:xfrm>
              <a:off x="1741718" y="4198694"/>
              <a:ext cx="1058632" cy="1791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2" name="Группа 111">
              <a:extLst>
                <a:ext uri="{FF2B5EF4-FFF2-40B4-BE49-F238E27FC236}">
                  <a16:creationId xmlns:a16="http://schemas.microsoft.com/office/drawing/2014/main" id="{D07F047F-95DA-48E7-A86D-1F1991B5F64D}"/>
                </a:ext>
              </a:extLst>
            </p:cNvPr>
            <p:cNvGrpSpPr/>
            <p:nvPr/>
          </p:nvGrpSpPr>
          <p:grpSpPr>
            <a:xfrm>
              <a:off x="9208387" y="3351592"/>
              <a:ext cx="379970" cy="1175498"/>
              <a:chOff x="9208387" y="3351592"/>
              <a:chExt cx="379970" cy="1175498"/>
            </a:xfrm>
          </p:grpSpPr>
          <p:sp>
            <p:nvSpPr>
              <p:cNvPr id="108" name="Прямоугольник 107">
                <a:extLst>
                  <a:ext uri="{FF2B5EF4-FFF2-40B4-BE49-F238E27FC236}">
                    <a16:creationId xmlns:a16="http://schemas.microsoft.com/office/drawing/2014/main" id="{B9DEFB34-2980-45C4-B720-52CAEF79A1F1}"/>
                  </a:ext>
                </a:extLst>
              </p:cNvPr>
              <p:cNvSpPr/>
              <p:nvPr/>
            </p:nvSpPr>
            <p:spPr>
              <a:xfrm>
                <a:off x="9208387" y="3351592"/>
                <a:ext cx="97538" cy="23883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Прямоугольник 108">
                <a:extLst>
                  <a:ext uri="{FF2B5EF4-FFF2-40B4-BE49-F238E27FC236}">
                    <a16:creationId xmlns:a16="http://schemas.microsoft.com/office/drawing/2014/main" id="{C2349A4B-05F1-42D4-9995-6B54A0043D94}"/>
                  </a:ext>
                </a:extLst>
              </p:cNvPr>
              <p:cNvSpPr/>
              <p:nvPr/>
            </p:nvSpPr>
            <p:spPr>
              <a:xfrm>
                <a:off x="9305925" y="3657923"/>
                <a:ext cx="97538" cy="23883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Прямоугольник 109">
                <a:extLst>
                  <a:ext uri="{FF2B5EF4-FFF2-40B4-BE49-F238E27FC236}">
                    <a16:creationId xmlns:a16="http://schemas.microsoft.com/office/drawing/2014/main" id="{C2876A9E-C27C-49FF-B57E-EE671869C2DC}"/>
                  </a:ext>
                </a:extLst>
              </p:cNvPr>
              <p:cNvSpPr/>
              <p:nvPr/>
            </p:nvSpPr>
            <p:spPr>
              <a:xfrm>
                <a:off x="9403463" y="3953857"/>
                <a:ext cx="97538" cy="23883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Прямоугольник 110">
                <a:extLst>
                  <a:ext uri="{FF2B5EF4-FFF2-40B4-BE49-F238E27FC236}">
                    <a16:creationId xmlns:a16="http://schemas.microsoft.com/office/drawing/2014/main" id="{BE9B96B2-CCF3-4064-9C88-99494F3AE638}"/>
                  </a:ext>
                </a:extLst>
              </p:cNvPr>
              <p:cNvSpPr/>
              <p:nvPr/>
            </p:nvSpPr>
            <p:spPr>
              <a:xfrm>
                <a:off x="9490819" y="4288255"/>
                <a:ext cx="97538" cy="23883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0" name="Группа 119">
            <a:extLst>
              <a:ext uri="{FF2B5EF4-FFF2-40B4-BE49-F238E27FC236}">
                <a16:creationId xmlns:a16="http://schemas.microsoft.com/office/drawing/2014/main" id="{584F644B-E22A-45F0-8667-C1F22EAD8361}"/>
              </a:ext>
            </a:extLst>
          </p:cNvPr>
          <p:cNvGrpSpPr/>
          <p:nvPr/>
        </p:nvGrpSpPr>
        <p:grpSpPr>
          <a:xfrm>
            <a:off x="716000" y="5107569"/>
            <a:ext cx="4714651" cy="962567"/>
            <a:chOff x="706770" y="5231475"/>
            <a:chExt cx="4714651" cy="962567"/>
          </a:xfrm>
        </p:grpSpPr>
        <p:sp>
          <p:nvSpPr>
            <p:cNvPr id="117" name="TextBox 116">
              <a:extLst>
                <a:ext uri="{FF2B5EF4-FFF2-40B4-BE49-F238E27FC236}">
                  <a16:creationId xmlns:a16="http://schemas.microsoft.com/office/drawing/2014/main" id="{7AF68A92-C199-465F-A6C7-64634AC0D5A6}"/>
                </a:ext>
              </a:extLst>
            </p:cNvPr>
            <p:cNvSpPr txBox="1"/>
            <p:nvPr/>
          </p:nvSpPr>
          <p:spPr>
            <a:xfrm>
              <a:off x="710675" y="5231475"/>
              <a:ext cx="4655615" cy="369332"/>
            </a:xfrm>
            <a:prstGeom prst="rect">
              <a:avLst/>
            </a:prstGeom>
            <a:noFill/>
          </p:spPr>
          <p:txBody>
            <a:bodyPr wrap="square">
              <a:spAutoFit/>
            </a:bodyPr>
            <a:lstStyle/>
            <a:p>
              <a:r>
                <a:rPr lang="en-US" b="1" dirty="0"/>
                <a:t>Why skip home chunk?</a:t>
              </a:r>
              <a:endParaRPr lang="en-US" b="1" baseline="30000" dirty="0"/>
            </a:p>
          </p:txBody>
        </p:sp>
        <p:pic>
          <p:nvPicPr>
            <p:cNvPr id="119" name="Рисунок 118">
              <a:extLst>
                <a:ext uri="{FF2B5EF4-FFF2-40B4-BE49-F238E27FC236}">
                  <a16:creationId xmlns:a16="http://schemas.microsoft.com/office/drawing/2014/main" id="{6383F4C5-B1D8-4028-BC44-6BB7253A8A62}"/>
                </a:ext>
              </a:extLst>
            </p:cNvPr>
            <p:cNvPicPr>
              <a:picLocks noChangeAspect="1"/>
            </p:cNvPicPr>
            <p:nvPr/>
          </p:nvPicPr>
          <p:blipFill>
            <a:blip r:embed="rId17"/>
            <a:stretch>
              <a:fillRect/>
            </a:stretch>
          </p:blipFill>
          <p:spPr>
            <a:xfrm>
              <a:off x="706770" y="5641932"/>
              <a:ext cx="4714651" cy="552110"/>
            </a:xfrm>
            <a:prstGeom prst="rect">
              <a:avLst/>
            </a:prstGeom>
          </p:spPr>
        </p:pic>
      </p:grpSp>
      <p:grpSp>
        <p:nvGrpSpPr>
          <p:cNvPr id="130" name="Группа 129">
            <a:extLst>
              <a:ext uri="{FF2B5EF4-FFF2-40B4-BE49-F238E27FC236}">
                <a16:creationId xmlns:a16="http://schemas.microsoft.com/office/drawing/2014/main" id="{463FDA54-08C3-4FC5-A66A-CB05E539E5F6}"/>
              </a:ext>
            </a:extLst>
          </p:cNvPr>
          <p:cNvGrpSpPr/>
          <p:nvPr/>
        </p:nvGrpSpPr>
        <p:grpSpPr>
          <a:xfrm>
            <a:off x="716000" y="4517019"/>
            <a:ext cx="10240022" cy="1492592"/>
            <a:chOff x="716000" y="4517019"/>
            <a:chExt cx="10240022" cy="1492592"/>
          </a:xfrm>
        </p:grpSpPr>
        <p:grpSp>
          <p:nvGrpSpPr>
            <p:cNvPr id="33" name="Группа 32">
              <a:extLst>
                <a:ext uri="{FF2B5EF4-FFF2-40B4-BE49-F238E27FC236}">
                  <a16:creationId xmlns:a16="http://schemas.microsoft.com/office/drawing/2014/main" id="{42FA9F45-6A5E-4F24-8CF1-9413DDF5B441}"/>
                </a:ext>
              </a:extLst>
            </p:cNvPr>
            <p:cNvGrpSpPr/>
            <p:nvPr/>
          </p:nvGrpSpPr>
          <p:grpSpPr>
            <a:xfrm>
              <a:off x="7233026" y="4673069"/>
              <a:ext cx="3722996" cy="1336542"/>
              <a:chOff x="7233026" y="4462694"/>
              <a:chExt cx="3722996" cy="1336542"/>
            </a:xfrm>
          </p:grpSpPr>
          <p:pic>
            <p:nvPicPr>
              <p:cNvPr id="34" name="Рисунок 33">
                <a:extLst>
                  <a:ext uri="{FF2B5EF4-FFF2-40B4-BE49-F238E27FC236}">
                    <a16:creationId xmlns:a16="http://schemas.microsoft.com/office/drawing/2014/main" id="{CA3F9407-DEFA-4D5A-A5A1-0DDDE5331530}"/>
                  </a:ext>
                </a:extLst>
              </p:cNvPr>
              <p:cNvPicPr>
                <a:picLocks noChangeAspect="1"/>
              </p:cNvPicPr>
              <p:nvPr/>
            </p:nvPicPr>
            <p:blipFill>
              <a:blip r:embed="rId18"/>
              <a:stretch>
                <a:fillRect/>
              </a:stretch>
            </p:blipFill>
            <p:spPr>
              <a:xfrm>
                <a:off x="7233026" y="4462694"/>
                <a:ext cx="3722996" cy="1187401"/>
              </a:xfrm>
              <a:prstGeom prst="rect">
                <a:avLst/>
              </a:prstGeom>
            </p:spPr>
          </p:pic>
          <p:pic>
            <p:nvPicPr>
              <p:cNvPr id="35" name="Рисунок 34">
                <a:extLst>
                  <a:ext uri="{FF2B5EF4-FFF2-40B4-BE49-F238E27FC236}">
                    <a16:creationId xmlns:a16="http://schemas.microsoft.com/office/drawing/2014/main" id="{0BF97330-C8ED-43D1-9A8D-A7493EAADC3C}"/>
                  </a:ext>
                </a:extLst>
              </p:cNvPr>
              <p:cNvPicPr>
                <a:picLocks noChangeAspect="1"/>
              </p:cNvPicPr>
              <p:nvPr/>
            </p:nvPicPr>
            <p:blipFill>
              <a:blip r:embed="rId19"/>
              <a:stretch>
                <a:fillRect/>
              </a:stretch>
            </p:blipFill>
            <p:spPr>
              <a:xfrm>
                <a:off x="7258193" y="5624928"/>
                <a:ext cx="3697829" cy="174308"/>
              </a:xfrm>
              <a:prstGeom prst="rect">
                <a:avLst/>
              </a:prstGeom>
            </p:spPr>
          </p:pic>
        </p:grpSp>
        <p:grpSp>
          <p:nvGrpSpPr>
            <p:cNvPr id="100" name="Группа 99">
              <a:extLst>
                <a:ext uri="{FF2B5EF4-FFF2-40B4-BE49-F238E27FC236}">
                  <a16:creationId xmlns:a16="http://schemas.microsoft.com/office/drawing/2014/main" id="{E80B14BF-CD84-44B2-9E05-254C46A9B2EE}"/>
                </a:ext>
              </a:extLst>
            </p:cNvPr>
            <p:cNvGrpSpPr/>
            <p:nvPr/>
          </p:nvGrpSpPr>
          <p:grpSpPr>
            <a:xfrm>
              <a:off x="716000" y="4517019"/>
              <a:ext cx="4982285" cy="390768"/>
              <a:chOff x="647734" y="6244449"/>
              <a:chExt cx="4982285" cy="390768"/>
            </a:xfrm>
          </p:grpSpPr>
          <p:pic>
            <p:nvPicPr>
              <p:cNvPr id="45" name="Рисунок 44">
                <a:extLst>
                  <a:ext uri="{FF2B5EF4-FFF2-40B4-BE49-F238E27FC236}">
                    <a16:creationId xmlns:a16="http://schemas.microsoft.com/office/drawing/2014/main" id="{27692E84-C061-4D7E-BC36-1055BCA625FA}"/>
                  </a:ext>
                </a:extLst>
              </p:cNvPr>
              <p:cNvPicPr>
                <a:picLocks noChangeAspect="1"/>
              </p:cNvPicPr>
              <p:nvPr/>
            </p:nvPicPr>
            <p:blipFill>
              <a:blip r:embed="rId20"/>
              <a:stretch>
                <a:fillRect/>
              </a:stretch>
            </p:blipFill>
            <p:spPr>
              <a:xfrm>
                <a:off x="651641" y="6244449"/>
                <a:ext cx="4978378" cy="390768"/>
              </a:xfrm>
              <a:prstGeom prst="rect">
                <a:avLst/>
              </a:prstGeom>
            </p:spPr>
          </p:pic>
          <p:pic>
            <p:nvPicPr>
              <p:cNvPr id="96" name="Рисунок 95">
                <a:extLst>
                  <a:ext uri="{FF2B5EF4-FFF2-40B4-BE49-F238E27FC236}">
                    <a16:creationId xmlns:a16="http://schemas.microsoft.com/office/drawing/2014/main" id="{234CF7AC-9007-49AA-8249-F1170561876A}"/>
                  </a:ext>
                </a:extLst>
              </p:cNvPr>
              <p:cNvPicPr>
                <a:picLocks noChangeAspect="1"/>
              </p:cNvPicPr>
              <p:nvPr/>
            </p:nvPicPr>
            <p:blipFill>
              <a:blip r:embed="rId21"/>
              <a:stretch>
                <a:fillRect/>
              </a:stretch>
            </p:blipFill>
            <p:spPr>
              <a:xfrm>
                <a:off x="647734" y="6290826"/>
                <a:ext cx="142875" cy="161925"/>
              </a:xfrm>
              <a:prstGeom prst="rect">
                <a:avLst/>
              </a:prstGeom>
            </p:spPr>
          </p:pic>
        </p:grpSp>
        <p:cxnSp>
          <p:nvCxnSpPr>
            <p:cNvPr id="122" name="Соединитель: уступ 121">
              <a:extLst>
                <a:ext uri="{FF2B5EF4-FFF2-40B4-BE49-F238E27FC236}">
                  <a16:creationId xmlns:a16="http://schemas.microsoft.com/office/drawing/2014/main" id="{67129800-B6B7-4299-835B-E97AD0E8C34E}"/>
                </a:ext>
              </a:extLst>
            </p:cNvPr>
            <p:cNvCxnSpPr/>
            <p:nvPr/>
          </p:nvCxnSpPr>
          <p:spPr>
            <a:xfrm>
              <a:off x="5996354" y="4673069"/>
              <a:ext cx="1099038" cy="64516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29" name="Группа 128">
            <a:extLst>
              <a:ext uri="{FF2B5EF4-FFF2-40B4-BE49-F238E27FC236}">
                <a16:creationId xmlns:a16="http://schemas.microsoft.com/office/drawing/2014/main" id="{62A544AA-7A5A-4FD6-B508-F9B65B32C872}"/>
              </a:ext>
            </a:extLst>
          </p:cNvPr>
          <p:cNvGrpSpPr/>
          <p:nvPr/>
        </p:nvGrpSpPr>
        <p:grpSpPr>
          <a:xfrm>
            <a:off x="8513658" y="4907787"/>
            <a:ext cx="631546" cy="307777"/>
            <a:chOff x="8513658" y="4907787"/>
            <a:chExt cx="631546" cy="307777"/>
          </a:xfrm>
        </p:grpSpPr>
        <p:sp>
          <p:nvSpPr>
            <p:cNvPr id="127" name="Левая фигурная скобка 126">
              <a:extLst>
                <a:ext uri="{FF2B5EF4-FFF2-40B4-BE49-F238E27FC236}">
                  <a16:creationId xmlns:a16="http://schemas.microsoft.com/office/drawing/2014/main" id="{7A03C1AD-4BEF-465C-9334-60200A536E57}"/>
                </a:ext>
              </a:extLst>
            </p:cNvPr>
            <p:cNvSpPr/>
            <p:nvPr/>
          </p:nvSpPr>
          <p:spPr>
            <a:xfrm>
              <a:off x="8997216" y="4954280"/>
              <a:ext cx="147988" cy="21905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A49E810B-4F0F-4C7F-95F8-DF56A8320DA4}"/>
                    </a:ext>
                  </a:extLst>
                </p:cNvPr>
                <p:cNvSpPr txBox="1"/>
                <p:nvPr/>
              </p:nvSpPr>
              <p:spPr>
                <a:xfrm>
                  <a:off x="8513658" y="4907787"/>
                  <a:ext cx="38000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m:t>
                            </m:r>
                            <m:r>
                              <a:rPr lang="en-US" sz="1400" b="0" i="1" smtClean="0">
                                <a:latin typeface="Cambria Math" panose="02040503050406030204" pitchFamily="18" charset="0"/>
                              </a:rPr>
                              <m:t>𝑀</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oMath>
                    </m:oMathPara>
                  </a14:m>
                  <a:endParaRPr lang="en-US" sz="1400" dirty="0"/>
                </a:p>
              </p:txBody>
            </p:sp>
          </mc:Choice>
          <mc:Fallback xmlns="">
            <p:sp>
              <p:nvSpPr>
                <p:cNvPr id="128" name="TextBox 127">
                  <a:extLst>
                    <a:ext uri="{FF2B5EF4-FFF2-40B4-BE49-F238E27FC236}">
                      <a16:creationId xmlns:a16="http://schemas.microsoft.com/office/drawing/2014/main" id="{A49E810B-4F0F-4C7F-95F8-DF56A8320DA4}"/>
                    </a:ext>
                  </a:extLst>
                </p:cNvPr>
                <p:cNvSpPr txBox="1">
                  <a:spLocks noRot="1" noChangeAspect="1" noMove="1" noResize="1" noEditPoints="1" noAdjustHandles="1" noChangeArrowheads="1" noChangeShapeType="1" noTextEdit="1"/>
                </p:cNvSpPr>
                <p:nvPr/>
              </p:nvSpPr>
              <p:spPr>
                <a:xfrm>
                  <a:off x="8513658" y="4907787"/>
                  <a:ext cx="380003" cy="307777"/>
                </a:xfrm>
                <a:prstGeom prst="rect">
                  <a:avLst/>
                </a:prstGeom>
                <a:blipFill>
                  <a:blip r:embed="rId22"/>
                  <a:stretch>
                    <a:fillRect r="-33871" b="-5882"/>
                  </a:stretch>
                </a:blipFill>
              </p:spPr>
              <p:txBody>
                <a:bodyPr/>
                <a:lstStyle/>
                <a:p>
                  <a:r>
                    <a:rPr lang="en-US">
                      <a:noFill/>
                    </a:rPr>
                    <a:t> </a:t>
                  </a:r>
                </a:p>
              </p:txBody>
            </p:sp>
          </mc:Fallback>
        </mc:AlternateContent>
      </p:grpSp>
      <p:sp>
        <p:nvSpPr>
          <p:cNvPr id="57" name="文本框 9">
            <a:extLst>
              <a:ext uri="{FF2B5EF4-FFF2-40B4-BE49-F238E27FC236}">
                <a16:creationId xmlns:a16="http://schemas.microsoft.com/office/drawing/2014/main" id="{0DEE8E8E-4365-4D1E-8CF1-A19FC945082E}"/>
              </a:ext>
            </a:extLst>
          </p:cNvPr>
          <p:cNvSpPr txBox="1"/>
          <p:nvPr/>
        </p:nvSpPr>
        <p:spPr>
          <a:xfrm>
            <a:off x="1299594" y="183700"/>
            <a:ext cx="5436765"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Offline stage: client hints </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58" name="组合 22">
            <a:extLst>
              <a:ext uri="{FF2B5EF4-FFF2-40B4-BE49-F238E27FC236}">
                <a16:creationId xmlns:a16="http://schemas.microsoft.com/office/drawing/2014/main" id="{A79615F7-AFA1-4BC5-8728-6F44862CF09B}"/>
              </a:ext>
            </a:extLst>
          </p:cNvPr>
          <p:cNvGrpSpPr/>
          <p:nvPr/>
        </p:nvGrpSpPr>
        <p:grpSpPr>
          <a:xfrm>
            <a:off x="11236541" y="460205"/>
            <a:ext cx="258653" cy="233204"/>
            <a:chOff x="3720691" y="2824413"/>
            <a:chExt cx="1341120" cy="1209172"/>
          </a:xfrm>
        </p:grpSpPr>
        <p:sp>
          <p:nvSpPr>
            <p:cNvPr id="59" name="Freeform 5">
              <a:extLst>
                <a:ext uri="{FF2B5EF4-FFF2-40B4-BE49-F238E27FC236}">
                  <a16:creationId xmlns:a16="http://schemas.microsoft.com/office/drawing/2014/main" id="{A051430E-FBC1-4127-B578-4C2BE3309170}"/>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60" name="Freeform 5">
              <a:extLst>
                <a:ext uri="{FF2B5EF4-FFF2-40B4-BE49-F238E27FC236}">
                  <a16:creationId xmlns:a16="http://schemas.microsoft.com/office/drawing/2014/main" id="{787D4C6F-7FE7-4985-8414-6EEDDF4C2933}"/>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63" name="矩形 2">
            <a:extLst>
              <a:ext uri="{FF2B5EF4-FFF2-40B4-BE49-F238E27FC236}">
                <a16:creationId xmlns:a16="http://schemas.microsoft.com/office/drawing/2014/main" id="{8B3D8797-7D52-40E5-9B33-7E2A68A534D1}"/>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67" name="图片 3" descr="重庆邮电大学标准校徽 (1)">
            <a:extLst>
              <a:ext uri="{FF2B5EF4-FFF2-40B4-BE49-F238E27FC236}">
                <a16:creationId xmlns:a16="http://schemas.microsoft.com/office/drawing/2014/main" id="{7D1D586F-13D0-4BC2-98C5-97DC1D7C3CDA}"/>
              </a:ext>
            </a:extLst>
          </p:cNvPr>
          <p:cNvPicPr>
            <a:picLocks noChangeAspect="1"/>
          </p:cNvPicPr>
          <p:nvPr/>
        </p:nvPicPr>
        <p:blipFill>
          <a:blip r:embed="rId23"/>
          <a:stretch>
            <a:fillRect/>
          </a:stretch>
        </p:blipFill>
        <p:spPr>
          <a:xfrm>
            <a:off x="549659" y="190896"/>
            <a:ext cx="612897" cy="612897"/>
          </a:xfrm>
          <a:prstGeom prst="rect">
            <a:avLst/>
          </a:prstGeom>
        </p:spPr>
      </p:pic>
    </p:spTree>
    <p:extLst>
      <p:ext uri="{BB962C8B-B14F-4D97-AF65-F5344CB8AC3E}">
        <p14:creationId xmlns:p14="http://schemas.microsoft.com/office/powerpoint/2010/main" val="47073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fade">
                                      <p:cBhvr>
                                        <p:cTn id="12" dur="500"/>
                                        <p:tgtEl>
                                          <p:spTgt spid="62"/>
                                        </p:tgtEl>
                                      </p:cBhvr>
                                    </p:animEffect>
                                  </p:childTnLst>
                                </p:cTn>
                              </p:par>
                              <p:par>
                                <p:cTn id="13" presetID="10" presetClass="entr" presetSubtype="0" fill="hold" nodeType="withEffect">
                                  <p:stCondLst>
                                    <p:cond delay="0"/>
                                  </p:stCondLst>
                                  <p:childTnLst>
                                    <p:set>
                                      <p:cBhvr>
                                        <p:cTn id="14" dur="1" fill="hold">
                                          <p:stCondLst>
                                            <p:cond delay="0"/>
                                          </p:stCondLst>
                                        </p:cTn>
                                        <p:tgtEl>
                                          <p:spTgt spid="90"/>
                                        </p:tgtEl>
                                        <p:attrNameLst>
                                          <p:attrName>style.visibility</p:attrName>
                                        </p:attrNameLst>
                                      </p:cBhvr>
                                      <p:to>
                                        <p:strVal val="visible"/>
                                      </p:to>
                                    </p:set>
                                    <p:animEffect transition="in" filter="fade">
                                      <p:cBhvr>
                                        <p:cTn id="15" dur="500"/>
                                        <p:tgtEl>
                                          <p:spTgt spid="90"/>
                                        </p:tgtEl>
                                      </p:cBhvr>
                                    </p:animEffect>
                                  </p:childTnLst>
                                </p:cTn>
                              </p:par>
                              <p:par>
                                <p:cTn id="16" presetID="10" presetClass="entr" presetSubtype="0" fill="hold" nodeType="withEffect">
                                  <p:stCondLst>
                                    <p:cond delay="0"/>
                                  </p:stCondLst>
                                  <p:childTnLst>
                                    <p:set>
                                      <p:cBhvr>
                                        <p:cTn id="17" dur="1" fill="hold">
                                          <p:stCondLst>
                                            <p:cond delay="0"/>
                                          </p:stCondLst>
                                        </p:cTn>
                                        <p:tgtEl>
                                          <p:spTgt spid="93"/>
                                        </p:tgtEl>
                                        <p:attrNameLst>
                                          <p:attrName>style.visibility</p:attrName>
                                        </p:attrNameLst>
                                      </p:cBhvr>
                                      <p:to>
                                        <p:strVal val="visible"/>
                                      </p:to>
                                    </p:set>
                                    <p:animEffect transition="in" filter="fade">
                                      <p:cBhvr>
                                        <p:cTn id="18" dur="500"/>
                                        <p:tgtEl>
                                          <p:spTgt spid="9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62"/>
                                        </p:tgtEl>
                                      </p:cBhvr>
                                    </p:animEffect>
                                    <p:set>
                                      <p:cBhvr>
                                        <p:cTn id="23" dur="1" fill="hold">
                                          <p:stCondLst>
                                            <p:cond delay="499"/>
                                          </p:stCondLst>
                                        </p:cTn>
                                        <p:tgtEl>
                                          <p:spTgt spid="62"/>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93"/>
                                        </p:tgtEl>
                                      </p:cBhvr>
                                    </p:animEffect>
                                    <p:set>
                                      <p:cBhvr>
                                        <p:cTn id="26" dur="1" fill="hold">
                                          <p:stCondLst>
                                            <p:cond delay="499"/>
                                          </p:stCondLst>
                                        </p:cTn>
                                        <p:tgtEl>
                                          <p:spTgt spid="9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fade">
                                      <p:cBhvr>
                                        <p:cTn id="31" dur="500"/>
                                        <p:tgtEl>
                                          <p:spTgt spid="6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66"/>
                                        </p:tgtEl>
                                      </p:cBhvr>
                                    </p:animEffect>
                                    <p:set>
                                      <p:cBhvr>
                                        <p:cTn id="36" dur="1" fill="hold">
                                          <p:stCondLst>
                                            <p:cond delay="499"/>
                                          </p:stCondLst>
                                        </p:cTn>
                                        <p:tgtEl>
                                          <p:spTgt spid="66"/>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14"/>
                                        </p:tgtEl>
                                        <p:attrNameLst>
                                          <p:attrName>style.visibility</p:attrName>
                                        </p:attrNameLst>
                                      </p:cBhvr>
                                      <p:to>
                                        <p:strVal val="visible"/>
                                      </p:to>
                                    </p:set>
                                    <p:animEffect transition="in" filter="fade">
                                      <p:cBhvr>
                                        <p:cTn id="41" dur="500"/>
                                        <p:tgtEl>
                                          <p:spTgt spid="1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15"/>
                                        </p:tgtEl>
                                        <p:attrNameLst>
                                          <p:attrName>style.visibility</p:attrName>
                                        </p:attrNameLst>
                                      </p:cBhvr>
                                      <p:to>
                                        <p:strVal val="visible"/>
                                      </p:to>
                                    </p:set>
                                    <p:animEffect transition="in" filter="fade">
                                      <p:cBhvr>
                                        <p:cTn id="46" dur="500"/>
                                        <p:tgtEl>
                                          <p:spTgt spid="115"/>
                                        </p:tgtEl>
                                      </p:cBhvr>
                                    </p:animEffect>
                                  </p:childTnLst>
                                </p:cTn>
                              </p:par>
                              <p:par>
                                <p:cTn id="47" presetID="10" presetClass="entr" presetSubtype="0" fill="hold" nodeType="withEffect">
                                  <p:stCondLst>
                                    <p:cond delay="0"/>
                                  </p:stCondLst>
                                  <p:childTnLst>
                                    <p:set>
                                      <p:cBhvr>
                                        <p:cTn id="48" dur="1" fill="hold">
                                          <p:stCondLst>
                                            <p:cond delay="0"/>
                                          </p:stCondLst>
                                        </p:cTn>
                                        <p:tgtEl>
                                          <p:spTgt spid="120"/>
                                        </p:tgtEl>
                                        <p:attrNameLst>
                                          <p:attrName>style.visibility</p:attrName>
                                        </p:attrNameLst>
                                      </p:cBhvr>
                                      <p:to>
                                        <p:strVal val="visible"/>
                                      </p:to>
                                    </p:set>
                                    <p:animEffect transition="in" filter="fade">
                                      <p:cBhvr>
                                        <p:cTn id="49" dur="500"/>
                                        <p:tgtEl>
                                          <p:spTgt spid="12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500"/>
                                        <p:tgtEl>
                                          <p:spTgt spid="115"/>
                                        </p:tgtEl>
                                      </p:cBhvr>
                                    </p:animEffect>
                                    <p:set>
                                      <p:cBhvr>
                                        <p:cTn id="54" dur="1" fill="hold">
                                          <p:stCondLst>
                                            <p:cond delay="499"/>
                                          </p:stCondLst>
                                        </p:cTn>
                                        <p:tgtEl>
                                          <p:spTgt spid="115"/>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120"/>
                                        </p:tgtEl>
                                      </p:cBhvr>
                                    </p:animEffect>
                                    <p:set>
                                      <p:cBhvr>
                                        <p:cTn id="57" dur="1" fill="hold">
                                          <p:stCondLst>
                                            <p:cond delay="499"/>
                                          </p:stCondLst>
                                        </p:cTn>
                                        <p:tgtEl>
                                          <p:spTgt spid="12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30"/>
                                        </p:tgtEl>
                                        <p:attrNameLst>
                                          <p:attrName>style.visibility</p:attrName>
                                        </p:attrNameLst>
                                      </p:cBhvr>
                                      <p:to>
                                        <p:strVal val="visible"/>
                                      </p:to>
                                    </p:set>
                                    <p:animEffect transition="in" filter="fade">
                                      <p:cBhvr>
                                        <p:cTn id="62" dur="500"/>
                                        <p:tgtEl>
                                          <p:spTgt spid="13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29"/>
                                        </p:tgtEl>
                                        <p:attrNameLst>
                                          <p:attrName>style.visibility</p:attrName>
                                        </p:attrNameLst>
                                      </p:cBhvr>
                                      <p:to>
                                        <p:strVal val="visible"/>
                                      </p:to>
                                    </p:set>
                                    <p:animEffect transition="in" filter="fade">
                                      <p:cBhvr>
                                        <p:cTn id="67"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F1CD8D-D75E-4271-9158-A645094549D5}"/>
              </a:ext>
            </a:extLst>
          </p:cNvPr>
          <p:cNvSpPr txBox="1"/>
          <p:nvPr/>
        </p:nvSpPr>
        <p:spPr>
          <a:xfrm>
            <a:off x="651639" y="1130689"/>
            <a:ext cx="4655615" cy="369332"/>
          </a:xfrm>
          <a:prstGeom prst="rect">
            <a:avLst/>
          </a:prstGeom>
          <a:noFill/>
        </p:spPr>
        <p:txBody>
          <a:bodyPr wrap="square">
            <a:spAutoFit/>
          </a:bodyPr>
          <a:lstStyle/>
          <a:p>
            <a:r>
              <a:rPr lang="en-US" b="1" dirty="0"/>
              <a:t>Client </a:t>
            </a:r>
            <a:r>
              <a:rPr lang="en-US" b="1" dirty="0" err="1"/>
              <a:t>streamingly</a:t>
            </a:r>
            <a:r>
              <a:rPr lang="en-US" b="1" dirty="0"/>
              <a:t> downloads DB chunks:</a:t>
            </a:r>
            <a:endParaRPr lang="en-US" b="1" baseline="30000" dirty="0"/>
          </a:p>
        </p:txBody>
      </p:sp>
      <p:grpSp>
        <p:nvGrpSpPr>
          <p:cNvPr id="12" name="Группа 11">
            <a:extLst>
              <a:ext uri="{FF2B5EF4-FFF2-40B4-BE49-F238E27FC236}">
                <a16:creationId xmlns:a16="http://schemas.microsoft.com/office/drawing/2014/main" id="{5DCADE27-F073-43F3-84F6-2F690B571A5C}"/>
              </a:ext>
            </a:extLst>
          </p:cNvPr>
          <p:cNvGrpSpPr/>
          <p:nvPr/>
        </p:nvGrpSpPr>
        <p:grpSpPr>
          <a:xfrm>
            <a:off x="733425" y="1691592"/>
            <a:ext cx="6747743" cy="3526761"/>
            <a:chOff x="733425" y="2066925"/>
            <a:chExt cx="6747743" cy="3526761"/>
          </a:xfrm>
        </p:grpSpPr>
        <p:pic>
          <p:nvPicPr>
            <p:cNvPr id="6" name="Рисунок 5">
              <a:extLst>
                <a:ext uri="{FF2B5EF4-FFF2-40B4-BE49-F238E27FC236}">
                  <a16:creationId xmlns:a16="http://schemas.microsoft.com/office/drawing/2014/main" id="{36F448D1-434F-4751-8053-9CDA61221C65}"/>
                </a:ext>
              </a:extLst>
            </p:cNvPr>
            <p:cNvPicPr>
              <a:picLocks noChangeAspect="1"/>
            </p:cNvPicPr>
            <p:nvPr/>
          </p:nvPicPr>
          <p:blipFill>
            <a:blip r:embed="rId3"/>
            <a:stretch>
              <a:fillRect/>
            </a:stretch>
          </p:blipFill>
          <p:spPr>
            <a:xfrm>
              <a:off x="733425" y="2066925"/>
              <a:ext cx="2156920" cy="2156920"/>
            </a:xfrm>
            <a:prstGeom prst="rect">
              <a:avLst/>
            </a:prstGeom>
          </p:spPr>
        </p:pic>
        <p:pic>
          <p:nvPicPr>
            <p:cNvPr id="8" name="Рисунок 7">
              <a:extLst>
                <a:ext uri="{FF2B5EF4-FFF2-40B4-BE49-F238E27FC236}">
                  <a16:creationId xmlns:a16="http://schemas.microsoft.com/office/drawing/2014/main" id="{99BDB060-7180-424A-887E-AE3563C66227}"/>
                </a:ext>
              </a:extLst>
            </p:cNvPr>
            <p:cNvPicPr>
              <a:picLocks noChangeAspect="1"/>
            </p:cNvPicPr>
            <p:nvPr/>
          </p:nvPicPr>
          <p:blipFill>
            <a:blip r:embed="rId4"/>
            <a:stretch>
              <a:fillRect/>
            </a:stretch>
          </p:blipFill>
          <p:spPr>
            <a:xfrm>
              <a:off x="3152055" y="2066926"/>
              <a:ext cx="4329113" cy="3526760"/>
            </a:xfrm>
            <a:prstGeom prst="rect">
              <a:avLst/>
            </a:prstGeom>
          </p:spPr>
        </p:pic>
        <p:pic>
          <p:nvPicPr>
            <p:cNvPr id="10" name="Рисунок 9">
              <a:extLst>
                <a:ext uri="{FF2B5EF4-FFF2-40B4-BE49-F238E27FC236}">
                  <a16:creationId xmlns:a16="http://schemas.microsoft.com/office/drawing/2014/main" id="{31187F01-BD53-43DC-956F-70E57B7184F9}"/>
                </a:ext>
              </a:extLst>
            </p:cNvPr>
            <p:cNvPicPr>
              <a:picLocks noChangeAspect="1"/>
            </p:cNvPicPr>
            <p:nvPr/>
          </p:nvPicPr>
          <p:blipFill>
            <a:blip r:embed="rId5"/>
            <a:stretch>
              <a:fillRect/>
            </a:stretch>
          </p:blipFill>
          <p:spPr>
            <a:xfrm>
              <a:off x="733425" y="4397975"/>
              <a:ext cx="2156919" cy="386191"/>
            </a:xfrm>
            <a:prstGeom prst="rect">
              <a:avLst/>
            </a:prstGeom>
          </p:spPr>
        </p:pic>
      </p:grpSp>
      <p:grpSp>
        <p:nvGrpSpPr>
          <p:cNvPr id="97" name="Группа 96">
            <a:extLst>
              <a:ext uri="{FF2B5EF4-FFF2-40B4-BE49-F238E27FC236}">
                <a16:creationId xmlns:a16="http://schemas.microsoft.com/office/drawing/2014/main" id="{6855F121-5F70-40C8-923E-A5899EAE6090}"/>
              </a:ext>
            </a:extLst>
          </p:cNvPr>
          <p:cNvGrpSpPr/>
          <p:nvPr/>
        </p:nvGrpSpPr>
        <p:grpSpPr>
          <a:xfrm>
            <a:off x="332429" y="5668718"/>
            <a:ext cx="3061043" cy="484946"/>
            <a:chOff x="332429" y="6642556"/>
            <a:chExt cx="3061043" cy="484946"/>
          </a:xfrm>
        </p:grpSpPr>
        <p:sp>
          <p:nvSpPr>
            <p:cNvPr id="35" name="TextBox 34">
              <a:extLst>
                <a:ext uri="{FF2B5EF4-FFF2-40B4-BE49-F238E27FC236}">
                  <a16:creationId xmlns:a16="http://schemas.microsoft.com/office/drawing/2014/main" id="{B2FA1D4D-E715-464C-9522-2A7A477C5DAA}"/>
                </a:ext>
              </a:extLst>
            </p:cNvPr>
            <p:cNvSpPr txBox="1"/>
            <p:nvPr/>
          </p:nvSpPr>
          <p:spPr>
            <a:xfrm>
              <a:off x="438533" y="6642556"/>
              <a:ext cx="2954939" cy="215444"/>
            </a:xfrm>
            <a:prstGeom prst="rect">
              <a:avLst/>
            </a:prstGeom>
            <a:noFill/>
          </p:spPr>
          <p:txBody>
            <a:bodyPr wrap="square" lIns="0" tIns="0" rIns="0" bIns="0" rtlCol="0">
              <a:spAutoFit/>
            </a:bodyPr>
            <a:lstStyle/>
            <a:p>
              <a:r>
                <a:rPr lang="en-US" sz="1400" dirty="0"/>
                <a:t>Parameters group:</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60FD4B9-6208-488B-9EA9-CE41DC35C416}"/>
                    </a:ext>
                  </a:extLst>
                </p:cNvPr>
                <p:cNvSpPr txBox="1"/>
                <p:nvPr/>
              </p:nvSpPr>
              <p:spPr>
                <a:xfrm>
                  <a:off x="332429" y="6912058"/>
                  <a:ext cx="2660024" cy="215444"/>
                </a:xfrm>
                <a:prstGeom prst="rect">
                  <a:avLst/>
                </a:prstGeom>
                <a:noFill/>
              </p:spPr>
              <p:txBody>
                <a:bodyPr wrap="none" lIns="0" tIns="0" rIns="0" bIns="0" rtlCol="0">
                  <a:spAutoFit/>
                </a:bodyPr>
                <a:lstStyle/>
                <a:p>
                  <a14:m>
                    <m:oMath xmlns:m="http://schemas.openxmlformats.org/officeDocument/2006/math">
                      <m:r>
                        <a:rPr lang="en-US" sz="1400" b="0" i="1" smtClean="0">
                          <a:latin typeface="Cambria Math" panose="02040503050406030204" pitchFamily="18" charset="0"/>
                        </a:rPr>
                        <m:t>𝑛</m:t>
                      </m:r>
                      <m:r>
                        <a:rPr lang="en-US" sz="1400" b="0" i="1" smtClean="0">
                          <a:latin typeface="Cambria Math" panose="02040503050406030204" pitchFamily="18" charset="0"/>
                        </a:rPr>
                        <m:t>=16</m:t>
                      </m:r>
                      <m:r>
                        <a:rPr lang="en-US" sz="1400" b="0" i="0" smtClean="0">
                          <a:latin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rPr>
                            <m:t>𝑀</m:t>
                          </m:r>
                        </m:e>
                        <m:sub>
                          <m:r>
                            <a:rPr lang="en-US" sz="1400" i="1">
                              <a:latin typeface="Cambria Math" panose="02040503050406030204" pitchFamily="18" charset="0"/>
                            </a:rPr>
                            <m:t>1</m:t>
                          </m:r>
                        </m:sub>
                      </m:sSub>
                      <m:r>
                        <a:rPr lang="en-US" sz="1400" b="0" i="1" smtClean="0">
                          <a:latin typeface="Cambria Math" panose="02040503050406030204" pitchFamily="18" charset="0"/>
                        </a:rPr>
                        <m:t>=6</m:t>
                      </m:r>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𝑀</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=2</m:t>
                      </m:r>
                    </m:oMath>
                  </a14:m>
                  <a:r>
                    <a:rPr lang="en-US" sz="1400" dirty="0"/>
                    <a:t> and </a:t>
                  </a:r>
                  <a14:m>
                    <m:oMath xmlns:m="http://schemas.openxmlformats.org/officeDocument/2006/math">
                      <m:r>
                        <a:rPr lang="en-US" sz="1400" i="1">
                          <a:latin typeface="Cambria Math" panose="02040503050406030204" pitchFamily="18" charset="0"/>
                        </a:rPr>
                        <m:t>𝑄</m:t>
                      </m:r>
                      <m:r>
                        <a:rPr lang="en-US" sz="1400" b="0" i="1" smtClean="0">
                          <a:latin typeface="Cambria Math" panose="02040503050406030204" pitchFamily="18" charset="0"/>
                        </a:rPr>
                        <m:t>=4</m:t>
                      </m:r>
                    </m:oMath>
                  </a14:m>
                  <a:r>
                    <a:rPr lang="en-US" sz="1400" dirty="0"/>
                    <a:t> </a:t>
                  </a:r>
                </a:p>
              </p:txBody>
            </p:sp>
          </mc:Choice>
          <mc:Fallback xmlns="">
            <p:sp>
              <p:nvSpPr>
                <p:cNvPr id="36" name="TextBox 35">
                  <a:extLst>
                    <a:ext uri="{FF2B5EF4-FFF2-40B4-BE49-F238E27FC236}">
                      <a16:creationId xmlns:a16="http://schemas.microsoft.com/office/drawing/2014/main" id="{060FD4B9-6208-488B-9EA9-CE41DC35C416}"/>
                    </a:ext>
                  </a:extLst>
                </p:cNvPr>
                <p:cNvSpPr txBox="1">
                  <a:spLocks noRot="1" noChangeAspect="1" noMove="1" noResize="1" noEditPoints="1" noAdjustHandles="1" noChangeArrowheads="1" noChangeShapeType="1" noTextEdit="1"/>
                </p:cNvSpPr>
                <p:nvPr/>
              </p:nvSpPr>
              <p:spPr>
                <a:xfrm>
                  <a:off x="332429" y="6912058"/>
                  <a:ext cx="2660024" cy="215444"/>
                </a:xfrm>
                <a:prstGeom prst="rect">
                  <a:avLst/>
                </a:prstGeom>
                <a:blipFill>
                  <a:blip r:embed="rId6"/>
                  <a:stretch>
                    <a:fillRect l="-1835" t="-28571" b="-51429"/>
                  </a:stretch>
                </a:blipFill>
              </p:spPr>
              <p:txBody>
                <a:bodyPr/>
                <a:lstStyle/>
                <a:p>
                  <a:r>
                    <a:rPr lang="en-US">
                      <a:noFill/>
                    </a:rPr>
                    <a:t> </a:t>
                  </a:r>
                </a:p>
              </p:txBody>
            </p:sp>
          </mc:Fallback>
        </mc:AlternateContent>
      </p:grpSp>
      <p:grpSp>
        <p:nvGrpSpPr>
          <p:cNvPr id="43" name="Группа 42">
            <a:extLst>
              <a:ext uri="{FF2B5EF4-FFF2-40B4-BE49-F238E27FC236}">
                <a16:creationId xmlns:a16="http://schemas.microsoft.com/office/drawing/2014/main" id="{52284F9C-0B6D-4C6E-ADEC-B49272D7D513}"/>
              </a:ext>
            </a:extLst>
          </p:cNvPr>
          <p:cNvGrpSpPr/>
          <p:nvPr/>
        </p:nvGrpSpPr>
        <p:grpSpPr>
          <a:xfrm>
            <a:off x="7739093" y="1372617"/>
            <a:ext cx="4332897" cy="1666447"/>
            <a:chOff x="7739093" y="1747950"/>
            <a:chExt cx="4332897" cy="1666447"/>
          </a:xfrm>
        </p:grpSpPr>
        <p:pic>
          <p:nvPicPr>
            <p:cNvPr id="28" name="Рисунок 27">
              <a:extLst>
                <a:ext uri="{FF2B5EF4-FFF2-40B4-BE49-F238E27FC236}">
                  <a16:creationId xmlns:a16="http://schemas.microsoft.com/office/drawing/2014/main" id="{E61AA28C-3E9C-49C6-9BE5-BC0B21DFE6CC}"/>
                </a:ext>
              </a:extLst>
            </p:cNvPr>
            <p:cNvPicPr>
              <a:picLocks noChangeAspect="1"/>
            </p:cNvPicPr>
            <p:nvPr/>
          </p:nvPicPr>
          <p:blipFill>
            <a:blip r:embed="rId7"/>
            <a:stretch>
              <a:fillRect/>
            </a:stretch>
          </p:blipFill>
          <p:spPr>
            <a:xfrm>
              <a:off x="7739093" y="2066926"/>
              <a:ext cx="4332897" cy="354444"/>
            </a:xfrm>
            <a:prstGeom prst="rect">
              <a:avLst/>
            </a:prstGeom>
          </p:spPr>
        </p:pic>
        <p:pic>
          <p:nvPicPr>
            <p:cNvPr id="30" name="Рисунок 29">
              <a:extLst>
                <a:ext uri="{FF2B5EF4-FFF2-40B4-BE49-F238E27FC236}">
                  <a16:creationId xmlns:a16="http://schemas.microsoft.com/office/drawing/2014/main" id="{DC923916-88B5-450A-8B89-C85EDF30AF82}"/>
                </a:ext>
              </a:extLst>
            </p:cNvPr>
            <p:cNvPicPr>
              <a:picLocks noChangeAspect="1"/>
            </p:cNvPicPr>
            <p:nvPr/>
          </p:nvPicPr>
          <p:blipFill>
            <a:blip r:embed="rId8"/>
            <a:stretch>
              <a:fillRect/>
            </a:stretch>
          </p:blipFill>
          <p:spPr>
            <a:xfrm>
              <a:off x="7739093" y="2472626"/>
              <a:ext cx="2954939" cy="217663"/>
            </a:xfrm>
            <a:prstGeom prst="rect">
              <a:avLst/>
            </a:prstGeom>
          </p:spPr>
        </p:pic>
        <p:pic>
          <p:nvPicPr>
            <p:cNvPr id="32" name="Рисунок 31">
              <a:extLst>
                <a:ext uri="{FF2B5EF4-FFF2-40B4-BE49-F238E27FC236}">
                  <a16:creationId xmlns:a16="http://schemas.microsoft.com/office/drawing/2014/main" id="{73CEB605-75BC-402F-9931-B1F1E32989F8}"/>
                </a:ext>
              </a:extLst>
            </p:cNvPr>
            <p:cNvPicPr>
              <a:picLocks noChangeAspect="1"/>
            </p:cNvPicPr>
            <p:nvPr/>
          </p:nvPicPr>
          <p:blipFill>
            <a:blip r:embed="rId9"/>
            <a:stretch>
              <a:fillRect/>
            </a:stretch>
          </p:blipFill>
          <p:spPr>
            <a:xfrm>
              <a:off x="7739094" y="2690289"/>
              <a:ext cx="4267200" cy="331076"/>
            </a:xfrm>
            <a:prstGeom prst="rect">
              <a:avLst/>
            </a:prstGeom>
          </p:spPr>
        </p:pic>
        <p:pic>
          <p:nvPicPr>
            <p:cNvPr id="41" name="Рисунок 40">
              <a:extLst>
                <a:ext uri="{FF2B5EF4-FFF2-40B4-BE49-F238E27FC236}">
                  <a16:creationId xmlns:a16="http://schemas.microsoft.com/office/drawing/2014/main" id="{851AE4B1-5173-4D4A-9AC9-9402092A8C39}"/>
                </a:ext>
              </a:extLst>
            </p:cNvPr>
            <p:cNvPicPr>
              <a:picLocks noChangeAspect="1"/>
            </p:cNvPicPr>
            <p:nvPr/>
          </p:nvPicPr>
          <p:blipFill>
            <a:blip r:embed="rId10"/>
            <a:stretch>
              <a:fillRect/>
            </a:stretch>
          </p:blipFill>
          <p:spPr>
            <a:xfrm>
              <a:off x="7739093" y="3061857"/>
              <a:ext cx="4267201" cy="352540"/>
            </a:xfrm>
            <a:prstGeom prst="rect">
              <a:avLst/>
            </a:prstGeom>
          </p:spPr>
        </p:pic>
        <p:sp>
          <p:nvSpPr>
            <p:cNvPr id="42" name="TextBox 41">
              <a:extLst>
                <a:ext uri="{FF2B5EF4-FFF2-40B4-BE49-F238E27FC236}">
                  <a16:creationId xmlns:a16="http://schemas.microsoft.com/office/drawing/2014/main" id="{977868E1-B3B4-4C94-9955-0D48E6F90258}"/>
                </a:ext>
              </a:extLst>
            </p:cNvPr>
            <p:cNvSpPr txBox="1"/>
            <p:nvPr/>
          </p:nvSpPr>
          <p:spPr>
            <a:xfrm>
              <a:off x="7739093" y="1747950"/>
              <a:ext cx="2954939" cy="215444"/>
            </a:xfrm>
            <a:prstGeom prst="rect">
              <a:avLst/>
            </a:prstGeom>
            <a:noFill/>
          </p:spPr>
          <p:txBody>
            <a:bodyPr wrap="square" lIns="0" tIns="0" rIns="0" bIns="0" rtlCol="0">
              <a:spAutoFit/>
            </a:bodyPr>
            <a:lstStyle/>
            <a:p>
              <a:r>
                <a:rPr lang="en-US" sz="1400" dirty="0"/>
                <a:t>Offline preprocessing algorithm:</a:t>
              </a:r>
            </a:p>
          </p:txBody>
        </p:sp>
      </p:grpSp>
      <p:pic>
        <p:nvPicPr>
          <p:cNvPr id="16" name="Рисунок 15">
            <a:extLst>
              <a:ext uri="{FF2B5EF4-FFF2-40B4-BE49-F238E27FC236}">
                <a16:creationId xmlns:a16="http://schemas.microsoft.com/office/drawing/2014/main" id="{0D6FF68F-9843-4EB0-AAE6-52085BAD7806}"/>
              </a:ext>
            </a:extLst>
          </p:cNvPr>
          <p:cNvPicPr>
            <a:picLocks noChangeAspect="1"/>
          </p:cNvPicPr>
          <p:nvPr/>
        </p:nvPicPr>
        <p:blipFill>
          <a:blip r:embed="rId11"/>
          <a:stretch>
            <a:fillRect/>
          </a:stretch>
        </p:blipFill>
        <p:spPr>
          <a:xfrm>
            <a:off x="733426" y="1688301"/>
            <a:ext cx="2156920" cy="2139479"/>
          </a:xfrm>
          <a:prstGeom prst="rect">
            <a:avLst/>
          </a:prstGeom>
        </p:spPr>
      </p:pic>
      <p:sp>
        <p:nvSpPr>
          <p:cNvPr id="37" name="TextBox 36">
            <a:extLst>
              <a:ext uri="{FF2B5EF4-FFF2-40B4-BE49-F238E27FC236}">
                <a16:creationId xmlns:a16="http://schemas.microsoft.com/office/drawing/2014/main" id="{0A750F9E-B194-4047-8735-10915633B8B7}"/>
              </a:ext>
            </a:extLst>
          </p:cNvPr>
          <p:cNvSpPr txBox="1"/>
          <p:nvPr/>
        </p:nvSpPr>
        <p:spPr>
          <a:xfrm>
            <a:off x="7739093" y="3410632"/>
            <a:ext cx="2954939" cy="215444"/>
          </a:xfrm>
          <a:prstGeom prst="rect">
            <a:avLst/>
          </a:prstGeom>
          <a:noFill/>
        </p:spPr>
        <p:txBody>
          <a:bodyPr wrap="square" lIns="0" tIns="0" rIns="0" bIns="0" rtlCol="0">
            <a:spAutoFit/>
          </a:bodyPr>
          <a:lstStyle/>
          <a:p>
            <a:r>
              <a:rPr lang="en-US" sz="1400" dirty="0"/>
              <a:t>Current chunk XOR operations:</a:t>
            </a:r>
          </a:p>
        </p:txBody>
      </p:sp>
      <p:grpSp>
        <p:nvGrpSpPr>
          <p:cNvPr id="62" name="Группа 61">
            <a:extLst>
              <a:ext uri="{FF2B5EF4-FFF2-40B4-BE49-F238E27FC236}">
                <a16:creationId xmlns:a16="http://schemas.microsoft.com/office/drawing/2014/main" id="{9ECD738B-1AF2-446F-A415-77B3F01DA440}"/>
              </a:ext>
            </a:extLst>
          </p:cNvPr>
          <p:cNvGrpSpPr/>
          <p:nvPr/>
        </p:nvGrpSpPr>
        <p:grpSpPr>
          <a:xfrm>
            <a:off x="442846" y="1130689"/>
            <a:ext cx="11629144" cy="4255426"/>
            <a:chOff x="-2862144" y="4730287"/>
            <a:chExt cx="11629144" cy="4255426"/>
          </a:xfrm>
        </p:grpSpPr>
        <p:pic>
          <p:nvPicPr>
            <p:cNvPr id="14" name="Рисунок 13">
              <a:extLst>
                <a:ext uri="{FF2B5EF4-FFF2-40B4-BE49-F238E27FC236}">
                  <a16:creationId xmlns:a16="http://schemas.microsoft.com/office/drawing/2014/main" id="{87EAE57B-8403-45E9-8878-1CD0317A0DBD}"/>
                </a:ext>
              </a:extLst>
            </p:cNvPr>
            <p:cNvPicPr>
              <a:picLocks noChangeAspect="1"/>
            </p:cNvPicPr>
            <p:nvPr/>
          </p:nvPicPr>
          <p:blipFill>
            <a:blip r:embed="rId12"/>
            <a:stretch>
              <a:fillRect/>
            </a:stretch>
          </p:blipFill>
          <p:spPr>
            <a:xfrm>
              <a:off x="-156719" y="5287899"/>
              <a:ext cx="4332897" cy="3524250"/>
            </a:xfrm>
            <a:prstGeom prst="rect">
              <a:avLst/>
            </a:prstGeom>
          </p:spPr>
        </p:pic>
        <p:sp>
          <p:nvSpPr>
            <p:cNvPr id="17" name="TextBox 16">
              <a:extLst>
                <a:ext uri="{FF2B5EF4-FFF2-40B4-BE49-F238E27FC236}">
                  <a16:creationId xmlns:a16="http://schemas.microsoft.com/office/drawing/2014/main" id="{35EC8EB3-7B23-47B2-807B-97E20272CCD6}"/>
                </a:ext>
              </a:extLst>
            </p:cNvPr>
            <p:cNvSpPr txBox="1"/>
            <p:nvPr/>
          </p:nvSpPr>
          <p:spPr>
            <a:xfrm>
              <a:off x="-2655418" y="4730287"/>
              <a:ext cx="4655615" cy="369332"/>
            </a:xfrm>
            <a:prstGeom prst="rect">
              <a:avLst/>
            </a:prstGeom>
            <a:noFill/>
          </p:spPr>
          <p:txBody>
            <a:bodyPr wrap="square">
              <a:spAutoFit/>
            </a:bodyPr>
            <a:lstStyle/>
            <a:p>
              <a:r>
                <a:rPr lang="en-US" b="1" dirty="0"/>
                <a:t>Streaming chunk 0 [0…3]:</a:t>
              </a:r>
              <a:endParaRPr lang="en-US" b="1" baseline="30000" dirty="0"/>
            </a:p>
          </p:txBody>
        </p:sp>
        <p:grpSp>
          <p:nvGrpSpPr>
            <p:cNvPr id="26" name="Группа 25">
              <a:extLst>
                <a:ext uri="{FF2B5EF4-FFF2-40B4-BE49-F238E27FC236}">
                  <a16:creationId xmlns:a16="http://schemas.microsoft.com/office/drawing/2014/main" id="{00DAB3A2-271A-43A8-8A36-3943BEA555DF}"/>
                </a:ext>
              </a:extLst>
            </p:cNvPr>
            <p:cNvGrpSpPr/>
            <p:nvPr/>
          </p:nvGrpSpPr>
          <p:grpSpPr>
            <a:xfrm>
              <a:off x="4434103" y="7324738"/>
              <a:ext cx="4332897" cy="1660975"/>
              <a:chOff x="7739093" y="2066925"/>
              <a:chExt cx="4332897" cy="1660975"/>
            </a:xfrm>
          </p:grpSpPr>
          <p:pic>
            <p:nvPicPr>
              <p:cNvPr id="20" name="Рисунок 19">
                <a:extLst>
                  <a:ext uri="{FF2B5EF4-FFF2-40B4-BE49-F238E27FC236}">
                    <a16:creationId xmlns:a16="http://schemas.microsoft.com/office/drawing/2014/main" id="{E3B6F642-E465-4BE2-91E2-EF4527379556}"/>
                  </a:ext>
                </a:extLst>
              </p:cNvPr>
              <p:cNvPicPr>
                <a:picLocks noChangeAspect="1"/>
              </p:cNvPicPr>
              <p:nvPr/>
            </p:nvPicPr>
            <p:blipFill>
              <a:blip r:embed="rId13"/>
              <a:stretch>
                <a:fillRect/>
              </a:stretch>
            </p:blipFill>
            <p:spPr>
              <a:xfrm>
                <a:off x="7739093" y="2066925"/>
                <a:ext cx="4332897" cy="501704"/>
              </a:xfrm>
              <a:prstGeom prst="rect">
                <a:avLst/>
              </a:prstGeom>
            </p:spPr>
          </p:pic>
          <p:pic>
            <p:nvPicPr>
              <p:cNvPr id="22" name="Рисунок 21">
                <a:extLst>
                  <a:ext uri="{FF2B5EF4-FFF2-40B4-BE49-F238E27FC236}">
                    <a16:creationId xmlns:a16="http://schemas.microsoft.com/office/drawing/2014/main" id="{C24BAD4E-A99B-49BD-B5AF-F9321BC2895C}"/>
                  </a:ext>
                </a:extLst>
              </p:cNvPr>
              <p:cNvPicPr>
                <a:picLocks noChangeAspect="1"/>
              </p:cNvPicPr>
              <p:nvPr/>
            </p:nvPicPr>
            <p:blipFill>
              <a:blip r:embed="rId14"/>
              <a:stretch>
                <a:fillRect/>
              </a:stretch>
            </p:blipFill>
            <p:spPr>
              <a:xfrm>
                <a:off x="7739093" y="2696201"/>
                <a:ext cx="4332897" cy="627067"/>
              </a:xfrm>
              <a:prstGeom prst="rect">
                <a:avLst/>
              </a:prstGeom>
            </p:spPr>
          </p:pic>
          <p:pic>
            <p:nvPicPr>
              <p:cNvPr id="24" name="Рисунок 23">
                <a:extLst>
                  <a:ext uri="{FF2B5EF4-FFF2-40B4-BE49-F238E27FC236}">
                    <a16:creationId xmlns:a16="http://schemas.microsoft.com/office/drawing/2014/main" id="{2DB2F62A-E6FF-4110-859E-5F9254A3810F}"/>
                  </a:ext>
                </a:extLst>
              </p:cNvPr>
              <p:cNvPicPr>
                <a:picLocks noChangeAspect="1"/>
              </p:cNvPicPr>
              <p:nvPr/>
            </p:nvPicPr>
            <p:blipFill>
              <a:blip r:embed="rId15"/>
              <a:stretch>
                <a:fillRect/>
              </a:stretch>
            </p:blipFill>
            <p:spPr>
              <a:xfrm>
                <a:off x="7739093" y="3450840"/>
                <a:ext cx="4332897" cy="277060"/>
              </a:xfrm>
              <a:prstGeom prst="rect">
                <a:avLst/>
              </a:prstGeom>
            </p:spPr>
          </p:pic>
        </p:grpSp>
        <p:pic>
          <p:nvPicPr>
            <p:cNvPr id="46" name="Рисунок 45">
              <a:extLst>
                <a:ext uri="{FF2B5EF4-FFF2-40B4-BE49-F238E27FC236}">
                  <a16:creationId xmlns:a16="http://schemas.microsoft.com/office/drawing/2014/main" id="{AF4E517D-FC66-449F-865B-80D7C85E6517}"/>
                </a:ext>
              </a:extLst>
            </p:cNvPr>
            <p:cNvPicPr>
              <a:picLocks noChangeAspect="1"/>
            </p:cNvPicPr>
            <p:nvPr/>
          </p:nvPicPr>
          <p:blipFill>
            <a:blip r:embed="rId16"/>
            <a:stretch>
              <a:fillRect/>
            </a:stretch>
          </p:blipFill>
          <p:spPr>
            <a:xfrm>
              <a:off x="-2862144" y="7722448"/>
              <a:ext cx="2618386" cy="262812"/>
            </a:xfrm>
            <a:prstGeom prst="rect">
              <a:avLst/>
            </a:prstGeom>
          </p:spPr>
        </p:pic>
      </p:grpSp>
      <p:grpSp>
        <p:nvGrpSpPr>
          <p:cNvPr id="59" name="Группа 58">
            <a:extLst>
              <a:ext uri="{FF2B5EF4-FFF2-40B4-BE49-F238E27FC236}">
                <a16:creationId xmlns:a16="http://schemas.microsoft.com/office/drawing/2014/main" id="{4E514B87-A020-4C23-A236-F8E7DF020188}"/>
              </a:ext>
            </a:extLst>
          </p:cNvPr>
          <p:cNvGrpSpPr/>
          <p:nvPr/>
        </p:nvGrpSpPr>
        <p:grpSpPr>
          <a:xfrm>
            <a:off x="442846" y="1135065"/>
            <a:ext cx="11633457" cy="4251050"/>
            <a:chOff x="442847" y="1511493"/>
            <a:chExt cx="11633457" cy="4251050"/>
          </a:xfrm>
        </p:grpSpPr>
        <p:sp>
          <p:nvSpPr>
            <p:cNvPr id="44" name="TextBox 43">
              <a:extLst>
                <a:ext uri="{FF2B5EF4-FFF2-40B4-BE49-F238E27FC236}">
                  <a16:creationId xmlns:a16="http://schemas.microsoft.com/office/drawing/2014/main" id="{2A1E7043-781C-4901-BD12-6965CB6A2CED}"/>
                </a:ext>
              </a:extLst>
            </p:cNvPr>
            <p:cNvSpPr txBox="1"/>
            <p:nvPr/>
          </p:nvSpPr>
          <p:spPr>
            <a:xfrm>
              <a:off x="649571" y="1511493"/>
              <a:ext cx="4655615" cy="369332"/>
            </a:xfrm>
            <a:prstGeom prst="rect">
              <a:avLst/>
            </a:prstGeom>
            <a:noFill/>
          </p:spPr>
          <p:txBody>
            <a:bodyPr wrap="square">
              <a:spAutoFit/>
            </a:bodyPr>
            <a:lstStyle/>
            <a:p>
              <a:r>
                <a:rPr lang="en-US" b="1" dirty="0"/>
                <a:t>Streaming chunk 1 [4…7]:</a:t>
              </a:r>
              <a:endParaRPr lang="en-US" b="1" baseline="30000" dirty="0"/>
            </a:p>
          </p:txBody>
        </p:sp>
        <p:pic>
          <p:nvPicPr>
            <p:cNvPr id="50" name="Рисунок 49">
              <a:extLst>
                <a:ext uri="{FF2B5EF4-FFF2-40B4-BE49-F238E27FC236}">
                  <a16:creationId xmlns:a16="http://schemas.microsoft.com/office/drawing/2014/main" id="{6F6485ED-D6D2-4E4C-B497-5075FD2BD8D2}"/>
                </a:ext>
              </a:extLst>
            </p:cNvPr>
            <p:cNvPicPr>
              <a:picLocks noChangeAspect="1"/>
            </p:cNvPicPr>
            <p:nvPr/>
          </p:nvPicPr>
          <p:blipFill>
            <a:blip r:embed="rId17"/>
            <a:stretch>
              <a:fillRect/>
            </a:stretch>
          </p:blipFill>
          <p:spPr>
            <a:xfrm>
              <a:off x="3139949" y="2056940"/>
              <a:ext cx="4330477" cy="3526760"/>
            </a:xfrm>
            <a:prstGeom prst="rect">
              <a:avLst/>
            </a:prstGeom>
          </p:spPr>
        </p:pic>
        <p:pic>
          <p:nvPicPr>
            <p:cNvPr id="52" name="Рисунок 51">
              <a:extLst>
                <a:ext uri="{FF2B5EF4-FFF2-40B4-BE49-F238E27FC236}">
                  <a16:creationId xmlns:a16="http://schemas.microsoft.com/office/drawing/2014/main" id="{88870CC4-BE2A-4C56-9F50-F7585A2747E0}"/>
                </a:ext>
              </a:extLst>
            </p:cNvPr>
            <p:cNvPicPr>
              <a:picLocks noChangeAspect="1"/>
            </p:cNvPicPr>
            <p:nvPr/>
          </p:nvPicPr>
          <p:blipFill>
            <a:blip r:embed="rId18"/>
            <a:stretch>
              <a:fillRect/>
            </a:stretch>
          </p:blipFill>
          <p:spPr>
            <a:xfrm>
              <a:off x="7739093" y="4103598"/>
              <a:ext cx="4332898" cy="501704"/>
            </a:xfrm>
            <a:prstGeom prst="rect">
              <a:avLst/>
            </a:prstGeom>
          </p:spPr>
        </p:pic>
        <p:pic>
          <p:nvPicPr>
            <p:cNvPr id="54" name="Рисунок 53">
              <a:extLst>
                <a:ext uri="{FF2B5EF4-FFF2-40B4-BE49-F238E27FC236}">
                  <a16:creationId xmlns:a16="http://schemas.microsoft.com/office/drawing/2014/main" id="{4C7A13DB-FF04-4AC0-BEAD-F24DA5F65CC5}"/>
                </a:ext>
              </a:extLst>
            </p:cNvPr>
            <p:cNvPicPr>
              <a:picLocks noChangeAspect="1"/>
            </p:cNvPicPr>
            <p:nvPr/>
          </p:nvPicPr>
          <p:blipFill>
            <a:blip r:embed="rId19"/>
            <a:stretch>
              <a:fillRect/>
            </a:stretch>
          </p:blipFill>
          <p:spPr>
            <a:xfrm>
              <a:off x="7739093" y="4733040"/>
              <a:ext cx="4337211" cy="627067"/>
            </a:xfrm>
            <a:prstGeom prst="rect">
              <a:avLst/>
            </a:prstGeom>
          </p:spPr>
        </p:pic>
        <p:pic>
          <p:nvPicPr>
            <p:cNvPr id="56" name="Рисунок 55">
              <a:extLst>
                <a:ext uri="{FF2B5EF4-FFF2-40B4-BE49-F238E27FC236}">
                  <a16:creationId xmlns:a16="http://schemas.microsoft.com/office/drawing/2014/main" id="{65000076-744A-4B8B-ACFD-47B09EEFC78E}"/>
                </a:ext>
              </a:extLst>
            </p:cNvPr>
            <p:cNvPicPr>
              <a:picLocks noChangeAspect="1"/>
            </p:cNvPicPr>
            <p:nvPr/>
          </p:nvPicPr>
          <p:blipFill>
            <a:blip r:embed="rId20"/>
            <a:stretch>
              <a:fillRect/>
            </a:stretch>
          </p:blipFill>
          <p:spPr>
            <a:xfrm>
              <a:off x="7739093" y="5487679"/>
              <a:ext cx="4329113" cy="274864"/>
            </a:xfrm>
            <a:prstGeom prst="rect">
              <a:avLst/>
            </a:prstGeom>
          </p:spPr>
        </p:pic>
        <p:pic>
          <p:nvPicPr>
            <p:cNvPr id="58" name="Рисунок 57">
              <a:extLst>
                <a:ext uri="{FF2B5EF4-FFF2-40B4-BE49-F238E27FC236}">
                  <a16:creationId xmlns:a16="http://schemas.microsoft.com/office/drawing/2014/main" id="{58B24A47-4DA7-40D8-8B91-94F3529DFFAE}"/>
                </a:ext>
              </a:extLst>
            </p:cNvPr>
            <p:cNvPicPr>
              <a:picLocks noChangeAspect="1"/>
            </p:cNvPicPr>
            <p:nvPr/>
          </p:nvPicPr>
          <p:blipFill>
            <a:blip r:embed="rId21"/>
            <a:stretch>
              <a:fillRect/>
            </a:stretch>
          </p:blipFill>
          <p:spPr>
            <a:xfrm>
              <a:off x="442847" y="4511874"/>
              <a:ext cx="2573574" cy="262812"/>
            </a:xfrm>
            <a:prstGeom prst="rect">
              <a:avLst/>
            </a:prstGeom>
          </p:spPr>
        </p:pic>
      </p:grpSp>
      <p:grpSp>
        <p:nvGrpSpPr>
          <p:cNvPr id="74" name="Группа 73">
            <a:extLst>
              <a:ext uri="{FF2B5EF4-FFF2-40B4-BE49-F238E27FC236}">
                <a16:creationId xmlns:a16="http://schemas.microsoft.com/office/drawing/2014/main" id="{34682203-8656-49C9-9F36-BB9807525567}"/>
              </a:ext>
            </a:extLst>
          </p:cNvPr>
          <p:cNvGrpSpPr/>
          <p:nvPr/>
        </p:nvGrpSpPr>
        <p:grpSpPr>
          <a:xfrm>
            <a:off x="438533" y="1124107"/>
            <a:ext cx="11629670" cy="4250440"/>
            <a:chOff x="438533" y="1499440"/>
            <a:chExt cx="11629670" cy="4250440"/>
          </a:xfrm>
        </p:grpSpPr>
        <p:sp>
          <p:nvSpPr>
            <p:cNvPr id="63" name="TextBox 62">
              <a:extLst>
                <a:ext uri="{FF2B5EF4-FFF2-40B4-BE49-F238E27FC236}">
                  <a16:creationId xmlns:a16="http://schemas.microsoft.com/office/drawing/2014/main" id="{83D2651F-AEC4-496F-82C0-0E3F80C98B3B}"/>
                </a:ext>
              </a:extLst>
            </p:cNvPr>
            <p:cNvSpPr txBox="1"/>
            <p:nvPr/>
          </p:nvSpPr>
          <p:spPr>
            <a:xfrm>
              <a:off x="647501" y="1499440"/>
              <a:ext cx="4655615" cy="369332"/>
            </a:xfrm>
            <a:prstGeom prst="rect">
              <a:avLst/>
            </a:prstGeom>
            <a:noFill/>
          </p:spPr>
          <p:txBody>
            <a:bodyPr wrap="square">
              <a:spAutoFit/>
            </a:bodyPr>
            <a:lstStyle/>
            <a:p>
              <a:r>
                <a:rPr lang="en-US" b="1" dirty="0"/>
                <a:t>Streaming chunk 2 [8…11]:</a:t>
              </a:r>
              <a:endParaRPr lang="en-US" b="1" baseline="30000" dirty="0"/>
            </a:p>
          </p:txBody>
        </p:sp>
        <p:pic>
          <p:nvPicPr>
            <p:cNvPr id="65" name="Рисунок 64">
              <a:extLst>
                <a:ext uri="{FF2B5EF4-FFF2-40B4-BE49-F238E27FC236}">
                  <a16:creationId xmlns:a16="http://schemas.microsoft.com/office/drawing/2014/main" id="{0EB50EFF-54CA-4D2A-AC13-7E7F019CF777}"/>
                </a:ext>
              </a:extLst>
            </p:cNvPr>
            <p:cNvPicPr>
              <a:picLocks noChangeAspect="1"/>
            </p:cNvPicPr>
            <p:nvPr/>
          </p:nvPicPr>
          <p:blipFill>
            <a:blip r:embed="rId22"/>
            <a:stretch>
              <a:fillRect/>
            </a:stretch>
          </p:blipFill>
          <p:spPr>
            <a:xfrm>
              <a:off x="3143142" y="2055839"/>
              <a:ext cx="4327283" cy="3532844"/>
            </a:xfrm>
            <a:prstGeom prst="rect">
              <a:avLst/>
            </a:prstGeom>
          </p:spPr>
        </p:pic>
        <p:pic>
          <p:nvPicPr>
            <p:cNvPr id="67" name="Рисунок 66">
              <a:extLst>
                <a:ext uri="{FF2B5EF4-FFF2-40B4-BE49-F238E27FC236}">
                  <a16:creationId xmlns:a16="http://schemas.microsoft.com/office/drawing/2014/main" id="{53C034F8-F750-41CC-89F4-2D26DC2CD5BD}"/>
                </a:ext>
              </a:extLst>
            </p:cNvPr>
            <p:cNvPicPr>
              <a:picLocks noChangeAspect="1"/>
            </p:cNvPicPr>
            <p:nvPr/>
          </p:nvPicPr>
          <p:blipFill>
            <a:blip r:embed="rId23"/>
            <a:stretch>
              <a:fillRect/>
            </a:stretch>
          </p:blipFill>
          <p:spPr>
            <a:xfrm>
              <a:off x="7739091" y="4091403"/>
              <a:ext cx="4329112" cy="510198"/>
            </a:xfrm>
            <a:prstGeom prst="rect">
              <a:avLst/>
            </a:prstGeom>
          </p:spPr>
        </p:pic>
        <p:pic>
          <p:nvPicPr>
            <p:cNvPr id="69" name="Рисунок 68">
              <a:extLst>
                <a:ext uri="{FF2B5EF4-FFF2-40B4-BE49-F238E27FC236}">
                  <a16:creationId xmlns:a16="http://schemas.microsoft.com/office/drawing/2014/main" id="{F4E3EACE-3722-414D-81B4-3CFC0567A07C}"/>
                </a:ext>
              </a:extLst>
            </p:cNvPr>
            <p:cNvPicPr>
              <a:picLocks noChangeAspect="1"/>
            </p:cNvPicPr>
            <p:nvPr/>
          </p:nvPicPr>
          <p:blipFill>
            <a:blip r:embed="rId24"/>
            <a:stretch>
              <a:fillRect/>
            </a:stretch>
          </p:blipFill>
          <p:spPr>
            <a:xfrm>
              <a:off x="7739091" y="4730141"/>
              <a:ext cx="4329111" cy="617771"/>
            </a:xfrm>
            <a:prstGeom prst="rect">
              <a:avLst/>
            </a:prstGeom>
          </p:spPr>
        </p:pic>
        <p:pic>
          <p:nvPicPr>
            <p:cNvPr id="71" name="Рисунок 70">
              <a:extLst>
                <a:ext uri="{FF2B5EF4-FFF2-40B4-BE49-F238E27FC236}">
                  <a16:creationId xmlns:a16="http://schemas.microsoft.com/office/drawing/2014/main" id="{0D65F8C6-58A9-4572-93B8-01E089B06195}"/>
                </a:ext>
              </a:extLst>
            </p:cNvPr>
            <p:cNvPicPr>
              <a:picLocks noChangeAspect="1"/>
            </p:cNvPicPr>
            <p:nvPr/>
          </p:nvPicPr>
          <p:blipFill>
            <a:blip r:embed="rId25"/>
            <a:stretch>
              <a:fillRect/>
            </a:stretch>
          </p:blipFill>
          <p:spPr>
            <a:xfrm>
              <a:off x="7735308" y="5491262"/>
              <a:ext cx="4267200" cy="258618"/>
            </a:xfrm>
            <a:prstGeom prst="rect">
              <a:avLst/>
            </a:prstGeom>
          </p:spPr>
        </p:pic>
        <p:pic>
          <p:nvPicPr>
            <p:cNvPr id="73" name="Рисунок 72">
              <a:extLst>
                <a:ext uri="{FF2B5EF4-FFF2-40B4-BE49-F238E27FC236}">
                  <a16:creationId xmlns:a16="http://schemas.microsoft.com/office/drawing/2014/main" id="{78904478-E640-4970-B44F-5FD1567AB34A}"/>
                </a:ext>
              </a:extLst>
            </p:cNvPr>
            <p:cNvPicPr>
              <a:picLocks noChangeAspect="1"/>
            </p:cNvPicPr>
            <p:nvPr/>
          </p:nvPicPr>
          <p:blipFill>
            <a:blip r:embed="rId26"/>
            <a:stretch>
              <a:fillRect/>
            </a:stretch>
          </p:blipFill>
          <p:spPr>
            <a:xfrm>
              <a:off x="438533" y="4509345"/>
              <a:ext cx="2516595" cy="244805"/>
            </a:xfrm>
            <a:prstGeom prst="rect">
              <a:avLst/>
            </a:prstGeom>
          </p:spPr>
        </p:pic>
      </p:grpSp>
      <p:grpSp>
        <p:nvGrpSpPr>
          <p:cNvPr id="86" name="Группа 85">
            <a:extLst>
              <a:ext uri="{FF2B5EF4-FFF2-40B4-BE49-F238E27FC236}">
                <a16:creationId xmlns:a16="http://schemas.microsoft.com/office/drawing/2014/main" id="{F06430A7-B252-4DB1-9944-8FD7E695A770}"/>
              </a:ext>
            </a:extLst>
          </p:cNvPr>
          <p:cNvGrpSpPr/>
          <p:nvPr/>
        </p:nvGrpSpPr>
        <p:grpSpPr>
          <a:xfrm>
            <a:off x="332429" y="1123636"/>
            <a:ext cx="11731992" cy="4262943"/>
            <a:chOff x="332429" y="1498969"/>
            <a:chExt cx="11731992" cy="4262943"/>
          </a:xfrm>
        </p:grpSpPr>
        <p:pic>
          <p:nvPicPr>
            <p:cNvPr id="76" name="Рисунок 75">
              <a:extLst>
                <a:ext uri="{FF2B5EF4-FFF2-40B4-BE49-F238E27FC236}">
                  <a16:creationId xmlns:a16="http://schemas.microsoft.com/office/drawing/2014/main" id="{6BE36837-9F6D-4D4E-A849-1A03F525DAF7}"/>
                </a:ext>
              </a:extLst>
            </p:cNvPr>
            <p:cNvPicPr>
              <a:picLocks noChangeAspect="1"/>
            </p:cNvPicPr>
            <p:nvPr/>
          </p:nvPicPr>
          <p:blipFill>
            <a:blip r:embed="rId27"/>
            <a:stretch>
              <a:fillRect/>
            </a:stretch>
          </p:blipFill>
          <p:spPr>
            <a:xfrm>
              <a:off x="3152054" y="2072671"/>
              <a:ext cx="4327283" cy="3538863"/>
            </a:xfrm>
            <a:prstGeom prst="rect">
              <a:avLst/>
            </a:prstGeom>
          </p:spPr>
        </p:pic>
        <p:sp>
          <p:nvSpPr>
            <p:cNvPr id="77" name="TextBox 76">
              <a:extLst>
                <a:ext uri="{FF2B5EF4-FFF2-40B4-BE49-F238E27FC236}">
                  <a16:creationId xmlns:a16="http://schemas.microsoft.com/office/drawing/2014/main" id="{588291B4-575A-4796-AB23-344C9CEB475E}"/>
                </a:ext>
              </a:extLst>
            </p:cNvPr>
            <p:cNvSpPr txBox="1"/>
            <p:nvPr/>
          </p:nvSpPr>
          <p:spPr>
            <a:xfrm>
              <a:off x="647501" y="1498969"/>
              <a:ext cx="4655615" cy="369332"/>
            </a:xfrm>
            <a:prstGeom prst="rect">
              <a:avLst/>
            </a:prstGeom>
            <a:noFill/>
          </p:spPr>
          <p:txBody>
            <a:bodyPr wrap="square">
              <a:spAutoFit/>
            </a:bodyPr>
            <a:lstStyle/>
            <a:p>
              <a:r>
                <a:rPr lang="en-US" b="1" dirty="0"/>
                <a:t>Streaming chunk 3 [12…15]:</a:t>
              </a:r>
              <a:endParaRPr lang="en-US" b="1" baseline="30000" dirty="0"/>
            </a:p>
          </p:txBody>
        </p:sp>
        <p:pic>
          <p:nvPicPr>
            <p:cNvPr id="79" name="Рисунок 78">
              <a:extLst>
                <a:ext uri="{FF2B5EF4-FFF2-40B4-BE49-F238E27FC236}">
                  <a16:creationId xmlns:a16="http://schemas.microsoft.com/office/drawing/2014/main" id="{EED5DAB2-B597-469A-92EE-5BCFCD3B1DAF}"/>
                </a:ext>
              </a:extLst>
            </p:cNvPr>
            <p:cNvPicPr>
              <a:picLocks noChangeAspect="1"/>
            </p:cNvPicPr>
            <p:nvPr/>
          </p:nvPicPr>
          <p:blipFill>
            <a:blip r:embed="rId28"/>
            <a:stretch>
              <a:fillRect/>
            </a:stretch>
          </p:blipFill>
          <p:spPr>
            <a:xfrm>
              <a:off x="7735309" y="4093901"/>
              <a:ext cx="4329112" cy="523970"/>
            </a:xfrm>
            <a:prstGeom prst="rect">
              <a:avLst/>
            </a:prstGeom>
          </p:spPr>
        </p:pic>
        <p:pic>
          <p:nvPicPr>
            <p:cNvPr id="81" name="Рисунок 80">
              <a:extLst>
                <a:ext uri="{FF2B5EF4-FFF2-40B4-BE49-F238E27FC236}">
                  <a16:creationId xmlns:a16="http://schemas.microsoft.com/office/drawing/2014/main" id="{607E0CBB-D2E8-4457-BA58-0B334E53065B}"/>
                </a:ext>
              </a:extLst>
            </p:cNvPr>
            <p:cNvPicPr>
              <a:picLocks noChangeAspect="1"/>
            </p:cNvPicPr>
            <p:nvPr/>
          </p:nvPicPr>
          <p:blipFill>
            <a:blip r:embed="rId29"/>
            <a:stretch>
              <a:fillRect/>
            </a:stretch>
          </p:blipFill>
          <p:spPr>
            <a:xfrm>
              <a:off x="7735308" y="4757455"/>
              <a:ext cx="4329111" cy="629947"/>
            </a:xfrm>
            <a:prstGeom prst="rect">
              <a:avLst/>
            </a:prstGeom>
          </p:spPr>
        </p:pic>
        <p:pic>
          <p:nvPicPr>
            <p:cNvPr id="83" name="Рисунок 82">
              <a:extLst>
                <a:ext uri="{FF2B5EF4-FFF2-40B4-BE49-F238E27FC236}">
                  <a16:creationId xmlns:a16="http://schemas.microsoft.com/office/drawing/2014/main" id="{FCDCEE6E-738E-45E3-AA43-1E3B4BE77792}"/>
                </a:ext>
              </a:extLst>
            </p:cNvPr>
            <p:cNvPicPr>
              <a:picLocks noChangeAspect="1"/>
            </p:cNvPicPr>
            <p:nvPr/>
          </p:nvPicPr>
          <p:blipFill>
            <a:blip r:embed="rId30"/>
            <a:stretch>
              <a:fillRect/>
            </a:stretch>
          </p:blipFill>
          <p:spPr>
            <a:xfrm>
              <a:off x="7735308" y="5484225"/>
              <a:ext cx="4327283" cy="277687"/>
            </a:xfrm>
            <a:prstGeom prst="rect">
              <a:avLst/>
            </a:prstGeom>
          </p:spPr>
        </p:pic>
        <p:pic>
          <p:nvPicPr>
            <p:cNvPr id="85" name="Рисунок 84">
              <a:extLst>
                <a:ext uri="{FF2B5EF4-FFF2-40B4-BE49-F238E27FC236}">
                  <a16:creationId xmlns:a16="http://schemas.microsoft.com/office/drawing/2014/main" id="{C88FEFB6-2356-488F-A45B-1A7F63C25D76}"/>
                </a:ext>
              </a:extLst>
            </p:cNvPr>
            <p:cNvPicPr>
              <a:picLocks noChangeAspect="1"/>
            </p:cNvPicPr>
            <p:nvPr/>
          </p:nvPicPr>
          <p:blipFill>
            <a:blip r:embed="rId31"/>
            <a:stretch>
              <a:fillRect/>
            </a:stretch>
          </p:blipFill>
          <p:spPr>
            <a:xfrm>
              <a:off x="332429" y="4493929"/>
              <a:ext cx="2612219" cy="260221"/>
            </a:xfrm>
            <a:prstGeom prst="rect">
              <a:avLst/>
            </a:prstGeom>
          </p:spPr>
        </p:pic>
      </p:grpSp>
      <p:grpSp>
        <p:nvGrpSpPr>
          <p:cNvPr id="92" name="Группа 91">
            <a:extLst>
              <a:ext uri="{FF2B5EF4-FFF2-40B4-BE49-F238E27FC236}">
                <a16:creationId xmlns:a16="http://schemas.microsoft.com/office/drawing/2014/main" id="{12F98E72-AF44-40A8-B18A-03877C497ABF}"/>
              </a:ext>
            </a:extLst>
          </p:cNvPr>
          <p:cNvGrpSpPr/>
          <p:nvPr/>
        </p:nvGrpSpPr>
        <p:grpSpPr>
          <a:xfrm>
            <a:off x="3148271" y="3046097"/>
            <a:ext cx="7270771" cy="3107567"/>
            <a:chOff x="3148271" y="3421430"/>
            <a:chExt cx="7270771" cy="3107567"/>
          </a:xfrm>
        </p:grpSpPr>
        <p:pic>
          <p:nvPicPr>
            <p:cNvPr id="88" name="Рисунок 87">
              <a:extLst>
                <a:ext uri="{FF2B5EF4-FFF2-40B4-BE49-F238E27FC236}">
                  <a16:creationId xmlns:a16="http://schemas.microsoft.com/office/drawing/2014/main" id="{F2E7056B-A3B8-4052-AF59-6F54A7912F8F}"/>
                </a:ext>
              </a:extLst>
            </p:cNvPr>
            <p:cNvPicPr>
              <a:picLocks noChangeAspect="1"/>
            </p:cNvPicPr>
            <p:nvPr/>
          </p:nvPicPr>
          <p:blipFill>
            <a:blip r:embed="rId32"/>
            <a:stretch>
              <a:fillRect/>
            </a:stretch>
          </p:blipFill>
          <p:spPr>
            <a:xfrm>
              <a:off x="7735308" y="3421430"/>
              <a:ext cx="2683734" cy="219235"/>
            </a:xfrm>
            <a:prstGeom prst="rect">
              <a:avLst/>
            </a:prstGeom>
          </p:spPr>
        </p:pic>
        <p:pic>
          <p:nvPicPr>
            <p:cNvPr id="90" name="Рисунок 89">
              <a:extLst>
                <a:ext uri="{FF2B5EF4-FFF2-40B4-BE49-F238E27FC236}">
                  <a16:creationId xmlns:a16="http://schemas.microsoft.com/office/drawing/2014/main" id="{204B8638-E384-428E-812E-C5A8D5ED1380}"/>
                </a:ext>
              </a:extLst>
            </p:cNvPr>
            <p:cNvPicPr>
              <a:picLocks noChangeAspect="1"/>
            </p:cNvPicPr>
            <p:nvPr/>
          </p:nvPicPr>
          <p:blipFill>
            <a:blip r:embed="rId33"/>
            <a:stretch>
              <a:fillRect/>
            </a:stretch>
          </p:blipFill>
          <p:spPr>
            <a:xfrm>
              <a:off x="3148271" y="6062272"/>
              <a:ext cx="5676900" cy="466725"/>
            </a:xfrm>
            <a:prstGeom prst="rect">
              <a:avLst/>
            </a:prstGeom>
          </p:spPr>
        </p:pic>
      </p:grpSp>
      <p:grpSp>
        <p:nvGrpSpPr>
          <p:cNvPr id="98" name="Группа 97">
            <a:extLst>
              <a:ext uri="{FF2B5EF4-FFF2-40B4-BE49-F238E27FC236}">
                <a16:creationId xmlns:a16="http://schemas.microsoft.com/office/drawing/2014/main" id="{A923592D-D163-4774-840E-2A5EC1B75E4C}"/>
              </a:ext>
            </a:extLst>
          </p:cNvPr>
          <p:cNvGrpSpPr/>
          <p:nvPr/>
        </p:nvGrpSpPr>
        <p:grpSpPr>
          <a:xfrm>
            <a:off x="275625" y="4605554"/>
            <a:ext cx="3117847" cy="930734"/>
            <a:chOff x="275625" y="5000169"/>
            <a:chExt cx="3117847" cy="930734"/>
          </a:xfrm>
        </p:grpSpPr>
        <p:pic>
          <p:nvPicPr>
            <p:cNvPr id="94" name="Рисунок 93">
              <a:extLst>
                <a:ext uri="{FF2B5EF4-FFF2-40B4-BE49-F238E27FC236}">
                  <a16:creationId xmlns:a16="http://schemas.microsoft.com/office/drawing/2014/main" id="{A469AA40-F04B-4949-A347-66F3B5C3A897}"/>
                </a:ext>
              </a:extLst>
            </p:cNvPr>
            <p:cNvPicPr>
              <a:picLocks noChangeAspect="1"/>
            </p:cNvPicPr>
            <p:nvPr/>
          </p:nvPicPr>
          <p:blipFill>
            <a:blip r:embed="rId34"/>
            <a:stretch>
              <a:fillRect/>
            </a:stretch>
          </p:blipFill>
          <p:spPr>
            <a:xfrm>
              <a:off x="275625" y="5216922"/>
              <a:ext cx="2766674" cy="713981"/>
            </a:xfrm>
            <a:prstGeom prst="rect">
              <a:avLst/>
            </a:prstGeom>
          </p:spPr>
        </p:pic>
        <p:sp>
          <p:nvSpPr>
            <p:cNvPr id="96" name="TextBox 95">
              <a:extLst>
                <a:ext uri="{FF2B5EF4-FFF2-40B4-BE49-F238E27FC236}">
                  <a16:creationId xmlns:a16="http://schemas.microsoft.com/office/drawing/2014/main" id="{30A9DB41-951F-412E-AE1A-094CD4B1F207}"/>
                </a:ext>
              </a:extLst>
            </p:cNvPr>
            <p:cNvSpPr txBox="1"/>
            <p:nvPr/>
          </p:nvSpPr>
          <p:spPr>
            <a:xfrm>
              <a:off x="438533" y="5000169"/>
              <a:ext cx="2954939" cy="215444"/>
            </a:xfrm>
            <a:prstGeom prst="rect">
              <a:avLst/>
            </a:prstGeom>
            <a:noFill/>
          </p:spPr>
          <p:txBody>
            <a:bodyPr wrap="square" lIns="0" tIns="0" rIns="0" bIns="0" rtlCol="0">
              <a:spAutoFit/>
            </a:bodyPr>
            <a:lstStyle/>
            <a:p>
              <a:r>
                <a:rPr lang="en-US" sz="1400" dirty="0"/>
                <a:t>Theorem 3.4. (Efficiency).</a:t>
              </a:r>
            </a:p>
          </p:txBody>
        </p:sp>
      </p:grpSp>
      <p:sp>
        <p:nvSpPr>
          <p:cNvPr id="55" name="文本框 9">
            <a:extLst>
              <a:ext uri="{FF2B5EF4-FFF2-40B4-BE49-F238E27FC236}">
                <a16:creationId xmlns:a16="http://schemas.microsoft.com/office/drawing/2014/main" id="{9BC75712-E7A2-4537-8BC1-9C947A5A13D0}"/>
              </a:ext>
            </a:extLst>
          </p:cNvPr>
          <p:cNvSpPr txBox="1"/>
          <p:nvPr/>
        </p:nvSpPr>
        <p:spPr>
          <a:xfrm>
            <a:off x="1299594" y="183700"/>
            <a:ext cx="5436765"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Offline stage: streaming download</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57" name="组合 22">
            <a:extLst>
              <a:ext uri="{FF2B5EF4-FFF2-40B4-BE49-F238E27FC236}">
                <a16:creationId xmlns:a16="http://schemas.microsoft.com/office/drawing/2014/main" id="{6C6D2E90-5878-46C0-966E-6DE358A9A970}"/>
              </a:ext>
            </a:extLst>
          </p:cNvPr>
          <p:cNvGrpSpPr/>
          <p:nvPr/>
        </p:nvGrpSpPr>
        <p:grpSpPr>
          <a:xfrm>
            <a:off x="11236541" y="460205"/>
            <a:ext cx="258653" cy="233204"/>
            <a:chOff x="3720691" y="2824413"/>
            <a:chExt cx="1341120" cy="1209172"/>
          </a:xfrm>
        </p:grpSpPr>
        <p:sp>
          <p:nvSpPr>
            <p:cNvPr id="60" name="Freeform 5">
              <a:extLst>
                <a:ext uri="{FF2B5EF4-FFF2-40B4-BE49-F238E27FC236}">
                  <a16:creationId xmlns:a16="http://schemas.microsoft.com/office/drawing/2014/main" id="{F38489FB-9D6B-4D39-B0F3-C48DDC915FC4}"/>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61" name="Freeform 5">
              <a:extLst>
                <a:ext uri="{FF2B5EF4-FFF2-40B4-BE49-F238E27FC236}">
                  <a16:creationId xmlns:a16="http://schemas.microsoft.com/office/drawing/2014/main" id="{835C96C9-8A31-4A10-AF0F-A3CF2A1EB53D}"/>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64" name="矩形 2">
            <a:extLst>
              <a:ext uri="{FF2B5EF4-FFF2-40B4-BE49-F238E27FC236}">
                <a16:creationId xmlns:a16="http://schemas.microsoft.com/office/drawing/2014/main" id="{559AD154-9607-4051-8D29-1E90E681D24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66" name="图片 3" descr="重庆邮电大学标准校徽 (1)">
            <a:extLst>
              <a:ext uri="{FF2B5EF4-FFF2-40B4-BE49-F238E27FC236}">
                <a16:creationId xmlns:a16="http://schemas.microsoft.com/office/drawing/2014/main" id="{C8751E21-7E72-4D07-BE66-D424D1AD5B1C}"/>
              </a:ext>
            </a:extLst>
          </p:cNvPr>
          <p:cNvPicPr>
            <a:picLocks noChangeAspect="1"/>
          </p:cNvPicPr>
          <p:nvPr/>
        </p:nvPicPr>
        <p:blipFill>
          <a:blip r:embed="rId35"/>
          <a:stretch>
            <a:fillRect/>
          </a:stretch>
        </p:blipFill>
        <p:spPr>
          <a:xfrm>
            <a:off x="549659" y="190896"/>
            <a:ext cx="612897" cy="612897"/>
          </a:xfrm>
          <a:prstGeom prst="rect">
            <a:avLst/>
          </a:prstGeom>
        </p:spPr>
      </p:pic>
    </p:spTree>
    <p:extLst>
      <p:ext uri="{BB962C8B-B14F-4D97-AF65-F5344CB8AC3E}">
        <p14:creationId xmlns:p14="http://schemas.microsoft.com/office/powerpoint/2010/main" val="305774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4"/>
                                        </p:tgtEl>
                                      </p:cBhvr>
                                    </p:animEffect>
                                    <p:set>
                                      <p:cBhvr>
                                        <p:cTn id="17" dur="1" fill="hold">
                                          <p:stCondLst>
                                            <p:cond delay="499"/>
                                          </p:stCondLst>
                                        </p:cTn>
                                        <p:tgtEl>
                                          <p:spTgt spid="4"/>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500"/>
                                        <p:tgtEl>
                                          <p:spTgt spid="6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62"/>
                                        </p:tgtEl>
                                      </p:cBhvr>
                                    </p:animEffect>
                                    <p:set>
                                      <p:cBhvr>
                                        <p:cTn id="31" dur="1" fill="hold">
                                          <p:stCondLst>
                                            <p:cond delay="499"/>
                                          </p:stCondLst>
                                        </p:cTn>
                                        <p:tgtEl>
                                          <p:spTgt spid="62"/>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59"/>
                                        </p:tgtEl>
                                      </p:cBhvr>
                                    </p:animEffect>
                                    <p:set>
                                      <p:cBhvr>
                                        <p:cTn id="39" dur="1" fill="hold">
                                          <p:stCondLst>
                                            <p:cond delay="499"/>
                                          </p:stCondLst>
                                        </p:cTn>
                                        <p:tgtEl>
                                          <p:spTgt spid="59"/>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74"/>
                                        </p:tgtEl>
                                        <p:attrNameLst>
                                          <p:attrName>style.visibility</p:attrName>
                                        </p:attrNameLst>
                                      </p:cBhvr>
                                      <p:to>
                                        <p:strVal val="visible"/>
                                      </p:to>
                                    </p:set>
                                    <p:animEffect transition="in" filter="fade">
                                      <p:cBhvr>
                                        <p:cTn id="42" dur="500"/>
                                        <p:tgtEl>
                                          <p:spTgt spid="7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nodeType="clickEffect">
                                  <p:stCondLst>
                                    <p:cond delay="0"/>
                                  </p:stCondLst>
                                  <p:childTnLst>
                                    <p:animEffect transition="out" filter="fade">
                                      <p:cBhvr>
                                        <p:cTn id="46" dur="500"/>
                                        <p:tgtEl>
                                          <p:spTgt spid="74"/>
                                        </p:tgtEl>
                                      </p:cBhvr>
                                    </p:animEffect>
                                    <p:set>
                                      <p:cBhvr>
                                        <p:cTn id="47" dur="1" fill="hold">
                                          <p:stCondLst>
                                            <p:cond delay="499"/>
                                          </p:stCondLst>
                                        </p:cTn>
                                        <p:tgtEl>
                                          <p:spTgt spid="74"/>
                                        </p:tgtEl>
                                        <p:attrNameLst>
                                          <p:attrName>style.visibility</p:attrName>
                                        </p:attrNameLst>
                                      </p:cBhvr>
                                      <p:to>
                                        <p:strVal val="hidden"/>
                                      </p:to>
                                    </p:set>
                                  </p:childTnLst>
                                </p:cTn>
                              </p:par>
                              <p:par>
                                <p:cTn id="48" presetID="10" presetClass="entr" presetSubtype="0" fill="hold" nodeType="withEffect">
                                  <p:stCondLst>
                                    <p:cond delay="0"/>
                                  </p:stCondLst>
                                  <p:childTnLst>
                                    <p:set>
                                      <p:cBhvr>
                                        <p:cTn id="49" dur="1" fill="hold">
                                          <p:stCondLst>
                                            <p:cond delay="0"/>
                                          </p:stCondLst>
                                        </p:cTn>
                                        <p:tgtEl>
                                          <p:spTgt spid="86"/>
                                        </p:tgtEl>
                                        <p:attrNameLst>
                                          <p:attrName>style.visibility</p:attrName>
                                        </p:attrNameLst>
                                      </p:cBhvr>
                                      <p:to>
                                        <p:strVal val="visible"/>
                                      </p:to>
                                    </p:set>
                                    <p:animEffect transition="in" filter="fade">
                                      <p:cBhvr>
                                        <p:cTn id="50" dur="500"/>
                                        <p:tgtEl>
                                          <p:spTgt spid="8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2"/>
                                        </p:tgtEl>
                                        <p:attrNameLst>
                                          <p:attrName>style.visibility</p:attrName>
                                        </p:attrNameLst>
                                      </p:cBhvr>
                                      <p:to>
                                        <p:strVal val="visible"/>
                                      </p:to>
                                    </p:set>
                                    <p:animEffect transition="in" filter="fade">
                                      <p:cBhvr>
                                        <p:cTn id="55"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1F1CD8D-D75E-4271-9158-A645094549D5}"/>
              </a:ext>
            </a:extLst>
          </p:cNvPr>
          <p:cNvSpPr txBox="1"/>
          <p:nvPr/>
        </p:nvSpPr>
        <p:spPr>
          <a:xfrm>
            <a:off x="651639" y="1078184"/>
            <a:ext cx="4655615" cy="369332"/>
          </a:xfrm>
          <a:prstGeom prst="rect">
            <a:avLst/>
          </a:prstGeom>
          <a:noFill/>
        </p:spPr>
        <p:txBody>
          <a:bodyPr wrap="square">
            <a:spAutoFit/>
          </a:bodyPr>
          <a:lstStyle/>
          <a:p>
            <a:r>
              <a:rPr lang="en-US" b="1" dirty="0"/>
              <a:t>Client performs Q queries:</a:t>
            </a:r>
            <a:endParaRPr lang="en-US" b="1" baseline="30000" dirty="0"/>
          </a:p>
        </p:txBody>
      </p:sp>
      <p:sp>
        <p:nvSpPr>
          <p:cNvPr id="42" name="TextBox 41">
            <a:extLst>
              <a:ext uri="{FF2B5EF4-FFF2-40B4-BE49-F238E27FC236}">
                <a16:creationId xmlns:a16="http://schemas.microsoft.com/office/drawing/2014/main" id="{977868E1-B3B4-4C94-9955-0D48E6F90258}"/>
              </a:ext>
            </a:extLst>
          </p:cNvPr>
          <p:cNvSpPr txBox="1"/>
          <p:nvPr/>
        </p:nvSpPr>
        <p:spPr>
          <a:xfrm>
            <a:off x="7739093" y="1320112"/>
            <a:ext cx="2954939" cy="215444"/>
          </a:xfrm>
          <a:prstGeom prst="rect">
            <a:avLst/>
          </a:prstGeom>
          <a:noFill/>
        </p:spPr>
        <p:txBody>
          <a:bodyPr wrap="square" lIns="0" tIns="0" rIns="0" bIns="0" rtlCol="0">
            <a:spAutoFit/>
          </a:bodyPr>
          <a:lstStyle/>
          <a:p>
            <a:r>
              <a:rPr lang="en-US" sz="1400" dirty="0"/>
              <a:t>Online query algorithm for index x:</a:t>
            </a:r>
          </a:p>
        </p:txBody>
      </p:sp>
      <p:grpSp>
        <p:nvGrpSpPr>
          <p:cNvPr id="60" name="Группа 59">
            <a:extLst>
              <a:ext uri="{FF2B5EF4-FFF2-40B4-BE49-F238E27FC236}">
                <a16:creationId xmlns:a16="http://schemas.microsoft.com/office/drawing/2014/main" id="{DF004F9B-1849-48CA-9BDD-A41902E6ABD0}"/>
              </a:ext>
            </a:extLst>
          </p:cNvPr>
          <p:cNvGrpSpPr/>
          <p:nvPr/>
        </p:nvGrpSpPr>
        <p:grpSpPr>
          <a:xfrm>
            <a:off x="332429" y="5580091"/>
            <a:ext cx="3061043" cy="484946"/>
            <a:chOff x="332429" y="6642556"/>
            <a:chExt cx="3061043" cy="484946"/>
          </a:xfrm>
        </p:grpSpPr>
        <p:sp>
          <p:nvSpPr>
            <p:cNvPr id="61" name="TextBox 60">
              <a:extLst>
                <a:ext uri="{FF2B5EF4-FFF2-40B4-BE49-F238E27FC236}">
                  <a16:creationId xmlns:a16="http://schemas.microsoft.com/office/drawing/2014/main" id="{78BE8BFA-7292-43B9-BEE4-FC838949C6C6}"/>
                </a:ext>
              </a:extLst>
            </p:cNvPr>
            <p:cNvSpPr txBox="1"/>
            <p:nvPr/>
          </p:nvSpPr>
          <p:spPr>
            <a:xfrm>
              <a:off x="438533" y="6642556"/>
              <a:ext cx="2954939" cy="215444"/>
            </a:xfrm>
            <a:prstGeom prst="rect">
              <a:avLst/>
            </a:prstGeom>
            <a:noFill/>
          </p:spPr>
          <p:txBody>
            <a:bodyPr wrap="square" lIns="0" tIns="0" rIns="0" bIns="0" rtlCol="0">
              <a:spAutoFit/>
            </a:bodyPr>
            <a:lstStyle/>
            <a:p>
              <a:r>
                <a:rPr lang="en-US" sz="1400" dirty="0"/>
                <a:t>Parameters group:</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A3137644-4FD7-4B06-B8DB-B2C70F737187}"/>
                    </a:ext>
                  </a:extLst>
                </p:cNvPr>
                <p:cNvSpPr txBox="1"/>
                <p:nvPr/>
              </p:nvSpPr>
              <p:spPr>
                <a:xfrm>
                  <a:off x="332429" y="6912058"/>
                  <a:ext cx="2660024" cy="215444"/>
                </a:xfrm>
                <a:prstGeom prst="rect">
                  <a:avLst/>
                </a:prstGeom>
                <a:noFill/>
              </p:spPr>
              <p:txBody>
                <a:bodyPr wrap="none" lIns="0" tIns="0" rIns="0" bIns="0" rtlCol="0">
                  <a:spAutoFit/>
                </a:bodyPr>
                <a:lstStyle/>
                <a:p>
                  <a14:m>
                    <m:oMath xmlns:m="http://schemas.openxmlformats.org/officeDocument/2006/math">
                      <m:r>
                        <a:rPr lang="en-US" sz="1400" b="0" i="1" smtClean="0">
                          <a:latin typeface="Cambria Math" panose="02040503050406030204" pitchFamily="18" charset="0"/>
                        </a:rPr>
                        <m:t>𝑛</m:t>
                      </m:r>
                      <m:r>
                        <a:rPr lang="en-US" sz="1400" b="0" i="1" smtClean="0">
                          <a:latin typeface="Cambria Math" panose="02040503050406030204" pitchFamily="18" charset="0"/>
                        </a:rPr>
                        <m:t>=16</m:t>
                      </m:r>
                      <m:r>
                        <a:rPr lang="en-US" sz="1400" b="0" i="0" smtClean="0">
                          <a:latin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rPr>
                            <m:t>𝑀</m:t>
                          </m:r>
                        </m:e>
                        <m:sub>
                          <m:r>
                            <a:rPr lang="en-US" sz="1400" i="1">
                              <a:latin typeface="Cambria Math" panose="02040503050406030204" pitchFamily="18" charset="0"/>
                            </a:rPr>
                            <m:t>1</m:t>
                          </m:r>
                        </m:sub>
                      </m:sSub>
                      <m:r>
                        <a:rPr lang="en-US" sz="1400" b="0" i="1" smtClean="0">
                          <a:latin typeface="Cambria Math" panose="02040503050406030204" pitchFamily="18" charset="0"/>
                        </a:rPr>
                        <m:t>=6</m:t>
                      </m:r>
                    </m:oMath>
                  </a14:m>
                  <a:r>
                    <a:rPr lang="en-US" sz="1400" dirty="0"/>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𝑀</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=2</m:t>
                      </m:r>
                    </m:oMath>
                  </a14:m>
                  <a:r>
                    <a:rPr lang="en-US" sz="1400" dirty="0"/>
                    <a:t> and </a:t>
                  </a:r>
                  <a14:m>
                    <m:oMath xmlns:m="http://schemas.openxmlformats.org/officeDocument/2006/math">
                      <m:r>
                        <a:rPr lang="en-US" sz="1400" i="1">
                          <a:latin typeface="Cambria Math" panose="02040503050406030204" pitchFamily="18" charset="0"/>
                        </a:rPr>
                        <m:t>𝑄</m:t>
                      </m:r>
                      <m:r>
                        <a:rPr lang="en-US" sz="1400" b="0" i="1" smtClean="0">
                          <a:latin typeface="Cambria Math" panose="02040503050406030204" pitchFamily="18" charset="0"/>
                        </a:rPr>
                        <m:t>=4</m:t>
                      </m:r>
                    </m:oMath>
                  </a14:m>
                  <a:r>
                    <a:rPr lang="en-US" sz="1400" dirty="0"/>
                    <a:t> </a:t>
                  </a:r>
                </a:p>
              </p:txBody>
            </p:sp>
          </mc:Choice>
          <mc:Fallback xmlns="">
            <p:sp>
              <p:nvSpPr>
                <p:cNvPr id="64" name="TextBox 63">
                  <a:extLst>
                    <a:ext uri="{FF2B5EF4-FFF2-40B4-BE49-F238E27FC236}">
                      <a16:creationId xmlns:a16="http://schemas.microsoft.com/office/drawing/2014/main" id="{A3137644-4FD7-4B06-B8DB-B2C70F737187}"/>
                    </a:ext>
                  </a:extLst>
                </p:cNvPr>
                <p:cNvSpPr txBox="1">
                  <a:spLocks noRot="1" noChangeAspect="1" noMove="1" noResize="1" noEditPoints="1" noAdjustHandles="1" noChangeArrowheads="1" noChangeShapeType="1" noTextEdit="1"/>
                </p:cNvSpPr>
                <p:nvPr/>
              </p:nvSpPr>
              <p:spPr>
                <a:xfrm>
                  <a:off x="332429" y="6912058"/>
                  <a:ext cx="2660024" cy="215444"/>
                </a:xfrm>
                <a:prstGeom prst="rect">
                  <a:avLst/>
                </a:prstGeom>
                <a:blipFill>
                  <a:blip r:embed="rId3"/>
                  <a:stretch>
                    <a:fillRect l="-1835" t="-25714" b="-51429"/>
                  </a:stretch>
                </a:blipFill>
              </p:spPr>
              <p:txBody>
                <a:bodyPr/>
                <a:lstStyle/>
                <a:p>
                  <a:r>
                    <a:rPr lang="en-US">
                      <a:noFill/>
                    </a:rPr>
                    <a:t> </a:t>
                  </a:r>
                </a:p>
              </p:txBody>
            </p:sp>
          </mc:Fallback>
        </mc:AlternateContent>
      </p:grpSp>
      <p:grpSp>
        <p:nvGrpSpPr>
          <p:cNvPr id="48" name="Группа 47">
            <a:extLst>
              <a:ext uri="{FF2B5EF4-FFF2-40B4-BE49-F238E27FC236}">
                <a16:creationId xmlns:a16="http://schemas.microsoft.com/office/drawing/2014/main" id="{51B97EAE-B793-4D88-B194-FB778089BA2A}"/>
              </a:ext>
            </a:extLst>
          </p:cNvPr>
          <p:cNvGrpSpPr/>
          <p:nvPr/>
        </p:nvGrpSpPr>
        <p:grpSpPr>
          <a:xfrm>
            <a:off x="244364" y="4576466"/>
            <a:ext cx="3149108" cy="786473"/>
            <a:chOff x="244364" y="5739380"/>
            <a:chExt cx="3149108" cy="786473"/>
          </a:xfrm>
        </p:grpSpPr>
        <p:sp>
          <p:nvSpPr>
            <p:cNvPr id="70" name="TextBox 69">
              <a:extLst>
                <a:ext uri="{FF2B5EF4-FFF2-40B4-BE49-F238E27FC236}">
                  <a16:creationId xmlns:a16="http://schemas.microsoft.com/office/drawing/2014/main" id="{C0243325-8A76-4882-90DE-87B30161977B}"/>
                </a:ext>
              </a:extLst>
            </p:cNvPr>
            <p:cNvSpPr txBox="1"/>
            <p:nvPr/>
          </p:nvSpPr>
          <p:spPr>
            <a:xfrm>
              <a:off x="438533" y="5739380"/>
              <a:ext cx="2954939" cy="215444"/>
            </a:xfrm>
            <a:prstGeom prst="rect">
              <a:avLst/>
            </a:prstGeom>
            <a:noFill/>
          </p:spPr>
          <p:txBody>
            <a:bodyPr wrap="square" lIns="0" tIns="0" rIns="0" bIns="0" rtlCol="0">
              <a:spAutoFit/>
            </a:bodyPr>
            <a:lstStyle/>
            <a:p>
              <a:r>
                <a:rPr lang="en-US" sz="1400" dirty="0"/>
                <a:t>Theorem 3.4. (Efficiency).</a:t>
              </a:r>
            </a:p>
          </p:txBody>
        </p:sp>
        <p:pic>
          <p:nvPicPr>
            <p:cNvPr id="9" name="Рисунок 8">
              <a:extLst>
                <a:ext uri="{FF2B5EF4-FFF2-40B4-BE49-F238E27FC236}">
                  <a16:creationId xmlns:a16="http://schemas.microsoft.com/office/drawing/2014/main" id="{BB68584A-D9CF-4035-8354-0C590E884493}"/>
                </a:ext>
              </a:extLst>
            </p:cNvPr>
            <p:cNvPicPr>
              <a:picLocks noChangeAspect="1"/>
            </p:cNvPicPr>
            <p:nvPr/>
          </p:nvPicPr>
          <p:blipFill>
            <a:blip r:embed="rId4"/>
            <a:stretch>
              <a:fillRect/>
            </a:stretch>
          </p:blipFill>
          <p:spPr>
            <a:xfrm>
              <a:off x="244364" y="5954825"/>
              <a:ext cx="2909521" cy="571028"/>
            </a:xfrm>
            <a:prstGeom prst="rect">
              <a:avLst/>
            </a:prstGeom>
          </p:spPr>
        </p:pic>
      </p:grpSp>
      <p:grpSp>
        <p:nvGrpSpPr>
          <p:cNvPr id="49" name="Группа 48">
            <a:extLst>
              <a:ext uri="{FF2B5EF4-FFF2-40B4-BE49-F238E27FC236}">
                <a16:creationId xmlns:a16="http://schemas.microsoft.com/office/drawing/2014/main" id="{C5F2F263-64C0-450B-80B7-0FF678148F11}"/>
              </a:ext>
            </a:extLst>
          </p:cNvPr>
          <p:cNvGrpSpPr/>
          <p:nvPr/>
        </p:nvGrpSpPr>
        <p:grpSpPr>
          <a:xfrm>
            <a:off x="733426" y="1635796"/>
            <a:ext cx="6747742" cy="3538863"/>
            <a:chOff x="733426" y="2063634"/>
            <a:chExt cx="6747742" cy="3538863"/>
          </a:xfrm>
        </p:grpSpPr>
        <p:pic>
          <p:nvPicPr>
            <p:cNvPr id="16" name="Рисунок 15">
              <a:extLst>
                <a:ext uri="{FF2B5EF4-FFF2-40B4-BE49-F238E27FC236}">
                  <a16:creationId xmlns:a16="http://schemas.microsoft.com/office/drawing/2014/main" id="{0D6FF68F-9843-4EB0-AAE6-52085BAD7806}"/>
                </a:ext>
              </a:extLst>
            </p:cNvPr>
            <p:cNvPicPr>
              <a:picLocks noChangeAspect="1"/>
            </p:cNvPicPr>
            <p:nvPr/>
          </p:nvPicPr>
          <p:blipFill>
            <a:blip r:embed="rId5"/>
            <a:stretch>
              <a:fillRect/>
            </a:stretch>
          </p:blipFill>
          <p:spPr>
            <a:xfrm>
              <a:off x="733426" y="2063634"/>
              <a:ext cx="2156920" cy="2139479"/>
            </a:xfrm>
            <a:prstGeom prst="rect">
              <a:avLst/>
            </a:prstGeom>
          </p:spPr>
        </p:pic>
        <p:pic>
          <p:nvPicPr>
            <p:cNvPr id="72" name="Рисунок 71">
              <a:extLst>
                <a:ext uri="{FF2B5EF4-FFF2-40B4-BE49-F238E27FC236}">
                  <a16:creationId xmlns:a16="http://schemas.microsoft.com/office/drawing/2014/main" id="{B76F2762-16E4-402B-A6EB-6DBD71E9F75E}"/>
                </a:ext>
              </a:extLst>
            </p:cNvPr>
            <p:cNvPicPr>
              <a:picLocks noChangeAspect="1"/>
            </p:cNvPicPr>
            <p:nvPr/>
          </p:nvPicPr>
          <p:blipFill>
            <a:blip r:embed="rId6"/>
            <a:stretch>
              <a:fillRect/>
            </a:stretch>
          </p:blipFill>
          <p:spPr>
            <a:xfrm>
              <a:off x="3153885" y="2063634"/>
              <a:ext cx="4327283" cy="3538863"/>
            </a:xfrm>
            <a:prstGeom prst="rect">
              <a:avLst/>
            </a:prstGeom>
          </p:spPr>
        </p:pic>
      </p:grpSp>
      <p:pic>
        <p:nvPicPr>
          <p:cNvPr id="18" name="Рисунок 17">
            <a:extLst>
              <a:ext uri="{FF2B5EF4-FFF2-40B4-BE49-F238E27FC236}">
                <a16:creationId xmlns:a16="http://schemas.microsoft.com/office/drawing/2014/main" id="{8672D006-C845-4DFD-8FC9-0419AAD4ED02}"/>
              </a:ext>
            </a:extLst>
          </p:cNvPr>
          <p:cNvPicPr>
            <a:picLocks noChangeAspect="1"/>
          </p:cNvPicPr>
          <p:nvPr/>
        </p:nvPicPr>
        <p:blipFill>
          <a:blip r:embed="rId7"/>
          <a:stretch>
            <a:fillRect/>
          </a:stretch>
        </p:blipFill>
        <p:spPr>
          <a:xfrm>
            <a:off x="7739093" y="5220887"/>
            <a:ext cx="4135407" cy="823000"/>
          </a:xfrm>
          <a:prstGeom prst="rect">
            <a:avLst/>
          </a:prstGeom>
        </p:spPr>
      </p:pic>
      <p:grpSp>
        <p:nvGrpSpPr>
          <p:cNvPr id="89" name="Группа 88">
            <a:extLst>
              <a:ext uri="{FF2B5EF4-FFF2-40B4-BE49-F238E27FC236}">
                <a16:creationId xmlns:a16="http://schemas.microsoft.com/office/drawing/2014/main" id="{E9A5ACE3-8A4B-439F-9583-ED27ACB7E59E}"/>
              </a:ext>
            </a:extLst>
          </p:cNvPr>
          <p:cNvGrpSpPr/>
          <p:nvPr/>
        </p:nvGrpSpPr>
        <p:grpSpPr>
          <a:xfrm>
            <a:off x="7739094" y="1600179"/>
            <a:ext cx="4135406" cy="1223931"/>
            <a:chOff x="7739094" y="2028017"/>
            <a:chExt cx="4135406" cy="1223931"/>
          </a:xfrm>
        </p:grpSpPr>
        <p:pic>
          <p:nvPicPr>
            <p:cNvPr id="21" name="Рисунок 20">
              <a:extLst>
                <a:ext uri="{FF2B5EF4-FFF2-40B4-BE49-F238E27FC236}">
                  <a16:creationId xmlns:a16="http://schemas.microsoft.com/office/drawing/2014/main" id="{940BD131-D448-4B6B-871B-10D14F8930F7}"/>
                </a:ext>
              </a:extLst>
            </p:cNvPr>
            <p:cNvPicPr>
              <a:picLocks noChangeAspect="1"/>
            </p:cNvPicPr>
            <p:nvPr/>
          </p:nvPicPr>
          <p:blipFill>
            <a:blip r:embed="rId8"/>
            <a:stretch>
              <a:fillRect/>
            </a:stretch>
          </p:blipFill>
          <p:spPr>
            <a:xfrm>
              <a:off x="8029930" y="2555599"/>
              <a:ext cx="3614707" cy="696349"/>
            </a:xfrm>
            <a:prstGeom prst="rect">
              <a:avLst/>
            </a:prstGeom>
          </p:spPr>
        </p:pic>
        <p:pic>
          <p:nvPicPr>
            <p:cNvPr id="25" name="Рисунок 24">
              <a:extLst>
                <a:ext uri="{FF2B5EF4-FFF2-40B4-BE49-F238E27FC236}">
                  <a16:creationId xmlns:a16="http://schemas.microsoft.com/office/drawing/2014/main" id="{8422EA9C-712B-45D7-B14E-E22B876B32DF}"/>
                </a:ext>
              </a:extLst>
            </p:cNvPr>
            <p:cNvPicPr>
              <a:picLocks noChangeAspect="1"/>
            </p:cNvPicPr>
            <p:nvPr/>
          </p:nvPicPr>
          <p:blipFill>
            <a:blip r:embed="rId9"/>
            <a:stretch>
              <a:fillRect/>
            </a:stretch>
          </p:blipFill>
          <p:spPr>
            <a:xfrm>
              <a:off x="7739094" y="2028017"/>
              <a:ext cx="4135406" cy="513503"/>
            </a:xfrm>
            <a:prstGeom prst="rect">
              <a:avLst/>
            </a:prstGeom>
          </p:spPr>
        </p:pic>
      </p:grpSp>
      <p:grpSp>
        <p:nvGrpSpPr>
          <p:cNvPr id="101" name="Группа 100">
            <a:extLst>
              <a:ext uri="{FF2B5EF4-FFF2-40B4-BE49-F238E27FC236}">
                <a16:creationId xmlns:a16="http://schemas.microsoft.com/office/drawing/2014/main" id="{FEEB0D8B-2C70-437F-A6CF-47E45882D3F1}"/>
              </a:ext>
            </a:extLst>
          </p:cNvPr>
          <p:cNvGrpSpPr/>
          <p:nvPr/>
        </p:nvGrpSpPr>
        <p:grpSpPr>
          <a:xfrm>
            <a:off x="7739093" y="2837555"/>
            <a:ext cx="4135407" cy="635921"/>
            <a:chOff x="7739093" y="3265393"/>
            <a:chExt cx="4135407" cy="635921"/>
          </a:xfrm>
        </p:grpSpPr>
        <p:pic>
          <p:nvPicPr>
            <p:cNvPr id="29" name="Рисунок 28">
              <a:extLst>
                <a:ext uri="{FF2B5EF4-FFF2-40B4-BE49-F238E27FC236}">
                  <a16:creationId xmlns:a16="http://schemas.microsoft.com/office/drawing/2014/main" id="{29234B30-8B8D-472C-AD7E-2380040C1377}"/>
                </a:ext>
              </a:extLst>
            </p:cNvPr>
            <p:cNvPicPr>
              <a:picLocks noChangeAspect="1"/>
            </p:cNvPicPr>
            <p:nvPr/>
          </p:nvPicPr>
          <p:blipFill>
            <a:blip r:embed="rId10"/>
            <a:stretch>
              <a:fillRect/>
            </a:stretch>
          </p:blipFill>
          <p:spPr>
            <a:xfrm>
              <a:off x="7739093" y="3265393"/>
              <a:ext cx="4135407" cy="327213"/>
            </a:xfrm>
            <a:prstGeom prst="rect">
              <a:avLst/>
            </a:prstGeom>
          </p:spPr>
        </p:pic>
        <p:pic>
          <p:nvPicPr>
            <p:cNvPr id="33" name="Рисунок 32">
              <a:extLst>
                <a:ext uri="{FF2B5EF4-FFF2-40B4-BE49-F238E27FC236}">
                  <a16:creationId xmlns:a16="http://schemas.microsoft.com/office/drawing/2014/main" id="{D1E2ED13-C575-454D-9FF0-EAACE1445F09}"/>
                </a:ext>
              </a:extLst>
            </p:cNvPr>
            <p:cNvPicPr>
              <a:picLocks noChangeAspect="1"/>
            </p:cNvPicPr>
            <p:nvPr/>
          </p:nvPicPr>
          <p:blipFill>
            <a:blip r:embed="rId11"/>
            <a:stretch>
              <a:fillRect/>
            </a:stretch>
          </p:blipFill>
          <p:spPr>
            <a:xfrm>
              <a:off x="8029930" y="3651946"/>
              <a:ext cx="3478361" cy="249368"/>
            </a:xfrm>
            <a:prstGeom prst="rect">
              <a:avLst/>
            </a:prstGeom>
          </p:spPr>
        </p:pic>
      </p:grpSp>
      <p:grpSp>
        <p:nvGrpSpPr>
          <p:cNvPr id="102" name="Группа 101">
            <a:extLst>
              <a:ext uri="{FF2B5EF4-FFF2-40B4-BE49-F238E27FC236}">
                <a16:creationId xmlns:a16="http://schemas.microsoft.com/office/drawing/2014/main" id="{7C2267E6-8804-4BAD-955B-F8D52508653C}"/>
              </a:ext>
            </a:extLst>
          </p:cNvPr>
          <p:cNvGrpSpPr/>
          <p:nvPr/>
        </p:nvGrpSpPr>
        <p:grpSpPr>
          <a:xfrm>
            <a:off x="5166947" y="3235106"/>
            <a:ext cx="6122376" cy="1775783"/>
            <a:chOff x="5166947" y="3662944"/>
            <a:chExt cx="6122376" cy="1775783"/>
          </a:xfrm>
        </p:grpSpPr>
        <p:sp>
          <p:nvSpPr>
            <p:cNvPr id="80" name="Прямоугольник 79">
              <a:extLst>
                <a:ext uri="{FF2B5EF4-FFF2-40B4-BE49-F238E27FC236}">
                  <a16:creationId xmlns:a16="http://schemas.microsoft.com/office/drawing/2014/main" id="{4AE2481A-5B5F-4B9B-9BA3-FB3D283BD251}"/>
                </a:ext>
              </a:extLst>
            </p:cNvPr>
            <p:cNvSpPr/>
            <p:nvPr/>
          </p:nvSpPr>
          <p:spPr>
            <a:xfrm>
              <a:off x="9692053" y="3662944"/>
              <a:ext cx="1597270" cy="1397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Прямоугольник 81">
              <a:extLst>
                <a:ext uri="{FF2B5EF4-FFF2-40B4-BE49-F238E27FC236}">
                  <a16:creationId xmlns:a16="http://schemas.microsoft.com/office/drawing/2014/main" id="{B891D5D9-C4E9-404C-800E-B90C165F40B4}"/>
                </a:ext>
              </a:extLst>
            </p:cNvPr>
            <p:cNvSpPr/>
            <p:nvPr/>
          </p:nvSpPr>
          <p:spPr>
            <a:xfrm>
              <a:off x="5166947" y="5331565"/>
              <a:ext cx="1787768" cy="1071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3" name="Группа 102">
            <a:extLst>
              <a:ext uri="{FF2B5EF4-FFF2-40B4-BE49-F238E27FC236}">
                <a16:creationId xmlns:a16="http://schemas.microsoft.com/office/drawing/2014/main" id="{9FED322E-4B8E-4602-9B45-D103CEDF9A05}"/>
              </a:ext>
            </a:extLst>
          </p:cNvPr>
          <p:cNvGrpSpPr/>
          <p:nvPr/>
        </p:nvGrpSpPr>
        <p:grpSpPr>
          <a:xfrm>
            <a:off x="7739093" y="3531336"/>
            <a:ext cx="4135407" cy="1070659"/>
            <a:chOff x="7739093" y="3959174"/>
            <a:chExt cx="4135407" cy="1070659"/>
          </a:xfrm>
        </p:grpSpPr>
        <p:pic>
          <p:nvPicPr>
            <p:cNvPr id="38" name="Рисунок 37">
              <a:extLst>
                <a:ext uri="{FF2B5EF4-FFF2-40B4-BE49-F238E27FC236}">
                  <a16:creationId xmlns:a16="http://schemas.microsoft.com/office/drawing/2014/main" id="{73E99EA9-C836-407F-86F1-12D5716A6F5F}"/>
                </a:ext>
              </a:extLst>
            </p:cNvPr>
            <p:cNvPicPr>
              <a:picLocks noChangeAspect="1"/>
            </p:cNvPicPr>
            <p:nvPr/>
          </p:nvPicPr>
          <p:blipFill>
            <a:blip r:embed="rId12"/>
            <a:stretch>
              <a:fillRect/>
            </a:stretch>
          </p:blipFill>
          <p:spPr>
            <a:xfrm>
              <a:off x="7739093" y="3959174"/>
              <a:ext cx="4135407" cy="451767"/>
            </a:xfrm>
            <a:prstGeom prst="rect">
              <a:avLst/>
            </a:prstGeom>
          </p:spPr>
        </p:pic>
        <p:pic>
          <p:nvPicPr>
            <p:cNvPr id="40" name="Рисунок 39">
              <a:extLst>
                <a:ext uri="{FF2B5EF4-FFF2-40B4-BE49-F238E27FC236}">
                  <a16:creationId xmlns:a16="http://schemas.microsoft.com/office/drawing/2014/main" id="{723155F7-18F3-417E-8A14-497977C3D6B2}"/>
                </a:ext>
              </a:extLst>
            </p:cNvPr>
            <p:cNvPicPr>
              <a:picLocks noChangeAspect="1"/>
            </p:cNvPicPr>
            <p:nvPr/>
          </p:nvPicPr>
          <p:blipFill>
            <a:blip r:embed="rId13"/>
            <a:stretch>
              <a:fillRect/>
            </a:stretch>
          </p:blipFill>
          <p:spPr>
            <a:xfrm>
              <a:off x="8029930" y="4468325"/>
              <a:ext cx="3614707" cy="561508"/>
            </a:xfrm>
            <a:prstGeom prst="rect">
              <a:avLst/>
            </a:prstGeom>
          </p:spPr>
        </p:pic>
      </p:grpSp>
      <p:sp>
        <p:nvSpPr>
          <p:cNvPr id="87" name="Прямоугольник 86">
            <a:extLst>
              <a:ext uri="{FF2B5EF4-FFF2-40B4-BE49-F238E27FC236}">
                <a16:creationId xmlns:a16="http://schemas.microsoft.com/office/drawing/2014/main" id="{6DF4FB1C-4D09-477B-B9E7-8B336E427CDC}"/>
              </a:ext>
            </a:extLst>
          </p:cNvPr>
          <p:cNvSpPr/>
          <p:nvPr/>
        </p:nvSpPr>
        <p:spPr>
          <a:xfrm>
            <a:off x="8367055" y="4397750"/>
            <a:ext cx="284576" cy="1068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0" name="Группа 99">
            <a:extLst>
              <a:ext uri="{FF2B5EF4-FFF2-40B4-BE49-F238E27FC236}">
                <a16:creationId xmlns:a16="http://schemas.microsoft.com/office/drawing/2014/main" id="{4689CF30-63AB-46E1-9490-72929A50CAA4}"/>
              </a:ext>
            </a:extLst>
          </p:cNvPr>
          <p:cNvGrpSpPr/>
          <p:nvPr/>
        </p:nvGrpSpPr>
        <p:grpSpPr>
          <a:xfrm>
            <a:off x="828675" y="2127697"/>
            <a:ext cx="8032213" cy="1266232"/>
            <a:chOff x="828675" y="2555535"/>
            <a:chExt cx="8032213" cy="1266232"/>
          </a:xfrm>
        </p:grpSpPr>
        <p:sp>
          <p:nvSpPr>
            <p:cNvPr id="75" name="Прямоугольник 74">
              <a:extLst>
                <a:ext uri="{FF2B5EF4-FFF2-40B4-BE49-F238E27FC236}">
                  <a16:creationId xmlns:a16="http://schemas.microsoft.com/office/drawing/2014/main" id="{C74354ED-A28B-46C2-86B9-B3B92F315501}"/>
                </a:ext>
              </a:extLst>
            </p:cNvPr>
            <p:cNvSpPr/>
            <p:nvPr/>
          </p:nvSpPr>
          <p:spPr>
            <a:xfrm>
              <a:off x="8442373" y="2555535"/>
              <a:ext cx="418515" cy="10384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Прямоугольник 92">
              <a:extLst>
                <a:ext uri="{FF2B5EF4-FFF2-40B4-BE49-F238E27FC236}">
                  <a16:creationId xmlns:a16="http://schemas.microsoft.com/office/drawing/2014/main" id="{689CD548-3C3A-46CC-A469-12F3A44F8D52}"/>
                </a:ext>
              </a:extLst>
            </p:cNvPr>
            <p:cNvSpPr/>
            <p:nvPr/>
          </p:nvSpPr>
          <p:spPr>
            <a:xfrm>
              <a:off x="828675" y="3742099"/>
              <a:ext cx="1766923" cy="796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9" name="Группа 98">
            <a:extLst>
              <a:ext uri="{FF2B5EF4-FFF2-40B4-BE49-F238E27FC236}">
                <a16:creationId xmlns:a16="http://schemas.microsoft.com/office/drawing/2014/main" id="{9013A1EF-F5A4-4F67-B117-9AB0AD6DCF16}"/>
              </a:ext>
            </a:extLst>
          </p:cNvPr>
          <p:cNvGrpSpPr/>
          <p:nvPr/>
        </p:nvGrpSpPr>
        <p:grpSpPr>
          <a:xfrm>
            <a:off x="5433646" y="2162281"/>
            <a:ext cx="5043854" cy="661829"/>
            <a:chOff x="5433646" y="2590119"/>
            <a:chExt cx="5043854" cy="661829"/>
          </a:xfrm>
        </p:grpSpPr>
        <p:sp>
          <p:nvSpPr>
            <p:cNvPr id="78" name="Прямоугольник 77">
              <a:extLst>
                <a:ext uri="{FF2B5EF4-FFF2-40B4-BE49-F238E27FC236}">
                  <a16:creationId xmlns:a16="http://schemas.microsoft.com/office/drawing/2014/main" id="{128A6D65-B08A-4401-B07D-90094045A013}"/>
                </a:ext>
              </a:extLst>
            </p:cNvPr>
            <p:cNvSpPr/>
            <p:nvPr/>
          </p:nvSpPr>
          <p:spPr>
            <a:xfrm>
              <a:off x="5433646" y="2590119"/>
              <a:ext cx="316523" cy="1071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Прямоугольник 94">
              <a:extLst>
                <a:ext uri="{FF2B5EF4-FFF2-40B4-BE49-F238E27FC236}">
                  <a16:creationId xmlns:a16="http://schemas.microsoft.com/office/drawing/2014/main" id="{1BECC0A9-9EF5-4A4A-9811-AC3D9DF62B73}"/>
                </a:ext>
              </a:extLst>
            </p:cNvPr>
            <p:cNvSpPr/>
            <p:nvPr/>
          </p:nvSpPr>
          <p:spPr>
            <a:xfrm>
              <a:off x="8176258" y="2861525"/>
              <a:ext cx="2301242" cy="3904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 name="Группа 103">
            <a:extLst>
              <a:ext uri="{FF2B5EF4-FFF2-40B4-BE49-F238E27FC236}">
                <a16:creationId xmlns:a16="http://schemas.microsoft.com/office/drawing/2014/main" id="{5E132E78-4FF4-4FC9-B342-48EB02508BFC}"/>
              </a:ext>
            </a:extLst>
          </p:cNvPr>
          <p:cNvGrpSpPr/>
          <p:nvPr/>
        </p:nvGrpSpPr>
        <p:grpSpPr>
          <a:xfrm>
            <a:off x="7739093" y="4601995"/>
            <a:ext cx="4135407" cy="593597"/>
            <a:chOff x="7739093" y="5029833"/>
            <a:chExt cx="4135407" cy="593597"/>
          </a:xfrm>
        </p:grpSpPr>
        <p:pic>
          <p:nvPicPr>
            <p:cNvPr id="47" name="Рисунок 46">
              <a:extLst>
                <a:ext uri="{FF2B5EF4-FFF2-40B4-BE49-F238E27FC236}">
                  <a16:creationId xmlns:a16="http://schemas.microsoft.com/office/drawing/2014/main" id="{CA8750F8-29EE-40EB-8713-21D8326F58B6}"/>
                </a:ext>
              </a:extLst>
            </p:cNvPr>
            <p:cNvPicPr>
              <a:picLocks noChangeAspect="1"/>
            </p:cNvPicPr>
            <p:nvPr/>
          </p:nvPicPr>
          <p:blipFill>
            <a:blip r:embed="rId14"/>
            <a:stretch>
              <a:fillRect/>
            </a:stretch>
          </p:blipFill>
          <p:spPr>
            <a:xfrm>
              <a:off x="7739093" y="5029833"/>
              <a:ext cx="4135407" cy="292403"/>
            </a:xfrm>
            <a:prstGeom prst="rect">
              <a:avLst/>
            </a:prstGeom>
          </p:spPr>
        </p:pic>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1510B8B3-39C6-40CA-9CDE-AE0DEAD5B4D2}"/>
                    </a:ext>
                  </a:extLst>
                </p:cNvPr>
                <p:cNvSpPr txBox="1"/>
                <p:nvPr/>
              </p:nvSpPr>
              <p:spPr>
                <a:xfrm>
                  <a:off x="8029930" y="5315653"/>
                  <a:ext cx="3718518" cy="307777"/>
                </a:xfrm>
                <a:prstGeom prst="rect">
                  <a:avLst/>
                </a:prstGeom>
                <a:noFill/>
              </p:spPr>
              <p:txBody>
                <a:bodyPr wrap="none" lIns="0" tIns="0" rIns="0" bIns="0" rtlCol="0">
                  <a:spAutoFit/>
                </a:bodyPr>
                <a:lstStyle/>
                <a:p>
                  <a14:m>
                    <m:oMath xmlns:m="http://schemas.openxmlformats.org/officeDocument/2006/math">
                      <m:r>
                        <a:rPr lang="el-GR" sz="1000" b="0" i="1" smtClean="0">
                          <a:latin typeface="Cambria Math" panose="02040503050406030204" pitchFamily="18" charset="0"/>
                        </a:rPr>
                        <m:t>𝛽</m:t>
                      </m:r>
                      <m:r>
                        <a:rPr lang="en-US" sz="1000" b="0" i="1" smtClean="0">
                          <a:latin typeface="Cambria Math" panose="02040503050406030204" pitchFamily="18" charset="0"/>
                        </a:rPr>
                        <m:t>= </m:t>
                      </m:r>
                      <m:r>
                        <a:rPr lang="en-US" sz="1000" b="0" i="1" smtClean="0">
                          <a:latin typeface="Cambria Math" panose="02040503050406030204" pitchFamily="18" charset="0"/>
                        </a:rPr>
                        <m:t>𝑞</m:t>
                      </m:r>
                    </m:oMath>
                  </a14:m>
                  <a:r>
                    <a:rPr lang="en-US" sz="1000" i="1" dirty="0"/>
                    <a:t> ⊕</a:t>
                  </a:r>
                  <a14:m>
                    <m:oMath xmlns:m="http://schemas.openxmlformats.org/officeDocument/2006/math">
                      <m:sSub>
                        <m:sSubPr>
                          <m:ctrlPr>
                            <a:rPr lang="en-US" sz="1000" i="1" dirty="0" smtClean="0">
                              <a:latin typeface="Cambria Math" panose="02040503050406030204" pitchFamily="18" charset="0"/>
                            </a:rPr>
                          </m:ctrlPr>
                        </m:sSubPr>
                        <m:e>
                          <m:r>
                            <a:rPr lang="en-US" sz="1000" b="0" i="1" dirty="0" smtClean="0">
                              <a:latin typeface="Cambria Math" panose="02040503050406030204" pitchFamily="18" charset="0"/>
                            </a:rPr>
                            <m:t> </m:t>
                          </m:r>
                          <m:r>
                            <a:rPr lang="en-US" sz="1000" b="0" i="1" dirty="0" smtClean="0">
                              <a:latin typeface="Cambria Math" panose="02040503050406030204" pitchFamily="18" charset="0"/>
                            </a:rPr>
                            <m:t>𝑝</m:t>
                          </m:r>
                        </m:e>
                        <m:sub>
                          <m:r>
                            <a:rPr lang="en-US" sz="1000" b="0" i="1" dirty="0" smtClean="0">
                              <a:latin typeface="Cambria Math" panose="02040503050406030204" pitchFamily="18" charset="0"/>
                            </a:rPr>
                            <m:t>𝑖</m:t>
                          </m:r>
                        </m:sub>
                      </m:sSub>
                      <m:r>
                        <a:rPr lang="en-US" sz="1000" b="0" i="1" dirty="0" smtClean="0">
                          <a:latin typeface="Cambria Math" panose="02040503050406030204" pitchFamily="18" charset="0"/>
                        </a:rPr>
                        <m:t> </m:t>
                      </m:r>
                      <m:r>
                        <m:rPr>
                          <m:nor/>
                        </m:rPr>
                        <a:rPr lang="en-US" sz="1000" i="1" dirty="0"/>
                        <m:t>⊕</m:t>
                      </m:r>
                      <m:r>
                        <m:rPr>
                          <m:nor/>
                        </m:rPr>
                        <a:rPr lang="en-US" sz="1000" b="0" i="1" dirty="0" smtClean="0"/>
                        <m:t> </m:t>
                      </m:r>
                      <m:r>
                        <m:rPr>
                          <m:nor/>
                        </m:rPr>
                        <a:rPr lang="en-US" sz="1000" b="0" i="1" dirty="0" smtClean="0"/>
                        <m:t>DB</m:t>
                      </m:r>
                      <m:r>
                        <m:rPr>
                          <m:nor/>
                        </m:rPr>
                        <a:rPr lang="en-US" sz="1000" b="0" i="1" dirty="0" smtClean="0"/>
                        <m:t>[</m:t>
                      </m:r>
                      <m:r>
                        <m:rPr>
                          <m:nor/>
                        </m:rPr>
                        <a:rPr lang="en-US" sz="1000" b="0" i="1" dirty="0" smtClean="0"/>
                        <m:t>r</m:t>
                      </m:r>
                      <m:r>
                        <m:rPr>
                          <m:nor/>
                        </m:rPr>
                        <a:rPr lang="en-US" sz="1000" b="0" i="1" dirty="0" smtClean="0"/>
                        <m:t>] =</m:t>
                      </m:r>
                    </m:oMath>
                  </a14:m>
                  <a:r>
                    <a:rPr lang="en-US" sz="1000" i="1" dirty="0"/>
                    <a:t> 0xba91a60e8385e8b2 ⊕ 0x51cc86765491307d </a:t>
                  </a:r>
                </a:p>
                <a:p>
                  <a:r>
                    <a:rPr lang="en-US" sz="1000" i="1" dirty="0"/>
                    <a:t>⊕ 0x010e4c356d258655 =  0xea536c4dba315e9a </a:t>
                  </a:r>
                </a:p>
              </p:txBody>
            </p:sp>
          </mc:Choice>
          <mc:Fallback xmlns="">
            <p:sp>
              <p:nvSpPr>
                <p:cNvPr id="98" name="TextBox 97">
                  <a:extLst>
                    <a:ext uri="{FF2B5EF4-FFF2-40B4-BE49-F238E27FC236}">
                      <a16:creationId xmlns:a16="http://schemas.microsoft.com/office/drawing/2014/main" id="{1510B8B3-39C6-40CA-9CDE-AE0DEAD5B4D2}"/>
                    </a:ext>
                  </a:extLst>
                </p:cNvPr>
                <p:cNvSpPr txBox="1">
                  <a:spLocks noRot="1" noChangeAspect="1" noMove="1" noResize="1" noEditPoints="1" noAdjustHandles="1" noChangeArrowheads="1" noChangeShapeType="1" noTextEdit="1"/>
                </p:cNvSpPr>
                <p:nvPr/>
              </p:nvSpPr>
              <p:spPr>
                <a:xfrm>
                  <a:off x="8029930" y="5315653"/>
                  <a:ext cx="3718518" cy="307777"/>
                </a:xfrm>
                <a:prstGeom prst="rect">
                  <a:avLst/>
                </a:prstGeom>
                <a:blipFill>
                  <a:blip r:embed="rId15"/>
                  <a:stretch>
                    <a:fillRect l="-2131" t="-14000" r="-2295" b="-28000"/>
                  </a:stretch>
                </a:blipFill>
              </p:spPr>
              <p:txBody>
                <a:bodyPr/>
                <a:lstStyle/>
                <a:p>
                  <a:r>
                    <a:rPr lang="en-US">
                      <a:noFill/>
                    </a:rPr>
                    <a:t> </a:t>
                  </a:r>
                </a:p>
              </p:txBody>
            </p:sp>
          </mc:Fallback>
        </mc:AlternateContent>
      </p:grpSp>
      <p:sp>
        <p:nvSpPr>
          <p:cNvPr id="105" name="Прямоугольник 104">
            <a:extLst>
              <a:ext uri="{FF2B5EF4-FFF2-40B4-BE49-F238E27FC236}">
                <a16:creationId xmlns:a16="http://schemas.microsoft.com/office/drawing/2014/main" id="{7CE6A9E6-93DB-42F0-8DB6-412FA250F2B3}"/>
              </a:ext>
            </a:extLst>
          </p:cNvPr>
          <p:cNvSpPr/>
          <p:nvPr/>
        </p:nvSpPr>
        <p:spPr>
          <a:xfrm>
            <a:off x="9434147" y="5067354"/>
            <a:ext cx="1259885" cy="1282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Группа 115">
            <a:extLst>
              <a:ext uri="{FF2B5EF4-FFF2-40B4-BE49-F238E27FC236}">
                <a16:creationId xmlns:a16="http://schemas.microsoft.com/office/drawing/2014/main" id="{5E58B775-3781-4956-8A10-C7A280D651B8}"/>
              </a:ext>
            </a:extLst>
          </p:cNvPr>
          <p:cNvGrpSpPr/>
          <p:nvPr/>
        </p:nvGrpSpPr>
        <p:grpSpPr>
          <a:xfrm>
            <a:off x="4993144" y="3708075"/>
            <a:ext cx="5310664" cy="1886818"/>
            <a:chOff x="4993144" y="4135913"/>
            <a:chExt cx="5310664" cy="1886818"/>
          </a:xfrm>
        </p:grpSpPr>
        <p:sp>
          <p:nvSpPr>
            <p:cNvPr id="108" name="Прямоугольник 107">
              <a:extLst>
                <a:ext uri="{FF2B5EF4-FFF2-40B4-BE49-F238E27FC236}">
                  <a16:creationId xmlns:a16="http://schemas.microsoft.com/office/drawing/2014/main" id="{D9EB749B-4E09-46B9-AD87-25604FFDB2AF}"/>
                </a:ext>
              </a:extLst>
            </p:cNvPr>
            <p:cNvSpPr/>
            <p:nvPr/>
          </p:nvSpPr>
          <p:spPr>
            <a:xfrm>
              <a:off x="9995560" y="5888332"/>
              <a:ext cx="308248" cy="1343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Прямоугольник 108">
              <a:extLst>
                <a:ext uri="{FF2B5EF4-FFF2-40B4-BE49-F238E27FC236}">
                  <a16:creationId xmlns:a16="http://schemas.microsoft.com/office/drawing/2014/main" id="{8F27965D-2C76-4258-AC0A-72C0B3A10139}"/>
                </a:ext>
              </a:extLst>
            </p:cNvPr>
            <p:cNvSpPr/>
            <p:nvPr/>
          </p:nvSpPr>
          <p:spPr>
            <a:xfrm>
              <a:off x="4993144" y="4135913"/>
              <a:ext cx="314110" cy="1071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7" name="Группа 116">
            <a:extLst>
              <a:ext uri="{FF2B5EF4-FFF2-40B4-BE49-F238E27FC236}">
                <a16:creationId xmlns:a16="http://schemas.microsoft.com/office/drawing/2014/main" id="{D6C38F07-2F12-4D5A-A408-0572755D4B4E}"/>
              </a:ext>
            </a:extLst>
          </p:cNvPr>
          <p:cNvGrpSpPr/>
          <p:nvPr/>
        </p:nvGrpSpPr>
        <p:grpSpPr>
          <a:xfrm>
            <a:off x="3717972" y="3708075"/>
            <a:ext cx="6894084" cy="1886817"/>
            <a:chOff x="3717972" y="4135913"/>
            <a:chExt cx="6894084" cy="1886817"/>
          </a:xfrm>
        </p:grpSpPr>
        <p:sp>
          <p:nvSpPr>
            <p:cNvPr id="110" name="Прямоугольник 109">
              <a:extLst>
                <a:ext uri="{FF2B5EF4-FFF2-40B4-BE49-F238E27FC236}">
                  <a16:creationId xmlns:a16="http://schemas.microsoft.com/office/drawing/2014/main" id="{31397ABB-C51C-4A2C-AF5E-11D7471A529C}"/>
                </a:ext>
              </a:extLst>
            </p:cNvPr>
            <p:cNvSpPr/>
            <p:nvPr/>
          </p:nvSpPr>
          <p:spPr>
            <a:xfrm>
              <a:off x="10303808" y="5888331"/>
              <a:ext cx="308248" cy="1343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Прямоугольник 110">
              <a:extLst>
                <a:ext uri="{FF2B5EF4-FFF2-40B4-BE49-F238E27FC236}">
                  <a16:creationId xmlns:a16="http://schemas.microsoft.com/office/drawing/2014/main" id="{455C08AB-7776-4232-A0BF-CD0528DF67AC}"/>
                </a:ext>
              </a:extLst>
            </p:cNvPr>
            <p:cNvSpPr/>
            <p:nvPr/>
          </p:nvSpPr>
          <p:spPr>
            <a:xfrm>
              <a:off x="3717972" y="4135913"/>
              <a:ext cx="726409" cy="1071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 name="Группа 112">
            <a:extLst>
              <a:ext uri="{FF2B5EF4-FFF2-40B4-BE49-F238E27FC236}">
                <a16:creationId xmlns:a16="http://schemas.microsoft.com/office/drawing/2014/main" id="{8343AC7D-F0D4-43AE-AD13-884E521FE1EB}"/>
              </a:ext>
            </a:extLst>
          </p:cNvPr>
          <p:cNvGrpSpPr/>
          <p:nvPr/>
        </p:nvGrpSpPr>
        <p:grpSpPr>
          <a:xfrm>
            <a:off x="3148270" y="3700675"/>
            <a:ext cx="8694969" cy="1894218"/>
            <a:chOff x="3148270" y="4128513"/>
            <a:chExt cx="8694969" cy="1894218"/>
          </a:xfrm>
        </p:grpSpPr>
        <p:sp>
          <p:nvSpPr>
            <p:cNvPr id="107" name="Прямоугольник 106">
              <a:extLst>
                <a:ext uri="{FF2B5EF4-FFF2-40B4-BE49-F238E27FC236}">
                  <a16:creationId xmlns:a16="http://schemas.microsoft.com/office/drawing/2014/main" id="{CBD282A4-205D-4B79-89E1-3E1821DEC967}"/>
                </a:ext>
              </a:extLst>
            </p:cNvPr>
            <p:cNvSpPr/>
            <p:nvPr/>
          </p:nvSpPr>
          <p:spPr>
            <a:xfrm>
              <a:off x="11289323" y="5873530"/>
              <a:ext cx="553916" cy="1492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Прямоугольник 111">
              <a:extLst>
                <a:ext uri="{FF2B5EF4-FFF2-40B4-BE49-F238E27FC236}">
                  <a16:creationId xmlns:a16="http://schemas.microsoft.com/office/drawing/2014/main" id="{F8E67131-FFF5-430D-B350-B750D324562D}"/>
                </a:ext>
              </a:extLst>
            </p:cNvPr>
            <p:cNvSpPr/>
            <p:nvPr/>
          </p:nvSpPr>
          <p:spPr>
            <a:xfrm>
              <a:off x="3148270" y="4128513"/>
              <a:ext cx="2285375" cy="1145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0" name="Группа 119">
            <a:extLst>
              <a:ext uri="{FF2B5EF4-FFF2-40B4-BE49-F238E27FC236}">
                <a16:creationId xmlns:a16="http://schemas.microsoft.com/office/drawing/2014/main" id="{E9BDC3D7-C81F-412E-B8DC-401A0881E21F}"/>
              </a:ext>
            </a:extLst>
          </p:cNvPr>
          <p:cNvGrpSpPr/>
          <p:nvPr/>
        </p:nvGrpSpPr>
        <p:grpSpPr>
          <a:xfrm>
            <a:off x="3151329" y="1635796"/>
            <a:ext cx="8396534" cy="4728243"/>
            <a:chOff x="3151329" y="2063634"/>
            <a:chExt cx="8396534" cy="4728243"/>
          </a:xfrm>
        </p:grpSpPr>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34FCA491-BCF0-4015-8922-3C76D7222103}"/>
                    </a:ext>
                  </a:extLst>
                </p:cNvPr>
                <p:cNvSpPr txBox="1"/>
                <p:nvPr/>
              </p:nvSpPr>
              <p:spPr>
                <a:xfrm>
                  <a:off x="7978873" y="6471725"/>
                  <a:ext cx="3568990" cy="320152"/>
                </a:xfrm>
                <a:prstGeom prst="rect">
                  <a:avLst/>
                </a:prstGeom>
                <a:noFill/>
              </p:spPr>
              <p:txBody>
                <a:bodyPr wrap="none" lIns="0" tIns="0" rIns="0" bIns="0" rtlCol="0">
                  <a:spAutoFit/>
                </a:bodyPr>
                <a:lstStyle/>
                <a:p>
                  <a14:m>
                    <m:oMath xmlns:m="http://schemas.openxmlformats.org/officeDocument/2006/math">
                      <m:sSub>
                        <m:sSubPr>
                          <m:ctrlPr>
                            <a:rPr lang="en-US" sz="1000" i="1" dirty="0" smtClean="0">
                              <a:latin typeface="Cambria Math" panose="02040503050406030204" pitchFamily="18" charset="0"/>
                            </a:rPr>
                          </m:ctrlPr>
                        </m:sSubPr>
                        <m:e>
                          <m:r>
                            <a:rPr lang="en-US" sz="1000" i="1" dirty="0">
                              <a:latin typeface="Cambria Math" panose="02040503050406030204" pitchFamily="18" charset="0"/>
                            </a:rPr>
                            <m:t> </m:t>
                          </m:r>
                          <m:r>
                            <a:rPr lang="en-US" sz="1000" i="1" dirty="0">
                              <a:latin typeface="Cambria Math" panose="02040503050406030204" pitchFamily="18" charset="0"/>
                            </a:rPr>
                            <m:t>𝑝</m:t>
                          </m:r>
                        </m:e>
                        <m:sub>
                          <m:r>
                            <a:rPr lang="en-US" sz="1000" b="0" i="1" dirty="0" smtClean="0">
                              <a:latin typeface="Cambria Math" panose="02040503050406030204" pitchFamily="18" charset="0"/>
                            </a:rPr>
                            <m:t>𝑛𝑒𝑤</m:t>
                          </m:r>
                        </m:sub>
                      </m:sSub>
                    </m:oMath>
                  </a14:m>
                  <a:r>
                    <a:rPr lang="en-US" sz="1000" b="0" dirty="0"/>
                    <a:t> </a:t>
                  </a:r>
                  <a14:m>
                    <m:oMath xmlns:m="http://schemas.openxmlformats.org/officeDocument/2006/math">
                      <m:r>
                        <a:rPr lang="en-US" sz="1000" b="0" i="1" smtClean="0">
                          <a:latin typeface="Cambria Math" panose="02040503050406030204" pitchFamily="18" charset="0"/>
                        </a:rPr>
                        <m:t>= </m:t>
                      </m:r>
                      <m:sSub>
                        <m:sSubPr>
                          <m:ctrlPr>
                            <a:rPr lang="en-US" sz="1000" i="1" dirty="0" smtClean="0">
                              <a:latin typeface="Cambria Math" panose="02040503050406030204" pitchFamily="18" charset="0"/>
                            </a:rPr>
                          </m:ctrlPr>
                        </m:sSubPr>
                        <m:e>
                          <m:r>
                            <a:rPr lang="en-US" sz="1000" b="0" i="1" dirty="0" smtClean="0">
                              <a:latin typeface="Cambria Math" panose="02040503050406030204" pitchFamily="18" charset="0"/>
                            </a:rPr>
                            <m:t> </m:t>
                          </m:r>
                          <m:acc>
                            <m:accPr>
                              <m:chr m:val="̅"/>
                              <m:ctrlPr>
                                <a:rPr lang="en-US" sz="1000" b="0" i="1" dirty="0" smtClean="0">
                                  <a:latin typeface="Cambria Math" panose="02040503050406030204" pitchFamily="18" charset="0"/>
                                </a:rPr>
                              </m:ctrlPr>
                            </m:accPr>
                            <m:e>
                              <m:r>
                                <a:rPr lang="en-US" sz="1000" b="0" i="1" dirty="0" smtClean="0">
                                  <a:latin typeface="Cambria Math" panose="02040503050406030204" pitchFamily="18" charset="0"/>
                                </a:rPr>
                                <m:t>𝑝</m:t>
                              </m:r>
                            </m:e>
                          </m:acc>
                        </m:e>
                        <m:sub>
                          <m:sSup>
                            <m:sSupPr>
                              <m:ctrlPr>
                                <a:rPr lang="en-US" sz="1000" i="1" dirty="0" smtClean="0">
                                  <a:latin typeface="Cambria Math" panose="02040503050406030204" pitchFamily="18" charset="0"/>
                                </a:rPr>
                              </m:ctrlPr>
                            </m:sSupPr>
                            <m:e>
                              <m:r>
                                <a:rPr lang="en-US" sz="1000" b="0" i="1" dirty="0" smtClean="0">
                                  <a:latin typeface="Cambria Math" panose="02040503050406030204" pitchFamily="18" charset="0"/>
                                </a:rPr>
                                <m:t>𝑗</m:t>
                              </m:r>
                            </m:e>
                            <m:sup>
                              <m:r>
                                <a:rPr lang="en-US" sz="1000" b="0" i="1" dirty="0" smtClean="0">
                                  <a:latin typeface="Cambria Math" panose="02040503050406030204" pitchFamily="18" charset="0"/>
                                </a:rPr>
                                <m:t>∗</m:t>
                              </m:r>
                            </m:sup>
                          </m:sSup>
                          <m:r>
                            <a:rPr lang="en-US" sz="1000" b="0" i="1" dirty="0" smtClean="0">
                              <a:latin typeface="Cambria Math" panose="02040503050406030204" pitchFamily="18" charset="0"/>
                            </a:rPr>
                            <m:t>,</m:t>
                          </m:r>
                          <m:r>
                            <a:rPr lang="en-US" sz="1000" b="0" i="1" dirty="0" smtClean="0">
                              <a:latin typeface="Cambria Math" panose="02040503050406030204" pitchFamily="18" charset="0"/>
                            </a:rPr>
                            <m:t>𝑘</m:t>
                          </m:r>
                        </m:sub>
                      </m:sSub>
                      <m:r>
                        <a:rPr lang="en-US" sz="1000" b="0" i="1" dirty="0" smtClean="0">
                          <a:latin typeface="Cambria Math" panose="02040503050406030204" pitchFamily="18" charset="0"/>
                        </a:rPr>
                        <m:t> </m:t>
                      </m:r>
                      <m:r>
                        <m:rPr>
                          <m:nor/>
                        </m:rPr>
                        <a:rPr lang="en-US" sz="1000" i="1" dirty="0"/>
                        <m:t>⊕</m:t>
                      </m:r>
                      <m:r>
                        <a:rPr lang="en-US" sz="1000" b="0" i="1" dirty="0" smtClean="0">
                          <a:latin typeface="Cambria Math" panose="02040503050406030204" pitchFamily="18" charset="0"/>
                        </a:rPr>
                        <m:t> </m:t>
                      </m:r>
                      <m:r>
                        <a:rPr lang="el-GR" sz="1000" i="1">
                          <a:latin typeface="Cambria Math" panose="02040503050406030204" pitchFamily="18" charset="0"/>
                        </a:rPr>
                        <m:t>𝛽</m:t>
                      </m:r>
                      <m:r>
                        <m:rPr>
                          <m:nor/>
                        </m:rPr>
                        <a:rPr lang="en-US" sz="1000" b="0" i="1" dirty="0" smtClean="0"/>
                        <m:t>=</m:t>
                      </m:r>
                    </m:oMath>
                  </a14:m>
                  <a:r>
                    <a:rPr lang="en-US" sz="1000" i="1" dirty="0"/>
                    <a:t> 0x2ed0bade0ffdc8d3 ⊕ 0xea536c4dba315e9a </a:t>
                  </a:r>
                </a:p>
                <a:p>
                  <a:r>
                    <a:rPr lang="en-US" sz="1000" i="1" dirty="0"/>
                    <a:t>= 0xc483d693b5cc9649 </a:t>
                  </a:r>
                </a:p>
              </p:txBody>
            </p:sp>
          </mc:Choice>
          <mc:Fallback xmlns="">
            <p:sp>
              <p:nvSpPr>
                <p:cNvPr id="106" name="TextBox 105">
                  <a:extLst>
                    <a:ext uri="{FF2B5EF4-FFF2-40B4-BE49-F238E27FC236}">
                      <a16:creationId xmlns:a16="http://schemas.microsoft.com/office/drawing/2014/main" id="{34FCA491-BCF0-4015-8922-3C76D7222103}"/>
                    </a:ext>
                  </a:extLst>
                </p:cNvPr>
                <p:cNvSpPr txBox="1">
                  <a:spLocks noRot="1" noChangeAspect="1" noMove="1" noResize="1" noEditPoints="1" noAdjustHandles="1" noChangeArrowheads="1" noChangeShapeType="1" noTextEdit="1"/>
                </p:cNvSpPr>
                <p:nvPr/>
              </p:nvSpPr>
              <p:spPr>
                <a:xfrm>
                  <a:off x="7978873" y="6471725"/>
                  <a:ext cx="3568990" cy="320152"/>
                </a:xfrm>
                <a:prstGeom prst="rect">
                  <a:avLst/>
                </a:prstGeom>
                <a:blipFill>
                  <a:blip r:embed="rId16"/>
                  <a:stretch>
                    <a:fillRect l="-2222" t="-13462" r="-1709" b="-26923"/>
                  </a:stretch>
                </a:blipFill>
              </p:spPr>
              <p:txBody>
                <a:bodyPr/>
                <a:lstStyle/>
                <a:p>
                  <a:r>
                    <a:rPr lang="en-US">
                      <a:noFill/>
                    </a:rPr>
                    <a:t> </a:t>
                  </a:r>
                </a:p>
              </p:txBody>
            </p:sp>
          </mc:Fallback>
        </mc:AlternateContent>
        <p:pic>
          <p:nvPicPr>
            <p:cNvPr id="119" name="Рисунок 118">
              <a:extLst>
                <a:ext uri="{FF2B5EF4-FFF2-40B4-BE49-F238E27FC236}">
                  <a16:creationId xmlns:a16="http://schemas.microsoft.com/office/drawing/2014/main" id="{926C3775-E199-48E0-87C3-59FFC044EC89}"/>
                </a:ext>
              </a:extLst>
            </p:cNvPr>
            <p:cNvPicPr>
              <a:picLocks noChangeAspect="1"/>
            </p:cNvPicPr>
            <p:nvPr/>
          </p:nvPicPr>
          <p:blipFill>
            <a:blip r:embed="rId17"/>
            <a:stretch>
              <a:fillRect/>
            </a:stretch>
          </p:blipFill>
          <p:spPr>
            <a:xfrm>
              <a:off x="3151329" y="2063634"/>
              <a:ext cx="4320896" cy="3559795"/>
            </a:xfrm>
            <a:prstGeom prst="rect">
              <a:avLst/>
            </a:prstGeom>
          </p:spPr>
        </p:pic>
      </p:grpSp>
      <p:sp>
        <p:nvSpPr>
          <p:cNvPr id="50" name="文本框 9">
            <a:extLst>
              <a:ext uri="{FF2B5EF4-FFF2-40B4-BE49-F238E27FC236}">
                <a16:creationId xmlns:a16="http://schemas.microsoft.com/office/drawing/2014/main" id="{98F5B64A-61EC-44F0-AB92-78A49FEB4ED2}"/>
              </a:ext>
            </a:extLst>
          </p:cNvPr>
          <p:cNvSpPr txBox="1"/>
          <p:nvPr/>
        </p:nvSpPr>
        <p:spPr>
          <a:xfrm>
            <a:off x="1299594" y="183700"/>
            <a:ext cx="5436765"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Online stage: query for index </a:t>
            </a:r>
            <a:r>
              <a:rPr lang="en-US" altLang="zh-CN" sz="2000" i="1"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x</a:t>
            </a:r>
            <a:endParaRPr lang="zh-CN" altLang="en-US" sz="2000" i="1"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51" name="组合 22">
            <a:extLst>
              <a:ext uri="{FF2B5EF4-FFF2-40B4-BE49-F238E27FC236}">
                <a16:creationId xmlns:a16="http://schemas.microsoft.com/office/drawing/2014/main" id="{1EE3A44F-A4C8-44C4-BE21-F45218BF6EAE}"/>
              </a:ext>
            </a:extLst>
          </p:cNvPr>
          <p:cNvGrpSpPr/>
          <p:nvPr/>
        </p:nvGrpSpPr>
        <p:grpSpPr>
          <a:xfrm>
            <a:off x="11236541" y="460205"/>
            <a:ext cx="258653" cy="233204"/>
            <a:chOff x="3720691" y="2824413"/>
            <a:chExt cx="1341120" cy="1209172"/>
          </a:xfrm>
        </p:grpSpPr>
        <p:sp>
          <p:nvSpPr>
            <p:cNvPr id="52" name="Freeform 5">
              <a:extLst>
                <a:ext uri="{FF2B5EF4-FFF2-40B4-BE49-F238E27FC236}">
                  <a16:creationId xmlns:a16="http://schemas.microsoft.com/office/drawing/2014/main" id="{09A1015D-68C9-41A9-A44D-99202FD25F45}"/>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53" name="Freeform 5">
              <a:extLst>
                <a:ext uri="{FF2B5EF4-FFF2-40B4-BE49-F238E27FC236}">
                  <a16:creationId xmlns:a16="http://schemas.microsoft.com/office/drawing/2014/main" id="{F21D20FC-E5DB-4AAC-A874-49A770F15D13}"/>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54" name="矩形 2">
            <a:extLst>
              <a:ext uri="{FF2B5EF4-FFF2-40B4-BE49-F238E27FC236}">
                <a16:creationId xmlns:a16="http://schemas.microsoft.com/office/drawing/2014/main" id="{093E67A4-53C8-4155-AE69-CFFF81D73E16}"/>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55" name="图片 3" descr="重庆邮电大学标准校徽 (1)">
            <a:extLst>
              <a:ext uri="{FF2B5EF4-FFF2-40B4-BE49-F238E27FC236}">
                <a16:creationId xmlns:a16="http://schemas.microsoft.com/office/drawing/2014/main" id="{2475A7CF-DCFB-49B8-991D-C3F0D0A3E5E6}"/>
              </a:ext>
            </a:extLst>
          </p:cNvPr>
          <p:cNvPicPr>
            <a:picLocks noChangeAspect="1"/>
          </p:cNvPicPr>
          <p:nvPr/>
        </p:nvPicPr>
        <p:blipFill>
          <a:blip r:embed="rId18"/>
          <a:stretch>
            <a:fillRect/>
          </a:stretch>
        </p:blipFill>
        <p:spPr>
          <a:xfrm>
            <a:off x="549659" y="190896"/>
            <a:ext cx="612897" cy="612897"/>
          </a:xfrm>
          <a:prstGeom prst="rect">
            <a:avLst/>
          </a:prstGeom>
        </p:spPr>
      </p:pic>
    </p:spTree>
    <p:extLst>
      <p:ext uri="{BB962C8B-B14F-4D97-AF65-F5344CB8AC3E}">
        <p14:creationId xmlns:p14="http://schemas.microsoft.com/office/powerpoint/2010/main" val="2551346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9"/>
                                        </p:tgtEl>
                                        <p:attrNameLst>
                                          <p:attrName>style.visibility</p:attrName>
                                        </p:attrNameLst>
                                      </p:cBhvr>
                                      <p:to>
                                        <p:strVal val="visible"/>
                                      </p:to>
                                    </p:set>
                                    <p:animEffect transition="in" filter="fade">
                                      <p:cBhvr>
                                        <p:cTn id="17" dur="500"/>
                                        <p:tgtEl>
                                          <p:spTgt spid="8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fade">
                                      <p:cBhvr>
                                        <p:cTn id="22" dur="500"/>
                                        <p:tgtEl>
                                          <p:spTgt spid="10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fade">
                                      <p:cBhvr>
                                        <p:cTn id="27" dur="500"/>
                                        <p:tgtEl>
                                          <p:spTgt spid="9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1"/>
                                        </p:tgtEl>
                                        <p:attrNameLst>
                                          <p:attrName>style.visibility</p:attrName>
                                        </p:attrNameLst>
                                      </p:cBhvr>
                                      <p:to>
                                        <p:strVal val="visible"/>
                                      </p:to>
                                    </p:set>
                                    <p:animEffect transition="in" filter="fade">
                                      <p:cBhvr>
                                        <p:cTn id="32" dur="500"/>
                                        <p:tgtEl>
                                          <p:spTgt spid="10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2"/>
                                        </p:tgtEl>
                                        <p:attrNameLst>
                                          <p:attrName>style.visibility</p:attrName>
                                        </p:attrNameLst>
                                      </p:cBhvr>
                                      <p:to>
                                        <p:strVal val="visible"/>
                                      </p:to>
                                    </p:set>
                                    <p:animEffect transition="in" filter="fade">
                                      <p:cBhvr>
                                        <p:cTn id="37" dur="500"/>
                                        <p:tgtEl>
                                          <p:spTgt spid="10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3"/>
                                        </p:tgtEl>
                                        <p:attrNameLst>
                                          <p:attrName>style.visibility</p:attrName>
                                        </p:attrNameLst>
                                      </p:cBhvr>
                                      <p:to>
                                        <p:strVal val="visible"/>
                                      </p:to>
                                    </p:set>
                                    <p:animEffect transition="in" filter="fade">
                                      <p:cBhvr>
                                        <p:cTn id="42" dur="500"/>
                                        <p:tgtEl>
                                          <p:spTgt spid="10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7"/>
                                        </p:tgtEl>
                                        <p:attrNameLst>
                                          <p:attrName>style.visibility</p:attrName>
                                        </p:attrNameLst>
                                      </p:cBhvr>
                                      <p:to>
                                        <p:strVal val="visible"/>
                                      </p:to>
                                    </p:set>
                                    <p:animEffect transition="in" filter="fade">
                                      <p:cBhvr>
                                        <p:cTn id="47" dur="500"/>
                                        <p:tgtEl>
                                          <p:spTgt spid="8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4"/>
                                        </p:tgtEl>
                                        <p:attrNameLst>
                                          <p:attrName>style.visibility</p:attrName>
                                        </p:attrNameLst>
                                      </p:cBhvr>
                                      <p:to>
                                        <p:strVal val="visible"/>
                                      </p:to>
                                    </p:set>
                                    <p:animEffect transition="in" filter="fade">
                                      <p:cBhvr>
                                        <p:cTn id="52" dur="500"/>
                                        <p:tgtEl>
                                          <p:spTgt spid="10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fade">
                                      <p:cBhvr>
                                        <p:cTn id="57" dur="500"/>
                                        <p:tgtEl>
                                          <p:spTgt spid="10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13"/>
                                        </p:tgtEl>
                                        <p:attrNameLst>
                                          <p:attrName>style.visibility</p:attrName>
                                        </p:attrNameLst>
                                      </p:cBhvr>
                                      <p:to>
                                        <p:strVal val="visible"/>
                                      </p:to>
                                    </p:set>
                                    <p:animEffect transition="in" filter="fade">
                                      <p:cBhvr>
                                        <p:cTn id="67" dur="500"/>
                                        <p:tgtEl>
                                          <p:spTgt spid="11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6"/>
                                        </p:tgtEl>
                                        <p:attrNameLst>
                                          <p:attrName>style.visibility</p:attrName>
                                        </p:attrNameLst>
                                      </p:cBhvr>
                                      <p:to>
                                        <p:strVal val="visible"/>
                                      </p:to>
                                    </p:set>
                                    <p:animEffect transition="in" filter="fade">
                                      <p:cBhvr>
                                        <p:cTn id="72" dur="500"/>
                                        <p:tgtEl>
                                          <p:spTgt spid="11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17"/>
                                        </p:tgtEl>
                                        <p:attrNameLst>
                                          <p:attrName>style.visibility</p:attrName>
                                        </p:attrNameLst>
                                      </p:cBhvr>
                                      <p:to>
                                        <p:strVal val="visible"/>
                                      </p:to>
                                    </p:set>
                                    <p:animEffect transition="in" filter="fade">
                                      <p:cBhvr>
                                        <p:cTn id="77" dur="500"/>
                                        <p:tgtEl>
                                          <p:spTgt spid="11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20"/>
                                        </p:tgtEl>
                                        <p:attrNameLst>
                                          <p:attrName>style.visibility</p:attrName>
                                        </p:attrNameLst>
                                      </p:cBhvr>
                                      <p:to>
                                        <p:strVal val="visible"/>
                                      </p:to>
                                    </p:set>
                                    <p:animEffect transition="in" filter="fade">
                                      <p:cBhvr>
                                        <p:cTn id="82" dur="5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87" grpId="0" animBg="1"/>
      <p:bldP spid="10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051263-4C04-4CEC-A4CC-9DA008F3EBF4}"/>
              </a:ext>
            </a:extLst>
          </p:cNvPr>
          <p:cNvSpPr txBox="1"/>
          <p:nvPr/>
        </p:nvSpPr>
        <p:spPr>
          <a:xfrm>
            <a:off x="836736" y="1741229"/>
            <a:ext cx="4676041" cy="954107"/>
          </a:xfrm>
          <a:prstGeom prst="rect">
            <a:avLst/>
          </a:prstGeom>
          <a:noFill/>
        </p:spPr>
        <p:txBody>
          <a:bodyPr wrap="square">
            <a:spAutoFit/>
          </a:bodyPr>
          <a:lstStyle/>
          <a:p>
            <a:pPr algn="just"/>
            <a:r>
              <a:rPr lang="en-US" sz="1400" dirty="0"/>
              <a:t>- Can the client be </a:t>
            </a:r>
            <a:r>
              <a:rPr lang="en-US" sz="1400" b="1" dirty="0"/>
              <a:t>prevented from downloading all the data to generate hints</a:t>
            </a:r>
            <a:r>
              <a:rPr lang="en-US" sz="1400" dirty="0"/>
              <a:t>? For example, the server can help generate hints or the server and client can interact to generate hints, similar to our S3R protocol.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2504B07-9190-484F-AD17-F4F2F5D378CB}"/>
                  </a:ext>
                </a:extLst>
              </p:cNvPr>
              <p:cNvSpPr txBox="1"/>
              <p:nvPr/>
            </p:nvSpPr>
            <p:spPr>
              <a:xfrm>
                <a:off x="5805854" y="1741229"/>
                <a:ext cx="6097464" cy="2462213"/>
              </a:xfrm>
              <a:prstGeom prst="rect">
                <a:avLst/>
              </a:prstGeom>
              <a:noFill/>
            </p:spPr>
            <p:txBody>
              <a:bodyPr wrap="square">
                <a:spAutoFit/>
              </a:bodyPr>
              <a:lstStyle/>
              <a:p>
                <a:pPr marL="285750" indent="-285750" algn="just">
                  <a:buFont typeface="Arial" panose="020B0604020202020204" pitchFamily="34" charset="0"/>
                  <a:buChar char="•"/>
                </a:pPr>
                <a:r>
                  <a:rPr lang="en-US" sz="1400" dirty="0"/>
                  <a:t>In PIANO, the </a:t>
                </a:r>
                <a:r>
                  <a:rPr lang="en-US" sz="1400" b="1" dirty="0"/>
                  <a:t>client must keep the hint sets secret</a:t>
                </a:r>
                <a:r>
                  <a:rPr lang="en-US" sz="1400" dirty="0"/>
                  <a:t> (the PRF keys and the chosen indices S). If the server learned S, then at query time it could compare submitted S′ to S and immediately see which position changed—i.e., target x.</a:t>
                </a:r>
              </a:p>
              <a:p>
                <a:pPr marL="285750" indent="-285750" algn="just">
                  <a:buFont typeface="Arial" panose="020B0604020202020204" pitchFamily="34" charset="0"/>
                  <a:buChar char="•"/>
                </a:pPr>
                <a:r>
                  <a:rPr lang="en-US" sz="1400" dirty="0"/>
                  <a:t>To compute hint parities </a:t>
                </a:r>
                <a:r>
                  <a:rPr lang="en-US" sz="1400" b="1" dirty="0"/>
                  <a:t>without</a:t>
                </a:r>
                <a:r>
                  <a:rPr lang="en-US" sz="1400" dirty="0"/>
                  <a:t> giving the client the DB </a:t>
                </a:r>
                <a:r>
                  <a:rPr lang="en-US" sz="1400" b="1" dirty="0"/>
                  <a:t>and</a:t>
                </a:r>
                <a:r>
                  <a:rPr lang="en-US" sz="1400" dirty="0"/>
                  <a:t> without revealing S to the server, you’d need heavy tools (secure 2-party computation, OT/OPRF, homomorphic tricks). In a </a:t>
                </a:r>
                <a:r>
                  <a:rPr lang="en-US" sz="1400" i="1" dirty="0"/>
                  <a:t>single-server</a:t>
                </a:r>
                <a:r>
                  <a:rPr lang="en-US" sz="1400" dirty="0"/>
                  <a:t> setting those essentially bring you back to PIR-scale cost and destroy PIANO’s main advantage (a cheap, one-time streaming pass).</a:t>
                </a:r>
              </a:p>
              <a:p>
                <a:pPr marL="285750" indent="-285750" algn="just">
                  <a:buFont typeface="Arial" panose="020B0604020202020204" pitchFamily="34" charset="0"/>
                  <a:buChar char="•"/>
                </a:pPr>
                <a:r>
                  <a:rPr lang="en-US" sz="1400" dirty="0"/>
                  <a:t>So the PIANO design </a:t>
                </a:r>
                <a:r>
                  <a:rPr lang="en-US" sz="1400" b="1" dirty="0"/>
                  <a:t>intentionally</a:t>
                </a:r>
                <a:r>
                  <a:rPr lang="en-US" sz="1400" dirty="0"/>
                  <a:t> has the client do a </a:t>
                </a:r>
                <a:r>
                  <a:rPr lang="en-US" sz="1400" b="1" dirty="0"/>
                  <a:t>one-time streaming download</a:t>
                </a:r>
                <a:r>
                  <a:rPr lang="en-US" sz="1400" dirty="0"/>
                  <a:t> (Θ(n)) to locally compute parities with secret PRF seeds. That keeps the online phase O </a:t>
                </a:r>
                <a14:m>
                  <m:oMath xmlns:m="http://schemas.openxmlformats.org/officeDocument/2006/math">
                    <m:rad>
                      <m:radPr>
                        <m:degHide m:val="on"/>
                        <m:ctrlPr>
                          <a:rPr lang="en-US" sz="1400" i="1">
                            <a:latin typeface="Cambria Math" panose="02040503050406030204" pitchFamily="18" charset="0"/>
                          </a:rPr>
                        </m:ctrlPr>
                      </m:radPr>
                      <m:deg/>
                      <m:e>
                        <m:r>
                          <a:rPr lang="en-US" sz="1400" i="1">
                            <a:latin typeface="Cambria Math" panose="02040503050406030204" pitchFamily="18" charset="0"/>
                          </a:rPr>
                          <m:t>𝑛</m:t>
                        </m:r>
                      </m:e>
                    </m:rad>
                  </m:oMath>
                </a14:m>
                <a:r>
                  <a:rPr lang="en-US" sz="1400" dirty="0"/>
                  <a:t>.</a:t>
                </a:r>
              </a:p>
            </p:txBody>
          </p:sp>
        </mc:Choice>
        <mc:Fallback xmlns="">
          <p:sp>
            <p:nvSpPr>
              <p:cNvPr id="16" name="TextBox 15">
                <a:extLst>
                  <a:ext uri="{FF2B5EF4-FFF2-40B4-BE49-F238E27FC236}">
                    <a16:creationId xmlns:a16="http://schemas.microsoft.com/office/drawing/2014/main" id="{42504B07-9190-484F-AD17-F4F2F5D378CB}"/>
                  </a:ext>
                </a:extLst>
              </p:cNvPr>
              <p:cNvSpPr txBox="1">
                <a:spLocks noRot="1" noChangeAspect="1" noMove="1" noResize="1" noEditPoints="1" noAdjustHandles="1" noChangeArrowheads="1" noChangeShapeType="1" noTextEdit="1"/>
              </p:cNvSpPr>
              <p:nvPr/>
            </p:nvSpPr>
            <p:spPr>
              <a:xfrm>
                <a:off x="5805854" y="1741229"/>
                <a:ext cx="6097464" cy="2462213"/>
              </a:xfrm>
              <a:prstGeom prst="rect">
                <a:avLst/>
              </a:prstGeom>
              <a:blipFill>
                <a:blip r:embed="rId3"/>
                <a:stretch>
                  <a:fillRect l="-100" t="-495" r="-200" b="-173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E7AE2BB2-3B9F-4ADB-B94C-44DCEB2463B3}"/>
              </a:ext>
            </a:extLst>
          </p:cNvPr>
          <p:cNvSpPr txBox="1"/>
          <p:nvPr/>
        </p:nvSpPr>
        <p:spPr>
          <a:xfrm>
            <a:off x="836736" y="3845579"/>
            <a:ext cx="4676041" cy="1600438"/>
          </a:xfrm>
          <a:prstGeom prst="rect">
            <a:avLst/>
          </a:prstGeom>
          <a:noFill/>
        </p:spPr>
        <p:txBody>
          <a:bodyPr wrap="square">
            <a:spAutoFit/>
          </a:bodyPr>
          <a:lstStyle/>
          <a:p>
            <a:pPr algn="just"/>
            <a:r>
              <a:rPr lang="en-US" sz="1400" dirty="0"/>
              <a:t>- If it is possible to generate hints under the aforementioned interactive or ciphertext state, it may improve our S3R protocol, as our current S3R cannot perform preprocessing and requires online interactions, resulting in low efficiency. Could we draw inspiration from the PIANO approach to generate hints in advance, allowing for faster execution during online retrievals?</a:t>
            </a:r>
          </a:p>
        </p:txBody>
      </p:sp>
      <p:sp>
        <p:nvSpPr>
          <p:cNvPr id="17" name="TextBox 16">
            <a:extLst>
              <a:ext uri="{FF2B5EF4-FFF2-40B4-BE49-F238E27FC236}">
                <a16:creationId xmlns:a16="http://schemas.microsoft.com/office/drawing/2014/main" id="{C58F8545-A3EB-4583-8F6A-13FA6C406A2C}"/>
              </a:ext>
            </a:extLst>
          </p:cNvPr>
          <p:cNvSpPr txBox="1"/>
          <p:nvPr/>
        </p:nvSpPr>
        <p:spPr>
          <a:xfrm>
            <a:off x="836736" y="2676028"/>
            <a:ext cx="4676041" cy="1169551"/>
          </a:xfrm>
          <a:prstGeom prst="rect">
            <a:avLst/>
          </a:prstGeom>
          <a:noFill/>
        </p:spPr>
        <p:txBody>
          <a:bodyPr wrap="square">
            <a:spAutoFit/>
          </a:bodyPr>
          <a:lstStyle/>
          <a:p>
            <a:pPr algn="just"/>
            <a:r>
              <a:rPr lang="en-US" sz="1400" dirty="0"/>
              <a:t>- The PIANO example assumes a plaintext database, as the client needs to download all data from the server to generate hints; however, if </a:t>
            </a:r>
            <a:r>
              <a:rPr lang="en-US" sz="1400" b="1" dirty="0"/>
              <a:t>considering encrypted data</a:t>
            </a:r>
            <a:r>
              <a:rPr lang="en-US" sz="1400" dirty="0"/>
              <a:t>, the client cannot see all the data, making it challenging </a:t>
            </a:r>
            <a:r>
              <a:rPr lang="en-US" sz="1400" b="1" dirty="0"/>
              <a:t>to generate hints</a:t>
            </a:r>
            <a:r>
              <a:rPr lang="en-US" sz="1400" dirty="0"/>
              <a:t>.	</a:t>
            </a:r>
          </a:p>
        </p:txBody>
      </p:sp>
      <p:grpSp>
        <p:nvGrpSpPr>
          <p:cNvPr id="26" name="Группа 25">
            <a:extLst>
              <a:ext uri="{FF2B5EF4-FFF2-40B4-BE49-F238E27FC236}">
                <a16:creationId xmlns:a16="http://schemas.microsoft.com/office/drawing/2014/main" id="{12DE6F67-AA20-439B-B35C-247E607F63F2}"/>
              </a:ext>
            </a:extLst>
          </p:cNvPr>
          <p:cNvGrpSpPr/>
          <p:nvPr/>
        </p:nvGrpSpPr>
        <p:grpSpPr>
          <a:xfrm>
            <a:off x="5805854" y="1741229"/>
            <a:ext cx="6097464" cy="4787840"/>
            <a:chOff x="5805854" y="1741229"/>
            <a:chExt cx="6097464" cy="4787840"/>
          </a:xfrm>
        </p:grpSpPr>
        <p:sp>
          <p:nvSpPr>
            <p:cNvPr id="14" name="Rectangle 1">
              <a:extLst>
                <a:ext uri="{FF2B5EF4-FFF2-40B4-BE49-F238E27FC236}">
                  <a16:creationId xmlns:a16="http://schemas.microsoft.com/office/drawing/2014/main" id="{197460FA-8725-482B-8A64-C604E63DD7CF}"/>
                </a:ext>
              </a:extLst>
            </p:cNvPr>
            <p:cNvSpPr>
              <a:spLocks noChangeArrowheads="1"/>
            </p:cNvSpPr>
            <p:nvPr/>
          </p:nvSpPr>
          <p:spPr bwMode="auto">
            <a:xfrm>
              <a:off x="5805854" y="1741229"/>
              <a:ext cx="609746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Client can decrypt (or obtains a one-time decryption stream):</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Then it’s the same as plaintext for PIANO—client streams, decrypts on the fly, and computes parities locally.</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Client cannot decrypt (server-only key):</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Then PIANO, as written, </a:t>
              </a:r>
              <a:r>
                <a:rPr kumimoji="0" lang="en-US" altLang="en-US" sz="1400" b="1" i="0" u="none" strike="noStrike" cap="none" normalizeH="0" baseline="0" dirty="0">
                  <a:ln>
                    <a:noFill/>
                  </a:ln>
                  <a:solidFill>
                    <a:schemeClr val="tx1"/>
                  </a:solidFill>
                  <a:effectLst/>
                  <a:latin typeface="Arial" panose="020B0604020202020204" pitchFamily="34" charset="0"/>
                </a:rPr>
                <a:t>does not apply.</a:t>
              </a:r>
              <a:r>
                <a:rPr kumimoji="0" lang="en-US" altLang="en-US" sz="1400" b="0" i="0" u="none" strike="noStrike" cap="none" normalizeH="0" baseline="0" dirty="0">
                  <a:ln>
                    <a:noFill/>
                  </a:ln>
                  <a:solidFill>
                    <a:schemeClr val="tx1"/>
                  </a:solidFill>
                  <a:effectLst/>
                  <a:latin typeface="Arial" panose="020B0604020202020204" pitchFamily="34" charset="0"/>
                </a:rPr>
                <a:t> The client can’t compute plaintext XOR parities. Options</a:t>
              </a:r>
              <a:r>
                <a:rPr kumimoji="0" lang="en-US" altLang="en-US" sz="1400" b="0" i="0" u="none" strike="noStrike" cap="none" normalizeH="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panose="020B0604020202020204" pitchFamily="34" charset="0"/>
                </a:rPr>
                <a:t>are:</a:t>
              </a:r>
            </a:p>
            <a:p>
              <a:pPr marL="742950" lvl="1" indent="-285750" algn="just" eaLnBrk="0" fontAlgn="base" hangingPunct="0">
                <a:spcBef>
                  <a:spcPct val="0"/>
                </a:spcBef>
                <a:spcAft>
                  <a:spcPct val="0"/>
                </a:spcAft>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Change the trust model:</a:t>
              </a:r>
              <a:r>
                <a:rPr kumimoji="0" lang="en-US" altLang="en-US" sz="1400" b="0" i="0" u="none" strike="noStrike" cap="none" normalizeH="0" baseline="0" dirty="0">
                  <a:ln>
                    <a:noFill/>
                  </a:ln>
                  <a:solidFill>
                    <a:schemeClr val="tx1"/>
                  </a:solidFill>
                  <a:effectLst/>
                  <a:latin typeface="Arial" panose="020B0604020202020204" pitchFamily="34" charset="0"/>
                </a:rPr>
                <a:t> use a </a:t>
              </a:r>
              <a:r>
                <a:rPr kumimoji="0" lang="en-US" altLang="en-US" sz="1400" b="1" i="0" u="none" strike="noStrike" cap="none" normalizeH="0" baseline="0" dirty="0">
                  <a:ln>
                    <a:noFill/>
                  </a:ln>
                  <a:solidFill>
                    <a:schemeClr val="tx1"/>
                  </a:solidFill>
                  <a:effectLst/>
                  <a:latin typeface="Arial" panose="020B0604020202020204" pitchFamily="34" charset="0"/>
                </a:rPr>
                <a:t>TEE</a:t>
              </a:r>
              <a:r>
                <a:rPr kumimoji="0" lang="en-US" altLang="en-US" sz="1400" b="0" i="0" u="none" strike="noStrike" cap="none" normalizeH="0" baseline="0" dirty="0">
                  <a:ln>
                    <a:noFill/>
                  </a:ln>
                  <a:solidFill>
                    <a:schemeClr val="tx1"/>
                  </a:solidFill>
                  <a:effectLst/>
                  <a:latin typeface="Arial" panose="020B0604020202020204" pitchFamily="34" charset="0"/>
                </a:rPr>
                <a:t> on the server (e.g., SGX) to compute hints on the client’s behalf and return only seeds/parities. (Now you trust hardware.)</a:t>
              </a:r>
            </a:p>
            <a:p>
              <a:pPr marL="742950" lvl="1" indent="-285750" algn="just" eaLnBrk="0" fontAlgn="base" hangingPunct="0">
                <a:spcBef>
                  <a:spcPct val="0"/>
                </a:spcBef>
                <a:spcAft>
                  <a:spcPct val="0"/>
                </a:spcAft>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Change the PIR family:</a:t>
              </a:r>
              <a:r>
                <a:rPr kumimoji="0" lang="en-US" altLang="en-US" sz="1400" b="0" i="0" u="none" strike="noStrike" cap="none" normalizeH="0" baseline="0" dirty="0">
                  <a:ln>
                    <a:noFill/>
                  </a:ln>
                  <a:solidFill>
                    <a:schemeClr val="tx1"/>
                  </a:solidFill>
                  <a:effectLst/>
                  <a:latin typeface="Arial" panose="020B0604020202020204" pitchFamily="34" charset="0"/>
                </a:rPr>
                <a:t> use </a:t>
              </a:r>
              <a:r>
                <a:rPr kumimoji="0" lang="en-US" altLang="en-US" sz="1400" b="1" i="0" u="none" strike="noStrike" cap="none" normalizeH="0" baseline="0" dirty="0">
                  <a:ln>
                    <a:noFill/>
                  </a:ln>
                  <a:solidFill>
                    <a:schemeClr val="tx1"/>
                  </a:solidFill>
                  <a:effectLst/>
                  <a:latin typeface="Arial" panose="020B0604020202020204" pitchFamily="34" charset="0"/>
                </a:rPr>
                <a:t>HE-based single-server PIR</a:t>
              </a:r>
              <a:r>
                <a:rPr kumimoji="0" lang="en-US" altLang="en-US" sz="1400" b="0" i="0" u="none" strike="noStrike" cap="none" normalizeH="0" baseline="0" dirty="0">
                  <a:ln>
                    <a:noFill/>
                  </a:ln>
                  <a:solidFill>
                    <a:schemeClr val="tx1"/>
                  </a:solidFill>
                  <a:effectLst/>
                  <a:latin typeface="Arial" panose="020B0604020202020204" pitchFamily="34" charset="0"/>
                </a:rPr>
                <a:t> (e.g., </a:t>
              </a:r>
              <a:r>
                <a:rPr kumimoji="0" lang="en-US" altLang="en-US" sz="1400" b="0" i="0" u="none" strike="noStrike" cap="none" normalizeH="0" baseline="0" dirty="0" err="1">
                  <a:ln>
                    <a:noFill/>
                  </a:ln>
                  <a:solidFill>
                    <a:schemeClr val="tx1"/>
                  </a:solidFill>
                  <a:effectLst/>
                  <a:latin typeface="Arial" panose="020B0604020202020204" pitchFamily="34" charset="0"/>
                </a:rPr>
                <a:t>SealPIR</a:t>
              </a:r>
              <a:r>
                <a:rPr kumimoji="0" lang="en-US" altLang="en-US" sz="1400" b="0" i="0" u="none" strike="noStrike" cap="none" normalizeH="0" baseline="0" dirty="0">
                  <a:ln>
                    <a:noFill/>
                  </a:ln>
                  <a:solidFill>
                    <a:schemeClr val="tx1"/>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SimplePIR</a:t>
              </a:r>
              <a:r>
                <a:rPr kumimoji="0" lang="en-US" altLang="en-US" sz="1400" b="0" i="0" u="none" strike="noStrike" cap="none" normalizeH="0" baseline="0" dirty="0">
                  <a:ln>
                    <a:noFill/>
                  </a:ln>
                  <a:solidFill>
                    <a:schemeClr val="tx1"/>
                  </a:solidFill>
                  <a:effectLst/>
                  <a:latin typeface="Arial" panose="020B0604020202020204" pitchFamily="34" charset="0"/>
                </a:rPr>
                <a:t>/Spiral). These are designed for encrypted-at-rest DBs; they don’t require the client to see the DB but have different costs.</a:t>
              </a:r>
            </a:p>
            <a:p>
              <a:pPr marL="742950" lvl="1" indent="-285750" algn="just" eaLnBrk="0" fontAlgn="base" hangingPunct="0">
                <a:spcBef>
                  <a:spcPct val="0"/>
                </a:spcBef>
                <a:spcAft>
                  <a:spcPct val="0"/>
                </a:spcAft>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Change to multi-server IT-PIR:</a:t>
              </a:r>
              <a:r>
                <a:rPr kumimoji="0" lang="en-US" altLang="en-US" sz="1400" b="0" i="0" u="none" strike="noStrike" cap="none" normalizeH="0" baseline="0" dirty="0">
                  <a:ln>
                    <a:noFill/>
                  </a:ln>
                  <a:solidFill>
                    <a:schemeClr val="tx1"/>
                  </a:solidFill>
                  <a:effectLst/>
                  <a:latin typeface="Arial" panose="020B0604020202020204" pitchFamily="34" charset="0"/>
                </a:rPr>
                <a:t> two (or more) non-colluding servers remove the need for a client-visible DB and retain information-theoretic privacy.</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24" name="TextBox 23">
              <a:extLst>
                <a:ext uri="{FF2B5EF4-FFF2-40B4-BE49-F238E27FC236}">
                  <a16:creationId xmlns:a16="http://schemas.microsoft.com/office/drawing/2014/main" id="{5C0A17DE-166D-46CD-B2E4-FBF38D544AF9}"/>
                </a:ext>
              </a:extLst>
            </p:cNvPr>
            <p:cNvSpPr txBox="1"/>
            <p:nvPr/>
          </p:nvSpPr>
          <p:spPr>
            <a:xfrm>
              <a:off x="5805854" y="6221292"/>
              <a:ext cx="6097464" cy="307777"/>
            </a:xfrm>
            <a:prstGeom prst="rect">
              <a:avLst/>
            </a:prstGeom>
            <a:noFill/>
          </p:spPr>
          <p:txBody>
            <a:bodyPr wrap="square">
              <a:spAutoFit/>
            </a:bodyPr>
            <a:lstStyle/>
            <a:p>
              <a:r>
                <a:rPr lang="en-US" sz="1400" dirty="0"/>
                <a:t>PIR-TEE: https://doi.ieeecomputersociety.org/10.1109/MSN63567.2024.00064</a:t>
              </a:r>
            </a:p>
          </p:txBody>
        </p:sp>
      </p:grpSp>
      <p:sp>
        <p:nvSpPr>
          <p:cNvPr id="27" name="Rectangle 1">
            <a:extLst>
              <a:ext uri="{FF2B5EF4-FFF2-40B4-BE49-F238E27FC236}">
                <a16:creationId xmlns:a16="http://schemas.microsoft.com/office/drawing/2014/main" id="{50720983-C891-4B80-A123-CA9EF2F69D11}"/>
              </a:ext>
            </a:extLst>
          </p:cNvPr>
          <p:cNvSpPr>
            <a:spLocks noChangeArrowheads="1"/>
          </p:cNvSpPr>
          <p:nvPr/>
        </p:nvSpPr>
        <p:spPr bwMode="auto">
          <a:xfrm>
            <a:off x="5805854" y="1741229"/>
            <a:ext cx="60974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I need to translate and read into S3R ppt first </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1" name="文本框 9">
            <a:extLst>
              <a:ext uri="{FF2B5EF4-FFF2-40B4-BE49-F238E27FC236}">
                <a16:creationId xmlns:a16="http://schemas.microsoft.com/office/drawing/2014/main" id="{C7D2F8EE-B6A2-47E1-ABE1-9013146B8475}"/>
              </a:ext>
            </a:extLst>
          </p:cNvPr>
          <p:cNvSpPr txBox="1"/>
          <p:nvPr/>
        </p:nvSpPr>
        <p:spPr>
          <a:xfrm>
            <a:off x="1299594" y="183700"/>
            <a:ext cx="5436765"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Answering the questions</a:t>
            </a:r>
            <a:endParaRPr lang="zh-CN" altLang="en-US" sz="2000" i="1"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2" name="组合 22">
            <a:extLst>
              <a:ext uri="{FF2B5EF4-FFF2-40B4-BE49-F238E27FC236}">
                <a16:creationId xmlns:a16="http://schemas.microsoft.com/office/drawing/2014/main" id="{385F0B26-7827-478F-9F57-E64A64AD5EF9}"/>
              </a:ext>
            </a:extLst>
          </p:cNvPr>
          <p:cNvGrpSpPr/>
          <p:nvPr/>
        </p:nvGrpSpPr>
        <p:grpSpPr>
          <a:xfrm>
            <a:off x="11236541" y="460205"/>
            <a:ext cx="258653" cy="233204"/>
            <a:chOff x="3720691" y="2824413"/>
            <a:chExt cx="1341120" cy="1209172"/>
          </a:xfrm>
        </p:grpSpPr>
        <p:sp>
          <p:nvSpPr>
            <p:cNvPr id="13" name="Freeform 5">
              <a:extLst>
                <a:ext uri="{FF2B5EF4-FFF2-40B4-BE49-F238E27FC236}">
                  <a16:creationId xmlns:a16="http://schemas.microsoft.com/office/drawing/2014/main" id="{67381150-9800-4F82-9812-A80674D27A4D}"/>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5" name="Freeform 5">
              <a:extLst>
                <a:ext uri="{FF2B5EF4-FFF2-40B4-BE49-F238E27FC236}">
                  <a16:creationId xmlns:a16="http://schemas.microsoft.com/office/drawing/2014/main" id="{D803F76F-478E-4739-8966-ADDA4B07C0CE}"/>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8" name="矩形 2">
            <a:extLst>
              <a:ext uri="{FF2B5EF4-FFF2-40B4-BE49-F238E27FC236}">
                <a16:creationId xmlns:a16="http://schemas.microsoft.com/office/drawing/2014/main" id="{9772C232-EB4E-41B4-BD80-F05FED5B4A9B}"/>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9" name="图片 3" descr="重庆邮电大学标准校徽 (1)">
            <a:extLst>
              <a:ext uri="{FF2B5EF4-FFF2-40B4-BE49-F238E27FC236}">
                <a16:creationId xmlns:a16="http://schemas.microsoft.com/office/drawing/2014/main" id="{7BF87D07-8A77-4473-921A-58982F0D1411}"/>
              </a:ext>
            </a:extLst>
          </p:cNvPr>
          <p:cNvPicPr>
            <a:picLocks noChangeAspect="1"/>
          </p:cNvPicPr>
          <p:nvPr/>
        </p:nvPicPr>
        <p:blipFill>
          <a:blip r:embed="rId4"/>
          <a:stretch>
            <a:fillRect/>
          </a:stretch>
        </p:blipFill>
        <p:spPr>
          <a:xfrm>
            <a:off x="549659" y="190896"/>
            <a:ext cx="612897" cy="612897"/>
          </a:xfrm>
          <a:prstGeom prst="rect">
            <a:avLst/>
          </a:prstGeom>
        </p:spPr>
      </p:pic>
    </p:spTree>
    <p:extLst>
      <p:ext uri="{BB962C8B-B14F-4D97-AF65-F5344CB8AC3E}">
        <p14:creationId xmlns:p14="http://schemas.microsoft.com/office/powerpoint/2010/main" val="256915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16"/>
                                        </p:tgtEl>
                                      </p:cBhvr>
                                    </p:animEffect>
                                    <p:set>
                                      <p:cBhvr>
                                        <p:cTn id="15" dur="1" fill="hold">
                                          <p:stCondLst>
                                            <p:cond delay="499"/>
                                          </p:stCondLst>
                                        </p:cTn>
                                        <p:tgtEl>
                                          <p:spTgt spid="1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26"/>
                                        </p:tgtEl>
                                      </p:cBhvr>
                                    </p:animEffect>
                                    <p:set>
                                      <p:cBhvr>
                                        <p:cTn id="30" dur="1" fill="hold">
                                          <p:stCondLst>
                                            <p:cond delay="499"/>
                                          </p:stCondLst>
                                        </p:cTn>
                                        <p:tgtEl>
                                          <p:spTgt spid="2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6" grpId="1"/>
      <p:bldP spid="20" grpId="0"/>
      <p:bldP spid="17" grpId="0"/>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66DD1C0B-BD95-41F4-A0A3-F30CB998453D}"/>
              </a:ext>
            </a:extLst>
          </p:cNvPr>
          <p:cNvSpPr txBox="1"/>
          <p:nvPr/>
        </p:nvSpPr>
        <p:spPr>
          <a:xfrm>
            <a:off x="838200" y="1690688"/>
            <a:ext cx="5372099" cy="4278094"/>
          </a:xfrm>
          <a:prstGeom prst="rect">
            <a:avLst/>
          </a:prstGeom>
          <a:noFill/>
        </p:spPr>
        <p:txBody>
          <a:bodyPr wrap="square">
            <a:spAutoFit/>
          </a:bodyPr>
          <a:lstStyle/>
          <a:p>
            <a:pPr marL="342900" indent="-342900" algn="just">
              <a:buFont typeface="+mj-lt"/>
              <a:buAutoNum type="arabicPeriod"/>
            </a:pPr>
            <a:r>
              <a:rPr lang="en-US" sz="1600" dirty="0">
                <a:solidFill>
                  <a:schemeClr val="bg1">
                    <a:lumMod val="65000"/>
                  </a:schemeClr>
                </a:solidFill>
              </a:rPr>
              <a:t>Contents (current slide)</a:t>
            </a:r>
          </a:p>
          <a:p>
            <a:pPr marL="342900" indent="-342900" algn="just">
              <a:buFont typeface="+mj-lt"/>
              <a:buAutoNum type="arabicPeriod"/>
            </a:pPr>
            <a:r>
              <a:rPr lang="en-US" sz="1600" dirty="0">
                <a:solidFill>
                  <a:schemeClr val="bg1">
                    <a:lumMod val="65000"/>
                  </a:schemeClr>
                </a:solidFill>
              </a:rPr>
              <a:t>PIR Schemes Taxonomy</a:t>
            </a:r>
          </a:p>
          <a:p>
            <a:pPr algn="just"/>
            <a:endParaRPr lang="en-US" sz="1600" dirty="0">
              <a:solidFill>
                <a:schemeClr val="bg1">
                  <a:lumMod val="65000"/>
                </a:schemeClr>
              </a:solidFill>
            </a:endParaRPr>
          </a:p>
          <a:p>
            <a:pPr marL="342900" indent="-342900" algn="just">
              <a:buFont typeface="+mj-lt"/>
              <a:buAutoNum type="arabicPeriod"/>
            </a:pPr>
            <a:r>
              <a:rPr lang="en-US" sz="1600" b="1" dirty="0">
                <a:solidFill>
                  <a:schemeClr val="bg1">
                    <a:lumMod val="65000"/>
                  </a:schemeClr>
                </a:solidFill>
              </a:rPr>
              <a:t>PIANO</a:t>
            </a:r>
            <a:r>
              <a:rPr lang="en-US" sz="1600" dirty="0">
                <a:solidFill>
                  <a:schemeClr val="bg1">
                    <a:lumMod val="65000"/>
                  </a:schemeClr>
                </a:solidFill>
              </a:rPr>
              <a:t> (</a:t>
            </a:r>
            <a:r>
              <a:rPr lang="en-US" sz="1600" i="1" dirty="0">
                <a:solidFill>
                  <a:schemeClr val="bg1">
                    <a:lumMod val="65000"/>
                  </a:schemeClr>
                </a:solidFill>
              </a:rPr>
              <a:t>IEEE S&amp;P ’24</a:t>
            </a:r>
            <a:r>
              <a:rPr lang="en-US" sz="1600" dirty="0">
                <a:solidFill>
                  <a:schemeClr val="bg1">
                    <a:lumMod val="65000"/>
                  </a:schemeClr>
                </a:solidFill>
              </a:rPr>
              <a:t>)</a:t>
            </a:r>
          </a:p>
          <a:p>
            <a:pPr marL="342900" indent="-342900" algn="just">
              <a:buFont typeface="+mj-lt"/>
              <a:buAutoNum type="arabicPeriod"/>
            </a:pPr>
            <a:r>
              <a:rPr lang="en-US" sz="1600" b="1" dirty="0"/>
              <a:t>BFV-based PIR </a:t>
            </a:r>
            <a:r>
              <a:rPr lang="en-US" sz="1600" dirty="0"/>
              <a:t>(</a:t>
            </a:r>
            <a:r>
              <a:rPr lang="en-US" sz="1600" i="1" dirty="0"/>
              <a:t>learning example</a:t>
            </a:r>
            <a:r>
              <a:rPr lang="en-US" sz="1600" dirty="0"/>
              <a:t>)</a:t>
            </a:r>
          </a:p>
          <a:p>
            <a:pPr marL="800100" lvl="1" indent="-342900" algn="just">
              <a:buFont typeface="+mj-lt"/>
              <a:buAutoNum type="arabicPeriod"/>
            </a:pPr>
            <a:r>
              <a:rPr lang="en-US" sz="1600" dirty="0"/>
              <a:t>Basic LWE/RLWE CS</a:t>
            </a:r>
          </a:p>
          <a:p>
            <a:pPr marL="800100" lvl="1" indent="-342900" algn="just">
              <a:buFont typeface="+mj-lt"/>
              <a:buAutoNum type="arabicPeriod"/>
            </a:pPr>
            <a:r>
              <a:rPr lang="en-US" sz="1600" dirty="0"/>
              <a:t>BFV.SHE scheme from RLWE CS</a:t>
            </a:r>
          </a:p>
          <a:p>
            <a:pPr marL="800100" lvl="1" indent="-342900" algn="just">
              <a:buFont typeface="+mj-lt"/>
              <a:buAutoNum type="arabicPeriod"/>
            </a:pPr>
            <a:r>
              <a:rPr lang="en-US" sz="1600" dirty="0"/>
              <a:t>CPIR from BFV.SHE scheme</a:t>
            </a:r>
          </a:p>
          <a:p>
            <a:pPr marL="342900" indent="-342900" algn="just">
              <a:buFont typeface="+mj-lt"/>
              <a:buAutoNum type="arabicPeriod"/>
            </a:pPr>
            <a:r>
              <a:rPr lang="en-US" sz="1600" dirty="0"/>
              <a:t>Preprocessing PIR Taxonomy</a:t>
            </a:r>
          </a:p>
          <a:p>
            <a:pPr marL="342900" indent="-342900" algn="just">
              <a:buFont typeface="+mj-lt"/>
              <a:buAutoNum type="arabicPeriod"/>
            </a:pPr>
            <a:r>
              <a:rPr lang="en-US" sz="1600" b="1" dirty="0" err="1"/>
              <a:t>SimplePIR</a:t>
            </a:r>
            <a:r>
              <a:rPr lang="en-US" sz="1600" dirty="0"/>
              <a:t> (</a:t>
            </a:r>
            <a:r>
              <a:rPr lang="en-US" sz="1600" i="1" dirty="0"/>
              <a:t>USENIX ‘23</a:t>
            </a:r>
            <a:r>
              <a:rPr lang="en-US" sz="1600" dirty="0"/>
              <a:t>) </a:t>
            </a:r>
          </a:p>
          <a:p>
            <a:pPr marL="800100" lvl="1" indent="-342900" algn="just">
              <a:buFont typeface="+mj-lt"/>
              <a:buAutoNum type="arabicPeriod"/>
            </a:pPr>
            <a:r>
              <a:rPr lang="en-US" sz="1600" dirty="0"/>
              <a:t>Offline stage</a:t>
            </a:r>
          </a:p>
          <a:p>
            <a:pPr marL="800100" lvl="1" indent="-342900" algn="just">
              <a:buFont typeface="+mj-lt"/>
              <a:buAutoNum type="arabicPeriod"/>
            </a:pPr>
            <a:r>
              <a:rPr lang="en-US" sz="1600" dirty="0"/>
              <a:t>Online stage</a:t>
            </a:r>
          </a:p>
          <a:p>
            <a:pPr marL="342900" indent="-342900" algn="just">
              <a:buFont typeface="+mj-lt"/>
              <a:buAutoNum type="arabicPeriod"/>
            </a:pPr>
            <a:r>
              <a:rPr lang="en-US" sz="1600" b="1" dirty="0" err="1"/>
              <a:t>Hintless</a:t>
            </a:r>
            <a:endParaRPr lang="en-US" sz="1600" b="1" dirty="0"/>
          </a:p>
          <a:p>
            <a:pPr marL="342900" indent="-342900" algn="just">
              <a:buFont typeface="+mj-lt"/>
              <a:buAutoNum type="arabicPeriod"/>
            </a:pPr>
            <a:r>
              <a:rPr lang="en-US" sz="1600" b="1" dirty="0"/>
              <a:t>YPIR</a:t>
            </a:r>
          </a:p>
          <a:p>
            <a:pPr marL="342900" indent="-342900" algn="just">
              <a:buFont typeface="+mj-lt"/>
              <a:buAutoNum type="arabicPeriod"/>
            </a:pPr>
            <a:r>
              <a:rPr lang="en-US" sz="1600" b="1" dirty="0"/>
              <a:t>…..</a:t>
            </a:r>
          </a:p>
          <a:p>
            <a:pPr marL="342900" indent="-342900" algn="just">
              <a:buFont typeface="+mj-lt"/>
              <a:buAutoNum type="arabicPeriod"/>
            </a:pPr>
            <a:r>
              <a:rPr lang="en-US" sz="1600" b="1" dirty="0"/>
              <a:t>InsPIRe</a:t>
            </a:r>
            <a:r>
              <a:rPr lang="en-US" sz="1600" dirty="0"/>
              <a:t> (</a:t>
            </a:r>
            <a:r>
              <a:rPr lang="en-US" sz="1600" i="1" dirty="0"/>
              <a:t>IEEE S&amp;P ‘26</a:t>
            </a:r>
            <a:r>
              <a:rPr lang="en-US" sz="1600" dirty="0"/>
              <a:t>)</a:t>
            </a:r>
          </a:p>
          <a:p>
            <a:pPr marL="342900" indent="-342900" algn="just">
              <a:buFont typeface="+mj-lt"/>
              <a:buAutoNum type="arabicPeriod"/>
            </a:pPr>
            <a:r>
              <a:rPr lang="en-US" sz="1600" dirty="0"/>
              <a:t>…..</a:t>
            </a:r>
          </a:p>
        </p:txBody>
      </p:sp>
      <p:sp>
        <p:nvSpPr>
          <p:cNvPr id="7" name="文本框 9">
            <a:extLst>
              <a:ext uri="{FF2B5EF4-FFF2-40B4-BE49-F238E27FC236}">
                <a16:creationId xmlns:a16="http://schemas.microsoft.com/office/drawing/2014/main" id="{00FA6250-5667-46DE-981B-DE3AA359010D}"/>
              </a:ext>
            </a:extLst>
          </p:cNvPr>
          <p:cNvSpPr txBox="1"/>
          <p:nvPr/>
        </p:nvSpPr>
        <p:spPr>
          <a:xfrm>
            <a:off x="1299595" y="183700"/>
            <a:ext cx="4174732" cy="430164"/>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Contents</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8" name="组合 22">
            <a:extLst>
              <a:ext uri="{FF2B5EF4-FFF2-40B4-BE49-F238E27FC236}">
                <a16:creationId xmlns:a16="http://schemas.microsoft.com/office/drawing/2014/main" id="{753562DE-BBEB-435F-9548-051CE1E6701D}"/>
              </a:ext>
            </a:extLst>
          </p:cNvPr>
          <p:cNvGrpSpPr/>
          <p:nvPr/>
        </p:nvGrpSpPr>
        <p:grpSpPr>
          <a:xfrm>
            <a:off x="11236541" y="460205"/>
            <a:ext cx="258653" cy="233204"/>
            <a:chOff x="3720691" y="2824413"/>
            <a:chExt cx="1341120" cy="1209172"/>
          </a:xfrm>
        </p:grpSpPr>
        <p:sp>
          <p:nvSpPr>
            <p:cNvPr id="10" name="Freeform 5">
              <a:extLst>
                <a:ext uri="{FF2B5EF4-FFF2-40B4-BE49-F238E27FC236}">
                  <a16:creationId xmlns:a16="http://schemas.microsoft.com/office/drawing/2014/main" id="{B647DE18-6820-4D8B-A0A0-E7FC55EAC5DB}"/>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1" name="Freeform 5">
              <a:extLst>
                <a:ext uri="{FF2B5EF4-FFF2-40B4-BE49-F238E27FC236}">
                  <a16:creationId xmlns:a16="http://schemas.microsoft.com/office/drawing/2014/main" id="{364A9732-E766-4A23-B779-CFE365E02C07}"/>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grpSp>
        <p:nvGrpSpPr>
          <p:cNvPr id="14" name="组合 47">
            <a:extLst>
              <a:ext uri="{FF2B5EF4-FFF2-40B4-BE49-F238E27FC236}">
                <a16:creationId xmlns:a16="http://schemas.microsoft.com/office/drawing/2014/main" id="{2AA47792-6E63-49B6-94B0-882EE7BD444D}"/>
              </a:ext>
            </a:extLst>
          </p:cNvPr>
          <p:cNvGrpSpPr/>
          <p:nvPr/>
        </p:nvGrpSpPr>
        <p:grpSpPr>
          <a:xfrm>
            <a:off x="10640968" y="1516795"/>
            <a:ext cx="278312" cy="184463"/>
            <a:chOff x="9482595" y="2565731"/>
            <a:chExt cx="278384" cy="184511"/>
          </a:xfrm>
        </p:grpSpPr>
        <p:sp>
          <p:nvSpPr>
            <p:cNvPr id="15" name="椭圆 48">
              <a:extLst>
                <a:ext uri="{FF2B5EF4-FFF2-40B4-BE49-F238E27FC236}">
                  <a16:creationId xmlns:a16="http://schemas.microsoft.com/office/drawing/2014/main" id="{CED0810E-0E08-46CA-9853-00481C9D4D48}"/>
                </a:ext>
              </a:extLst>
            </p:cNvPr>
            <p:cNvSpPr/>
            <p:nvPr/>
          </p:nvSpPr>
          <p:spPr>
            <a:xfrm>
              <a:off x="9482595" y="2565731"/>
              <a:ext cx="71376" cy="713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6" name="椭圆 49">
              <a:extLst>
                <a:ext uri="{FF2B5EF4-FFF2-40B4-BE49-F238E27FC236}">
                  <a16:creationId xmlns:a16="http://schemas.microsoft.com/office/drawing/2014/main" id="{D4F5AD11-23A8-45C5-9543-E4BFD937F50B}"/>
                </a:ext>
              </a:extLst>
            </p:cNvPr>
            <p:cNvSpPr/>
            <p:nvPr/>
          </p:nvSpPr>
          <p:spPr>
            <a:xfrm>
              <a:off x="9625979" y="2615242"/>
              <a:ext cx="135000" cy="135000"/>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grpSp>
      <p:sp>
        <p:nvSpPr>
          <p:cNvPr id="17" name="矩形 2">
            <a:extLst>
              <a:ext uri="{FF2B5EF4-FFF2-40B4-BE49-F238E27FC236}">
                <a16:creationId xmlns:a16="http://schemas.microsoft.com/office/drawing/2014/main" id="{21755ECA-F305-4951-B838-415C63138EF6}"/>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8" name="图片 3" descr="重庆邮电大学标准校徽 (1)">
            <a:extLst>
              <a:ext uri="{FF2B5EF4-FFF2-40B4-BE49-F238E27FC236}">
                <a16:creationId xmlns:a16="http://schemas.microsoft.com/office/drawing/2014/main" id="{FFDF112F-7591-47BF-BBFB-378A9CD8DCBB}"/>
              </a:ext>
            </a:extLst>
          </p:cNvPr>
          <p:cNvPicPr>
            <a:picLocks noChangeAspect="1"/>
          </p:cNvPicPr>
          <p:nvPr/>
        </p:nvPicPr>
        <p:blipFill>
          <a:blip r:embed="rId3"/>
          <a:stretch>
            <a:fillRect/>
          </a:stretch>
        </p:blipFill>
        <p:spPr>
          <a:xfrm>
            <a:off x="549659" y="190896"/>
            <a:ext cx="612897" cy="612897"/>
          </a:xfrm>
          <a:prstGeom prst="rect">
            <a:avLst/>
          </a:prstGeom>
        </p:spPr>
      </p:pic>
    </p:spTree>
    <p:extLst>
      <p:ext uri="{BB962C8B-B14F-4D97-AF65-F5344CB8AC3E}">
        <p14:creationId xmlns:p14="http://schemas.microsoft.com/office/powerpoint/2010/main" val="4144792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02</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748750" y="4035046"/>
            <a:ext cx="2618700" cy="45249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BFV-based 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56515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13</a:t>
            </a:fld>
            <a:endParaRPr lang="en-US"/>
          </a:p>
        </p:txBody>
      </p:sp>
      <p:sp>
        <p:nvSpPr>
          <p:cNvPr id="10" name="TextBox 9">
            <a:extLst>
              <a:ext uri="{FF2B5EF4-FFF2-40B4-BE49-F238E27FC236}">
                <a16:creationId xmlns:a16="http://schemas.microsoft.com/office/drawing/2014/main" id="{330746B0-8C70-4BEE-89AB-8FBF0638CDA3}"/>
              </a:ext>
            </a:extLst>
          </p:cNvPr>
          <p:cNvSpPr txBox="1"/>
          <p:nvPr/>
        </p:nvSpPr>
        <p:spPr>
          <a:xfrm>
            <a:off x="185855" y="5805327"/>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RLWE-based</a:t>
            </a:r>
          </a:p>
        </p:txBody>
      </p:sp>
      <p:sp>
        <p:nvSpPr>
          <p:cNvPr id="11" name="TextBox 10">
            <a:extLst>
              <a:ext uri="{FF2B5EF4-FFF2-40B4-BE49-F238E27FC236}">
                <a16:creationId xmlns:a16="http://schemas.microsoft.com/office/drawing/2014/main" id="{F8BDEE9C-038A-4543-A04C-2FA3C27728D4}"/>
              </a:ext>
            </a:extLst>
          </p:cNvPr>
          <p:cNvSpPr txBox="1"/>
          <p:nvPr/>
        </p:nvSpPr>
        <p:spPr>
          <a:xfrm>
            <a:off x="185855" y="6263401"/>
            <a:ext cx="4394534"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no preprocessing</a:t>
            </a:r>
          </a:p>
        </p:txBody>
      </p:sp>
    </p:spTree>
    <p:extLst>
      <p:ext uri="{BB962C8B-B14F-4D97-AF65-F5344CB8AC3E}">
        <p14:creationId xmlns:p14="http://schemas.microsoft.com/office/powerpoint/2010/main" val="3545137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2.1</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872498" y="3784210"/>
            <a:ext cx="2539445" cy="1252715"/>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Basic LWE/RLWE Cryptosystems</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5036925"/>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14</a:t>
            </a:fld>
            <a:endParaRPr lang="en-US"/>
          </a:p>
        </p:txBody>
      </p:sp>
    </p:spTree>
    <p:extLst>
      <p:ext uri="{BB962C8B-B14F-4D97-AF65-F5344CB8AC3E}">
        <p14:creationId xmlns:p14="http://schemas.microsoft.com/office/powerpoint/2010/main" val="1897007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Learning with errors</a:t>
            </a:r>
            <a:endParaRPr lang="zh-CN" altLang="en-US" sz="2000" i="1"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pic>
        <p:nvPicPr>
          <p:cNvPr id="3" name="Рисунок 2">
            <a:extLst>
              <a:ext uri="{FF2B5EF4-FFF2-40B4-BE49-F238E27FC236}">
                <a16:creationId xmlns:a16="http://schemas.microsoft.com/office/drawing/2014/main" id="{FB860E14-6101-4158-98E1-E6EBB15CA7D2}"/>
              </a:ext>
            </a:extLst>
          </p:cNvPr>
          <p:cNvPicPr>
            <a:picLocks noChangeAspect="1"/>
          </p:cNvPicPr>
          <p:nvPr/>
        </p:nvPicPr>
        <p:blipFill>
          <a:blip r:embed="rId4"/>
          <a:stretch>
            <a:fillRect/>
          </a:stretch>
        </p:blipFill>
        <p:spPr>
          <a:xfrm>
            <a:off x="549659" y="1001392"/>
            <a:ext cx="4526473" cy="1512891"/>
          </a:xfrm>
          <a:prstGeom prst="rect">
            <a:avLst/>
          </a:prstGeom>
        </p:spPr>
      </p:pic>
      <p:pic>
        <p:nvPicPr>
          <p:cNvPr id="5" name="Рисунок 4">
            <a:extLst>
              <a:ext uri="{FF2B5EF4-FFF2-40B4-BE49-F238E27FC236}">
                <a16:creationId xmlns:a16="http://schemas.microsoft.com/office/drawing/2014/main" id="{99235D7D-FB76-4D37-BBA9-7A2A087C6755}"/>
              </a:ext>
            </a:extLst>
          </p:cNvPr>
          <p:cNvPicPr>
            <a:picLocks noChangeAspect="1"/>
          </p:cNvPicPr>
          <p:nvPr/>
        </p:nvPicPr>
        <p:blipFill>
          <a:blip r:embed="rId5"/>
          <a:stretch>
            <a:fillRect/>
          </a:stretch>
        </p:blipFill>
        <p:spPr>
          <a:xfrm>
            <a:off x="5284175" y="1000026"/>
            <a:ext cx="6037087" cy="1512891"/>
          </a:xfrm>
          <a:prstGeom prst="rect">
            <a:avLst/>
          </a:prstGeom>
        </p:spPr>
      </p:pic>
      <p:pic>
        <p:nvPicPr>
          <p:cNvPr id="7" name="Рисунок 6">
            <a:extLst>
              <a:ext uri="{FF2B5EF4-FFF2-40B4-BE49-F238E27FC236}">
                <a16:creationId xmlns:a16="http://schemas.microsoft.com/office/drawing/2014/main" id="{41B60F29-7261-4C16-9EF3-2AA8105DDBB4}"/>
              </a:ext>
            </a:extLst>
          </p:cNvPr>
          <p:cNvPicPr>
            <a:picLocks noChangeAspect="1"/>
          </p:cNvPicPr>
          <p:nvPr/>
        </p:nvPicPr>
        <p:blipFill>
          <a:blip r:embed="rId6"/>
          <a:stretch>
            <a:fillRect/>
          </a:stretch>
        </p:blipFill>
        <p:spPr>
          <a:xfrm>
            <a:off x="549659" y="2653974"/>
            <a:ext cx="4526473" cy="1391830"/>
          </a:xfrm>
          <a:prstGeom prst="rect">
            <a:avLst/>
          </a:prstGeom>
        </p:spPr>
      </p:pic>
      <p:pic>
        <p:nvPicPr>
          <p:cNvPr id="11" name="Рисунок 10">
            <a:extLst>
              <a:ext uri="{FF2B5EF4-FFF2-40B4-BE49-F238E27FC236}">
                <a16:creationId xmlns:a16="http://schemas.microsoft.com/office/drawing/2014/main" id="{871C89B5-FEFA-4F36-9942-C9DE0D7E6EB0}"/>
              </a:ext>
            </a:extLst>
          </p:cNvPr>
          <p:cNvPicPr>
            <a:picLocks noChangeAspect="1"/>
          </p:cNvPicPr>
          <p:nvPr/>
        </p:nvPicPr>
        <p:blipFill>
          <a:blip r:embed="rId7"/>
          <a:stretch>
            <a:fillRect/>
          </a:stretch>
        </p:blipFill>
        <p:spPr>
          <a:xfrm>
            <a:off x="549660" y="4185495"/>
            <a:ext cx="4526472" cy="1228351"/>
          </a:xfrm>
          <a:prstGeom prst="rect">
            <a:avLst/>
          </a:prstGeom>
        </p:spPr>
      </p:pic>
      <p:pic>
        <p:nvPicPr>
          <p:cNvPr id="17" name="Рисунок 16">
            <a:extLst>
              <a:ext uri="{FF2B5EF4-FFF2-40B4-BE49-F238E27FC236}">
                <a16:creationId xmlns:a16="http://schemas.microsoft.com/office/drawing/2014/main" id="{807C6F0B-2302-4507-B9E8-7CD80DD79C13}"/>
              </a:ext>
            </a:extLst>
          </p:cNvPr>
          <p:cNvPicPr>
            <a:picLocks noChangeAspect="1"/>
          </p:cNvPicPr>
          <p:nvPr/>
        </p:nvPicPr>
        <p:blipFill>
          <a:blip r:embed="rId8"/>
          <a:stretch>
            <a:fillRect/>
          </a:stretch>
        </p:blipFill>
        <p:spPr>
          <a:xfrm>
            <a:off x="5284174" y="2601813"/>
            <a:ext cx="6037087" cy="3175611"/>
          </a:xfrm>
          <a:prstGeom prst="rect">
            <a:avLst/>
          </a:prstGeom>
        </p:spPr>
      </p:pic>
      <p:sp>
        <p:nvSpPr>
          <p:cNvPr id="21" name="Прямоугольник 20">
            <a:extLst>
              <a:ext uri="{FF2B5EF4-FFF2-40B4-BE49-F238E27FC236}">
                <a16:creationId xmlns:a16="http://schemas.microsoft.com/office/drawing/2014/main" id="{34C35D78-0E11-4E27-B520-F5BAF17F5A4C}"/>
              </a:ext>
            </a:extLst>
          </p:cNvPr>
          <p:cNvSpPr/>
          <p:nvPr/>
        </p:nvSpPr>
        <p:spPr>
          <a:xfrm>
            <a:off x="8496300" y="4045804"/>
            <a:ext cx="655320" cy="802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Группа 23">
            <a:extLst>
              <a:ext uri="{FF2B5EF4-FFF2-40B4-BE49-F238E27FC236}">
                <a16:creationId xmlns:a16="http://schemas.microsoft.com/office/drawing/2014/main" id="{B9B14049-1FC9-4618-BC74-124D4D4735BD}"/>
              </a:ext>
            </a:extLst>
          </p:cNvPr>
          <p:cNvGrpSpPr/>
          <p:nvPr/>
        </p:nvGrpSpPr>
        <p:grpSpPr>
          <a:xfrm>
            <a:off x="7917180" y="4048757"/>
            <a:ext cx="1813560" cy="862857"/>
            <a:chOff x="7917180" y="4048757"/>
            <a:chExt cx="1813560" cy="862857"/>
          </a:xfrm>
        </p:grpSpPr>
        <p:sp>
          <p:nvSpPr>
            <p:cNvPr id="22" name="Прямоугольник 21">
              <a:extLst>
                <a:ext uri="{FF2B5EF4-FFF2-40B4-BE49-F238E27FC236}">
                  <a16:creationId xmlns:a16="http://schemas.microsoft.com/office/drawing/2014/main" id="{35A24828-6B5D-48D6-A3FB-54E6AE4A3EED}"/>
                </a:ext>
              </a:extLst>
            </p:cNvPr>
            <p:cNvSpPr/>
            <p:nvPr/>
          </p:nvSpPr>
          <p:spPr>
            <a:xfrm>
              <a:off x="7917180" y="4109193"/>
              <a:ext cx="447278" cy="802421"/>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Прямоугольник 22">
              <a:extLst>
                <a:ext uri="{FF2B5EF4-FFF2-40B4-BE49-F238E27FC236}">
                  <a16:creationId xmlns:a16="http://schemas.microsoft.com/office/drawing/2014/main" id="{345EE90F-A2DE-4482-B7E2-A6DCC0626958}"/>
                </a:ext>
              </a:extLst>
            </p:cNvPr>
            <p:cNvSpPr/>
            <p:nvPr/>
          </p:nvSpPr>
          <p:spPr>
            <a:xfrm>
              <a:off x="9283462" y="4048757"/>
              <a:ext cx="447278" cy="802421"/>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Группа 30">
            <a:extLst>
              <a:ext uri="{FF2B5EF4-FFF2-40B4-BE49-F238E27FC236}">
                <a16:creationId xmlns:a16="http://schemas.microsoft.com/office/drawing/2014/main" id="{B562E35F-F0A6-4A11-B497-FBF984777C98}"/>
              </a:ext>
            </a:extLst>
          </p:cNvPr>
          <p:cNvGrpSpPr/>
          <p:nvPr/>
        </p:nvGrpSpPr>
        <p:grpSpPr>
          <a:xfrm>
            <a:off x="2224354" y="1444154"/>
            <a:ext cx="1231992" cy="657496"/>
            <a:chOff x="2224354" y="1444154"/>
            <a:chExt cx="1231992" cy="657496"/>
          </a:xfrm>
        </p:grpSpPr>
        <p:pic>
          <p:nvPicPr>
            <p:cNvPr id="26" name="Рисунок 25">
              <a:extLst>
                <a:ext uri="{FF2B5EF4-FFF2-40B4-BE49-F238E27FC236}">
                  <a16:creationId xmlns:a16="http://schemas.microsoft.com/office/drawing/2014/main" id="{96EF0DC7-373E-4F29-9483-F203D747A993}"/>
                </a:ext>
              </a:extLst>
            </p:cNvPr>
            <p:cNvPicPr>
              <a:picLocks noChangeAspect="1"/>
            </p:cNvPicPr>
            <p:nvPr/>
          </p:nvPicPr>
          <p:blipFill>
            <a:blip r:embed="rId9"/>
            <a:stretch>
              <a:fillRect/>
            </a:stretch>
          </p:blipFill>
          <p:spPr>
            <a:xfrm>
              <a:off x="2505075" y="1444154"/>
              <a:ext cx="951271" cy="657496"/>
            </a:xfrm>
            <a:prstGeom prst="rect">
              <a:avLst/>
            </a:prstGeom>
          </p:spPr>
        </p:pic>
        <p:sp>
          <p:nvSpPr>
            <p:cNvPr id="29" name="TextBox 28">
              <a:extLst>
                <a:ext uri="{FF2B5EF4-FFF2-40B4-BE49-F238E27FC236}">
                  <a16:creationId xmlns:a16="http://schemas.microsoft.com/office/drawing/2014/main" id="{67086FB4-3FD4-4EFC-AD15-3D1A69FD40D3}"/>
                </a:ext>
              </a:extLst>
            </p:cNvPr>
            <p:cNvSpPr txBox="1"/>
            <p:nvPr/>
          </p:nvSpPr>
          <p:spPr>
            <a:xfrm>
              <a:off x="2224354" y="1615968"/>
              <a:ext cx="394807" cy="307777"/>
            </a:xfrm>
            <a:prstGeom prst="rect">
              <a:avLst/>
            </a:prstGeom>
            <a:noFill/>
          </p:spPr>
          <p:txBody>
            <a:bodyPr wrap="square">
              <a:spAutoFit/>
            </a:bodyPr>
            <a:lstStyle/>
            <a:p>
              <a:r>
                <a:rPr lang="en-US" sz="1400" dirty="0"/>
                <a:t>=&gt;</a:t>
              </a:r>
            </a:p>
          </p:txBody>
        </p:sp>
      </p:grpSp>
      <p:grpSp>
        <p:nvGrpSpPr>
          <p:cNvPr id="32" name="Группа 31">
            <a:extLst>
              <a:ext uri="{FF2B5EF4-FFF2-40B4-BE49-F238E27FC236}">
                <a16:creationId xmlns:a16="http://schemas.microsoft.com/office/drawing/2014/main" id="{45A24AD4-C3D7-4707-8CB1-92C7CE2C1EE8}"/>
              </a:ext>
            </a:extLst>
          </p:cNvPr>
          <p:cNvGrpSpPr/>
          <p:nvPr/>
        </p:nvGrpSpPr>
        <p:grpSpPr>
          <a:xfrm>
            <a:off x="3443767" y="1455469"/>
            <a:ext cx="1171893" cy="973406"/>
            <a:chOff x="3443767" y="1455469"/>
            <a:chExt cx="1171893" cy="973406"/>
          </a:xfrm>
        </p:grpSpPr>
        <p:pic>
          <p:nvPicPr>
            <p:cNvPr id="28" name="Рисунок 27">
              <a:extLst>
                <a:ext uri="{FF2B5EF4-FFF2-40B4-BE49-F238E27FC236}">
                  <a16:creationId xmlns:a16="http://schemas.microsoft.com/office/drawing/2014/main" id="{5576F475-BD7F-42D1-B26E-13C867D66AE6}"/>
                </a:ext>
              </a:extLst>
            </p:cNvPr>
            <p:cNvPicPr>
              <a:picLocks noChangeAspect="1"/>
            </p:cNvPicPr>
            <p:nvPr/>
          </p:nvPicPr>
          <p:blipFill>
            <a:blip r:embed="rId10"/>
            <a:stretch>
              <a:fillRect/>
            </a:stretch>
          </p:blipFill>
          <p:spPr>
            <a:xfrm>
              <a:off x="3737066" y="1455469"/>
              <a:ext cx="878594" cy="973406"/>
            </a:xfrm>
            <a:prstGeom prst="rect">
              <a:avLst/>
            </a:prstGeom>
          </p:spPr>
        </p:pic>
        <p:sp>
          <p:nvSpPr>
            <p:cNvPr id="30" name="TextBox 29">
              <a:extLst>
                <a:ext uri="{FF2B5EF4-FFF2-40B4-BE49-F238E27FC236}">
                  <a16:creationId xmlns:a16="http://schemas.microsoft.com/office/drawing/2014/main" id="{2D07CC48-2D9B-40B9-91B2-24F1E6EAA1CB}"/>
                </a:ext>
              </a:extLst>
            </p:cNvPr>
            <p:cNvSpPr txBox="1"/>
            <p:nvPr/>
          </p:nvSpPr>
          <p:spPr>
            <a:xfrm>
              <a:off x="3443767" y="1634395"/>
              <a:ext cx="394807" cy="307777"/>
            </a:xfrm>
            <a:prstGeom prst="rect">
              <a:avLst/>
            </a:prstGeom>
            <a:noFill/>
          </p:spPr>
          <p:txBody>
            <a:bodyPr wrap="square">
              <a:spAutoFit/>
            </a:bodyPr>
            <a:lstStyle/>
            <a:p>
              <a:r>
                <a:rPr lang="en-US" sz="1400" dirty="0"/>
                <a:t>=&gt;</a:t>
              </a:r>
            </a:p>
          </p:txBody>
        </p:sp>
      </p:gr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82B4A0E-8C00-4E13-80AA-C42E40AD160A}"/>
                  </a:ext>
                </a:extLst>
              </p:cNvPr>
              <p:cNvSpPr txBox="1"/>
              <p:nvPr/>
            </p:nvSpPr>
            <p:spPr>
              <a:xfrm>
                <a:off x="8302718" y="2878450"/>
                <a:ext cx="2903116" cy="755271"/>
              </a:xfrm>
              <a:prstGeom prst="rect">
                <a:avLst/>
              </a:prstGeom>
              <a:noFill/>
            </p:spPr>
            <p:txBody>
              <a:bodyPr wrap="square">
                <a:spAutoFit/>
              </a:bodyPr>
              <a:lstStyle/>
              <a:p>
                <a:r>
                  <a:rPr lang="en-US" sz="1400" dirty="0"/>
                  <a:t>If </a:t>
                </a:r>
                <a14:m>
                  <m:oMath xmlns:m="http://schemas.openxmlformats.org/officeDocument/2006/math">
                    <m:r>
                      <a:rPr lang="en-US" sz="1400" i="1">
                        <a:latin typeface="Cambria Math" panose="02040503050406030204" pitchFamily="18" charset="0"/>
                      </a:rPr>
                      <m:t>𝐴</m:t>
                    </m:r>
                    <m:r>
                      <a:rPr lang="en-US" sz="1400" i="1" smtClean="0">
                        <a:latin typeface="Cambria Math" panose="02040503050406030204" pitchFamily="18" charset="0"/>
                        <a:ea typeface="Cambria Math" panose="02040503050406030204" pitchFamily="18" charset="0"/>
                      </a:rPr>
                      <m:t>∈</m:t>
                    </m:r>
                    <m:sSubSup>
                      <m:sSubSupPr>
                        <m:ctrlPr>
                          <a:rPr lang="en-US" sz="1400" i="1" smtClean="0">
                            <a:latin typeface="Cambria Math" panose="02040503050406030204" pitchFamily="18" charset="0"/>
                            <a:ea typeface="Cambria Math" panose="02040503050406030204" pitchFamily="18" charset="0"/>
                          </a:rPr>
                        </m:ctrlPr>
                      </m:sSubSupPr>
                      <m:e>
                        <m:r>
                          <a:rPr lang="en-US" sz="1400" b="0" i="1" smtClean="0">
                            <a:latin typeface="Cambria Math" panose="02040503050406030204" pitchFamily="18" charset="0"/>
                            <a:ea typeface="Cambria Math" panose="02040503050406030204" pitchFamily="18" charset="0"/>
                          </a:rPr>
                          <m:t>𝑍</m:t>
                        </m:r>
                      </m:e>
                      <m:sub>
                        <m:r>
                          <a:rPr lang="en-US" sz="1400" b="0" i="1" smtClean="0">
                            <a:latin typeface="Cambria Math" panose="02040503050406030204" pitchFamily="18" charset="0"/>
                            <a:ea typeface="Cambria Math" panose="02040503050406030204" pitchFamily="18" charset="0"/>
                          </a:rPr>
                          <m:t>𝑞</m:t>
                        </m:r>
                      </m:sub>
                      <m:sup>
                        <m:r>
                          <a:rPr lang="en-US" sz="1400" b="0" i="1" smtClean="0">
                            <a:latin typeface="Cambria Math" panose="02040503050406030204" pitchFamily="18" charset="0"/>
                            <a:ea typeface="Cambria Math" panose="02040503050406030204" pitchFamily="18" charset="0"/>
                          </a:rPr>
                          <m:t>𝑛</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𝑛</m:t>
                        </m:r>
                      </m:sup>
                    </m:sSubSup>
                    <m:r>
                      <a:rPr lang="en-US" sz="1400" b="0" i="1" smtClean="0">
                        <a:latin typeface="Cambria Math" panose="02040503050406030204" pitchFamily="18" charset="0"/>
                      </a:rPr>
                      <m:t>, </m:t>
                    </m:r>
                  </m:oMath>
                </a14:m>
                <a:r>
                  <a:rPr lang="en-US" sz="1400" i="1" dirty="0"/>
                  <a:t>gcd(det(A),q)=1 </a:t>
                </a:r>
                <a:r>
                  <a:rPr lang="en-US" sz="1400" dirty="0"/>
                  <a:t>and </a:t>
                </a:r>
                <a14:m>
                  <m:oMath xmlns:m="http://schemas.openxmlformats.org/officeDocument/2006/math">
                    <m:r>
                      <a:rPr lang="en-US" sz="140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𝑒</m:t>
                    </m:r>
                  </m:oMath>
                </a14:m>
                <a:r>
                  <a:rPr lang="en-US" sz="1400" dirty="0"/>
                  <a:t> it would just be:</a:t>
                </a:r>
              </a:p>
              <a:p>
                <a:r>
                  <a:rPr lang="en-US" sz="1400" dirty="0"/>
                  <a:t> </a:t>
                </a:r>
                <a14:m>
                  <m:oMath xmlns:m="http://schemas.openxmlformats.org/officeDocument/2006/math">
                    <m:r>
                      <a:rPr lang="en-US" sz="1400" b="0" i="1" smtClean="0">
                        <a:latin typeface="Cambria Math" panose="02040503050406030204" pitchFamily="18" charset="0"/>
                      </a:rPr>
                      <m:t>𝑠</m:t>
                    </m:r>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𝐴</m:t>
                        </m:r>
                      </m:e>
                      <m:sup>
                        <m:r>
                          <a:rPr lang="en-US" sz="1400" b="0" i="1" smtClean="0">
                            <a:latin typeface="Cambria Math" panose="02040503050406030204" pitchFamily="18" charset="0"/>
                          </a:rPr>
                          <m:t>−1</m:t>
                        </m:r>
                      </m:sup>
                    </m:sSup>
                    <m:r>
                      <a:rPr lang="en-US" sz="1400" b="0" i="1" smtClean="0">
                        <a:latin typeface="Cambria Math" panose="02040503050406030204" pitchFamily="18" charset="0"/>
                      </a:rPr>
                      <m:t>∗</m:t>
                    </m:r>
                    <m:r>
                      <a:rPr lang="en-US" sz="1400" b="0" i="1" smtClean="0">
                        <a:latin typeface="Cambria Math" panose="02040503050406030204" pitchFamily="18" charset="0"/>
                      </a:rPr>
                      <m:t>𝑏</m:t>
                    </m:r>
                    <m:r>
                      <a:rPr lang="en-US" sz="1400" b="0" i="1" smtClean="0">
                        <a:latin typeface="Cambria Math" panose="02040503050406030204" pitchFamily="18" charset="0"/>
                      </a:rPr>
                      <m:t> (</m:t>
                    </m:r>
                    <m:r>
                      <a:rPr lang="en-US" sz="1400" b="0" i="1" smtClean="0">
                        <a:latin typeface="Cambria Math" panose="02040503050406030204" pitchFamily="18" charset="0"/>
                      </a:rPr>
                      <m:t>𝑚𝑜𝑑</m:t>
                    </m:r>
                    <m:r>
                      <a:rPr lang="en-US" sz="1400" b="0" i="1" smtClean="0">
                        <a:latin typeface="Cambria Math" panose="02040503050406030204" pitchFamily="18" charset="0"/>
                      </a:rPr>
                      <m:t> </m:t>
                    </m:r>
                    <m:r>
                      <a:rPr lang="en-US" sz="1400" b="0" i="1" smtClean="0">
                        <a:latin typeface="Cambria Math" panose="02040503050406030204" pitchFamily="18" charset="0"/>
                      </a:rPr>
                      <m:t>𝑞</m:t>
                    </m:r>
                    <m:r>
                      <a:rPr lang="en-US" sz="1400" b="0" i="1" smtClean="0">
                        <a:latin typeface="Cambria Math" panose="02040503050406030204" pitchFamily="18" charset="0"/>
                      </a:rPr>
                      <m:t>)</m:t>
                    </m:r>
                  </m:oMath>
                </a14:m>
                <a:endParaRPr lang="en-US" sz="1400" dirty="0"/>
              </a:p>
            </p:txBody>
          </p:sp>
        </mc:Choice>
        <mc:Fallback xmlns="">
          <p:sp>
            <p:nvSpPr>
              <p:cNvPr id="33" name="TextBox 32">
                <a:extLst>
                  <a:ext uri="{FF2B5EF4-FFF2-40B4-BE49-F238E27FC236}">
                    <a16:creationId xmlns:a16="http://schemas.microsoft.com/office/drawing/2014/main" id="{C82B4A0E-8C00-4E13-80AA-C42E40AD160A}"/>
                  </a:ext>
                </a:extLst>
              </p:cNvPr>
              <p:cNvSpPr txBox="1">
                <a:spLocks noRot="1" noChangeAspect="1" noMove="1" noResize="1" noEditPoints="1" noAdjustHandles="1" noChangeArrowheads="1" noChangeShapeType="1" noTextEdit="1"/>
              </p:cNvSpPr>
              <p:nvPr/>
            </p:nvSpPr>
            <p:spPr>
              <a:xfrm>
                <a:off x="8302718" y="2878450"/>
                <a:ext cx="2903116" cy="755271"/>
              </a:xfrm>
              <a:prstGeom prst="rect">
                <a:avLst/>
              </a:prstGeom>
              <a:blipFill>
                <a:blip r:embed="rId11"/>
                <a:stretch>
                  <a:fillRect l="-630" t="-806" b="-2419"/>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4B51D390-AB6D-455A-B25B-4AD1257CD2D7}"/>
              </a:ext>
            </a:extLst>
          </p:cNvPr>
          <p:cNvSpPr txBox="1"/>
          <p:nvPr/>
        </p:nvSpPr>
        <p:spPr>
          <a:xfrm>
            <a:off x="241815" y="6365332"/>
            <a:ext cx="3168135" cy="261610"/>
          </a:xfrm>
          <a:prstGeom prst="rect">
            <a:avLst/>
          </a:prstGeom>
          <a:noFill/>
        </p:spPr>
        <p:txBody>
          <a:bodyPr wrap="square">
            <a:spAutoFit/>
          </a:bodyPr>
          <a:lstStyle/>
          <a:p>
            <a:r>
              <a:rPr lang="en-US" sz="1100" dirty="0">
                <a:hlinkClick r:id="rId12"/>
              </a:rPr>
              <a:t>https://www.youtube.com/watch?v=zLmJUNILKII</a:t>
            </a:r>
            <a:r>
              <a:rPr lang="en-US" sz="1100" dirty="0"/>
              <a:t> </a:t>
            </a:r>
          </a:p>
        </p:txBody>
      </p:sp>
    </p:spTree>
    <p:extLst>
      <p:ext uri="{BB962C8B-B14F-4D97-AF65-F5344CB8AC3E}">
        <p14:creationId xmlns:p14="http://schemas.microsoft.com/office/powerpoint/2010/main" val="421637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5436765"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Basic LWE cryptosystem</a:t>
            </a:r>
            <a:endParaRPr lang="zh-CN" altLang="en-US" sz="2000" i="1"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pic>
        <p:nvPicPr>
          <p:cNvPr id="47" name="Picture 46">
            <a:extLst>
              <a:ext uri="{FF2B5EF4-FFF2-40B4-BE49-F238E27FC236}">
                <a16:creationId xmlns:a16="http://schemas.microsoft.com/office/drawing/2014/main" id="{88DE597E-BF90-4F9D-94D4-4D4A425053FA}"/>
              </a:ext>
            </a:extLst>
          </p:cNvPr>
          <p:cNvPicPr>
            <a:picLocks noChangeAspect="1"/>
          </p:cNvPicPr>
          <p:nvPr/>
        </p:nvPicPr>
        <p:blipFill>
          <a:blip r:embed="rId4"/>
          <a:stretch>
            <a:fillRect/>
          </a:stretch>
        </p:blipFill>
        <p:spPr>
          <a:xfrm>
            <a:off x="6096000" y="3271957"/>
            <a:ext cx="1609980" cy="1073320"/>
          </a:xfrm>
          <a:prstGeom prst="rect">
            <a:avLst/>
          </a:prstGeom>
        </p:spPr>
      </p:pic>
      <p:pic>
        <p:nvPicPr>
          <p:cNvPr id="49" name="Picture 48">
            <a:extLst>
              <a:ext uri="{FF2B5EF4-FFF2-40B4-BE49-F238E27FC236}">
                <a16:creationId xmlns:a16="http://schemas.microsoft.com/office/drawing/2014/main" id="{77C57140-E023-4CF0-9836-FF3D07A62CD5}"/>
              </a:ext>
            </a:extLst>
          </p:cNvPr>
          <p:cNvPicPr>
            <a:picLocks noChangeAspect="1"/>
          </p:cNvPicPr>
          <p:nvPr/>
        </p:nvPicPr>
        <p:blipFill>
          <a:blip r:embed="rId5"/>
          <a:stretch>
            <a:fillRect/>
          </a:stretch>
        </p:blipFill>
        <p:spPr>
          <a:xfrm>
            <a:off x="7759104" y="3280231"/>
            <a:ext cx="2102743" cy="1065046"/>
          </a:xfrm>
          <a:prstGeom prst="rect">
            <a:avLst/>
          </a:prstGeom>
        </p:spPr>
      </p:pic>
      <p:grpSp>
        <p:nvGrpSpPr>
          <p:cNvPr id="139" name="Group 138">
            <a:extLst>
              <a:ext uri="{FF2B5EF4-FFF2-40B4-BE49-F238E27FC236}">
                <a16:creationId xmlns:a16="http://schemas.microsoft.com/office/drawing/2014/main" id="{E1BC3AF1-CDEF-42C1-AFB2-2496935FEC94}"/>
              </a:ext>
            </a:extLst>
          </p:cNvPr>
          <p:cNvGrpSpPr/>
          <p:nvPr/>
        </p:nvGrpSpPr>
        <p:grpSpPr>
          <a:xfrm>
            <a:off x="4221988" y="4587024"/>
            <a:ext cx="4116669" cy="1145778"/>
            <a:chOff x="4221988" y="4587024"/>
            <a:chExt cx="4116669" cy="1145778"/>
          </a:xfrm>
        </p:grpSpPr>
        <p:pic>
          <p:nvPicPr>
            <p:cNvPr id="78" name="Picture 77">
              <a:extLst>
                <a:ext uri="{FF2B5EF4-FFF2-40B4-BE49-F238E27FC236}">
                  <a16:creationId xmlns:a16="http://schemas.microsoft.com/office/drawing/2014/main" id="{A0EE48F0-82DA-402C-A204-D642022FD58B}"/>
                </a:ext>
              </a:extLst>
            </p:cNvPr>
            <p:cNvPicPr>
              <a:picLocks noChangeAspect="1"/>
            </p:cNvPicPr>
            <p:nvPr/>
          </p:nvPicPr>
          <p:blipFill>
            <a:blip r:embed="rId6"/>
            <a:stretch>
              <a:fillRect/>
            </a:stretch>
          </p:blipFill>
          <p:spPr>
            <a:xfrm>
              <a:off x="4275185" y="4875251"/>
              <a:ext cx="4063472" cy="857551"/>
            </a:xfrm>
            <a:prstGeom prst="rect">
              <a:avLst/>
            </a:prstGeom>
          </p:spPr>
        </p:pic>
        <p:sp>
          <p:nvSpPr>
            <p:cNvPr id="79" name="TextBox 78">
              <a:extLst>
                <a:ext uri="{FF2B5EF4-FFF2-40B4-BE49-F238E27FC236}">
                  <a16:creationId xmlns:a16="http://schemas.microsoft.com/office/drawing/2014/main" id="{53F462F5-F7CC-4AA7-B2C1-00D42CED9C83}"/>
                </a:ext>
              </a:extLst>
            </p:cNvPr>
            <p:cNvSpPr txBox="1"/>
            <p:nvPr/>
          </p:nvSpPr>
          <p:spPr>
            <a:xfrm>
              <a:off x="4221988" y="4587024"/>
              <a:ext cx="3668168" cy="369332"/>
            </a:xfrm>
            <a:prstGeom prst="rect">
              <a:avLst/>
            </a:prstGeom>
            <a:noFill/>
          </p:spPr>
          <p:txBody>
            <a:bodyPr wrap="square">
              <a:spAutoFit/>
            </a:bodyPr>
            <a:lstStyle/>
            <a:p>
              <a:pPr algn="just"/>
              <a:r>
                <a:rPr lang="en-US" b="1" dirty="0"/>
                <a:t>Scaled LWE plaintext structure (bits):</a:t>
              </a:r>
            </a:p>
          </p:txBody>
        </p:sp>
      </p:grpSp>
      <p:pic>
        <p:nvPicPr>
          <p:cNvPr id="81" name="Picture 80">
            <a:extLst>
              <a:ext uri="{FF2B5EF4-FFF2-40B4-BE49-F238E27FC236}">
                <a16:creationId xmlns:a16="http://schemas.microsoft.com/office/drawing/2014/main" id="{76598566-D0E3-44D3-B787-ED480C620779}"/>
              </a:ext>
            </a:extLst>
          </p:cNvPr>
          <p:cNvPicPr>
            <a:picLocks noChangeAspect="1"/>
          </p:cNvPicPr>
          <p:nvPr/>
        </p:nvPicPr>
        <p:blipFill>
          <a:blip r:embed="rId7"/>
          <a:stretch>
            <a:fillRect/>
          </a:stretch>
        </p:blipFill>
        <p:spPr>
          <a:xfrm>
            <a:off x="9914971" y="3280231"/>
            <a:ext cx="1927680" cy="1974130"/>
          </a:xfrm>
          <a:prstGeom prst="rect">
            <a:avLst/>
          </a:prstGeom>
        </p:spPr>
      </p:pic>
      <p:grpSp>
        <p:nvGrpSpPr>
          <p:cNvPr id="138" name="Group 137">
            <a:extLst>
              <a:ext uri="{FF2B5EF4-FFF2-40B4-BE49-F238E27FC236}">
                <a16:creationId xmlns:a16="http://schemas.microsoft.com/office/drawing/2014/main" id="{FC7E5CE6-0C7F-4809-B8E4-FAF8D87AB720}"/>
              </a:ext>
            </a:extLst>
          </p:cNvPr>
          <p:cNvGrpSpPr/>
          <p:nvPr/>
        </p:nvGrpSpPr>
        <p:grpSpPr>
          <a:xfrm>
            <a:off x="4180439" y="2880481"/>
            <a:ext cx="5255188" cy="1473070"/>
            <a:chOff x="4180439" y="2880481"/>
            <a:chExt cx="5255188" cy="1473070"/>
          </a:xfrm>
        </p:grpSpPr>
        <p:pic>
          <p:nvPicPr>
            <p:cNvPr id="45" name="Picture 44">
              <a:extLst>
                <a:ext uri="{FF2B5EF4-FFF2-40B4-BE49-F238E27FC236}">
                  <a16:creationId xmlns:a16="http://schemas.microsoft.com/office/drawing/2014/main" id="{5C934A77-3A60-4D2D-9AD1-AD0E9FD56D68}"/>
                </a:ext>
              </a:extLst>
            </p:cNvPr>
            <p:cNvPicPr>
              <a:picLocks noChangeAspect="1"/>
            </p:cNvPicPr>
            <p:nvPr/>
          </p:nvPicPr>
          <p:blipFill>
            <a:blip r:embed="rId8"/>
            <a:stretch>
              <a:fillRect/>
            </a:stretch>
          </p:blipFill>
          <p:spPr>
            <a:xfrm>
              <a:off x="4242650" y="3280231"/>
              <a:ext cx="1800225" cy="1073320"/>
            </a:xfrm>
            <a:prstGeom prst="rect">
              <a:avLst/>
            </a:prstGeom>
          </p:spPr>
        </p:pic>
        <p:sp>
          <p:nvSpPr>
            <p:cNvPr id="84" name="TextBox 83">
              <a:extLst>
                <a:ext uri="{FF2B5EF4-FFF2-40B4-BE49-F238E27FC236}">
                  <a16:creationId xmlns:a16="http://schemas.microsoft.com/office/drawing/2014/main" id="{76F98ECF-0BB2-4B80-A454-5BE78E245A37}"/>
                </a:ext>
              </a:extLst>
            </p:cNvPr>
            <p:cNvSpPr txBox="1"/>
            <p:nvPr/>
          </p:nvSpPr>
          <p:spPr>
            <a:xfrm>
              <a:off x="4180439" y="2880481"/>
              <a:ext cx="5255188" cy="369332"/>
            </a:xfrm>
            <a:prstGeom prst="rect">
              <a:avLst/>
            </a:prstGeom>
            <a:noFill/>
          </p:spPr>
          <p:txBody>
            <a:bodyPr wrap="square">
              <a:spAutoFit/>
            </a:bodyPr>
            <a:lstStyle/>
            <a:p>
              <a:pPr algn="just"/>
              <a:r>
                <a:rPr lang="en-US" b="1" dirty="0"/>
                <a:t>LWE cryptosystem test run (</a:t>
              </a:r>
              <a:r>
                <a:rPr lang="en-US" b="1" u="sng" dirty="0"/>
                <a:t>not a he scheme yet!</a:t>
              </a:r>
              <a:r>
                <a:rPr lang="en-US" b="1" dirty="0"/>
                <a:t>):</a:t>
              </a:r>
            </a:p>
          </p:txBody>
        </p:sp>
      </p:grpSp>
      <p:grpSp>
        <p:nvGrpSpPr>
          <p:cNvPr id="140" name="Group 139">
            <a:extLst>
              <a:ext uri="{FF2B5EF4-FFF2-40B4-BE49-F238E27FC236}">
                <a16:creationId xmlns:a16="http://schemas.microsoft.com/office/drawing/2014/main" id="{798F671F-D209-41BC-B9BF-0C5CF8FA643E}"/>
              </a:ext>
            </a:extLst>
          </p:cNvPr>
          <p:cNvGrpSpPr/>
          <p:nvPr/>
        </p:nvGrpSpPr>
        <p:grpSpPr>
          <a:xfrm>
            <a:off x="4275186" y="5792559"/>
            <a:ext cx="6692693" cy="1090974"/>
            <a:chOff x="4275186" y="5792559"/>
            <a:chExt cx="6692693" cy="1090974"/>
          </a:xfrm>
        </p:grpSpPr>
        <p:sp>
          <p:nvSpPr>
            <p:cNvPr id="85" name="TextBox 84">
              <a:extLst>
                <a:ext uri="{FF2B5EF4-FFF2-40B4-BE49-F238E27FC236}">
                  <a16:creationId xmlns:a16="http://schemas.microsoft.com/office/drawing/2014/main" id="{C5ECF69C-CFCA-4A4E-B1A4-1E12F8645227}"/>
                </a:ext>
              </a:extLst>
            </p:cNvPr>
            <p:cNvSpPr txBox="1"/>
            <p:nvPr/>
          </p:nvSpPr>
          <p:spPr>
            <a:xfrm>
              <a:off x="4275186" y="5800323"/>
              <a:ext cx="2763178" cy="523220"/>
            </a:xfrm>
            <a:prstGeom prst="rect">
              <a:avLst/>
            </a:prstGeom>
            <a:noFill/>
          </p:spPr>
          <p:txBody>
            <a:bodyPr wrap="square">
              <a:spAutoFit/>
            </a:bodyPr>
            <a:lstStyle/>
            <a:p>
              <a:pPr algn="just"/>
              <a:r>
                <a:rPr lang="en-US" sz="1400" dirty="0"/>
                <a:t>Suppose we have </a:t>
              </a:r>
              <a:r>
                <a:rPr lang="en-US" sz="1400" i="1" dirty="0"/>
                <a:t>m</a:t>
              </a:r>
              <a:r>
                <a:rPr lang="en-US" sz="1400" dirty="0"/>
                <a:t> =7, then </a:t>
              </a:r>
              <a:r>
                <a:rPr lang="el-GR" sz="1400" i="1" dirty="0"/>
                <a:t>Δ</a:t>
              </a:r>
              <a:r>
                <a:rPr lang="en-US" sz="1400" i="1" dirty="0"/>
                <a:t>*m</a:t>
              </a:r>
              <a:r>
                <a:rPr lang="en-US" sz="1400" dirty="0"/>
                <a:t> = = 16*7 = 112 = 0b01110000.</a:t>
              </a:r>
            </a:p>
          </p:txBody>
        </p:sp>
        <p:sp>
          <p:nvSpPr>
            <p:cNvPr id="86" name="TextBox 85">
              <a:extLst>
                <a:ext uri="{FF2B5EF4-FFF2-40B4-BE49-F238E27FC236}">
                  <a16:creationId xmlns:a16="http://schemas.microsoft.com/office/drawing/2014/main" id="{1441CA03-2A70-4482-9693-78A14174B866}"/>
                </a:ext>
              </a:extLst>
            </p:cNvPr>
            <p:cNvSpPr txBox="1"/>
            <p:nvPr/>
          </p:nvSpPr>
          <p:spPr>
            <a:xfrm>
              <a:off x="7038364" y="5812887"/>
              <a:ext cx="1613887" cy="523220"/>
            </a:xfrm>
            <a:prstGeom prst="rect">
              <a:avLst/>
            </a:prstGeom>
            <a:noFill/>
          </p:spPr>
          <p:txBody>
            <a:bodyPr wrap="square">
              <a:spAutoFit/>
            </a:bodyPr>
            <a:lstStyle/>
            <a:p>
              <a:pPr algn="just"/>
              <a:r>
                <a:rPr lang="en-US" sz="1400" dirty="0"/>
                <a:t>And error term </a:t>
              </a:r>
              <a:r>
                <a:rPr lang="en-US" sz="1400" i="1" dirty="0"/>
                <a:t>e</a:t>
              </a:r>
              <a:r>
                <a:rPr lang="en-US" sz="1400" dirty="0"/>
                <a:t> = = 5 = 0b00000101</a:t>
              </a:r>
            </a:p>
          </p:txBody>
        </p:sp>
        <p:grpSp>
          <p:nvGrpSpPr>
            <p:cNvPr id="114" name="Group 113">
              <a:extLst>
                <a:ext uri="{FF2B5EF4-FFF2-40B4-BE49-F238E27FC236}">
                  <a16:creationId xmlns:a16="http://schemas.microsoft.com/office/drawing/2014/main" id="{7F6AF543-BEAF-4C20-881A-6F8C59CE7B4E}"/>
                </a:ext>
              </a:extLst>
            </p:cNvPr>
            <p:cNvGrpSpPr/>
            <p:nvPr/>
          </p:nvGrpSpPr>
          <p:grpSpPr>
            <a:xfrm>
              <a:off x="8702119" y="5792559"/>
              <a:ext cx="2265760" cy="1090974"/>
              <a:chOff x="8578525" y="5792559"/>
              <a:chExt cx="2265760" cy="1090974"/>
            </a:xfrm>
          </p:grpSpPr>
          <p:grpSp>
            <p:nvGrpSpPr>
              <p:cNvPr id="106" name="Group 105">
                <a:extLst>
                  <a:ext uri="{FF2B5EF4-FFF2-40B4-BE49-F238E27FC236}">
                    <a16:creationId xmlns:a16="http://schemas.microsoft.com/office/drawing/2014/main" id="{D97787D4-9516-476C-BAE1-9F6D76B3D2EF}"/>
                  </a:ext>
                </a:extLst>
              </p:cNvPr>
              <p:cNvGrpSpPr/>
              <p:nvPr/>
            </p:nvGrpSpPr>
            <p:grpSpPr>
              <a:xfrm>
                <a:off x="8578525" y="6005942"/>
                <a:ext cx="2198106" cy="877591"/>
                <a:chOff x="8859855" y="5580230"/>
                <a:chExt cx="2198106" cy="877591"/>
              </a:xfrm>
            </p:grpSpPr>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79B8C300-CAE6-44B0-8929-F5489E4FA5C7}"/>
                        </a:ext>
                      </a:extLst>
                    </p:cNvPr>
                    <p:cNvSpPr txBox="1"/>
                    <p:nvPr/>
                  </p:nvSpPr>
                  <p:spPr>
                    <a:xfrm>
                      <a:off x="8859855" y="5580230"/>
                      <a:ext cx="2198106" cy="523220"/>
                    </a:xfrm>
                    <a:prstGeom prst="rect">
                      <a:avLst/>
                    </a:prstGeom>
                    <a:noFill/>
                  </p:spPr>
                  <p:txBody>
                    <a:bodyPr wrap="square">
                      <a:spAutoFit/>
                    </a:bodyPr>
                    <a:lstStyle/>
                    <a:p>
                      <a:pPr algn="just"/>
                      <a:endParaRPr lang="en-US" sz="1400" b="0" i="1" dirty="0"/>
                    </a:p>
                    <a:p>
                      <a:pPr algn="just"/>
                      <a:r>
                        <a:rPr lang="en-US" sz="1400" b="0" dirty="0"/>
                        <a:t> = </a:t>
                      </a:r>
                      <a14:m>
                        <m:oMath xmlns:m="http://schemas.openxmlformats.org/officeDocument/2006/math">
                          <m:r>
                            <m:rPr>
                              <m:nor/>
                            </m:rPr>
                            <a:rPr lang="en-US" sz="1400" b="0" i="1" dirty="0" smtClean="0"/>
                            <m:t>112 + 5 =</m:t>
                          </m:r>
                          <m:r>
                            <m:rPr>
                              <m:nor/>
                            </m:rPr>
                            <a:rPr lang="en-US" sz="1400" b="0" i="0" dirty="0" smtClean="0"/>
                            <m:t> </m:t>
                          </m:r>
                          <m:r>
                            <m:rPr>
                              <m:nor/>
                            </m:rPr>
                            <a:rPr lang="en-US" sz="1400"/>
                            <m:t>0</m:t>
                          </m:r>
                          <m:r>
                            <m:rPr>
                              <m:nor/>
                            </m:rPr>
                            <a:rPr lang="en-US" sz="1400"/>
                            <m:t>b</m:t>
                          </m:r>
                          <m:r>
                            <m:rPr>
                              <m:nor/>
                            </m:rPr>
                            <a:rPr lang="en-US" sz="1400" b="0" i="0" smtClean="0"/>
                            <m:t> </m:t>
                          </m:r>
                          <m:r>
                            <m:rPr>
                              <m:nor/>
                            </m:rPr>
                            <a:rPr lang="en-US" sz="1400"/>
                            <m:t>0111</m:t>
                          </m:r>
                          <m:r>
                            <m:rPr>
                              <m:nor/>
                            </m:rPr>
                            <a:rPr lang="en-US" sz="1400" b="0" i="0" smtClean="0"/>
                            <m:t> </m:t>
                          </m:r>
                          <m:r>
                            <m:rPr>
                              <m:nor/>
                            </m:rPr>
                            <a:rPr lang="en-US" sz="1400"/>
                            <m:t>0101</m:t>
                          </m:r>
                        </m:oMath>
                      </a14:m>
                      <a:endParaRPr lang="en-US" sz="1400" dirty="0"/>
                    </a:p>
                  </p:txBody>
                </p:sp>
              </mc:Choice>
              <mc:Fallback xmlns="">
                <p:sp>
                  <p:nvSpPr>
                    <p:cNvPr id="87" name="TextBox 86">
                      <a:extLst>
                        <a:ext uri="{FF2B5EF4-FFF2-40B4-BE49-F238E27FC236}">
                          <a16:creationId xmlns:a16="http://schemas.microsoft.com/office/drawing/2014/main" id="{79B8C300-CAE6-44B0-8929-F5489E4FA5C7}"/>
                        </a:ext>
                      </a:extLst>
                    </p:cNvPr>
                    <p:cNvSpPr txBox="1">
                      <a:spLocks noRot="1" noChangeAspect="1" noMove="1" noResize="1" noEditPoints="1" noAdjustHandles="1" noChangeArrowheads="1" noChangeShapeType="1" noTextEdit="1"/>
                    </p:cNvSpPr>
                    <p:nvPr/>
                  </p:nvSpPr>
                  <p:spPr>
                    <a:xfrm>
                      <a:off x="8859855" y="5580230"/>
                      <a:ext cx="2198106" cy="523220"/>
                    </a:xfrm>
                    <a:prstGeom prst="rect">
                      <a:avLst/>
                    </a:prstGeom>
                    <a:blipFill>
                      <a:blip r:embed="rId9"/>
                      <a:stretch>
                        <a:fillRect b="-11628"/>
                      </a:stretch>
                    </a:blipFill>
                  </p:spPr>
                  <p:txBody>
                    <a:bodyPr/>
                    <a:lstStyle/>
                    <a:p>
                      <a:r>
                        <a:rPr lang="en-US">
                          <a:noFill/>
                        </a:rPr>
                        <a:t> </a:t>
                      </a:r>
                    </a:p>
                  </p:txBody>
                </p:sp>
              </mc:Fallback>
            </mc:AlternateContent>
            <p:sp>
              <p:nvSpPr>
                <p:cNvPr id="88" name="Right Brace 87">
                  <a:extLst>
                    <a:ext uri="{FF2B5EF4-FFF2-40B4-BE49-F238E27FC236}">
                      <a16:creationId xmlns:a16="http://schemas.microsoft.com/office/drawing/2014/main" id="{D48B9C1E-3638-48A6-A169-5B0974DE3ACA}"/>
                    </a:ext>
                  </a:extLst>
                </p:cNvPr>
                <p:cNvSpPr/>
                <p:nvPr/>
              </p:nvSpPr>
              <p:spPr>
                <a:xfrm rot="5400000">
                  <a:off x="10189840" y="5902255"/>
                  <a:ext cx="83890" cy="34433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3" name="TextBox 92">
                  <a:extLst>
                    <a:ext uri="{FF2B5EF4-FFF2-40B4-BE49-F238E27FC236}">
                      <a16:creationId xmlns:a16="http://schemas.microsoft.com/office/drawing/2014/main" id="{A4998C65-D150-4618-9549-DA84E7B67F7D}"/>
                    </a:ext>
                  </a:extLst>
                </p:cNvPr>
                <p:cNvSpPr txBox="1"/>
                <p:nvPr/>
              </p:nvSpPr>
              <p:spPr>
                <a:xfrm>
                  <a:off x="9950354" y="6143680"/>
                  <a:ext cx="562655" cy="307777"/>
                </a:xfrm>
                <a:prstGeom prst="rect">
                  <a:avLst/>
                </a:prstGeom>
                <a:noFill/>
              </p:spPr>
              <p:txBody>
                <a:bodyPr wrap="square">
                  <a:spAutoFit/>
                </a:bodyPr>
                <a:lstStyle/>
                <a:p>
                  <a:pPr algn="just"/>
                  <a:r>
                    <a:rPr lang="el-GR" sz="1400" i="1" dirty="0"/>
                    <a:t>Δ</a:t>
                  </a:r>
                  <a:r>
                    <a:rPr lang="en-US" sz="1400" i="1" dirty="0"/>
                    <a:t>*m</a:t>
                  </a:r>
                </a:p>
              </p:txBody>
            </p:sp>
            <p:sp>
              <p:nvSpPr>
                <p:cNvPr id="94" name="Right Brace 93">
                  <a:extLst>
                    <a:ext uri="{FF2B5EF4-FFF2-40B4-BE49-F238E27FC236}">
                      <a16:creationId xmlns:a16="http://schemas.microsoft.com/office/drawing/2014/main" id="{7C0CD29F-835F-429A-BBE0-E968159AD0FA}"/>
                    </a:ext>
                  </a:extLst>
                </p:cNvPr>
                <p:cNvSpPr/>
                <p:nvPr/>
              </p:nvSpPr>
              <p:spPr>
                <a:xfrm rot="5400000">
                  <a:off x="10580710" y="5902255"/>
                  <a:ext cx="83890" cy="34433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5" name="TextBox 94">
                  <a:extLst>
                    <a:ext uri="{FF2B5EF4-FFF2-40B4-BE49-F238E27FC236}">
                      <a16:creationId xmlns:a16="http://schemas.microsoft.com/office/drawing/2014/main" id="{3E19D228-4D3B-496C-BA07-7EAB5B5A2923}"/>
                    </a:ext>
                  </a:extLst>
                </p:cNvPr>
                <p:cNvSpPr txBox="1"/>
                <p:nvPr/>
              </p:nvSpPr>
              <p:spPr>
                <a:xfrm>
                  <a:off x="10513009" y="6150044"/>
                  <a:ext cx="281813" cy="307777"/>
                </a:xfrm>
                <a:prstGeom prst="rect">
                  <a:avLst/>
                </a:prstGeom>
                <a:noFill/>
              </p:spPr>
              <p:txBody>
                <a:bodyPr wrap="square">
                  <a:spAutoFit/>
                </a:bodyPr>
                <a:lstStyle/>
                <a:p>
                  <a:pPr algn="just"/>
                  <a:r>
                    <a:rPr lang="en-US" sz="1400" i="1" dirty="0"/>
                    <a:t>e</a:t>
                  </a:r>
                </a:p>
              </p:txBody>
            </p:sp>
            <p:sp>
              <p:nvSpPr>
                <p:cNvPr id="98" name="TextBox 97">
                  <a:extLst>
                    <a:ext uri="{FF2B5EF4-FFF2-40B4-BE49-F238E27FC236}">
                      <a16:creationId xmlns:a16="http://schemas.microsoft.com/office/drawing/2014/main" id="{B926BC3A-1082-47FA-A75A-BBE8E45E734E}"/>
                    </a:ext>
                  </a:extLst>
                </p:cNvPr>
                <p:cNvSpPr txBox="1"/>
                <p:nvPr/>
              </p:nvSpPr>
              <p:spPr>
                <a:xfrm>
                  <a:off x="9962910" y="5614413"/>
                  <a:ext cx="592417" cy="261610"/>
                </a:xfrm>
                <a:prstGeom prst="rect">
                  <a:avLst/>
                </a:prstGeom>
                <a:noFill/>
              </p:spPr>
              <p:txBody>
                <a:bodyPr wrap="square">
                  <a:spAutoFit/>
                </a:bodyPr>
                <a:lstStyle/>
                <a:p>
                  <a:pPr algn="just"/>
                  <a:r>
                    <a:rPr lang="en-US" sz="1100" dirty="0"/>
                    <a:t>MSBs</a:t>
                  </a:r>
                  <a:endParaRPr lang="en-US" sz="1100" i="1" dirty="0"/>
                </a:p>
              </p:txBody>
            </p:sp>
            <p:sp>
              <p:nvSpPr>
                <p:cNvPr id="99" name="TextBox 98">
                  <a:extLst>
                    <a:ext uri="{FF2B5EF4-FFF2-40B4-BE49-F238E27FC236}">
                      <a16:creationId xmlns:a16="http://schemas.microsoft.com/office/drawing/2014/main" id="{4AC883D4-F57F-4213-BCF9-2C62FA5D3401}"/>
                    </a:ext>
                  </a:extLst>
                </p:cNvPr>
                <p:cNvSpPr txBox="1"/>
                <p:nvPr/>
              </p:nvSpPr>
              <p:spPr>
                <a:xfrm>
                  <a:off x="10400016" y="5624136"/>
                  <a:ext cx="592417" cy="261610"/>
                </a:xfrm>
                <a:prstGeom prst="rect">
                  <a:avLst/>
                </a:prstGeom>
                <a:noFill/>
              </p:spPr>
              <p:txBody>
                <a:bodyPr wrap="square">
                  <a:spAutoFit/>
                </a:bodyPr>
                <a:lstStyle/>
                <a:p>
                  <a:pPr algn="just"/>
                  <a:r>
                    <a:rPr lang="en-US" sz="1100" dirty="0"/>
                    <a:t>LSBs</a:t>
                  </a:r>
                  <a:endParaRPr lang="en-US" sz="1100" i="1" dirty="0"/>
                </a:p>
              </p:txBody>
            </p:sp>
          </p:gr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9B2684A-3B59-45C9-84DB-F6B765CAFFA7}"/>
                      </a:ext>
                    </a:extLst>
                  </p:cNvPr>
                  <p:cNvSpPr txBox="1"/>
                  <p:nvPr/>
                </p:nvSpPr>
                <p:spPr>
                  <a:xfrm>
                    <a:off x="8651365" y="5792559"/>
                    <a:ext cx="2192920" cy="307777"/>
                  </a:xfrm>
                  <a:prstGeom prst="rect">
                    <a:avLst/>
                  </a:prstGeom>
                  <a:noFill/>
                </p:spPr>
                <p:txBody>
                  <a:bodyPr wrap="square">
                    <a:spAutoFit/>
                  </a:bodyPr>
                  <a:lstStyle/>
                  <a:p>
                    <a:pPr algn="just"/>
                    <a:r>
                      <a:rPr lang="en-US" sz="1400" dirty="0"/>
                      <a:t>Their sum in </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𝑍</m:t>
                            </m:r>
                          </m:e>
                          <m:sub>
                            <m:r>
                              <a:rPr lang="en-US" sz="1400" b="0" i="1" smtClean="0">
                                <a:latin typeface="Cambria Math" panose="02040503050406030204" pitchFamily="18" charset="0"/>
                              </a:rPr>
                              <m:t>256</m:t>
                            </m:r>
                          </m:sub>
                        </m:sSub>
                        <m:r>
                          <a:rPr lang="en-US" sz="1400" b="0" i="1" smtClean="0">
                            <a:latin typeface="Cambria Math" panose="02040503050406030204" pitchFamily="18" charset="0"/>
                          </a:rPr>
                          <m:t>=</m:t>
                        </m:r>
                        <m:r>
                          <m:rPr>
                            <m:nor/>
                          </m:rPr>
                          <a:rPr lang="el-GR" sz="1400" i="1" dirty="0"/>
                          <m:t>Δ</m:t>
                        </m:r>
                        <m:r>
                          <m:rPr>
                            <m:nor/>
                          </m:rPr>
                          <a:rPr lang="en-US" sz="1400" b="0" i="1" dirty="0" smtClean="0"/>
                          <m:t>∗</m:t>
                        </m:r>
                        <m:r>
                          <m:rPr>
                            <m:nor/>
                          </m:rPr>
                          <a:rPr lang="en-US" sz="1400" b="0" i="1" dirty="0" smtClean="0"/>
                          <m:t>m</m:t>
                        </m:r>
                        <m:r>
                          <m:rPr>
                            <m:nor/>
                          </m:rPr>
                          <a:rPr lang="en-US" sz="1400" b="0" i="1" dirty="0" smtClean="0"/>
                          <m:t> =</m:t>
                        </m:r>
                      </m:oMath>
                    </a14:m>
                    <a:endParaRPr lang="en-US" sz="1400" b="0" i="1" dirty="0"/>
                  </a:p>
                </p:txBody>
              </p:sp>
            </mc:Choice>
            <mc:Fallback xmlns="">
              <p:sp>
                <p:nvSpPr>
                  <p:cNvPr id="105" name="TextBox 104">
                    <a:extLst>
                      <a:ext uri="{FF2B5EF4-FFF2-40B4-BE49-F238E27FC236}">
                        <a16:creationId xmlns:a16="http://schemas.microsoft.com/office/drawing/2014/main" id="{C9B2684A-3B59-45C9-84DB-F6B765CAFFA7}"/>
                      </a:ext>
                    </a:extLst>
                  </p:cNvPr>
                  <p:cNvSpPr txBox="1">
                    <a:spLocks noRot="1" noChangeAspect="1" noMove="1" noResize="1" noEditPoints="1" noAdjustHandles="1" noChangeArrowheads="1" noChangeShapeType="1" noTextEdit="1"/>
                  </p:cNvSpPr>
                  <p:nvPr/>
                </p:nvSpPr>
                <p:spPr>
                  <a:xfrm>
                    <a:off x="8651365" y="5792559"/>
                    <a:ext cx="2192920" cy="307777"/>
                  </a:xfrm>
                  <a:prstGeom prst="rect">
                    <a:avLst/>
                  </a:prstGeom>
                  <a:blipFill>
                    <a:blip r:embed="rId10"/>
                    <a:stretch>
                      <a:fillRect l="-833" t="-3922" b="-19608"/>
                    </a:stretch>
                  </a:blipFill>
                </p:spPr>
                <p:txBody>
                  <a:bodyPr/>
                  <a:lstStyle/>
                  <a:p>
                    <a:r>
                      <a:rPr lang="en-US">
                        <a:noFill/>
                      </a:rPr>
                      <a:t> </a:t>
                    </a:r>
                  </a:p>
                </p:txBody>
              </p:sp>
            </mc:Fallback>
          </mc:AlternateContent>
        </p:grpSp>
      </p:grpSp>
      <p:grpSp>
        <p:nvGrpSpPr>
          <p:cNvPr id="136" name="Group 135">
            <a:extLst>
              <a:ext uri="{FF2B5EF4-FFF2-40B4-BE49-F238E27FC236}">
                <a16:creationId xmlns:a16="http://schemas.microsoft.com/office/drawing/2014/main" id="{7EFDFF7F-8F52-48BE-A387-7E3356C609BA}"/>
              </a:ext>
            </a:extLst>
          </p:cNvPr>
          <p:cNvGrpSpPr/>
          <p:nvPr/>
        </p:nvGrpSpPr>
        <p:grpSpPr>
          <a:xfrm>
            <a:off x="4180439" y="1096690"/>
            <a:ext cx="7556574" cy="1444818"/>
            <a:chOff x="4180439" y="1096690"/>
            <a:chExt cx="7556574" cy="1444818"/>
          </a:xfrm>
        </p:grpSpPr>
        <p:sp>
          <p:nvSpPr>
            <p:cNvPr id="23" name="TextBox 22">
              <a:extLst>
                <a:ext uri="{FF2B5EF4-FFF2-40B4-BE49-F238E27FC236}">
                  <a16:creationId xmlns:a16="http://schemas.microsoft.com/office/drawing/2014/main" id="{F54D9CD5-F962-4B07-ADE5-F594A4514C4B}"/>
                </a:ext>
              </a:extLst>
            </p:cNvPr>
            <p:cNvSpPr txBox="1"/>
            <p:nvPr/>
          </p:nvSpPr>
          <p:spPr>
            <a:xfrm>
              <a:off x="4180439" y="1096690"/>
              <a:ext cx="2923671" cy="369332"/>
            </a:xfrm>
            <a:prstGeom prst="rect">
              <a:avLst/>
            </a:prstGeom>
            <a:noFill/>
          </p:spPr>
          <p:txBody>
            <a:bodyPr wrap="square">
              <a:spAutoFit/>
            </a:bodyPr>
            <a:lstStyle/>
            <a:p>
              <a:pPr algn="just"/>
              <a:r>
                <a:rPr lang="en-US" b="1" dirty="0"/>
                <a:t>LWE cryptosystem setup:</a:t>
              </a:r>
            </a:p>
          </p:txBody>
        </p:sp>
        <p:pic>
          <p:nvPicPr>
            <p:cNvPr id="61" name="Picture 60">
              <a:extLst>
                <a:ext uri="{FF2B5EF4-FFF2-40B4-BE49-F238E27FC236}">
                  <a16:creationId xmlns:a16="http://schemas.microsoft.com/office/drawing/2014/main" id="{AA1AD1E4-7F2E-4773-8527-E8010CCC5E30}"/>
                </a:ext>
              </a:extLst>
            </p:cNvPr>
            <p:cNvPicPr>
              <a:picLocks noChangeAspect="1"/>
            </p:cNvPicPr>
            <p:nvPr/>
          </p:nvPicPr>
          <p:blipFill>
            <a:blip r:embed="rId11"/>
            <a:stretch>
              <a:fillRect/>
            </a:stretch>
          </p:blipFill>
          <p:spPr>
            <a:xfrm>
              <a:off x="4243887" y="1435269"/>
              <a:ext cx="2408583" cy="1106239"/>
            </a:xfrm>
            <a:prstGeom prst="rect">
              <a:avLst/>
            </a:prstGeom>
          </p:spPr>
        </p:pic>
        <p:pic>
          <p:nvPicPr>
            <p:cNvPr id="65" name="Picture 64">
              <a:extLst>
                <a:ext uri="{FF2B5EF4-FFF2-40B4-BE49-F238E27FC236}">
                  <a16:creationId xmlns:a16="http://schemas.microsoft.com/office/drawing/2014/main" id="{617D6217-AE9D-47C2-9B99-8FE9ABD9FC4C}"/>
                </a:ext>
              </a:extLst>
            </p:cNvPr>
            <p:cNvPicPr>
              <a:picLocks noChangeAspect="1"/>
            </p:cNvPicPr>
            <p:nvPr/>
          </p:nvPicPr>
          <p:blipFill>
            <a:blip r:embed="rId12"/>
            <a:stretch>
              <a:fillRect/>
            </a:stretch>
          </p:blipFill>
          <p:spPr>
            <a:xfrm>
              <a:off x="6681456" y="1422705"/>
              <a:ext cx="2357673" cy="1106239"/>
            </a:xfrm>
            <a:prstGeom prst="rect">
              <a:avLst/>
            </a:prstGeom>
          </p:spPr>
        </p:pic>
        <p:pic>
          <p:nvPicPr>
            <p:cNvPr id="67" name="Picture 66">
              <a:extLst>
                <a:ext uri="{FF2B5EF4-FFF2-40B4-BE49-F238E27FC236}">
                  <a16:creationId xmlns:a16="http://schemas.microsoft.com/office/drawing/2014/main" id="{13024D35-5862-47C4-A73B-C42FDBFCEAEC}"/>
                </a:ext>
              </a:extLst>
            </p:cNvPr>
            <p:cNvPicPr>
              <a:picLocks noChangeAspect="1"/>
            </p:cNvPicPr>
            <p:nvPr/>
          </p:nvPicPr>
          <p:blipFill>
            <a:blip r:embed="rId13"/>
            <a:stretch>
              <a:fillRect/>
            </a:stretch>
          </p:blipFill>
          <p:spPr>
            <a:xfrm>
              <a:off x="9068115" y="1413331"/>
              <a:ext cx="2668898" cy="1106239"/>
            </a:xfrm>
            <a:prstGeom prst="rect">
              <a:avLst/>
            </a:prstGeom>
          </p:spPr>
        </p:pic>
        <p:sp>
          <p:nvSpPr>
            <p:cNvPr id="115" name="TextBox 114">
              <a:extLst>
                <a:ext uri="{FF2B5EF4-FFF2-40B4-BE49-F238E27FC236}">
                  <a16:creationId xmlns:a16="http://schemas.microsoft.com/office/drawing/2014/main" id="{6A2A95E9-B250-4489-9B74-E1444D31C01A}"/>
                </a:ext>
              </a:extLst>
            </p:cNvPr>
            <p:cNvSpPr txBox="1"/>
            <p:nvPr/>
          </p:nvSpPr>
          <p:spPr>
            <a:xfrm>
              <a:off x="6672449" y="1112871"/>
              <a:ext cx="2763178" cy="307777"/>
            </a:xfrm>
            <a:prstGeom prst="rect">
              <a:avLst/>
            </a:prstGeom>
            <a:noFill/>
          </p:spPr>
          <p:txBody>
            <a:bodyPr wrap="square">
              <a:spAutoFit/>
            </a:bodyPr>
            <a:lstStyle/>
            <a:p>
              <a:pPr algn="just"/>
              <a:r>
                <a:rPr lang="en-US" sz="1400" dirty="0"/>
                <a:t>(</a:t>
              </a:r>
              <a:r>
                <a:rPr lang="en-US" sz="1400" i="1" dirty="0" err="1"/>
                <a:t>b,a</a:t>
              </a:r>
              <a:r>
                <a:rPr lang="en-US" sz="1400" dirty="0"/>
                <a:t>) are public, (</a:t>
              </a:r>
              <a:r>
                <a:rPr lang="en-US" sz="1400" i="1" dirty="0" err="1"/>
                <a:t>s,m,e</a:t>
              </a:r>
              <a:r>
                <a:rPr lang="en-US" sz="1400" dirty="0"/>
                <a:t>) are secret</a:t>
              </a:r>
            </a:p>
          </p:txBody>
        </p:sp>
      </p:grpSp>
      <p:sp>
        <p:nvSpPr>
          <p:cNvPr id="21" name="TextBox 20">
            <a:extLst>
              <a:ext uri="{FF2B5EF4-FFF2-40B4-BE49-F238E27FC236}">
                <a16:creationId xmlns:a16="http://schemas.microsoft.com/office/drawing/2014/main" id="{82BFED36-B45F-4D3C-A1C0-5BA35F80B680}"/>
              </a:ext>
            </a:extLst>
          </p:cNvPr>
          <p:cNvSpPr txBox="1"/>
          <p:nvPr/>
        </p:nvSpPr>
        <p:spPr>
          <a:xfrm>
            <a:off x="241815" y="6365332"/>
            <a:ext cx="3168135" cy="430887"/>
          </a:xfrm>
          <a:prstGeom prst="rect">
            <a:avLst/>
          </a:prstGeom>
          <a:noFill/>
        </p:spPr>
        <p:txBody>
          <a:bodyPr wrap="square">
            <a:spAutoFit/>
          </a:bodyPr>
          <a:lstStyle/>
          <a:p>
            <a:r>
              <a:rPr lang="en-US" sz="1100" dirty="0"/>
              <a:t>HE Textbook `25: </a:t>
            </a:r>
            <a:r>
              <a:rPr lang="en-US" sz="1100" dirty="0">
                <a:hlinkClick r:id="rId14"/>
              </a:rPr>
              <a:t>https://arxiv.org/pdf/2503.05136</a:t>
            </a:r>
            <a:endParaRPr lang="en-US" sz="1100" dirty="0"/>
          </a:p>
          <a:p>
            <a:r>
              <a:rPr lang="en-US" sz="1100" dirty="0"/>
              <a:t>LWE: </a:t>
            </a:r>
            <a:r>
              <a:rPr lang="en-US" sz="1100" dirty="0">
                <a:hlinkClick r:id="rId15"/>
              </a:rPr>
              <a:t>https://doi.org/10.1145/1060590.1060603</a:t>
            </a:r>
            <a:r>
              <a:rPr lang="en-US" sz="1100" dirty="0"/>
              <a:t>  </a:t>
            </a:r>
          </a:p>
        </p:txBody>
      </p:sp>
      <p:grpSp>
        <p:nvGrpSpPr>
          <p:cNvPr id="133" name="Group 132">
            <a:extLst>
              <a:ext uri="{FF2B5EF4-FFF2-40B4-BE49-F238E27FC236}">
                <a16:creationId xmlns:a16="http://schemas.microsoft.com/office/drawing/2014/main" id="{55619FA1-510D-4EBD-8D25-0E8E187ACEE1}"/>
              </a:ext>
            </a:extLst>
          </p:cNvPr>
          <p:cNvGrpSpPr/>
          <p:nvPr/>
        </p:nvGrpSpPr>
        <p:grpSpPr>
          <a:xfrm>
            <a:off x="241815" y="1078184"/>
            <a:ext cx="3839461" cy="3570345"/>
            <a:chOff x="241815" y="1078184"/>
            <a:chExt cx="3839461" cy="3570345"/>
          </a:xfrm>
        </p:grpSpPr>
        <p:sp>
          <p:nvSpPr>
            <p:cNvPr id="90" name="TextBox 89">
              <a:extLst>
                <a:ext uri="{FF2B5EF4-FFF2-40B4-BE49-F238E27FC236}">
                  <a16:creationId xmlns:a16="http://schemas.microsoft.com/office/drawing/2014/main" id="{09BBC427-B3D8-4FA7-AE19-33D9AB3DFE5B}"/>
                </a:ext>
              </a:extLst>
            </p:cNvPr>
            <p:cNvSpPr txBox="1"/>
            <p:nvPr/>
          </p:nvSpPr>
          <p:spPr>
            <a:xfrm>
              <a:off x="241815" y="1078184"/>
              <a:ext cx="2923670" cy="369332"/>
            </a:xfrm>
            <a:prstGeom prst="rect">
              <a:avLst/>
            </a:prstGeom>
            <a:noFill/>
          </p:spPr>
          <p:txBody>
            <a:bodyPr wrap="square">
              <a:spAutoFit/>
            </a:bodyPr>
            <a:lstStyle/>
            <a:p>
              <a:r>
                <a:rPr lang="en-US" b="1" dirty="0"/>
                <a:t>Learning with errors</a:t>
              </a:r>
              <a:endParaRPr lang="en-US" b="1" baseline="30000" dirty="0"/>
            </a:p>
          </p:txBody>
        </p:sp>
        <p:pic>
          <p:nvPicPr>
            <p:cNvPr id="117" name="Picture 116">
              <a:extLst>
                <a:ext uri="{FF2B5EF4-FFF2-40B4-BE49-F238E27FC236}">
                  <a16:creationId xmlns:a16="http://schemas.microsoft.com/office/drawing/2014/main" id="{4C69843D-9FE9-4485-99A4-DB46BCB9DA65}"/>
                </a:ext>
              </a:extLst>
            </p:cNvPr>
            <p:cNvPicPr>
              <a:picLocks noChangeAspect="1"/>
            </p:cNvPicPr>
            <p:nvPr/>
          </p:nvPicPr>
          <p:blipFill>
            <a:blip r:embed="rId16"/>
            <a:stretch>
              <a:fillRect/>
            </a:stretch>
          </p:blipFill>
          <p:spPr>
            <a:xfrm>
              <a:off x="285175" y="1439988"/>
              <a:ext cx="3796101" cy="3208541"/>
            </a:xfrm>
            <a:prstGeom prst="rect">
              <a:avLst/>
            </a:prstGeom>
          </p:spPr>
        </p:pic>
      </p:grpSp>
      <p:grpSp>
        <p:nvGrpSpPr>
          <p:cNvPr id="124" name="Group 123">
            <a:extLst>
              <a:ext uri="{FF2B5EF4-FFF2-40B4-BE49-F238E27FC236}">
                <a16:creationId xmlns:a16="http://schemas.microsoft.com/office/drawing/2014/main" id="{AE9B0BCE-3195-4390-941B-A86115450D62}"/>
              </a:ext>
            </a:extLst>
          </p:cNvPr>
          <p:cNvGrpSpPr/>
          <p:nvPr/>
        </p:nvGrpSpPr>
        <p:grpSpPr>
          <a:xfrm>
            <a:off x="5514975" y="5444669"/>
            <a:ext cx="4840298" cy="726261"/>
            <a:chOff x="5514975" y="5444669"/>
            <a:chExt cx="4840298" cy="726261"/>
          </a:xfrm>
        </p:grpSpPr>
        <p:cxnSp>
          <p:nvCxnSpPr>
            <p:cNvPr id="121" name="Straight Arrow Connector 120">
              <a:extLst>
                <a:ext uri="{FF2B5EF4-FFF2-40B4-BE49-F238E27FC236}">
                  <a16:creationId xmlns:a16="http://schemas.microsoft.com/office/drawing/2014/main" id="{87409373-31E5-46D3-BC42-BF1C3E2FAC3A}"/>
                </a:ext>
              </a:extLst>
            </p:cNvPr>
            <p:cNvCxnSpPr>
              <a:endCxn id="98" idx="1"/>
            </p:cNvCxnSpPr>
            <p:nvPr/>
          </p:nvCxnSpPr>
          <p:spPr>
            <a:xfrm>
              <a:off x="5514975" y="5486400"/>
              <a:ext cx="4290199" cy="68453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29B896F4-C9AA-4B5F-AA0D-F1AF00059464}"/>
                </a:ext>
              </a:extLst>
            </p:cNvPr>
            <p:cNvCxnSpPr/>
            <p:nvPr/>
          </p:nvCxnSpPr>
          <p:spPr>
            <a:xfrm>
              <a:off x="7617718" y="5444669"/>
              <a:ext cx="2737555" cy="65566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E6207F9F-7A81-4020-ADB0-BC0E68AF10FE}"/>
              </a:ext>
            </a:extLst>
          </p:cNvPr>
          <p:cNvGrpSpPr/>
          <p:nvPr/>
        </p:nvGrpSpPr>
        <p:grpSpPr>
          <a:xfrm>
            <a:off x="241815" y="4668023"/>
            <a:ext cx="4164203" cy="1716745"/>
            <a:chOff x="241815" y="4923114"/>
            <a:chExt cx="4164203" cy="1716745"/>
          </a:xfrm>
        </p:grpSpPr>
        <p:pic>
          <p:nvPicPr>
            <p:cNvPr id="22" name="Picture 21">
              <a:extLst>
                <a:ext uri="{FF2B5EF4-FFF2-40B4-BE49-F238E27FC236}">
                  <a16:creationId xmlns:a16="http://schemas.microsoft.com/office/drawing/2014/main" id="{B4A76DAF-C0BB-478A-BDCC-AB8A6CA82BCD}"/>
                </a:ext>
              </a:extLst>
            </p:cNvPr>
            <p:cNvPicPr>
              <a:picLocks noChangeAspect="1"/>
            </p:cNvPicPr>
            <p:nvPr/>
          </p:nvPicPr>
          <p:blipFill>
            <a:blip r:embed="rId17"/>
            <a:stretch>
              <a:fillRect/>
            </a:stretch>
          </p:blipFill>
          <p:spPr>
            <a:xfrm>
              <a:off x="285175" y="5293253"/>
              <a:ext cx="3751561" cy="852971"/>
            </a:xfrm>
            <a:prstGeom prst="rect">
              <a:avLst/>
            </a:prstGeom>
          </p:spPr>
        </p:pic>
        <p:sp>
          <p:nvSpPr>
            <p:cNvPr id="129" name="TextBox 128">
              <a:extLst>
                <a:ext uri="{FF2B5EF4-FFF2-40B4-BE49-F238E27FC236}">
                  <a16:creationId xmlns:a16="http://schemas.microsoft.com/office/drawing/2014/main" id="{E85A8B6A-4DE3-40F8-8409-51DC81F4A2B0}"/>
                </a:ext>
              </a:extLst>
            </p:cNvPr>
            <p:cNvSpPr txBox="1"/>
            <p:nvPr/>
          </p:nvSpPr>
          <p:spPr>
            <a:xfrm>
              <a:off x="241815" y="4923114"/>
              <a:ext cx="1094709" cy="369332"/>
            </a:xfrm>
            <a:prstGeom prst="rect">
              <a:avLst/>
            </a:prstGeom>
            <a:noFill/>
          </p:spPr>
          <p:txBody>
            <a:bodyPr wrap="square">
              <a:spAutoFit/>
            </a:bodyPr>
            <a:lstStyle/>
            <a:p>
              <a:pPr algn="just"/>
              <a:r>
                <a:rPr lang="en-US" b="1" dirty="0"/>
                <a:t>Math ops</a:t>
              </a:r>
            </a:p>
          </p:txBody>
        </p:sp>
        <p:sp>
          <p:nvSpPr>
            <p:cNvPr id="130" name="TextBox 129">
              <a:extLst>
                <a:ext uri="{FF2B5EF4-FFF2-40B4-BE49-F238E27FC236}">
                  <a16:creationId xmlns:a16="http://schemas.microsoft.com/office/drawing/2014/main" id="{1B49BDAD-1F28-406F-A8C5-0C99E2E65D3B}"/>
                </a:ext>
              </a:extLst>
            </p:cNvPr>
            <p:cNvSpPr txBox="1"/>
            <p:nvPr/>
          </p:nvSpPr>
          <p:spPr>
            <a:xfrm>
              <a:off x="241815" y="6197532"/>
              <a:ext cx="4063472" cy="230832"/>
            </a:xfrm>
            <a:prstGeom prst="rect">
              <a:avLst/>
            </a:prstGeom>
            <a:noFill/>
          </p:spPr>
          <p:txBody>
            <a:bodyPr wrap="square">
              <a:spAutoFit/>
            </a:bodyPr>
            <a:lstStyle/>
            <a:p>
              <a:pPr algn="just"/>
              <a:r>
                <a:rPr lang="en-US" sz="900" dirty="0"/>
                <a:t>https://www.calculatorsoup.com/calculators/math/modulo-calculator.php</a:t>
              </a:r>
            </a:p>
          </p:txBody>
        </p:sp>
        <p:sp>
          <p:nvSpPr>
            <p:cNvPr id="132" name="TextBox 131">
              <a:extLst>
                <a:ext uri="{FF2B5EF4-FFF2-40B4-BE49-F238E27FC236}">
                  <a16:creationId xmlns:a16="http://schemas.microsoft.com/office/drawing/2014/main" id="{EF1DDD97-6736-4C71-A2C0-6CD490A4A9DE}"/>
                </a:ext>
              </a:extLst>
            </p:cNvPr>
            <p:cNvSpPr txBox="1"/>
            <p:nvPr/>
          </p:nvSpPr>
          <p:spPr>
            <a:xfrm>
              <a:off x="241815" y="6409027"/>
              <a:ext cx="4164203" cy="230832"/>
            </a:xfrm>
            <a:prstGeom prst="rect">
              <a:avLst/>
            </a:prstGeom>
            <a:noFill/>
          </p:spPr>
          <p:txBody>
            <a:bodyPr wrap="square">
              <a:spAutoFit/>
            </a:bodyPr>
            <a:lstStyle/>
            <a:p>
              <a:r>
                <a:rPr lang="en-US" sz="900" dirty="0"/>
                <a:t>https://www.calculatorsoup.com/calculators/math/round-to-nearest-multiple.php</a:t>
              </a:r>
            </a:p>
          </p:txBody>
        </p:sp>
      </p:grpSp>
    </p:spTree>
    <p:extLst>
      <p:ext uri="{BB962C8B-B14F-4D97-AF65-F5344CB8AC3E}">
        <p14:creationId xmlns:p14="http://schemas.microsoft.com/office/powerpoint/2010/main" val="2595749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500"/>
                                        <p:tgtEl>
                                          <p:spTgt spid="1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6"/>
                                        </p:tgtEl>
                                        <p:attrNameLst>
                                          <p:attrName>style.visibility</p:attrName>
                                        </p:attrNameLst>
                                      </p:cBhvr>
                                      <p:to>
                                        <p:strVal val="visible"/>
                                      </p:to>
                                    </p:set>
                                    <p:animEffect transition="in" filter="fade">
                                      <p:cBhvr>
                                        <p:cTn id="12" dur="500"/>
                                        <p:tgtEl>
                                          <p:spTgt spid="1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8"/>
                                        </p:tgtEl>
                                        <p:attrNameLst>
                                          <p:attrName>style.visibility</p:attrName>
                                        </p:attrNameLst>
                                      </p:cBhvr>
                                      <p:to>
                                        <p:strVal val="visible"/>
                                      </p:to>
                                    </p:set>
                                    <p:animEffect transition="in" filter="fade">
                                      <p:cBhvr>
                                        <p:cTn id="17" dur="500"/>
                                        <p:tgtEl>
                                          <p:spTgt spid="13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1"/>
                                        </p:tgtEl>
                                        <p:attrNameLst>
                                          <p:attrName>style.visibility</p:attrName>
                                        </p:attrNameLst>
                                      </p:cBhvr>
                                      <p:to>
                                        <p:strVal val="visible"/>
                                      </p:to>
                                    </p:set>
                                    <p:animEffect transition="in" filter="fade">
                                      <p:cBhvr>
                                        <p:cTn id="32" dur="500"/>
                                        <p:tgtEl>
                                          <p:spTgt spid="8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9"/>
                                        </p:tgtEl>
                                        <p:attrNameLst>
                                          <p:attrName>style.visibility</p:attrName>
                                        </p:attrNameLst>
                                      </p:cBhvr>
                                      <p:to>
                                        <p:strVal val="visible"/>
                                      </p:to>
                                    </p:set>
                                    <p:animEffect transition="in" filter="fade">
                                      <p:cBhvr>
                                        <p:cTn id="37" dur="500"/>
                                        <p:tgtEl>
                                          <p:spTgt spid="1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0"/>
                                        </p:tgtEl>
                                        <p:attrNameLst>
                                          <p:attrName>style.visibility</p:attrName>
                                        </p:attrNameLst>
                                      </p:cBhvr>
                                      <p:to>
                                        <p:strVal val="visible"/>
                                      </p:to>
                                    </p:set>
                                    <p:animEffect transition="in" filter="fade">
                                      <p:cBhvr>
                                        <p:cTn id="42" dur="500"/>
                                        <p:tgtEl>
                                          <p:spTgt spid="14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4"/>
                                        </p:tgtEl>
                                        <p:attrNameLst>
                                          <p:attrName>style.visibility</p:attrName>
                                        </p:attrNameLst>
                                      </p:cBhvr>
                                      <p:to>
                                        <p:strVal val="visible"/>
                                      </p:to>
                                    </p:set>
                                    <p:animEffect transition="in" filter="fade">
                                      <p:cBhvr>
                                        <p:cTn id="47"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5436765"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Basic RLWE cryptosystem</a:t>
            </a:r>
            <a:endParaRPr lang="zh-CN" altLang="en-US" sz="2000" i="1"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grpSp>
        <p:nvGrpSpPr>
          <p:cNvPr id="59" name="Group 58">
            <a:extLst>
              <a:ext uri="{FF2B5EF4-FFF2-40B4-BE49-F238E27FC236}">
                <a16:creationId xmlns:a16="http://schemas.microsoft.com/office/drawing/2014/main" id="{13B690B1-1730-4181-9AC1-257659F773CA}"/>
              </a:ext>
            </a:extLst>
          </p:cNvPr>
          <p:cNvGrpSpPr/>
          <p:nvPr/>
        </p:nvGrpSpPr>
        <p:grpSpPr>
          <a:xfrm>
            <a:off x="4205590" y="1047218"/>
            <a:ext cx="7160277" cy="1508470"/>
            <a:chOff x="4205590" y="1047218"/>
            <a:chExt cx="7160277" cy="1508470"/>
          </a:xfrm>
        </p:grpSpPr>
        <p:grpSp>
          <p:nvGrpSpPr>
            <p:cNvPr id="26" name="Group 25">
              <a:extLst>
                <a:ext uri="{FF2B5EF4-FFF2-40B4-BE49-F238E27FC236}">
                  <a16:creationId xmlns:a16="http://schemas.microsoft.com/office/drawing/2014/main" id="{7E8627BF-0179-4158-A907-6AD1AD29B369}"/>
                </a:ext>
              </a:extLst>
            </p:cNvPr>
            <p:cNvGrpSpPr/>
            <p:nvPr/>
          </p:nvGrpSpPr>
          <p:grpSpPr>
            <a:xfrm>
              <a:off x="4289800" y="1447516"/>
              <a:ext cx="2763178" cy="1107822"/>
              <a:chOff x="3714750" y="2881312"/>
              <a:chExt cx="4762501" cy="1909398"/>
            </a:xfrm>
          </p:grpSpPr>
          <p:pic>
            <p:nvPicPr>
              <p:cNvPr id="20" name="Picture 19">
                <a:extLst>
                  <a:ext uri="{FF2B5EF4-FFF2-40B4-BE49-F238E27FC236}">
                    <a16:creationId xmlns:a16="http://schemas.microsoft.com/office/drawing/2014/main" id="{D8C71218-6BA3-4F9F-A1F2-EA4C9F667725}"/>
                  </a:ext>
                </a:extLst>
              </p:cNvPr>
              <p:cNvPicPr>
                <a:picLocks noChangeAspect="1"/>
              </p:cNvPicPr>
              <p:nvPr/>
            </p:nvPicPr>
            <p:blipFill>
              <a:blip r:embed="rId4"/>
              <a:stretch>
                <a:fillRect/>
              </a:stretch>
            </p:blipFill>
            <p:spPr>
              <a:xfrm>
                <a:off x="3714750" y="2881312"/>
                <a:ext cx="4762500" cy="1095375"/>
              </a:xfrm>
              <a:prstGeom prst="rect">
                <a:avLst/>
              </a:prstGeom>
            </p:spPr>
          </p:pic>
          <p:pic>
            <p:nvPicPr>
              <p:cNvPr id="25" name="Picture 24">
                <a:extLst>
                  <a:ext uri="{FF2B5EF4-FFF2-40B4-BE49-F238E27FC236}">
                    <a16:creationId xmlns:a16="http://schemas.microsoft.com/office/drawing/2014/main" id="{B168C187-47FD-4F76-B739-C7E267FC0723}"/>
                  </a:ext>
                </a:extLst>
              </p:cNvPr>
              <p:cNvPicPr>
                <a:picLocks noChangeAspect="1"/>
              </p:cNvPicPr>
              <p:nvPr/>
            </p:nvPicPr>
            <p:blipFill>
              <a:blip r:embed="rId5"/>
              <a:stretch>
                <a:fillRect/>
              </a:stretch>
            </p:blipFill>
            <p:spPr>
              <a:xfrm>
                <a:off x="3714751" y="3976687"/>
                <a:ext cx="4762500" cy="814023"/>
              </a:xfrm>
              <a:prstGeom prst="rect">
                <a:avLst/>
              </a:prstGeom>
            </p:spPr>
          </p:pic>
        </p:grpSp>
        <p:pic>
          <p:nvPicPr>
            <p:cNvPr id="28" name="Picture 27">
              <a:extLst>
                <a:ext uri="{FF2B5EF4-FFF2-40B4-BE49-F238E27FC236}">
                  <a16:creationId xmlns:a16="http://schemas.microsoft.com/office/drawing/2014/main" id="{C6BAFAF9-39BB-408C-84FD-3E6C4A9A89AF}"/>
                </a:ext>
              </a:extLst>
            </p:cNvPr>
            <p:cNvPicPr>
              <a:picLocks noChangeAspect="1"/>
            </p:cNvPicPr>
            <p:nvPr/>
          </p:nvPicPr>
          <p:blipFill>
            <a:blip r:embed="rId6"/>
            <a:stretch>
              <a:fillRect/>
            </a:stretch>
          </p:blipFill>
          <p:spPr>
            <a:xfrm>
              <a:off x="7191393" y="1447516"/>
              <a:ext cx="4174474" cy="1108172"/>
            </a:xfrm>
            <a:prstGeom prst="rect">
              <a:avLst/>
            </a:prstGeom>
          </p:spPr>
        </p:pic>
        <p:sp>
          <p:nvSpPr>
            <p:cNvPr id="75" name="TextBox 74">
              <a:extLst>
                <a:ext uri="{FF2B5EF4-FFF2-40B4-BE49-F238E27FC236}">
                  <a16:creationId xmlns:a16="http://schemas.microsoft.com/office/drawing/2014/main" id="{A17BE29E-BCD6-4CD5-BF2A-1919864615C5}"/>
                </a:ext>
              </a:extLst>
            </p:cNvPr>
            <p:cNvSpPr txBox="1"/>
            <p:nvPr/>
          </p:nvSpPr>
          <p:spPr>
            <a:xfrm>
              <a:off x="4205590" y="1047218"/>
              <a:ext cx="3282435" cy="369332"/>
            </a:xfrm>
            <a:prstGeom prst="rect">
              <a:avLst/>
            </a:prstGeom>
            <a:noFill/>
          </p:spPr>
          <p:txBody>
            <a:bodyPr wrap="square">
              <a:spAutoFit/>
            </a:bodyPr>
            <a:lstStyle/>
            <a:p>
              <a:r>
                <a:rPr lang="en-US" b="1" dirty="0"/>
                <a:t>RLWE cryptosystem setup:</a:t>
              </a:r>
              <a:endParaRPr lang="en-US" b="1" baseline="30000" dirty="0"/>
            </a:p>
          </p:txBody>
        </p:sp>
        <p:sp>
          <p:nvSpPr>
            <p:cNvPr id="77" name="TextBox 76">
              <a:extLst>
                <a:ext uri="{FF2B5EF4-FFF2-40B4-BE49-F238E27FC236}">
                  <a16:creationId xmlns:a16="http://schemas.microsoft.com/office/drawing/2014/main" id="{C301DC5E-6982-43E5-B9B4-ECE8C18F25A1}"/>
                </a:ext>
              </a:extLst>
            </p:cNvPr>
            <p:cNvSpPr txBox="1"/>
            <p:nvPr/>
          </p:nvSpPr>
          <p:spPr>
            <a:xfrm>
              <a:off x="7191393" y="1078184"/>
              <a:ext cx="2763178" cy="307777"/>
            </a:xfrm>
            <a:prstGeom prst="rect">
              <a:avLst/>
            </a:prstGeom>
            <a:noFill/>
          </p:spPr>
          <p:txBody>
            <a:bodyPr wrap="square">
              <a:spAutoFit/>
            </a:bodyPr>
            <a:lstStyle/>
            <a:p>
              <a:pPr algn="just"/>
              <a:r>
                <a:rPr lang="en-US" sz="1400" dirty="0"/>
                <a:t>(</a:t>
              </a:r>
              <a:r>
                <a:rPr lang="en-US" sz="1400" i="1" dirty="0" err="1"/>
                <a:t>b,a</a:t>
              </a:r>
              <a:r>
                <a:rPr lang="en-US" sz="1400" dirty="0"/>
                <a:t>) are public, (</a:t>
              </a:r>
              <a:r>
                <a:rPr lang="en-US" sz="1400" i="1" dirty="0" err="1"/>
                <a:t>s,m,e</a:t>
              </a:r>
              <a:r>
                <a:rPr lang="en-US" sz="1400" dirty="0"/>
                <a:t>) are secret</a:t>
              </a:r>
            </a:p>
          </p:txBody>
        </p:sp>
      </p:grpSp>
      <p:grpSp>
        <p:nvGrpSpPr>
          <p:cNvPr id="52" name="Group 51">
            <a:extLst>
              <a:ext uri="{FF2B5EF4-FFF2-40B4-BE49-F238E27FC236}">
                <a16:creationId xmlns:a16="http://schemas.microsoft.com/office/drawing/2014/main" id="{5340FBB7-C699-4C35-8ED4-B281B1B148B9}"/>
              </a:ext>
            </a:extLst>
          </p:cNvPr>
          <p:cNvGrpSpPr/>
          <p:nvPr/>
        </p:nvGrpSpPr>
        <p:grpSpPr>
          <a:xfrm>
            <a:off x="241813" y="4267076"/>
            <a:ext cx="3825361" cy="1784781"/>
            <a:chOff x="241813" y="4754654"/>
            <a:chExt cx="3825361" cy="1784781"/>
          </a:xfrm>
        </p:grpSpPr>
        <p:sp>
          <p:nvSpPr>
            <p:cNvPr id="89" name="TextBox 88">
              <a:extLst>
                <a:ext uri="{FF2B5EF4-FFF2-40B4-BE49-F238E27FC236}">
                  <a16:creationId xmlns:a16="http://schemas.microsoft.com/office/drawing/2014/main" id="{6EA7F751-B699-4909-A4F1-2A334B0A0CF8}"/>
                </a:ext>
              </a:extLst>
            </p:cNvPr>
            <p:cNvSpPr txBox="1"/>
            <p:nvPr/>
          </p:nvSpPr>
          <p:spPr>
            <a:xfrm>
              <a:off x="241814" y="4754654"/>
              <a:ext cx="1173747" cy="369332"/>
            </a:xfrm>
            <a:prstGeom prst="rect">
              <a:avLst/>
            </a:prstGeom>
            <a:noFill/>
          </p:spPr>
          <p:txBody>
            <a:bodyPr wrap="square">
              <a:spAutoFit/>
            </a:bodyPr>
            <a:lstStyle/>
            <a:p>
              <a:pPr algn="just"/>
              <a:r>
                <a:rPr lang="en-US" b="1" dirty="0"/>
                <a:t>Math ops</a:t>
              </a:r>
            </a:p>
          </p:txBody>
        </p:sp>
        <p:sp>
          <p:nvSpPr>
            <p:cNvPr id="91" name="TextBox 90">
              <a:extLst>
                <a:ext uri="{FF2B5EF4-FFF2-40B4-BE49-F238E27FC236}">
                  <a16:creationId xmlns:a16="http://schemas.microsoft.com/office/drawing/2014/main" id="{F75FBFF1-474B-48D1-A714-8606ABB102AF}"/>
                </a:ext>
              </a:extLst>
            </p:cNvPr>
            <p:cNvSpPr txBox="1"/>
            <p:nvPr/>
          </p:nvSpPr>
          <p:spPr>
            <a:xfrm>
              <a:off x="241815" y="6097108"/>
              <a:ext cx="3732825" cy="230832"/>
            </a:xfrm>
            <a:prstGeom prst="rect">
              <a:avLst/>
            </a:prstGeom>
            <a:noFill/>
          </p:spPr>
          <p:txBody>
            <a:bodyPr wrap="square">
              <a:spAutoFit/>
            </a:bodyPr>
            <a:lstStyle/>
            <a:p>
              <a:pPr algn="just"/>
              <a:r>
                <a:rPr lang="en-US" sz="900" dirty="0"/>
                <a:t>https://www.calculatorsoup.com/calculators/math/modulo-calculator.php</a:t>
              </a:r>
            </a:p>
          </p:txBody>
        </p:sp>
        <p:sp>
          <p:nvSpPr>
            <p:cNvPr id="92" name="TextBox 91">
              <a:extLst>
                <a:ext uri="{FF2B5EF4-FFF2-40B4-BE49-F238E27FC236}">
                  <a16:creationId xmlns:a16="http://schemas.microsoft.com/office/drawing/2014/main" id="{87B5EFAF-6EEA-42BD-972F-473C4AB2E0C3}"/>
                </a:ext>
              </a:extLst>
            </p:cNvPr>
            <p:cNvSpPr txBox="1"/>
            <p:nvPr/>
          </p:nvSpPr>
          <p:spPr>
            <a:xfrm>
              <a:off x="241815" y="6308603"/>
              <a:ext cx="3825359" cy="230832"/>
            </a:xfrm>
            <a:prstGeom prst="rect">
              <a:avLst/>
            </a:prstGeom>
            <a:noFill/>
          </p:spPr>
          <p:txBody>
            <a:bodyPr wrap="square">
              <a:spAutoFit/>
            </a:bodyPr>
            <a:lstStyle/>
            <a:p>
              <a:r>
                <a:rPr lang="en-US" sz="900" dirty="0"/>
                <a:t>https://www.calculatorsoup.com/calculators/math/round-to-nearest-multiple.php</a:t>
              </a:r>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356E00D5-F291-4832-8328-E2C08AE7C1F8}"/>
                    </a:ext>
                  </a:extLst>
                </p:cNvPr>
                <p:cNvSpPr txBox="1"/>
                <p:nvPr/>
              </p:nvSpPr>
              <p:spPr>
                <a:xfrm>
                  <a:off x="241813" y="5081445"/>
                  <a:ext cx="3825359" cy="1015663"/>
                </a:xfrm>
                <a:prstGeom prst="rect">
                  <a:avLst/>
                </a:prstGeom>
                <a:noFill/>
              </p:spPr>
              <p:txBody>
                <a:bodyPr wrap="square">
                  <a:spAutoFit/>
                </a:bodyPr>
                <a:lstStyle/>
                <a:p>
                  <a:pPr algn="just"/>
                  <a:r>
                    <a:rPr lang="en-US" sz="1200" dirty="0"/>
                    <a:t>No dot products, instead we have polynomial:</a:t>
                  </a:r>
                </a:p>
                <a:p>
                  <a:pPr marL="285750" indent="-285750" algn="just">
                    <a:buFontTx/>
                    <a:buChar char="-"/>
                  </a:pPr>
                  <a:r>
                    <a:rPr lang="en-US" sz="1200" dirty="0"/>
                    <a:t>Multiplication</a:t>
                  </a:r>
                </a:p>
                <a:p>
                  <a:pPr marL="285750" indent="-285750" algn="just">
                    <a:buFontTx/>
                    <a:buChar char="-"/>
                  </a:pPr>
                  <a:r>
                    <a:rPr lang="en-US" sz="1200" dirty="0"/>
                    <a:t>Addition</a:t>
                  </a:r>
                </a:p>
                <a:p>
                  <a:pPr marL="285750" indent="-285750" algn="just">
                    <a:buFontTx/>
                    <a:buChar char="-"/>
                  </a:pPr>
                  <a:r>
                    <a:rPr lang="en-US" sz="1200" dirty="0"/>
                    <a:t>Degree reduction via polynomial modulus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𝑥</m:t>
                          </m:r>
                        </m:e>
                        <m:sup>
                          <m:r>
                            <a:rPr lang="en-US" sz="1200" b="0" i="1" smtClean="0">
                              <a:latin typeface="Cambria Math" panose="02040503050406030204" pitchFamily="18" charset="0"/>
                            </a:rPr>
                            <m:t>𝑛</m:t>
                          </m:r>
                        </m:sup>
                      </m:sSup>
                      <m:r>
                        <a:rPr lang="en-US" sz="1200" b="0" i="1" smtClean="0">
                          <a:latin typeface="Cambria Math" panose="02040503050406030204" pitchFamily="18" charset="0"/>
                        </a:rPr>
                        <m:t>+1</m:t>
                      </m:r>
                    </m:oMath>
                  </a14:m>
                  <a:r>
                    <a:rPr lang="en-US" sz="1200" dirty="0"/>
                    <a:t>)</a:t>
                  </a:r>
                </a:p>
                <a:p>
                  <a:pPr algn="just"/>
                  <a:r>
                    <a:rPr lang="en-US" sz="1200" dirty="0"/>
                    <a:t>And:</a:t>
                  </a:r>
                </a:p>
              </p:txBody>
            </p:sp>
          </mc:Choice>
          <mc:Fallback xmlns="">
            <p:sp>
              <p:nvSpPr>
                <p:cNvPr id="96" name="TextBox 95">
                  <a:extLst>
                    <a:ext uri="{FF2B5EF4-FFF2-40B4-BE49-F238E27FC236}">
                      <a16:creationId xmlns:a16="http://schemas.microsoft.com/office/drawing/2014/main" id="{356E00D5-F291-4832-8328-E2C08AE7C1F8}"/>
                    </a:ext>
                  </a:extLst>
                </p:cNvPr>
                <p:cNvSpPr txBox="1">
                  <a:spLocks noRot="1" noChangeAspect="1" noMove="1" noResize="1" noEditPoints="1" noAdjustHandles="1" noChangeArrowheads="1" noChangeShapeType="1" noTextEdit="1"/>
                </p:cNvSpPr>
                <p:nvPr/>
              </p:nvSpPr>
              <p:spPr>
                <a:xfrm>
                  <a:off x="241813" y="5081445"/>
                  <a:ext cx="3825359" cy="1015663"/>
                </a:xfrm>
                <a:prstGeom prst="rect">
                  <a:avLst/>
                </a:prstGeom>
                <a:blipFill>
                  <a:blip r:embed="rId10"/>
                  <a:stretch>
                    <a:fillRect l="-159" t="-602" b="-4217"/>
                  </a:stretch>
                </a:blipFill>
              </p:spPr>
              <p:txBody>
                <a:bodyPr/>
                <a:lstStyle/>
                <a:p>
                  <a:r>
                    <a:rPr lang="en-US">
                      <a:noFill/>
                    </a:rPr>
                    <a:t> </a:t>
                  </a:r>
                </a:p>
              </p:txBody>
            </p:sp>
          </mc:Fallback>
        </mc:AlternateContent>
      </p:grpSp>
      <p:sp>
        <p:nvSpPr>
          <p:cNvPr id="90" name="TextBox 89">
            <a:extLst>
              <a:ext uri="{FF2B5EF4-FFF2-40B4-BE49-F238E27FC236}">
                <a16:creationId xmlns:a16="http://schemas.microsoft.com/office/drawing/2014/main" id="{09BBC427-B3D8-4FA7-AE19-33D9AB3DFE5B}"/>
              </a:ext>
            </a:extLst>
          </p:cNvPr>
          <p:cNvSpPr txBox="1"/>
          <p:nvPr/>
        </p:nvSpPr>
        <p:spPr>
          <a:xfrm>
            <a:off x="191032" y="1078184"/>
            <a:ext cx="3282435" cy="369332"/>
          </a:xfrm>
          <a:prstGeom prst="rect">
            <a:avLst/>
          </a:prstGeom>
          <a:noFill/>
        </p:spPr>
        <p:txBody>
          <a:bodyPr wrap="square">
            <a:spAutoFit/>
          </a:bodyPr>
          <a:lstStyle/>
          <a:p>
            <a:r>
              <a:rPr lang="en-US" b="1" dirty="0"/>
              <a:t>Ring Learning With Errors</a:t>
            </a:r>
            <a:endParaRPr lang="en-US" b="1" baseline="30000" dirty="0"/>
          </a:p>
        </p:txBody>
      </p:sp>
      <p:pic>
        <p:nvPicPr>
          <p:cNvPr id="5" name="Picture 4">
            <a:extLst>
              <a:ext uri="{FF2B5EF4-FFF2-40B4-BE49-F238E27FC236}">
                <a16:creationId xmlns:a16="http://schemas.microsoft.com/office/drawing/2014/main" id="{38DD18C8-D939-459F-B803-4FCD8A7A0F3D}"/>
              </a:ext>
            </a:extLst>
          </p:cNvPr>
          <p:cNvPicPr>
            <a:picLocks noChangeAspect="1"/>
          </p:cNvPicPr>
          <p:nvPr/>
        </p:nvPicPr>
        <p:blipFill>
          <a:blip r:embed="rId11"/>
          <a:stretch>
            <a:fillRect/>
          </a:stretch>
        </p:blipFill>
        <p:spPr>
          <a:xfrm>
            <a:off x="241815" y="1447516"/>
            <a:ext cx="3825360" cy="679161"/>
          </a:xfrm>
          <a:prstGeom prst="rect">
            <a:avLst/>
          </a:prstGeom>
        </p:spPr>
      </p:pic>
      <p:grpSp>
        <p:nvGrpSpPr>
          <p:cNvPr id="50" name="Group 49">
            <a:extLst>
              <a:ext uri="{FF2B5EF4-FFF2-40B4-BE49-F238E27FC236}">
                <a16:creationId xmlns:a16="http://schemas.microsoft.com/office/drawing/2014/main" id="{3885C012-B8BD-4C14-ADD5-DF48E0A904E5}"/>
              </a:ext>
            </a:extLst>
          </p:cNvPr>
          <p:cNvGrpSpPr/>
          <p:nvPr/>
        </p:nvGrpSpPr>
        <p:grpSpPr>
          <a:xfrm>
            <a:off x="241813" y="3583066"/>
            <a:ext cx="2984963" cy="634817"/>
            <a:chOff x="241813" y="2177636"/>
            <a:chExt cx="2984963" cy="634817"/>
          </a:xfrm>
        </p:grpSpPr>
        <p:sp>
          <p:nvSpPr>
            <p:cNvPr id="48" name="TextBox 47">
              <a:extLst>
                <a:ext uri="{FF2B5EF4-FFF2-40B4-BE49-F238E27FC236}">
                  <a16:creationId xmlns:a16="http://schemas.microsoft.com/office/drawing/2014/main" id="{D292D93F-9658-4ABD-9587-B87B60970F15}"/>
                </a:ext>
              </a:extLst>
            </p:cNvPr>
            <p:cNvSpPr txBox="1"/>
            <p:nvPr/>
          </p:nvSpPr>
          <p:spPr>
            <a:xfrm>
              <a:off x="241813" y="2177636"/>
              <a:ext cx="2984963" cy="307777"/>
            </a:xfrm>
            <a:prstGeom prst="rect">
              <a:avLst/>
            </a:prstGeom>
            <a:noFill/>
          </p:spPr>
          <p:txBody>
            <a:bodyPr wrap="square">
              <a:spAutoFit/>
            </a:bodyPr>
            <a:lstStyle/>
            <a:p>
              <a:pPr algn="just"/>
              <a:r>
                <a:rPr lang="en-US" sz="1400" dirty="0"/>
                <a:t>same as LWE, but polynomials in Ring</a:t>
              </a:r>
            </a:p>
          </p:txBody>
        </p:sp>
        <p:pic>
          <p:nvPicPr>
            <p:cNvPr id="7" name="Picture 6">
              <a:extLst>
                <a:ext uri="{FF2B5EF4-FFF2-40B4-BE49-F238E27FC236}">
                  <a16:creationId xmlns:a16="http://schemas.microsoft.com/office/drawing/2014/main" id="{514D5171-6B71-457F-A4F3-932ECAD381B4}"/>
                </a:ext>
              </a:extLst>
            </p:cNvPr>
            <p:cNvPicPr>
              <a:picLocks noChangeAspect="1"/>
            </p:cNvPicPr>
            <p:nvPr/>
          </p:nvPicPr>
          <p:blipFill>
            <a:blip r:embed="rId12"/>
            <a:stretch>
              <a:fillRect/>
            </a:stretch>
          </p:blipFill>
          <p:spPr>
            <a:xfrm>
              <a:off x="385578" y="2507653"/>
              <a:ext cx="1990725" cy="304800"/>
            </a:xfrm>
            <a:prstGeom prst="rect">
              <a:avLst/>
            </a:prstGeom>
          </p:spPr>
        </p:pic>
      </p:grpSp>
      <p:grpSp>
        <p:nvGrpSpPr>
          <p:cNvPr id="51" name="Group 50">
            <a:extLst>
              <a:ext uri="{FF2B5EF4-FFF2-40B4-BE49-F238E27FC236}">
                <a16:creationId xmlns:a16="http://schemas.microsoft.com/office/drawing/2014/main" id="{88A9D746-8FA2-474C-B715-C2FE737B74A8}"/>
              </a:ext>
            </a:extLst>
          </p:cNvPr>
          <p:cNvGrpSpPr/>
          <p:nvPr/>
        </p:nvGrpSpPr>
        <p:grpSpPr>
          <a:xfrm>
            <a:off x="191032" y="2140661"/>
            <a:ext cx="3876142" cy="1442405"/>
            <a:chOff x="191032" y="3026095"/>
            <a:chExt cx="3876142" cy="1442405"/>
          </a:xfrm>
        </p:grpSpPr>
        <p:pic>
          <p:nvPicPr>
            <p:cNvPr id="39" name="Picture 38">
              <a:extLst>
                <a:ext uri="{FF2B5EF4-FFF2-40B4-BE49-F238E27FC236}">
                  <a16:creationId xmlns:a16="http://schemas.microsoft.com/office/drawing/2014/main" id="{8A8B478A-8A93-4B77-A5E6-8FA61F7EE1B4}"/>
                </a:ext>
              </a:extLst>
            </p:cNvPr>
            <p:cNvPicPr>
              <a:picLocks noChangeAspect="1"/>
            </p:cNvPicPr>
            <p:nvPr/>
          </p:nvPicPr>
          <p:blipFill>
            <a:blip r:embed="rId13"/>
            <a:stretch>
              <a:fillRect/>
            </a:stretch>
          </p:blipFill>
          <p:spPr>
            <a:xfrm>
              <a:off x="241814" y="3429000"/>
              <a:ext cx="3825360" cy="1039500"/>
            </a:xfrm>
            <a:prstGeom prst="rect">
              <a:avLst/>
            </a:prstGeom>
          </p:spPr>
        </p:pic>
        <p:sp>
          <p:nvSpPr>
            <p:cNvPr id="80" name="TextBox 79">
              <a:extLst>
                <a:ext uri="{FF2B5EF4-FFF2-40B4-BE49-F238E27FC236}">
                  <a16:creationId xmlns:a16="http://schemas.microsoft.com/office/drawing/2014/main" id="{58E5E015-5290-4EE3-8D24-2AF37B863B2B}"/>
                </a:ext>
              </a:extLst>
            </p:cNvPr>
            <p:cNvSpPr txBox="1"/>
            <p:nvPr/>
          </p:nvSpPr>
          <p:spPr>
            <a:xfrm>
              <a:off x="191032" y="3026095"/>
              <a:ext cx="3282435" cy="369332"/>
            </a:xfrm>
            <a:prstGeom prst="rect">
              <a:avLst/>
            </a:prstGeom>
            <a:noFill/>
          </p:spPr>
          <p:txBody>
            <a:bodyPr wrap="square">
              <a:spAutoFit/>
            </a:bodyPr>
            <a:lstStyle/>
            <a:p>
              <a:r>
                <a:rPr lang="en-US" b="1" dirty="0"/>
                <a:t>RLWE Cryptosystem definition:</a:t>
              </a:r>
              <a:endParaRPr lang="en-US" b="1" baseline="30000" dirty="0"/>
            </a:p>
          </p:txBody>
        </p:sp>
      </p:grpSp>
      <p:sp>
        <p:nvSpPr>
          <p:cNvPr id="97" name="TextBox 96">
            <a:extLst>
              <a:ext uri="{FF2B5EF4-FFF2-40B4-BE49-F238E27FC236}">
                <a16:creationId xmlns:a16="http://schemas.microsoft.com/office/drawing/2014/main" id="{CEC27253-9952-447B-BF6C-8B1307816E9B}"/>
              </a:ext>
            </a:extLst>
          </p:cNvPr>
          <p:cNvSpPr txBox="1"/>
          <p:nvPr/>
        </p:nvSpPr>
        <p:spPr>
          <a:xfrm>
            <a:off x="191032" y="6263352"/>
            <a:ext cx="3282435" cy="430887"/>
          </a:xfrm>
          <a:prstGeom prst="rect">
            <a:avLst/>
          </a:prstGeom>
          <a:noFill/>
        </p:spPr>
        <p:txBody>
          <a:bodyPr wrap="square">
            <a:spAutoFit/>
          </a:bodyPr>
          <a:lstStyle/>
          <a:p>
            <a:r>
              <a:rPr lang="en-US" sz="1100" dirty="0"/>
              <a:t>HE Textbook `25: </a:t>
            </a:r>
            <a:r>
              <a:rPr lang="en-US" sz="1100" dirty="0">
                <a:hlinkClick r:id="rId14"/>
              </a:rPr>
              <a:t>https://arxiv.org/pdf/2503.05136</a:t>
            </a:r>
            <a:endParaRPr lang="en-US" sz="1100" dirty="0"/>
          </a:p>
          <a:p>
            <a:r>
              <a:rPr lang="en-US" sz="1100" dirty="0"/>
              <a:t>RLWE: </a:t>
            </a:r>
            <a:r>
              <a:rPr lang="en-US" sz="1100" dirty="0">
                <a:hlinkClick r:id="rId15"/>
              </a:rPr>
              <a:t>https://dl.acm.org/doi/10.1145/2535925</a:t>
            </a:r>
            <a:r>
              <a:rPr lang="en-US" sz="1100" dirty="0"/>
              <a:t>  </a:t>
            </a:r>
          </a:p>
        </p:txBody>
      </p:sp>
      <p:grpSp>
        <p:nvGrpSpPr>
          <p:cNvPr id="62" name="Group 61">
            <a:extLst>
              <a:ext uri="{FF2B5EF4-FFF2-40B4-BE49-F238E27FC236}">
                <a16:creationId xmlns:a16="http://schemas.microsoft.com/office/drawing/2014/main" id="{C88A1B58-A7C1-43D6-9D50-13FE5611E43D}"/>
              </a:ext>
            </a:extLst>
          </p:cNvPr>
          <p:cNvGrpSpPr/>
          <p:nvPr/>
        </p:nvGrpSpPr>
        <p:grpSpPr>
          <a:xfrm>
            <a:off x="4289800" y="5609530"/>
            <a:ext cx="4618111" cy="1060968"/>
            <a:chOff x="7191393" y="4939320"/>
            <a:chExt cx="4618111" cy="1060968"/>
          </a:xfrm>
        </p:grpSpPr>
        <p:pic>
          <p:nvPicPr>
            <p:cNvPr id="57" name="Picture 56">
              <a:extLst>
                <a:ext uri="{FF2B5EF4-FFF2-40B4-BE49-F238E27FC236}">
                  <a16:creationId xmlns:a16="http://schemas.microsoft.com/office/drawing/2014/main" id="{DC590DD4-5F9D-46AF-A116-8B2F3225B5BB}"/>
                </a:ext>
              </a:extLst>
            </p:cNvPr>
            <p:cNvPicPr>
              <a:picLocks noChangeAspect="1"/>
            </p:cNvPicPr>
            <p:nvPr/>
          </p:nvPicPr>
          <p:blipFill>
            <a:blip r:embed="rId16"/>
            <a:stretch>
              <a:fillRect/>
            </a:stretch>
          </p:blipFill>
          <p:spPr>
            <a:xfrm>
              <a:off x="7191393" y="5308652"/>
              <a:ext cx="4618111" cy="691636"/>
            </a:xfrm>
            <a:prstGeom prst="rect">
              <a:avLst/>
            </a:prstGeom>
          </p:spPr>
        </p:pic>
        <p:sp>
          <p:nvSpPr>
            <p:cNvPr id="101" name="TextBox 100">
              <a:extLst>
                <a:ext uri="{FF2B5EF4-FFF2-40B4-BE49-F238E27FC236}">
                  <a16:creationId xmlns:a16="http://schemas.microsoft.com/office/drawing/2014/main" id="{8B79A23D-8BFE-4CFD-89E4-8938405608C2}"/>
                </a:ext>
              </a:extLst>
            </p:cNvPr>
            <p:cNvSpPr txBox="1"/>
            <p:nvPr/>
          </p:nvSpPr>
          <p:spPr>
            <a:xfrm>
              <a:off x="7191393" y="4939320"/>
              <a:ext cx="3851877" cy="369332"/>
            </a:xfrm>
            <a:prstGeom prst="rect">
              <a:avLst/>
            </a:prstGeom>
            <a:noFill/>
          </p:spPr>
          <p:txBody>
            <a:bodyPr wrap="square">
              <a:spAutoFit/>
            </a:bodyPr>
            <a:lstStyle/>
            <a:p>
              <a:r>
                <a:rPr lang="en-US" b="1" dirty="0"/>
                <a:t>Lattice-based cryptography summary</a:t>
              </a:r>
              <a:endParaRPr lang="en-US" b="1" baseline="30000" dirty="0"/>
            </a:p>
          </p:txBody>
        </p:sp>
      </p:grpSp>
      <p:grpSp>
        <p:nvGrpSpPr>
          <p:cNvPr id="21" name="Group 20">
            <a:extLst>
              <a:ext uri="{FF2B5EF4-FFF2-40B4-BE49-F238E27FC236}">
                <a16:creationId xmlns:a16="http://schemas.microsoft.com/office/drawing/2014/main" id="{FA428ABD-AFCA-4B20-A1D3-EB75EC958864}"/>
              </a:ext>
            </a:extLst>
          </p:cNvPr>
          <p:cNvGrpSpPr/>
          <p:nvPr/>
        </p:nvGrpSpPr>
        <p:grpSpPr>
          <a:xfrm>
            <a:off x="4205590" y="2586654"/>
            <a:ext cx="5795660" cy="1363248"/>
            <a:chOff x="4205590" y="2586654"/>
            <a:chExt cx="5795660" cy="1363248"/>
          </a:xfrm>
        </p:grpSpPr>
        <p:sp>
          <p:nvSpPr>
            <p:cNvPr id="76" name="TextBox 75">
              <a:extLst>
                <a:ext uri="{FF2B5EF4-FFF2-40B4-BE49-F238E27FC236}">
                  <a16:creationId xmlns:a16="http://schemas.microsoft.com/office/drawing/2014/main" id="{8E726D6D-61A2-4890-B486-5709C974212B}"/>
                </a:ext>
              </a:extLst>
            </p:cNvPr>
            <p:cNvSpPr txBox="1"/>
            <p:nvPr/>
          </p:nvSpPr>
          <p:spPr>
            <a:xfrm>
              <a:off x="4205590" y="2586654"/>
              <a:ext cx="5795660" cy="369332"/>
            </a:xfrm>
            <a:prstGeom prst="rect">
              <a:avLst/>
            </a:prstGeom>
            <a:noFill/>
          </p:spPr>
          <p:txBody>
            <a:bodyPr wrap="square">
              <a:spAutoFit/>
            </a:bodyPr>
            <a:lstStyle/>
            <a:p>
              <a:r>
                <a:rPr lang="en-US" b="1" dirty="0"/>
                <a:t>RLWE cryptosystem test run (again, not a HE scheme yet):</a:t>
              </a:r>
              <a:endParaRPr lang="en-US" b="1" baseline="30000" dirty="0"/>
            </a:p>
          </p:txBody>
        </p:sp>
        <p:grpSp>
          <p:nvGrpSpPr>
            <p:cNvPr id="19" name="Group 18">
              <a:extLst>
                <a:ext uri="{FF2B5EF4-FFF2-40B4-BE49-F238E27FC236}">
                  <a16:creationId xmlns:a16="http://schemas.microsoft.com/office/drawing/2014/main" id="{EAA2FC2A-B12C-4138-94BD-332B7419F966}"/>
                </a:ext>
              </a:extLst>
            </p:cNvPr>
            <p:cNvGrpSpPr/>
            <p:nvPr/>
          </p:nvGrpSpPr>
          <p:grpSpPr>
            <a:xfrm>
              <a:off x="4289801" y="3032510"/>
              <a:ext cx="4801163" cy="917392"/>
              <a:chOff x="4289801" y="3032510"/>
              <a:chExt cx="4801163" cy="917392"/>
            </a:xfrm>
          </p:grpSpPr>
          <p:pic>
            <p:nvPicPr>
              <p:cNvPr id="3" name="Picture 2">
                <a:extLst>
                  <a:ext uri="{FF2B5EF4-FFF2-40B4-BE49-F238E27FC236}">
                    <a16:creationId xmlns:a16="http://schemas.microsoft.com/office/drawing/2014/main" id="{09E85B93-B6A5-4A7A-B492-12C918B23C67}"/>
                  </a:ext>
                </a:extLst>
              </p:cNvPr>
              <p:cNvPicPr>
                <a:picLocks noChangeAspect="1"/>
              </p:cNvPicPr>
              <p:nvPr/>
            </p:nvPicPr>
            <p:blipFill>
              <a:blip r:embed="rId17"/>
              <a:stretch>
                <a:fillRect/>
              </a:stretch>
            </p:blipFill>
            <p:spPr>
              <a:xfrm>
                <a:off x="4289801" y="3032510"/>
                <a:ext cx="2763176" cy="501030"/>
              </a:xfrm>
              <a:prstGeom prst="rect">
                <a:avLst/>
              </a:prstGeom>
            </p:spPr>
          </p:pic>
          <p:pic>
            <p:nvPicPr>
              <p:cNvPr id="6" name="Picture 5">
                <a:extLst>
                  <a:ext uri="{FF2B5EF4-FFF2-40B4-BE49-F238E27FC236}">
                    <a16:creationId xmlns:a16="http://schemas.microsoft.com/office/drawing/2014/main" id="{FF651F72-7464-41FA-A40C-7E94F5E5579B}"/>
                  </a:ext>
                </a:extLst>
              </p:cNvPr>
              <p:cNvPicPr>
                <a:picLocks noChangeAspect="1"/>
              </p:cNvPicPr>
              <p:nvPr/>
            </p:nvPicPr>
            <p:blipFill>
              <a:blip r:embed="rId18"/>
              <a:stretch>
                <a:fillRect/>
              </a:stretch>
            </p:blipFill>
            <p:spPr>
              <a:xfrm>
                <a:off x="7191393" y="3032510"/>
                <a:ext cx="1899571" cy="917392"/>
              </a:xfrm>
              <a:prstGeom prst="rect">
                <a:avLst/>
              </a:prstGeom>
            </p:spPr>
          </p:pic>
        </p:grpSp>
      </p:grpSp>
      <p:pic>
        <p:nvPicPr>
          <p:cNvPr id="11" name="Picture 10">
            <a:extLst>
              <a:ext uri="{FF2B5EF4-FFF2-40B4-BE49-F238E27FC236}">
                <a16:creationId xmlns:a16="http://schemas.microsoft.com/office/drawing/2014/main" id="{4A5AE751-207B-4E15-8056-EBFE50E89E1A}"/>
              </a:ext>
            </a:extLst>
          </p:cNvPr>
          <p:cNvPicPr>
            <a:picLocks noChangeAspect="1"/>
          </p:cNvPicPr>
          <p:nvPr/>
        </p:nvPicPr>
        <p:blipFill>
          <a:blip r:embed="rId19"/>
          <a:stretch>
            <a:fillRect/>
          </a:stretch>
        </p:blipFill>
        <p:spPr>
          <a:xfrm>
            <a:off x="4289800" y="3644469"/>
            <a:ext cx="2763177" cy="1853540"/>
          </a:xfrm>
          <a:prstGeom prst="rect">
            <a:avLst/>
          </a:prstGeom>
        </p:spPr>
      </p:pic>
      <p:pic>
        <p:nvPicPr>
          <p:cNvPr id="17" name="Picture 16">
            <a:extLst>
              <a:ext uri="{FF2B5EF4-FFF2-40B4-BE49-F238E27FC236}">
                <a16:creationId xmlns:a16="http://schemas.microsoft.com/office/drawing/2014/main" id="{1900AE10-79EA-4900-B489-1556CC95A8EC}"/>
              </a:ext>
            </a:extLst>
          </p:cNvPr>
          <p:cNvPicPr>
            <a:picLocks noChangeAspect="1"/>
          </p:cNvPicPr>
          <p:nvPr/>
        </p:nvPicPr>
        <p:blipFill>
          <a:blip r:embed="rId20"/>
          <a:stretch>
            <a:fillRect/>
          </a:stretch>
        </p:blipFill>
        <p:spPr>
          <a:xfrm>
            <a:off x="7191392" y="4013915"/>
            <a:ext cx="3867249" cy="1484094"/>
          </a:xfrm>
          <a:prstGeom prst="rect">
            <a:avLst/>
          </a:prstGeom>
        </p:spPr>
      </p:pic>
      <p:sp>
        <p:nvSpPr>
          <p:cNvPr id="49" name="TextBox 48">
            <a:extLst>
              <a:ext uri="{FF2B5EF4-FFF2-40B4-BE49-F238E27FC236}">
                <a16:creationId xmlns:a16="http://schemas.microsoft.com/office/drawing/2014/main" id="{C837E09A-801C-435B-95E0-6FE214DF186A}"/>
              </a:ext>
            </a:extLst>
          </p:cNvPr>
          <p:cNvSpPr txBox="1"/>
          <p:nvPr/>
        </p:nvSpPr>
        <p:spPr>
          <a:xfrm>
            <a:off x="9090964" y="2955986"/>
            <a:ext cx="2859222" cy="1015663"/>
          </a:xfrm>
          <a:prstGeom prst="rect">
            <a:avLst/>
          </a:prstGeom>
          <a:noFill/>
        </p:spPr>
        <p:txBody>
          <a:bodyPr wrap="square">
            <a:spAutoFit/>
          </a:bodyPr>
          <a:lstStyle/>
          <a:p>
            <a:pPr algn="just"/>
            <a:r>
              <a:rPr lang="en-US" sz="1200" dirty="0" err="1"/>
              <a:t>Coeffs</a:t>
            </a:r>
            <a:r>
              <a:rPr lang="en-US" sz="1200" dirty="0"/>
              <a:t> are the same vectors we had in LWE</a:t>
            </a:r>
          </a:p>
          <a:p>
            <a:pPr algn="just"/>
            <a:r>
              <a:rPr lang="en-US" sz="1200" dirty="0"/>
              <a:t>= [0,1,1,0]</a:t>
            </a:r>
          </a:p>
          <a:p>
            <a:pPr algn="just"/>
            <a:r>
              <a:rPr lang="en-US" sz="1200" dirty="0"/>
              <a:t>= [3,0,0,0]</a:t>
            </a:r>
          </a:p>
          <a:p>
            <a:pPr algn="just"/>
            <a:r>
              <a:rPr lang="en-US" sz="1200" dirty="0"/>
              <a:t>= [231,110,127,137]</a:t>
            </a:r>
          </a:p>
          <a:p>
            <a:pPr algn="just"/>
            <a:r>
              <a:rPr lang="en-US" sz="1200" dirty="0"/>
              <a:t>= [1,4,7,1]</a:t>
            </a:r>
          </a:p>
        </p:txBody>
      </p:sp>
    </p:spTree>
    <p:extLst>
      <p:ext uri="{BB962C8B-B14F-4D97-AF65-F5344CB8AC3E}">
        <p14:creationId xmlns:p14="http://schemas.microsoft.com/office/powerpoint/2010/main" val="2121431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2.2</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5013958" y="3819092"/>
            <a:ext cx="2539445" cy="1252715"/>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BFV.SHE Scheme from RLWE CS</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5071807"/>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18</a:t>
            </a:fld>
            <a:endParaRPr lang="en-US"/>
          </a:p>
        </p:txBody>
      </p:sp>
    </p:spTree>
    <p:extLst>
      <p:ext uri="{BB962C8B-B14F-4D97-AF65-F5344CB8AC3E}">
        <p14:creationId xmlns:p14="http://schemas.microsoft.com/office/powerpoint/2010/main" val="4152454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(B)FV.SHE Scheme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sp>
        <p:nvSpPr>
          <p:cNvPr id="15" name="TextBox 14">
            <a:extLst>
              <a:ext uri="{FF2B5EF4-FFF2-40B4-BE49-F238E27FC236}">
                <a16:creationId xmlns:a16="http://schemas.microsoft.com/office/drawing/2014/main" id="{9B2DF787-07CC-458A-837F-AEDC96A540BF}"/>
              </a:ext>
            </a:extLst>
          </p:cNvPr>
          <p:cNvSpPr txBox="1"/>
          <p:nvPr/>
        </p:nvSpPr>
        <p:spPr>
          <a:xfrm>
            <a:off x="431075" y="1145042"/>
            <a:ext cx="3790948" cy="369332"/>
          </a:xfrm>
          <a:prstGeom prst="rect">
            <a:avLst/>
          </a:prstGeom>
          <a:noFill/>
        </p:spPr>
        <p:txBody>
          <a:bodyPr wrap="square">
            <a:spAutoFit/>
          </a:bodyPr>
          <a:lstStyle/>
          <a:p>
            <a:r>
              <a:rPr lang="en-US" b="1" dirty="0"/>
              <a:t>What are circuits?</a:t>
            </a:r>
            <a:endParaRPr lang="en-US" b="1" baseline="30000" dirty="0"/>
          </a:p>
        </p:txBody>
      </p:sp>
      <p:grpSp>
        <p:nvGrpSpPr>
          <p:cNvPr id="50" name="Группа 49">
            <a:extLst>
              <a:ext uri="{FF2B5EF4-FFF2-40B4-BE49-F238E27FC236}">
                <a16:creationId xmlns:a16="http://schemas.microsoft.com/office/drawing/2014/main" id="{1DB19E70-A700-4036-B07D-DA7762182923}"/>
              </a:ext>
            </a:extLst>
          </p:cNvPr>
          <p:cNvGrpSpPr/>
          <p:nvPr/>
        </p:nvGrpSpPr>
        <p:grpSpPr>
          <a:xfrm>
            <a:off x="431074" y="2360759"/>
            <a:ext cx="6872485" cy="4186210"/>
            <a:chOff x="431074" y="2198516"/>
            <a:chExt cx="6872485" cy="4186210"/>
          </a:xfrm>
        </p:grpSpPr>
        <p:pic>
          <p:nvPicPr>
            <p:cNvPr id="4" name="Рисунок 3">
              <a:extLst>
                <a:ext uri="{FF2B5EF4-FFF2-40B4-BE49-F238E27FC236}">
                  <a16:creationId xmlns:a16="http://schemas.microsoft.com/office/drawing/2014/main" id="{7385314B-75DA-4D0F-A727-B8AE701FB2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074" y="2198516"/>
              <a:ext cx="6872485" cy="2585772"/>
            </a:xfrm>
            <a:prstGeom prst="rect">
              <a:avLst/>
            </a:prstGeom>
          </p:spPr>
        </p:pic>
        <p:sp>
          <p:nvSpPr>
            <p:cNvPr id="24" name="Rectangle 3">
              <a:extLst>
                <a:ext uri="{FF2B5EF4-FFF2-40B4-BE49-F238E27FC236}">
                  <a16:creationId xmlns:a16="http://schemas.microsoft.com/office/drawing/2014/main" id="{19A3EE82-079C-456C-84CD-23BB7422CF7B}"/>
                </a:ext>
              </a:extLst>
            </p:cNvPr>
            <p:cNvSpPr>
              <a:spLocks noChangeArrowheads="1"/>
            </p:cNvSpPr>
            <p:nvPr/>
          </p:nvSpPr>
          <p:spPr bwMode="auto">
            <a:xfrm>
              <a:off x="431074" y="4784288"/>
              <a:ext cx="6509657"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altLang="en-US" sz="1400" dirty="0"/>
                <a:t>A </a:t>
              </a:r>
              <a:r>
                <a:rPr lang="en-US" altLang="en-US" sz="1400" b="1" dirty="0"/>
                <a:t>circuit is a directed acyclic graph</a:t>
              </a:r>
              <a:r>
                <a:rPr lang="en-US" altLang="en-US" sz="1400" dirty="0"/>
                <a:t>, which has a set of </a:t>
              </a:r>
              <a:r>
                <a:rPr lang="en-US" altLang="en-US" sz="1400" b="1" dirty="0">
                  <a:highlight>
                    <a:srgbClr val="00FF00"/>
                  </a:highlight>
                </a:rPr>
                <a:t>inputs</a:t>
              </a:r>
              <a:r>
                <a:rPr lang="en-US" altLang="en-US" sz="1400" dirty="0"/>
                <a:t>, </a:t>
              </a:r>
              <a:r>
                <a:rPr lang="en-US" altLang="en-US" sz="1400" b="1" dirty="0">
                  <a:highlight>
                    <a:srgbClr val="FFFF00"/>
                  </a:highlight>
                </a:rPr>
                <a:t>gates</a:t>
              </a:r>
              <a:r>
                <a:rPr lang="en-US" altLang="en-US" sz="1400" dirty="0"/>
                <a:t> (e.g. addition or multiplication), </a:t>
              </a:r>
              <a:r>
                <a:rPr lang="en-US" altLang="en-US" sz="1400" dirty="0">
                  <a:highlight>
                    <a:srgbClr val="FF00FF"/>
                  </a:highlight>
                </a:rPr>
                <a:t>edges</a:t>
              </a:r>
              <a:r>
                <a:rPr lang="en-US" altLang="en-US" sz="1400" dirty="0"/>
                <a:t> that connect inputs and edges together, and a final output. Circuits have two properties of interest, namely, </a:t>
              </a:r>
              <a:r>
                <a:rPr lang="en-US" altLang="en-US" sz="1400" b="1" u="sng" dirty="0"/>
                <a:t>size</a:t>
              </a:r>
              <a:r>
                <a:rPr lang="en-US" altLang="en-US" sz="1400" dirty="0"/>
                <a:t> and </a:t>
              </a:r>
              <a:r>
                <a:rPr lang="en-US" altLang="en-US" sz="1400" b="1" u="sng" dirty="0"/>
                <a:t>depth</a:t>
              </a:r>
              <a:r>
                <a:rPr lang="en-US" altLang="en-US" sz="1400" dirty="0"/>
                <a:t>. </a:t>
              </a:r>
            </a:p>
            <a:p>
              <a:pPr fontAlgn="base">
                <a:spcBef>
                  <a:spcPct val="0"/>
                </a:spcBef>
                <a:spcAft>
                  <a:spcPct val="0"/>
                </a:spcAft>
              </a:pPr>
              <a:r>
                <a:rPr lang="en-US" altLang="en-US" sz="1400" dirty="0"/>
                <a:t>The </a:t>
              </a:r>
              <a:r>
                <a:rPr lang="en-US" altLang="en-US" sz="1400" b="1" u="sng" dirty="0"/>
                <a:t>size</a:t>
              </a:r>
              <a:r>
                <a:rPr lang="en-US" altLang="en-US" sz="1400" dirty="0"/>
                <a:t> = # of </a:t>
              </a:r>
              <a:r>
                <a:rPr lang="en-US" altLang="en-US" sz="1400" b="1" dirty="0">
                  <a:highlight>
                    <a:srgbClr val="FFFF00"/>
                  </a:highlight>
                </a:rPr>
                <a:t>gates</a:t>
              </a:r>
              <a:r>
                <a:rPr lang="en-US" altLang="en-US" sz="1400" dirty="0">
                  <a:highlight>
                    <a:srgbClr val="FFFF00"/>
                  </a:highlight>
                </a:rPr>
                <a:t> </a:t>
              </a:r>
              <a:r>
                <a:rPr lang="en-US" altLang="en-US" sz="1400" dirty="0"/>
                <a:t>a circuit has. </a:t>
              </a:r>
            </a:p>
            <a:p>
              <a:pPr fontAlgn="base">
                <a:spcBef>
                  <a:spcPct val="0"/>
                </a:spcBef>
                <a:spcAft>
                  <a:spcPct val="0"/>
                </a:spcAft>
              </a:pPr>
              <a:r>
                <a:rPr lang="en-US" altLang="en-US" sz="1400" dirty="0"/>
                <a:t>The </a:t>
              </a:r>
              <a:r>
                <a:rPr lang="en-US" altLang="en-US" sz="1400" b="1" u="sng" dirty="0"/>
                <a:t>depth</a:t>
              </a:r>
              <a:r>
                <a:rPr lang="en-US" altLang="en-US" sz="1400" dirty="0"/>
                <a:t> = max distance between every possible </a:t>
              </a:r>
              <a:r>
                <a:rPr lang="en-US" altLang="en-US" sz="1400" b="1" dirty="0">
                  <a:highlight>
                    <a:srgbClr val="00FF00"/>
                  </a:highlight>
                </a:rPr>
                <a:t>input</a:t>
              </a:r>
              <a:r>
                <a:rPr lang="en-US" altLang="en-US" sz="1400" dirty="0">
                  <a:highlight>
                    <a:srgbClr val="00FF00"/>
                  </a:highlight>
                </a:rPr>
                <a:t> </a:t>
              </a:r>
              <a:r>
                <a:rPr lang="en-US" altLang="en-US" sz="1400" dirty="0"/>
                <a:t>and the output. </a:t>
              </a:r>
            </a:p>
            <a:p>
              <a:pPr fontAlgn="base">
                <a:spcBef>
                  <a:spcPct val="0"/>
                </a:spcBef>
                <a:spcAft>
                  <a:spcPct val="0"/>
                </a:spcAft>
              </a:pPr>
              <a:r>
                <a:rPr lang="en-US" altLang="en-US" sz="1400" dirty="0"/>
                <a:t>In the figure above, the circuit has a </a:t>
              </a:r>
              <a:r>
                <a:rPr lang="en-US" altLang="en-US" sz="1400" b="1" dirty="0"/>
                <a:t>size=2</a:t>
              </a:r>
              <a:r>
                <a:rPr lang="en-US" altLang="en-US" sz="1400" dirty="0"/>
                <a:t> as it has two gates, and a </a:t>
              </a:r>
              <a:r>
                <a:rPr lang="en-US" altLang="en-US" sz="1400" b="1" dirty="0"/>
                <a:t>depth=2</a:t>
              </a:r>
              <a:r>
                <a:rPr lang="en-US" altLang="en-US" sz="1400" dirty="0"/>
                <a:t> as the longest path is between y and the final output, and it has two gates along the way.</a:t>
              </a:r>
            </a:p>
          </p:txBody>
        </p:sp>
      </p:grpSp>
      <p:grpSp>
        <p:nvGrpSpPr>
          <p:cNvPr id="38" name="Группа 37">
            <a:extLst>
              <a:ext uri="{FF2B5EF4-FFF2-40B4-BE49-F238E27FC236}">
                <a16:creationId xmlns:a16="http://schemas.microsoft.com/office/drawing/2014/main" id="{7E784DA8-C0ED-4022-863A-AAEDC4AB200B}"/>
              </a:ext>
            </a:extLst>
          </p:cNvPr>
          <p:cNvGrpSpPr/>
          <p:nvPr/>
        </p:nvGrpSpPr>
        <p:grpSpPr>
          <a:xfrm>
            <a:off x="931462" y="2957831"/>
            <a:ext cx="641768" cy="1414319"/>
            <a:chOff x="931462" y="2795588"/>
            <a:chExt cx="641768" cy="1414319"/>
          </a:xfrm>
        </p:grpSpPr>
        <p:sp>
          <p:nvSpPr>
            <p:cNvPr id="32" name="Овал 31">
              <a:extLst>
                <a:ext uri="{FF2B5EF4-FFF2-40B4-BE49-F238E27FC236}">
                  <a16:creationId xmlns:a16="http://schemas.microsoft.com/office/drawing/2014/main" id="{98936D38-A019-462C-B3C1-5CB714657831}"/>
                </a:ext>
              </a:extLst>
            </p:cNvPr>
            <p:cNvSpPr/>
            <p:nvPr/>
          </p:nvSpPr>
          <p:spPr>
            <a:xfrm>
              <a:off x="931463" y="3586163"/>
              <a:ext cx="641767" cy="623744"/>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Овал 32">
              <a:extLst>
                <a:ext uri="{FF2B5EF4-FFF2-40B4-BE49-F238E27FC236}">
                  <a16:creationId xmlns:a16="http://schemas.microsoft.com/office/drawing/2014/main" id="{DFD2A149-BC0B-4131-B917-FA0D5443A3DD}"/>
                </a:ext>
              </a:extLst>
            </p:cNvPr>
            <p:cNvSpPr/>
            <p:nvPr/>
          </p:nvSpPr>
          <p:spPr>
            <a:xfrm>
              <a:off x="931462" y="2795588"/>
              <a:ext cx="641767" cy="615326"/>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Группа 36">
            <a:extLst>
              <a:ext uri="{FF2B5EF4-FFF2-40B4-BE49-F238E27FC236}">
                <a16:creationId xmlns:a16="http://schemas.microsoft.com/office/drawing/2014/main" id="{10CE5E5D-AF51-4E2F-AC5C-7A449ADC28D3}"/>
              </a:ext>
            </a:extLst>
          </p:cNvPr>
          <p:cNvGrpSpPr/>
          <p:nvPr/>
        </p:nvGrpSpPr>
        <p:grpSpPr>
          <a:xfrm>
            <a:off x="2831306" y="3370617"/>
            <a:ext cx="2624138" cy="1102369"/>
            <a:chOff x="2831306" y="3208374"/>
            <a:chExt cx="2624138" cy="1102369"/>
          </a:xfrm>
        </p:grpSpPr>
        <p:sp>
          <p:nvSpPr>
            <p:cNvPr id="34" name="Прямоугольник 33">
              <a:extLst>
                <a:ext uri="{FF2B5EF4-FFF2-40B4-BE49-F238E27FC236}">
                  <a16:creationId xmlns:a16="http://schemas.microsoft.com/office/drawing/2014/main" id="{2314C34D-1BA1-467A-B5DB-542CA345625C}"/>
                </a:ext>
              </a:extLst>
            </p:cNvPr>
            <p:cNvSpPr/>
            <p:nvPr/>
          </p:nvSpPr>
          <p:spPr>
            <a:xfrm>
              <a:off x="2831306" y="3744686"/>
              <a:ext cx="940594" cy="566057"/>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Прямоугольник 35">
              <a:extLst>
                <a:ext uri="{FF2B5EF4-FFF2-40B4-BE49-F238E27FC236}">
                  <a16:creationId xmlns:a16="http://schemas.microsoft.com/office/drawing/2014/main" id="{723A92CD-34FA-429D-821F-A6A34264D2CB}"/>
                </a:ext>
              </a:extLst>
            </p:cNvPr>
            <p:cNvSpPr/>
            <p:nvPr/>
          </p:nvSpPr>
          <p:spPr>
            <a:xfrm>
              <a:off x="4505353" y="3208374"/>
              <a:ext cx="950091" cy="566057"/>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Группа 48">
            <a:extLst>
              <a:ext uri="{FF2B5EF4-FFF2-40B4-BE49-F238E27FC236}">
                <a16:creationId xmlns:a16="http://schemas.microsoft.com/office/drawing/2014/main" id="{CAC82D94-5B36-4387-BA99-140C159146B0}"/>
              </a:ext>
            </a:extLst>
          </p:cNvPr>
          <p:cNvGrpSpPr/>
          <p:nvPr/>
        </p:nvGrpSpPr>
        <p:grpSpPr>
          <a:xfrm>
            <a:off x="1573229" y="3378625"/>
            <a:ext cx="4338621" cy="754820"/>
            <a:chOff x="1573229" y="3216382"/>
            <a:chExt cx="4338621" cy="754820"/>
          </a:xfrm>
        </p:grpSpPr>
        <p:cxnSp>
          <p:nvCxnSpPr>
            <p:cNvPr id="40" name="Прямая соединительная линия 39">
              <a:extLst>
                <a:ext uri="{FF2B5EF4-FFF2-40B4-BE49-F238E27FC236}">
                  <a16:creationId xmlns:a16="http://schemas.microsoft.com/office/drawing/2014/main" id="{EF0A08D6-6258-4755-9C87-8D188ABE20B1}"/>
                </a:ext>
              </a:extLst>
            </p:cNvPr>
            <p:cNvCxnSpPr/>
            <p:nvPr/>
          </p:nvCxnSpPr>
          <p:spPr>
            <a:xfrm>
              <a:off x="1573229" y="3257550"/>
              <a:ext cx="1169971" cy="612690"/>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04CEF20A-DB7F-4F3E-A742-0000A53F1562}"/>
                </a:ext>
              </a:extLst>
            </p:cNvPr>
            <p:cNvCxnSpPr>
              <a:cxnSpLocks/>
            </p:cNvCxnSpPr>
            <p:nvPr/>
          </p:nvCxnSpPr>
          <p:spPr>
            <a:xfrm flipV="1">
              <a:off x="1584103" y="3962400"/>
              <a:ext cx="1127347" cy="8802"/>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3" name="Прямая соединительная линия 42">
              <a:extLst>
                <a:ext uri="{FF2B5EF4-FFF2-40B4-BE49-F238E27FC236}">
                  <a16:creationId xmlns:a16="http://schemas.microsoft.com/office/drawing/2014/main" id="{A5138088-EDEF-4482-9A03-71F0089AD09B}"/>
                </a:ext>
              </a:extLst>
            </p:cNvPr>
            <p:cNvCxnSpPr>
              <a:cxnSpLocks/>
            </p:cNvCxnSpPr>
            <p:nvPr/>
          </p:nvCxnSpPr>
          <p:spPr>
            <a:xfrm>
              <a:off x="1573229" y="3216382"/>
              <a:ext cx="2776521" cy="174518"/>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5" name="Прямая соединительная линия 44">
              <a:extLst>
                <a:ext uri="{FF2B5EF4-FFF2-40B4-BE49-F238E27FC236}">
                  <a16:creationId xmlns:a16="http://schemas.microsoft.com/office/drawing/2014/main" id="{0D3BA354-BA64-4231-AAE8-75BBA79451D3}"/>
                </a:ext>
              </a:extLst>
            </p:cNvPr>
            <p:cNvCxnSpPr>
              <a:cxnSpLocks/>
            </p:cNvCxnSpPr>
            <p:nvPr/>
          </p:nvCxnSpPr>
          <p:spPr>
            <a:xfrm flipV="1">
              <a:off x="3791205" y="3651250"/>
              <a:ext cx="577595" cy="203414"/>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7" name="Прямая соединительная линия 46">
              <a:extLst>
                <a:ext uri="{FF2B5EF4-FFF2-40B4-BE49-F238E27FC236}">
                  <a16:creationId xmlns:a16="http://schemas.microsoft.com/office/drawing/2014/main" id="{C6DD3D73-B857-49C6-A39C-2DF83456934C}"/>
                </a:ext>
              </a:extLst>
            </p:cNvPr>
            <p:cNvCxnSpPr>
              <a:cxnSpLocks/>
            </p:cNvCxnSpPr>
            <p:nvPr/>
          </p:nvCxnSpPr>
          <p:spPr>
            <a:xfrm flipV="1">
              <a:off x="5482131" y="3511550"/>
              <a:ext cx="429719" cy="3282"/>
            </a:xfrm>
            <a:prstGeom prst="line">
              <a:avLst/>
            </a:prstGeom>
            <a:ln w="5715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18" name="Rectangle 2">
            <a:extLst>
              <a:ext uri="{FF2B5EF4-FFF2-40B4-BE49-F238E27FC236}">
                <a16:creationId xmlns:a16="http://schemas.microsoft.com/office/drawing/2014/main" id="{74A93454-A5CD-4EFA-BA24-D189D5C5225B}"/>
              </a:ext>
            </a:extLst>
          </p:cNvPr>
          <p:cNvSpPr>
            <a:spLocks noChangeArrowheads="1"/>
          </p:cNvSpPr>
          <p:nvPr/>
        </p:nvSpPr>
        <p:spPr bwMode="auto">
          <a:xfrm>
            <a:off x="431074" y="1526615"/>
            <a:ext cx="620485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None/>
              <a:tabLst/>
            </a:pPr>
            <a:r>
              <a:rPr lang="en-US" altLang="en-US" sz="1400" dirty="0"/>
              <a:t>Say we have a </a:t>
            </a:r>
            <a:r>
              <a:rPr lang="en-US" altLang="en-US" sz="1400" b="1" dirty="0"/>
              <a:t>function F</a:t>
            </a:r>
            <a:r>
              <a:rPr lang="en-US" altLang="en-US" sz="1400" dirty="0"/>
              <a:t> that </a:t>
            </a:r>
            <a:r>
              <a:rPr lang="en-US" altLang="en-US" sz="1400" b="1" dirty="0"/>
              <a:t>takes two </a:t>
            </a:r>
            <a:r>
              <a:rPr lang="en-US" altLang="en-US" sz="1400" dirty="0"/>
              <a:t>input values </a:t>
            </a:r>
            <a:r>
              <a:rPr lang="en-US" altLang="en-US" sz="1400" b="1" dirty="0"/>
              <a:t>x</a:t>
            </a:r>
            <a:r>
              <a:rPr lang="en-US" altLang="en-US" sz="1400" dirty="0"/>
              <a:t> and </a:t>
            </a:r>
            <a:r>
              <a:rPr lang="en-US" altLang="en-US" sz="1400" b="1" dirty="0"/>
              <a:t>y</a:t>
            </a:r>
            <a:r>
              <a:rPr lang="en-US" altLang="en-US" sz="1400" dirty="0"/>
              <a:t> and computes </a:t>
            </a:r>
            <a:r>
              <a:rPr lang="en-US" altLang="en-US" sz="1400" b="1" dirty="0"/>
              <a:t>x + </a:t>
            </a:r>
            <a:r>
              <a:rPr lang="en-US" altLang="en-US" sz="1400" b="1" dirty="0" err="1"/>
              <a:t>x.y</a:t>
            </a:r>
            <a:r>
              <a:rPr lang="en-US" altLang="en-US" sz="1400" dirty="0"/>
              <a:t>, a mathematical representation of this function is written as </a:t>
            </a:r>
            <a:r>
              <a:rPr lang="en-US" altLang="en-US" sz="1400" b="1" dirty="0"/>
              <a:t>F(x, y) = x + </a:t>
            </a:r>
            <a:r>
              <a:rPr lang="en-US" altLang="en-US" sz="1400" b="1" dirty="0" err="1"/>
              <a:t>x.y</a:t>
            </a:r>
            <a:r>
              <a:rPr lang="en-US" altLang="en-US" sz="1400" dirty="0"/>
              <a:t>, but we can also represent F as a </a:t>
            </a:r>
            <a:r>
              <a:rPr lang="en-US" altLang="en-US" sz="1400" dirty="0">
                <a:hlinkClick r:id="rId5">
                  <a:extLst>
                    <a:ext uri="{A12FA001-AC4F-418D-AE19-62706E023703}">
                      <ahyp:hlinkClr xmlns:ahyp="http://schemas.microsoft.com/office/drawing/2018/hyperlinkcolor" val="tx"/>
                    </a:ext>
                  </a:extLst>
                </a:hlinkClick>
              </a:rPr>
              <a:t>directed acyclic graph</a:t>
            </a:r>
            <a:r>
              <a:rPr lang="en-US" altLang="en-US" sz="1400" dirty="0"/>
              <a:t> as shown in the figure below.</a:t>
            </a:r>
          </a:p>
        </p:txBody>
      </p:sp>
      <p:grpSp>
        <p:nvGrpSpPr>
          <p:cNvPr id="62" name="Группа 61">
            <a:extLst>
              <a:ext uri="{FF2B5EF4-FFF2-40B4-BE49-F238E27FC236}">
                <a16:creationId xmlns:a16="http://schemas.microsoft.com/office/drawing/2014/main" id="{92255339-637C-4777-8365-FF3C58CAA375}"/>
              </a:ext>
            </a:extLst>
          </p:cNvPr>
          <p:cNvGrpSpPr/>
          <p:nvPr/>
        </p:nvGrpSpPr>
        <p:grpSpPr>
          <a:xfrm>
            <a:off x="6940731" y="1151061"/>
            <a:ext cx="4820195" cy="1110867"/>
            <a:chOff x="6940731" y="1151061"/>
            <a:chExt cx="4820195" cy="1110867"/>
          </a:xfrm>
        </p:grpSpPr>
        <p:sp>
          <p:nvSpPr>
            <p:cNvPr id="51" name="TextBox 50">
              <a:extLst>
                <a:ext uri="{FF2B5EF4-FFF2-40B4-BE49-F238E27FC236}">
                  <a16:creationId xmlns:a16="http://schemas.microsoft.com/office/drawing/2014/main" id="{67D6566C-C3A7-4FF4-8D02-859D7CD20C25}"/>
                </a:ext>
              </a:extLst>
            </p:cNvPr>
            <p:cNvSpPr txBox="1"/>
            <p:nvPr/>
          </p:nvSpPr>
          <p:spPr>
            <a:xfrm>
              <a:off x="6940731" y="1151061"/>
              <a:ext cx="3790948" cy="369332"/>
            </a:xfrm>
            <a:prstGeom prst="rect">
              <a:avLst/>
            </a:prstGeom>
            <a:noFill/>
          </p:spPr>
          <p:txBody>
            <a:bodyPr wrap="square">
              <a:spAutoFit/>
            </a:bodyPr>
            <a:lstStyle/>
            <a:p>
              <a:r>
                <a:rPr lang="en-US" b="1" dirty="0"/>
                <a:t>Types of HE schemes</a:t>
              </a:r>
              <a:endParaRPr lang="en-US" b="1" baseline="30000" dirty="0"/>
            </a:p>
          </p:txBody>
        </p:sp>
        <p:sp>
          <p:nvSpPr>
            <p:cNvPr id="53" name="TextBox 52">
              <a:extLst>
                <a:ext uri="{FF2B5EF4-FFF2-40B4-BE49-F238E27FC236}">
                  <a16:creationId xmlns:a16="http://schemas.microsoft.com/office/drawing/2014/main" id="{DA913C3F-3561-4855-9627-9DDB67F105FB}"/>
                </a:ext>
              </a:extLst>
            </p:cNvPr>
            <p:cNvSpPr txBox="1"/>
            <p:nvPr/>
          </p:nvSpPr>
          <p:spPr>
            <a:xfrm>
              <a:off x="6940731" y="1523264"/>
              <a:ext cx="4820195" cy="738664"/>
            </a:xfrm>
            <a:prstGeom prst="rect">
              <a:avLst/>
            </a:prstGeom>
            <a:noFill/>
          </p:spPr>
          <p:txBody>
            <a:bodyPr wrap="square">
              <a:spAutoFit/>
            </a:bodyPr>
            <a:lstStyle/>
            <a:p>
              <a:r>
                <a:rPr lang="en-US" sz="1400" dirty="0"/>
                <a:t>HE schemes are classified depending on the possible circuits they can evaluate on encrypted data, differences lies in the available gates to use, and the depth of those circuits.</a:t>
              </a:r>
            </a:p>
          </p:txBody>
        </p:sp>
      </p:grpSp>
      <p:grpSp>
        <p:nvGrpSpPr>
          <p:cNvPr id="63" name="Группа 62">
            <a:extLst>
              <a:ext uri="{FF2B5EF4-FFF2-40B4-BE49-F238E27FC236}">
                <a16:creationId xmlns:a16="http://schemas.microsoft.com/office/drawing/2014/main" id="{65AB64AF-60C0-4686-A6E1-1377D3F032A5}"/>
              </a:ext>
            </a:extLst>
          </p:cNvPr>
          <p:cNvGrpSpPr/>
          <p:nvPr/>
        </p:nvGrpSpPr>
        <p:grpSpPr>
          <a:xfrm>
            <a:off x="6940730" y="2369804"/>
            <a:ext cx="4820195" cy="1004948"/>
            <a:chOff x="6940730" y="2369804"/>
            <a:chExt cx="4820195" cy="1004948"/>
          </a:xfrm>
        </p:grpSpPr>
        <p:sp>
          <p:nvSpPr>
            <p:cNvPr id="54" name="TextBox 53">
              <a:extLst>
                <a:ext uri="{FF2B5EF4-FFF2-40B4-BE49-F238E27FC236}">
                  <a16:creationId xmlns:a16="http://schemas.microsoft.com/office/drawing/2014/main" id="{654EE7BC-165E-4DCC-9223-7D4612185828}"/>
                </a:ext>
              </a:extLst>
            </p:cNvPr>
            <p:cNvSpPr txBox="1"/>
            <p:nvPr/>
          </p:nvSpPr>
          <p:spPr>
            <a:xfrm>
              <a:off x="6940731" y="2369804"/>
              <a:ext cx="4117230" cy="369332"/>
            </a:xfrm>
            <a:prstGeom prst="rect">
              <a:avLst/>
            </a:prstGeom>
            <a:noFill/>
          </p:spPr>
          <p:txBody>
            <a:bodyPr wrap="square">
              <a:spAutoFit/>
            </a:bodyPr>
            <a:lstStyle/>
            <a:p>
              <a:r>
                <a:rPr lang="en-US" b="1" dirty="0"/>
                <a:t>Partially Homomorphic Encryption (PHE)</a:t>
              </a:r>
              <a:endParaRPr lang="en-US" b="1" baseline="30000" dirty="0"/>
            </a:p>
          </p:txBody>
        </p:sp>
        <p:sp>
          <p:nvSpPr>
            <p:cNvPr id="57" name="TextBox 56">
              <a:extLst>
                <a:ext uri="{FF2B5EF4-FFF2-40B4-BE49-F238E27FC236}">
                  <a16:creationId xmlns:a16="http://schemas.microsoft.com/office/drawing/2014/main" id="{E84907C3-C447-4F51-AE86-469A20578F1D}"/>
                </a:ext>
              </a:extLst>
            </p:cNvPr>
            <p:cNvSpPr txBox="1"/>
            <p:nvPr/>
          </p:nvSpPr>
          <p:spPr>
            <a:xfrm>
              <a:off x="6940730" y="2851532"/>
              <a:ext cx="4820195" cy="523220"/>
            </a:xfrm>
            <a:prstGeom prst="rect">
              <a:avLst/>
            </a:prstGeom>
            <a:noFill/>
          </p:spPr>
          <p:txBody>
            <a:bodyPr wrap="square">
              <a:spAutoFit/>
            </a:bodyPr>
            <a:lstStyle/>
            <a:p>
              <a:pPr marL="285750" indent="-285750">
                <a:buFontTx/>
                <a:buChar char="-"/>
              </a:pPr>
              <a:r>
                <a:rPr lang="en-US" sz="1400" dirty="0"/>
                <a:t>Unlimited size and depth</a:t>
              </a:r>
            </a:p>
            <a:p>
              <a:pPr marL="285750" indent="-285750">
                <a:buFontTx/>
                <a:buChar char="-"/>
              </a:pPr>
              <a:r>
                <a:rPr lang="en-US" sz="1400" dirty="0"/>
                <a:t>Single gate type (add || multiplication)</a:t>
              </a:r>
            </a:p>
          </p:txBody>
        </p:sp>
      </p:grpSp>
      <p:sp>
        <p:nvSpPr>
          <p:cNvPr id="59" name="TextBox 58">
            <a:extLst>
              <a:ext uri="{FF2B5EF4-FFF2-40B4-BE49-F238E27FC236}">
                <a16:creationId xmlns:a16="http://schemas.microsoft.com/office/drawing/2014/main" id="{9264F647-4964-493A-B94A-42C70EB65F2D}"/>
              </a:ext>
            </a:extLst>
          </p:cNvPr>
          <p:cNvSpPr txBox="1"/>
          <p:nvPr/>
        </p:nvSpPr>
        <p:spPr>
          <a:xfrm>
            <a:off x="191032" y="6598447"/>
            <a:ext cx="4559069" cy="261610"/>
          </a:xfrm>
          <a:prstGeom prst="rect">
            <a:avLst/>
          </a:prstGeom>
          <a:noFill/>
        </p:spPr>
        <p:txBody>
          <a:bodyPr wrap="square">
            <a:spAutoFit/>
          </a:bodyPr>
          <a:lstStyle/>
          <a:p>
            <a:r>
              <a:rPr lang="en-US" sz="1100" dirty="0">
                <a:hlinkClick r:id="rId6"/>
              </a:rPr>
              <a:t>https://www.ayoub-benaissa.com/blog/homomorphic-encryption-types/</a:t>
            </a:r>
            <a:r>
              <a:rPr lang="en-US" sz="1100" dirty="0"/>
              <a:t> </a:t>
            </a:r>
          </a:p>
        </p:txBody>
      </p:sp>
      <p:grpSp>
        <p:nvGrpSpPr>
          <p:cNvPr id="64" name="Группа 63">
            <a:extLst>
              <a:ext uri="{FF2B5EF4-FFF2-40B4-BE49-F238E27FC236}">
                <a16:creationId xmlns:a16="http://schemas.microsoft.com/office/drawing/2014/main" id="{2DC8CD66-7F4A-4631-B708-A2A51FF1A6FD}"/>
              </a:ext>
            </a:extLst>
          </p:cNvPr>
          <p:cNvGrpSpPr/>
          <p:nvPr/>
        </p:nvGrpSpPr>
        <p:grpSpPr>
          <a:xfrm>
            <a:off x="6940730" y="3576535"/>
            <a:ext cx="4946470" cy="874219"/>
            <a:chOff x="6940730" y="3567342"/>
            <a:chExt cx="4946470" cy="874219"/>
          </a:xfrm>
        </p:grpSpPr>
        <p:sp>
          <p:nvSpPr>
            <p:cNvPr id="55" name="TextBox 54">
              <a:extLst>
                <a:ext uri="{FF2B5EF4-FFF2-40B4-BE49-F238E27FC236}">
                  <a16:creationId xmlns:a16="http://schemas.microsoft.com/office/drawing/2014/main" id="{365F7CDE-5438-44A3-A68A-3763F2905410}"/>
                </a:ext>
              </a:extLst>
            </p:cNvPr>
            <p:cNvSpPr txBox="1"/>
            <p:nvPr/>
          </p:nvSpPr>
          <p:spPr>
            <a:xfrm>
              <a:off x="6940731" y="3567342"/>
              <a:ext cx="4319806" cy="369332"/>
            </a:xfrm>
            <a:prstGeom prst="rect">
              <a:avLst/>
            </a:prstGeom>
            <a:noFill/>
          </p:spPr>
          <p:txBody>
            <a:bodyPr wrap="square">
              <a:spAutoFit/>
            </a:bodyPr>
            <a:lstStyle/>
            <a:p>
              <a:r>
                <a:rPr lang="en-US" b="1" dirty="0"/>
                <a:t>Somewhat Homomorphic Encryption (SHE)</a:t>
              </a:r>
              <a:endParaRPr lang="en-US" b="1" baseline="30000" dirty="0"/>
            </a:p>
          </p:txBody>
        </p:sp>
        <p:sp>
          <p:nvSpPr>
            <p:cNvPr id="60" name="TextBox 59">
              <a:extLst>
                <a:ext uri="{FF2B5EF4-FFF2-40B4-BE49-F238E27FC236}">
                  <a16:creationId xmlns:a16="http://schemas.microsoft.com/office/drawing/2014/main" id="{041FC6BC-ED31-4DA7-85E7-EFC8282C3744}"/>
                </a:ext>
              </a:extLst>
            </p:cNvPr>
            <p:cNvSpPr txBox="1"/>
            <p:nvPr/>
          </p:nvSpPr>
          <p:spPr>
            <a:xfrm>
              <a:off x="6940730" y="3918341"/>
              <a:ext cx="4946470" cy="523220"/>
            </a:xfrm>
            <a:prstGeom prst="rect">
              <a:avLst/>
            </a:prstGeom>
            <a:noFill/>
          </p:spPr>
          <p:txBody>
            <a:bodyPr wrap="square">
              <a:spAutoFit/>
            </a:bodyPr>
            <a:lstStyle/>
            <a:p>
              <a:pPr marL="285750" indent="-285750">
                <a:buFontTx/>
                <a:buChar char="-"/>
              </a:pPr>
              <a:r>
                <a:rPr lang="en-US" sz="1400" dirty="0"/>
                <a:t>Limited depth</a:t>
              </a:r>
            </a:p>
            <a:p>
              <a:pPr marL="285750" indent="-285750">
                <a:buFontTx/>
                <a:buChar char="-"/>
              </a:pPr>
              <a:r>
                <a:rPr lang="en-US" sz="1400" dirty="0"/>
                <a:t>Any gate type (add &amp;&amp; multiply)</a:t>
              </a:r>
            </a:p>
          </p:txBody>
        </p:sp>
      </p:grpSp>
      <p:grpSp>
        <p:nvGrpSpPr>
          <p:cNvPr id="65" name="Группа 64">
            <a:extLst>
              <a:ext uri="{FF2B5EF4-FFF2-40B4-BE49-F238E27FC236}">
                <a16:creationId xmlns:a16="http://schemas.microsoft.com/office/drawing/2014/main" id="{78B59E09-CFB1-417E-B18F-0F43C304C651}"/>
              </a:ext>
            </a:extLst>
          </p:cNvPr>
          <p:cNvGrpSpPr/>
          <p:nvPr/>
        </p:nvGrpSpPr>
        <p:grpSpPr>
          <a:xfrm>
            <a:off x="6940731" y="5102474"/>
            <a:ext cx="4883331" cy="887634"/>
            <a:chOff x="6940731" y="5102474"/>
            <a:chExt cx="4883331" cy="887634"/>
          </a:xfrm>
        </p:grpSpPr>
        <p:sp>
          <p:nvSpPr>
            <p:cNvPr id="56" name="TextBox 55">
              <a:extLst>
                <a:ext uri="{FF2B5EF4-FFF2-40B4-BE49-F238E27FC236}">
                  <a16:creationId xmlns:a16="http://schemas.microsoft.com/office/drawing/2014/main" id="{0CEAACFD-05E6-4343-9905-CA686C7B16BA}"/>
                </a:ext>
              </a:extLst>
            </p:cNvPr>
            <p:cNvSpPr txBox="1"/>
            <p:nvPr/>
          </p:nvSpPr>
          <p:spPr>
            <a:xfrm>
              <a:off x="6940731" y="5102474"/>
              <a:ext cx="4117230" cy="369332"/>
            </a:xfrm>
            <a:prstGeom prst="rect">
              <a:avLst/>
            </a:prstGeom>
            <a:noFill/>
          </p:spPr>
          <p:txBody>
            <a:bodyPr wrap="square">
              <a:spAutoFit/>
            </a:bodyPr>
            <a:lstStyle/>
            <a:p>
              <a:r>
                <a:rPr lang="en-US" b="1" dirty="0"/>
                <a:t>Fully Homomorphic Encryption (FHE)</a:t>
              </a:r>
              <a:endParaRPr lang="en-US" b="1" baseline="30000" dirty="0"/>
            </a:p>
          </p:txBody>
        </p:sp>
        <p:sp>
          <p:nvSpPr>
            <p:cNvPr id="61" name="TextBox 60">
              <a:extLst>
                <a:ext uri="{FF2B5EF4-FFF2-40B4-BE49-F238E27FC236}">
                  <a16:creationId xmlns:a16="http://schemas.microsoft.com/office/drawing/2014/main" id="{D2EAADFF-6CC2-4BFD-B4B3-699F4392F3B0}"/>
                </a:ext>
              </a:extLst>
            </p:cNvPr>
            <p:cNvSpPr txBox="1"/>
            <p:nvPr/>
          </p:nvSpPr>
          <p:spPr>
            <a:xfrm>
              <a:off x="7003867" y="5466888"/>
              <a:ext cx="4820195" cy="523220"/>
            </a:xfrm>
            <a:prstGeom prst="rect">
              <a:avLst/>
            </a:prstGeom>
            <a:noFill/>
          </p:spPr>
          <p:txBody>
            <a:bodyPr wrap="square">
              <a:spAutoFit/>
            </a:bodyPr>
            <a:lstStyle/>
            <a:p>
              <a:pPr marL="285750" indent="-285750">
                <a:buFontTx/>
                <a:buChar char="-"/>
              </a:pPr>
              <a:r>
                <a:rPr lang="en-US" sz="1400" dirty="0"/>
                <a:t>Unlimited size and depth</a:t>
              </a:r>
            </a:p>
            <a:p>
              <a:pPr marL="285750" indent="-285750">
                <a:buFontTx/>
                <a:buChar char="-"/>
              </a:pPr>
              <a:r>
                <a:rPr lang="en-US" sz="1400" dirty="0"/>
                <a:t>Any gate type (add &amp;&amp; multiply)</a:t>
              </a:r>
            </a:p>
          </p:txBody>
        </p:sp>
      </p:grpSp>
      <p:sp>
        <p:nvSpPr>
          <p:cNvPr id="67" name="TextBox 66">
            <a:extLst>
              <a:ext uri="{FF2B5EF4-FFF2-40B4-BE49-F238E27FC236}">
                <a16:creationId xmlns:a16="http://schemas.microsoft.com/office/drawing/2014/main" id="{FB37922C-1EF6-4E81-8DC6-462B2A0DFF26}"/>
              </a:ext>
            </a:extLst>
          </p:cNvPr>
          <p:cNvSpPr txBox="1"/>
          <p:nvPr/>
        </p:nvSpPr>
        <p:spPr>
          <a:xfrm>
            <a:off x="7252927" y="4399409"/>
            <a:ext cx="4507998" cy="523220"/>
          </a:xfrm>
          <a:prstGeom prst="rect">
            <a:avLst/>
          </a:prstGeom>
          <a:noFill/>
        </p:spPr>
        <p:txBody>
          <a:bodyPr wrap="square">
            <a:spAutoFit/>
          </a:bodyPr>
          <a:lstStyle/>
          <a:p>
            <a:pPr marL="285750" lvl="1" indent="-285750">
              <a:buFontTx/>
              <a:buChar char="-"/>
            </a:pPr>
            <a:r>
              <a:rPr lang="en-US" sz="1400" b="1" u="sng" dirty="0"/>
              <a:t>Leveled HE</a:t>
            </a:r>
            <a:r>
              <a:rPr lang="en-US" sz="1400" u="sng" dirty="0"/>
              <a:t> </a:t>
            </a:r>
            <a:r>
              <a:rPr lang="en-US" sz="1400" dirty="0"/>
              <a:t>(</a:t>
            </a:r>
            <a:r>
              <a:rPr lang="en-US" sz="1400" b="1" dirty="0"/>
              <a:t>LHE</a:t>
            </a:r>
            <a:r>
              <a:rPr lang="en-US" sz="1400" dirty="0"/>
              <a:t>) – subset of </a:t>
            </a:r>
            <a:r>
              <a:rPr lang="en-US" sz="1400" b="1" dirty="0"/>
              <a:t>SHE</a:t>
            </a:r>
            <a:r>
              <a:rPr lang="en-US" sz="1400" dirty="0"/>
              <a:t> (pick suitable scheme parameters (</a:t>
            </a:r>
            <a:r>
              <a:rPr lang="en-US" sz="1400" i="1" dirty="0"/>
              <a:t>n, log q</a:t>
            </a:r>
            <a:r>
              <a:rPr lang="en-US" sz="1400" dirty="0"/>
              <a:t>) for desirable depth of the circuit)</a:t>
            </a:r>
          </a:p>
        </p:txBody>
      </p:sp>
    </p:spTree>
    <p:extLst>
      <p:ext uri="{BB962C8B-B14F-4D97-AF65-F5344CB8AC3E}">
        <p14:creationId xmlns:p14="http://schemas.microsoft.com/office/powerpoint/2010/main" val="2765375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fade">
                                      <p:cBhvr>
                                        <p:cTn id="27" dur="500"/>
                                        <p:tgtEl>
                                          <p:spTgt spid="6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fade">
                                      <p:cBhvr>
                                        <p:cTn id="32" dur="500"/>
                                        <p:tgtEl>
                                          <p:spTgt spid="6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fade">
                                      <p:cBhvr>
                                        <p:cTn id="37" dur="500"/>
                                        <p:tgtEl>
                                          <p:spTgt spid="6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fade">
                                      <p:cBhvr>
                                        <p:cTn id="42" dur="500"/>
                                        <p:tgtEl>
                                          <p:spTgt spid="6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fade">
                                      <p:cBhvr>
                                        <p:cTn id="4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 Scheme Overview</a:t>
            </a:r>
            <a:endParaRPr lang="zh-CN" altLang="en-US" sz="2000" i="1"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sp>
        <p:nvSpPr>
          <p:cNvPr id="11" name="TextBox 10">
            <a:extLst>
              <a:ext uri="{FF2B5EF4-FFF2-40B4-BE49-F238E27FC236}">
                <a16:creationId xmlns:a16="http://schemas.microsoft.com/office/drawing/2014/main" id="{EE3ACAE3-8C7D-44E7-BB62-55649C574D92}"/>
              </a:ext>
            </a:extLst>
          </p:cNvPr>
          <p:cNvSpPr txBox="1"/>
          <p:nvPr/>
        </p:nvSpPr>
        <p:spPr>
          <a:xfrm>
            <a:off x="191032" y="6263352"/>
            <a:ext cx="3282435" cy="261610"/>
          </a:xfrm>
          <a:prstGeom prst="rect">
            <a:avLst/>
          </a:prstGeom>
          <a:noFill/>
        </p:spPr>
        <p:txBody>
          <a:bodyPr wrap="square">
            <a:spAutoFit/>
          </a:bodyPr>
          <a:lstStyle/>
          <a:p>
            <a:r>
              <a:rPr lang="en-US" sz="1100" dirty="0"/>
              <a:t>BFV: </a:t>
            </a:r>
            <a:r>
              <a:rPr lang="en-US" sz="1100" dirty="0">
                <a:hlinkClick r:id="rId4"/>
              </a:rPr>
              <a:t>https://eprint.iacr.org/2012/144.pdf</a:t>
            </a:r>
            <a:r>
              <a:rPr lang="en-US" sz="1100" dirty="0"/>
              <a:t> </a:t>
            </a:r>
          </a:p>
        </p:txBody>
      </p:sp>
      <p:grpSp>
        <p:nvGrpSpPr>
          <p:cNvPr id="19" name="Группа 18">
            <a:extLst>
              <a:ext uri="{FF2B5EF4-FFF2-40B4-BE49-F238E27FC236}">
                <a16:creationId xmlns:a16="http://schemas.microsoft.com/office/drawing/2014/main" id="{4EE62070-CE40-4A71-9774-84A011DE1D6C}"/>
              </a:ext>
            </a:extLst>
          </p:cNvPr>
          <p:cNvGrpSpPr/>
          <p:nvPr/>
        </p:nvGrpSpPr>
        <p:grpSpPr>
          <a:xfrm>
            <a:off x="242851" y="1078184"/>
            <a:ext cx="4133318" cy="3232726"/>
            <a:chOff x="242851" y="1078184"/>
            <a:chExt cx="4133318" cy="3232726"/>
          </a:xfrm>
        </p:grpSpPr>
        <p:sp>
          <p:nvSpPr>
            <p:cNvPr id="9" name="TextBox 8">
              <a:extLst>
                <a:ext uri="{FF2B5EF4-FFF2-40B4-BE49-F238E27FC236}">
                  <a16:creationId xmlns:a16="http://schemas.microsoft.com/office/drawing/2014/main" id="{6C41FAFC-2436-466C-AAC5-F2C508D010B3}"/>
                </a:ext>
              </a:extLst>
            </p:cNvPr>
            <p:cNvSpPr txBox="1"/>
            <p:nvPr/>
          </p:nvSpPr>
          <p:spPr>
            <a:xfrm>
              <a:off x="242851" y="1078184"/>
              <a:ext cx="3548099" cy="369332"/>
            </a:xfrm>
            <a:prstGeom prst="rect">
              <a:avLst/>
            </a:prstGeom>
            <a:noFill/>
          </p:spPr>
          <p:txBody>
            <a:bodyPr wrap="square">
              <a:spAutoFit/>
            </a:bodyPr>
            <a:lstStyle/>
            <a:p>
              <a:r>
                <a:rPr lang="en-US" b="1" dirty="0"/>
                <a:t>LPR.ES (encryption scheme)</a:t>
              </a:r>
              <a:endParaRPr lang="en-US" b="1" baseline="30000" dirty="0"/>
            </a:p>
          </p:txBody>
        </p:sp>
        <p:pic>
          <p:nvPicPr>
            <p:cNvPr id="3" name="Picture 2">
              <a:extLst>
                <a:ext uri="{FF2B5EF4-FFF2-40B4-BE49-F238E27FC236}">
                  <a16:creationId xmlns:a16="http://schemas.microsoft.com/office/drawing/2014/main" id="{239B8F06-9D5D-4B5A-9C6C-6D4C660F6572}"/>
                </a:ext>
              </a:extLst>
            </p:cNvPr>
            <p:cNvPicPr>
              <a:picLocks noChangeAspect="1"/>
            </p:cNvPicPr>
            <p:nvPr/>
          </p:nvPicPr>
          <p:blipFill>
            <a:blip r:embed="rId5"/>
            <a:stretch>
              <a:fillRect/>
            </a:stretch>
          </p:blipFill>
          <p:spPr>
            <a:xfrm>
              <a:off x="242851" y="1447516"/>
              <a:ext cx="4133318" cy="2863394"/>
            </a:xfrm>
            <a:prstGeom prst="rect">
              <a:avLst/>
            </a:prstGeom>
          </p:spPr>
        </p:pic>
      </p:grpSp>
      <p:sp>
        <p:nvSpPr>
          <p:cNvPr id="15" name="TextBox 14">
            <a:extLst>
              <a:ext uri="{FF2B5EF4-FFF2-40B4-BE49-F238E27FC236}">
                <a16:creationId xmlns:a16="http://schemas.microsoft.com/office/drawing/2014/main" id="{9B2DF787-07CC-458A-837F-AEDC96A540BF}"/>
              </a:ext>
            </a:extLst>
          </p:cNvPr>
          <p:cNvSpPr txBox="1"/>
          <p:nvPr/>
        </p:nvSpPr>
        <p:spPr>
          <a:xfrm>
            <a:off x="4376169" y="1078184"/>
            <a:ext cx="3790948" cy="369332"/>
          </a:xfrm>
          <a:prstGeom prst="rect">
            <a:avLst/>
          </a:prstGeom>
          <a:noFill/>
        </p:spPr>
        <p:txBody>
          <a:bodyPr wrap="square">
            <a:spAutoFit/>
          </a:bodyPr>
          <a:lstStyle/>
          <a:p>
            <a:r>
              <a:rPr lang="en-US" b="1" dirty="0"/>
              <a:t>(B)FV.SHE (somewhat homomorphic)</a:t>
            </a:r>
            <a:endParaRPr lang="en-US" b="1" baseline="30000" dirty="0"/>
          </a:p>
        </p:txBody>
      </p:sp>
      <p:pic>
        <p:nvPicPr>
          <p:cNvPr id="5" name="Picture 4">
            <a:extLst>
              <a:ext uri="{FF2B5EF4-FFF2-40B4-BE49-F238E27FC236}">
                <a16:creationId xmlns:a16="http://schemas.microsoft.com/office/drawing/2014/main" id="{67392FBD-E51C-4705-816C-FD312F116D81}"/>
              </a:ext>
            </a:extLst>
          </p:cNvPr>
          <p:cNvPicPr>
            <a:picLocks noChangeAspect="1"/>
          </p:cNvPicPr>
          <p:nvPr/>
        </p:nvPicPr>
        <p:blipFill>
          <a:blip r:embed="rId6"/>
          <a:stretch>
            <a:fillRect/>
          </a:stretch>
        </p:blipFill>
        <p:spPr>
          <a:xfrm>
            <a:off x="4454782" y="1447516"/>
            <a:ext cx="3413498" cy="4934234"/>
          </a:xfrm>
          <a:prstGeom prst="rect">
            <a:avLst/>
          </a:prstGeom>
        </p:spPr>
      </p:pic>
      <p:grpSp>
        <p:nvGrpSpPr>
          <p:cNvPr id="21" name="Группа 20">
            <a:extLst>
              <a:ext uri="{FF2B5EF4-FFF2-40B4-BE49-F238E27FC236}">
                <a16:creationId xmlns:a16="http://schemas.microsoft.com/office/drawing/2014/main" id="{B3599E02-E06C-4241-BB8C-21CE7A6C73D7}"/>
              </a:ext>
            </a:extLst>
          </p:cNvPr>
          <p:cNvGrpSpPr/>
          <p:nvPr/>
        </p:nvGrpSpPr>
        <p:grpSpPr>
          <a:xfrm>
            <a:off x="8169893" y="1078184"/>
            <a:ext cx="3946270" cy="1715611"/>
            <a:chOff x="8169893" y="1078184"/>
            <a:chExt cx="3946270" cy="1715611"/>
          </a:xfrm>
        </p:grpSpPr>
        <p:sp>
          <p:nvSpPr>
            <p:cNvPr id="17" name="TextBox 16">
              <a:extLst>
                <a:ext uri="{FF2B5EF4-FFF2-40B4-BE49-F238E27FC236}">
                  <a16:creationId xmlns:a16="http://schemas.microsoft.com/office/drawing/2014/main" id="{427BDD70-0685-4F9F-B22E-AC87ADE2B1A7}"/>
                </a:ext>
              </a:extLst>
            </p:cNvPr>
            <p:cNvSpPr txBox="1"/>
            <p:nvPr/>
          </p:nvSpPr>
          <p:spPr>
            <a:xfrm>
              <a:off x="8169893" y="1078184"/>
              <a:ext cx="3946270" cy="369332"/>
            </a:xfrm>
            <a:prstGeom prst="rect">
              <a:avLst/>
            </a:prstGeom>
            <a:noFill/>
          </p:spPr>
          <p:txBody>
            <a:bodyPr wrap="square">
              <a:spAutoFit/>
            </a:bodyPr>
            <a:lstStyle/>
            <a:p>
              <a:r>
                <a:rPr lang="en-US" b="1" dirty="0"/>
                <a:t>(B)FV.FHE (fully homomorphic scheme)</a:t>
              </a:r>
              <a:endParaRPr lang="en-US" b="1" baseline="30000" dirty="0"/>
            </a:p>
          </p:txBody>
        </p:sp>
        <p:pic>
          <p:nvPicPr>
            <p:cNvPr id="7" name="Picture 6">
              <a:extLst>
                <a:ext uri="{FF2B5EF4-FFF2-40B4-BE49-F238E27FC236}">
                  <a16:creationId xmlns:a16="http://schemas.microsoft.com/office/drawing/2014/main" id="{7141768C-5023-4002-B24F-50C81EAD9992}"/>
                </a:ext>
              </a:extLst>
            </p:cNvPr>
            <p:cNvPicPr>
              <a:picLocks noChangeAspect="1"/>
            </p:cNvPicPr>
            <p:nvPr/>
          </p:nvPicPr>
          <p:blipFill>
            <a:blip r:embed="rId7"/>
            <a:stretch>
              <a:fillRect/>
            </a:stretch>
          </p:blipFill>
          <p:spPr>
            <a:xfrm>
              <a:off x="8245731" y="1450073"/>
              <a:ext cx="3790948" cy="1343722"/>
            </a:xfrm>
            <a:prstGeom prst="rect">
              <a:avLst/>
            </a:prstGeom>
          </p:spPr>
        </p:pic>
      </p:grpSp>
      <p:grpSp>
        <p:nvGrpSpPr>
          <p:cNvPr id="23" name="Группа 22">
            <a:extLst>
              <a:ext uri="{FF2B5EF4-FFF2-40B4-BE49-F238E27FC236}">
                <a16:creationId xmlns:a16="http://schemas.microsoft.com/office/drawing/2014/main" id="{CF89EF3A-EEA3-47EC-877B-40806212DE1B}"/>
              </a:ext>
            </a:extLst>
          </p:cNvPr>
          <p:cNvGrpSpPr/>
          <p:nvPr/>
        </p:nvGrpSpPr>
        <p:grpSpPr>
          <a:xfrm>
            <a:off x="191032" y="1078184"/>
            <a:ext cx="11758117" cy="5446778"/>
            <a:chOff x="191032" y="1078184"/>
            <a:chExt cx="11758117" cy="5446778"/>
          </a:xfrm>
        </p:grpSpPr>
        <p:sp>
          <p:nvSpPr>
            <p:cNvPr id="20" name="TextBox 19">
              <a:extLst>
                <a:ext uri="{FF2B5EF4-FFF2-40B4-BE49-F238E27FC236}">
                  <a16:creationId xmlns:a16="http://schemas.microsoft.com/office/drawing/2014/main" id="{C0334A90-7DC6-4104-8036-7ABA992947AA}"/>
                </a:ext>
              </a:extLst>
            </p:cNvPr>
            <p:cNvSpPr txBox="1"/>
            <p:nvPr/>
          </p:nvSpPr>
          <p:spPr>
            <a:xfrm>
              <a:off x="8245731" y="3152001"/>
              <a:ext cx="3703418" cy="646331"/>
            </a:xfrm>
            <a:prstGeom prst="rect">
              <a:avLst/>
            </a:prstGeom>
            <a:noFill/>
          </p:spPr>
          <p:txBody>
            <a:bodyPr wrap="square">
              <a:spAutoFit/>
            </a:bodyPr>
            <a:lstStyle/>
            <a:p>
              <a:pPr algn="just"/>
              <a:r>
                <a:rPr lang="en-US" sz="1200" dirty="0"/>
                <a:t>For </a:t>
              </a:r>
              <a:r>
                <a:rPr lang="en-US" sz="1200" dirty="0" err="1"/>
                <a:t>cPIR</a:t>
              </a:r>
              <a:r>
                <a:rPr lang="en-US" sz="1200" dirty="0"/>
                <a:t> against plaintext database, we only need to target FV.SHE., - turning to FV.FHE requires a method to lower the noise before we can’t decrypt (bootstrapping)</a:t>
              </a:r>
            </a:p>
          </p:txBody>
        </p:sp>
        <p:sp>
          <p:nvSpPr>
            <p:cNvPr id="22" name="Прямоугольник 21">
              <a:extLst>
                <a:ext uri="{FF2B5EF4-FFF2-40B4-BE49-F238E27FC236}">
                  <a16:creationId xmlns:a16="http://schemas.microsoft.com/office/drawing/2014/main" id="{9D54D563-7F4D-4937-90AA-F4C4AA37897B}"/>
                </a:ext>
              </a:extLst>
            </p:cNvPr>
            <p:cNvSpPr/>
            <p:nvPr/>
          </p:nvSpPr>
          <p:spPr>
            <a:xfrm>
              <a:off x="191032" y="1078184"/>
              <a:ext cx="7899377" cy="5446778"/>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BE887C2-B1A9-4AB4-AF48-761ED52792F8}"/>
                </a:ext>
              </a:extLst>
            </p:cNvPr>
            <p:cNvSpPr txBox="1"/>
            <p:nvPr/>
          </p:nvSpPr>
          <p:spPr>
            <a:xfrm>
              <a:off x="8245731" y="4634075"/>
              <a:ext cx="3703418" cy="646331"/>
            </a:xfrm>
            <a:prstGeom prst="rect">
              <a:avLst/>
            </a:prstGeom>
            <a:noFill/>
          </p:spPr>
          <p:txBody>
            <a:bodyPr wrap="square">
              <a:spAutoFit/>
            </a:bodyPr>
            <a:lstStyle/>
            <a:p>
              <a:pPr algn="just"/>
              <a:r>
                <a:rPr lang="en-US" sz="1200" dirty="0"/>
                <a:t>#todo:</a:t>
              </a:r>
            </a:p>
            <a:p>
              <a:pPr marL="171450" indent="-171450" algn="just">
                <a:buFontTx/>
                <a:buChar char="-"/>
              </a:pPr>
              <a:r>
                <a:rPr lang="en-US" sz="1200" dirty="0" err="1"/>
                <a:t>Relinearization</a:t>
              </a:r>
              <a:endParaRPr lang="en-US" sz="1200" dirty="0"/>
            </a:p>
            <a:p>
              <a:pPr marL="171450" indent="-171450" algn="just">
                <a:buFontTx/>
                <a:buChar char="-"/>
              </a:pPr>
              <a:r>
                <a:rPr lang="en-US" sz="1200" dirty="0"/>
                <a:t>Noise bootstrapping (turn to </a:t>
              </a:r>
              <a:r>
                <a:rPr lang="en-US" sz="1200" dirty="0" err="1"/>
                <a:t>fhe</a:t>
              </a:r>
              <a:r>
                <a:rPr lang="en-US" sz="1200" dirty="0"/>
                <a:t>)</a:t>
              </a:r>
            </a:p>
          </p:txBody>
        </p:sp>
      </p:grpSp>
      <p:pic>
        <p:nvPicPr>
          <p:cNvPr id="4" name="Picture 3">
            <a:extLst>
              <a:ext uri="{FF2B5EF4-FFF2-40B4-BE49-F238E27FC236}">
                <a16:creationId xmlns:a16="http://schemas.microsoft.com/office/drawing/2014/main" id="{F1D1E481-EA05-4E29-977C-5B31196A1A86}"/>
              </a:ext>
            </a:extLst>
          </p:cNvPr>
          <p:cNvPicPr>
            <a:picLocks noChangeAspect="1"/>
          </p:cNvPicPr>
          <p:nvPr/>
        </p:nvPicPr>
        <p:blipFill>
          <a:blip r:embed="rId8"/>
          <a:stretch>
            <a:fillRect/>
          </a:stretch>
        </p:blipFill>
        <p:spPr>
          <a:xfrm>
            <a:off x="8321232" y="3899363"/>
            <a:ext cx="2162175" cy="514350"/>
          </a:xfrm>
          <a:prstGeom prst="rect">
            <a:avLst/>
          </a:prstGeom>
        </p:spPr>
      </p:pic>
    </p:spTree>
    <p:extLst>
      <p:ext uri="{BB962C8B-B14F-4D97-AF65-F5344CB8AC3E}">
        <p14:creationId xmlns:p14="http://schemas.microsoft.com/office/powerpoint/2010/main" val="76450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393915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(B)FV.SHE Scheme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grpSp>
        <p:nvGrpSpPr>
          <p:cNvPr id="96" name="Group 95">
            <a:extLst>
              <a:ext uri="{FF2B5EF4-FFF2-40B4-BE49-F238E27FC236}">
                <a16:creationId xmlns:a16="http://schemas.microsoft.com/office/drawing/2014/main" id="{FB39C169-5527-48D0-9781-423A2CAF2010}"/>
              </a:ext>
            </a:extLst>
          </p:cNvPr>
          <p:cNvGrpSpPr/>
          <p:nvPr/>
        </p:nvGrpSpPr>
        <p:grpSpPr>
          <a:xfrm>
            <a:off x="5238750" y="87948"/>
            <a:ext cx="2912065" cy="570767"/>
            <a:chOff x="5038860" y="119978"/>
            <a:chExt cx="2912065" cy="570767"/>
          </a:xfrm>
        </p:grpSpPr>
        <p:pic>
          <p:nvPicPr>
            <p:cNvPr id="75" name="Picture 74">
              <a:extLst>
                <a:ext uri="{FF2B5EF4-FFF2-40B4-BE49-F238E27FC236}">
                  <a16:creationId xmlns:a16="http://schemas.microsoft.com/office/drawing/2014/main" id="{F072D31B-C458-4E1C-8283-EC35294E58D3}"/>
                </a:ext>
              </a:extLst>
            </p:cNvPr>
            <p:cNvPicPr>
              <a:picLocks noChangeAspect="1"/>
            </p:cNvPicPr>
            <p:nvPr/>
          </p:nvPicPr>
          <p:blipFill>
            <a:blip r:embed="rId4"/>
            <a:stretch>
              <a:fillRect/>
            </a:stretch>
          </p:blipFill>
          <p:spPr>
            <a:xfrm>
              <a:off x="5038860" y="125414"/>
              <a:ext cx="615583" cy="565331"/>
            </a:xfrm>
            <a:prstGeom prst="rect">
              <a:avLst/>
            </a:prstGeom>
          </p:spPr>
        </p:pic>
        <p:pic>
          <p:nvPicPr>
            <p:cNvPr id="77" name="Picture 76">
              <a:extLst>
                <a:ext uri="{FF2B5EF4-FFF2-40B4-BE49-F238E27FC236}">
                  <a16:creationId xmlns:a16="http://schemas.microsoft.com/office/drawing/2014/main" id="{682D85FC-011F-4504-9791-8B6A524C41EF}"/>
                </a:ext>
              </a:extLst>
            </p:cNvPr>
            <p:cNvPicPr>
              <a:picLocks noChangeAspect="1"/>
            </p:cNvPicPr>
            <p:nvPr/>
          </p:nvPicPr>
          <p:blipFill>
            <a:blip r:embed="rId5"/>
            <a:stretch>
              <a:fillRect/>
            </a:stretch>
          </p:blipFill>
          <p:spPr>
            <a:xfrm>
              <a:off x="5791482" y="119978"/>
              <a:ext cx="2159443" cy="556838"/>
            </a:xfrm>
            <a:prstGeom prst="rect">
              <a:avLst/>
            </a:prstGeom>
          </p:spPr>
        </p:pic>
      </p:grpSp>
      <p:pic>
        <p:nvPicPr>
          <p:cNvPr id="89" name="Picture 88">
            <a:extLst>
              <a:ext uri="{FF2B5EF4-FFF2-40B4-BE49-F238E27FC236}">
                <a16:creationId xmlns:a16="http://schemas.microsoft.com/office/drawing/2014/main" id="{E1C3B9B5-EF3E-458A-859F-495A4181A6EA}"/>
              </a:ext>
            </a:extLst>
          </p:cNvPr>
          <p:cNvPicPr>
            <a:picLocks noChangeAspect="1"/>
          </p:cNvPicPr>
          <p:nvPr/>
        </p:nvPicPr>
        <p:blipFill>
          <a:blip r:embed="rId6"/>
          <a:stretch>
            <a:fillRect/>
          </a:stretch>
        </p:blipFill>
        <p:spPr>
          <a:xfrm>
            <a:off x="1336524" y="1823830"/>
            <a:ext cx="3650121" cy="852079"/>
          </a:xfrm>
          <a:prstGeom prst="rect">
            <a:avLst/>
          </a:prstGeom>
        </p:spPr>
      </p:pic>
      <p:pic>
        <p:nvPicPr>
          <p:cNvPr id="91" name="Picture 90">
            <a:extLst>
              <a:ext uri="{FF2B5EF4-FFF2-40B4-BE49-F238E27FC236}">
                <a16:creationId xmlns:a16="http://schemas.microsoft.com/office/drawing/2014/main" id="{01E90B66-89A5-4BEB-BF2D-A3F648FBCC32}"/>
              </a:ext>
            </a:extLst>
          </p:cNvPr>
          <p:cNvPicPr>
            <a:picLocks noChangeAspect="1"/>
          </p:cNvPicPr>
          <p:nvPr/>
        </p:nvPicPr>
        <p:blipFill>
          <a:blip r:embed="rId7"/>
          <a:stretch>
            <a:fillRect/>
          </a:stretch>
        </p:blipFill>
        <p:spPr>
          <a:xfrm>
            <a:off x="1347002" y="2720126"/>
            <a:ext cx="3641554" cy="708874"/>
          </a:xfrm>
          <a:prstGeom prst="rect">
            <a:avLst/>
          </a:prstGeom>
        </p:spPr>
      </p:pic>
      <p:pic>
        <p:nvPicPr>
          <p:cNvPr id="93" name="Picture 92">
            <a:extLst>
              <a:ext uri="{FF2B5EF4-FFF2-40B4-BE49-F238E27FC236}">
                <a16:creationId xmlns:a16="http://schemas.microsoft.com/office/drawing/2014/main" id="{D78B3817-F92F-4D9F-9A08-740F0263D69E}"/>
              </a:ext>
            </a:extLst>
          </p:cNvPr>
          <p:cNvPicPr>
            <a:picLocks noChangeAspect="1"/>
          </p:cNvPicPr>
          <p:nvPr/>
        </p:nvPicPr>
        <p:blipFill>
          <a:blip r:embed="rId8"/>
          <a:stretch>
            <a:fillRect/>
          </a:stretch>
        </p:blipFill>
        <p:spPr>
          <a:xfrm>
            <a:off x="1347002" y="3487564"/>
            <a:ext cx="3650122" cy="1440994"/>
          </a:xfrm>
          <a:prstGeom prst="rect">
            <a:avLst/>
          </a:prstGeom>
        </p:spPr>
      </p:pic>
      <p:pic>
        <p:nvPicPr>
          <p:cNvPr id="95" name="Picture 94">
            <a:extLst>
              <a:ext uri="{FF2B5EF4-FFF2-40B4-BE49-F238E27FC236}">
                <a16:creationId xmlns:a16="http://schemas.microsoft.com/office/drawing/2014/main" id="{8D47260A-5E5C-4A8F-9333-E65CEAEC50EB}"/>
              </a:ext>
            </a:extLst>
          </p:cNvPr>
          <p:cNvPicPr>
            <a:picLocks noChangeAspect="1"/>
          </p:cNvPicPr>
          <p:nvPr/>
        </p:nvPicPr>
        <p:blipFill>
          <a:blip r:embed="rId9"/>
          <a:stretch>
            <a:fillRect/>
          </a:stretch>
        </p:blipFill>
        <p:spPr>
          <a:xfrm>
            <a:off x="1347001" y="4978006"/>
            <a:ext cx="3639644" cy="1678723"/>
          </a:xfrm>
          <a:prstGeom prst="rect">
            <a:avLst/>
          </a:prstGeom>
        </p:spPr>
      </p:pic>
      <p:pic>
        <p:nvPicPr>
          <p:cNvPr id="99" name="Picture 98">
            <a:extLst>
              <a:ext uri="{FF2B5EF4-FFF2-40B4-BE49-F238E27FC236}">
                <a16:creationId xmlns:a16="http://schemas.microsoft.com/office/drawing/2014/main" id="{9482C40F-CDDB-4B2C-98FC-C418AEEF36E9}"/>
              </a:ext>
            </a:extLst>
          </p:cNvPr>
          <p:cNvPicPr>
            <a:picLocks noChangeAspect="1"/>
          </p:cNvPicPr>
          <p:nvPr/>
        </p:nvPicPr>
        <p:blipFill>
          <a:blip r:embed="rId10"/>
          <a:stretch>
            <a:fillRect/>
          </a:stretch>
        </p:blipFill>
        <p:spPr>
          <a:xfrm>
            <a:off x="1347001" y="1146156"/>
            <a:ext cx="3639644" cy="540714"/>
          </a:xfrm>
          <a:prstGeom prst="rect">
            <a:avLst/>
          </a:prstGeom>
        </p:spPr>
      </p:pic>
      <p:grpSp>
        <p:nvGrpSpPr>
          <p:cNvPr id="108" name="Group 107">
            <a:extLst>
              <a:ext uri="{FF2B5EF4-FFF2-40B4-BE49-F238E27FC236}">
                <a16:creationId xmlns:a16="http://schemas.microsoft.com/office/drawing/2014/main" id="{B2859858-4C88-4784-9DF3-D698403F0EBD}"/>
              </a:ext>
            </a:extLst>
          </p:cNvPr>
          <p:cNvGrpSpPr/>
          <p:nvPr/>
        </p:nvGrpSpPr>
        <p:grpSpPr>
          <a:xfrm>
            <a:off x="5744002" y="1148381"/>
            <a:ext cx="4315427" cy="5508348"/>
            <a:chOff x="4991380" y="1148381"/>
            <a:chExt cx="4315427" cy="5508348"/>
          </a:xfrm>
        </p:grpSpPr>
        <p:pic>
          <p:nvPicPr>
            <p:cNvPr id="101" name="Picture 100">
              <a:extLst>
                <a:ext uri="{FF2B5EF4-FFF2-40B4-BE49-F238E27FC236}">
                  <a16:creationId xmlns:a16="http://schemas.microsoft.com/office/drawing/2014/main" id="{F0B651C7-10F4-4329-BBF6-5F7DF1A7EC4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91380" y="1148381"/>
              <a:ext cx="1933845" cy="495369"/>
            </a:xfrm>
            <a:prstGeom prst="rect">
              <a:avLst/>
            </a:prstGeom>
          </p:spPr>
        </p:pic>
        <p:grpSp>
          <p:nvGrpSpPr>
            <p:cNvPr id="107" name="Group 106">
              <a:extLst>
                <a:ext uri="{FF2B5EF4-FFF2-40B4-BE49-F238E27FC236}">
                  <a16:creationId xmlns:a16="http://schemas.microsoft.com/office/drawing/2014/main" id="{7BF900AA-4F43-4FD0-9F6F-283365B575E2}"/>
                </a:ext>
              </a:extLst>
            </p:cNvPr>
            <p:cNvGrpSpPr/>
            <p:nvPr/>
          </p:nvGrpSpPr>
          <p:grpSpPr>
            <a:xfrm>
              <a:off x="4991380" y="1823830"/>
              <a:ext cx="4315427" cy="4832899"/>
              <a:chOff x="4991380" y="1823830"/>
              <a:chExt cx="4315427" cy="4832899"/>
            </a:xfrm>
          </p:grpSpPr>
          <p:pic>
            <p:nvPicPr>
              <p:cNvPr id="103" name="Picture 102">
                <a:extLst>
                  <a:ext uri="{FF2B5EF4-FFF2-40B4-BE49-F238E27FC236}">
                    <a16:creationId xmlns:a16="http://schemas.microsoft.com/office/drawing/2014/main" id="{59318C0E-5729-44CE-99AD-38423BD570B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991380" y="4075094"/>
                <a:ext cx="4315427" cy="2581635"/>
              </a:xfrm>
              <a:prstGeom prst="rect">
                <a:avLst/>
              </a:prstGeom>
            </p:spPr>
          </p:pic>
          <p:pic>
            <p:nvPicPr>
              <p:cNvPr id="105" name="Picture 104">
                <a:extLst>
                  <a:ext uri="{FF2B5EF4-FFF2-40B4-BE49-F238E27FC236}">
                    <a16:creationId xmlns:a16="http://schemas.microsoft.com/office/drawing/2014/main" id="{8DFA9DF2-87D1-4C45-B437-244F60E156D1}"/>
                  </a:ext>
                </a:extLst>
              </p:cNvPr>
              <p:cNvPicPr>
                <a:picLocks noChangeAspect="1"/>
              </p:cNvPicPr>
              <p:nvPr/>
            </p:nvPicPr>
            <p:blipFill>
              <a:blip r:embed="rId13"/>
              <a:stretch>
                <a:fillRect/>
              </a:stretch>
            </p:blipFill>
            <p:spPr>
              <a:xfrm>
                <a:off x="4991380" y="1823830"/>
                <a:ext cx="4315427" cy="2178031"/>
              </a:xfrm>
              <a:prstGeom prst="rect">
                <a:avLst/>
              </a:prstGeom>
            </p:spPr>
          </p:pic>
        </p:grpSp>
      </p:grpSp>
      <p:sp>
        <p:nvSpPr>
          <p:cNvPr id="21" name="TextBox 20">
            <a:extLst>
              <a:ext uri="{FF2B5EF4-FFF2-40B4-BE49-F238E27FC236}">
                <a16:creationId xmlns:a16="http://schemas.microsoft.com/office/drawing/2014/main" id="{5288554B-6371-4ACF-B103-48F6B5846D4F}"/>
              </a:ext>
            </a:extLst>
          </p:cNvPr>
          <p:cNvSpPr txBox="1"/>
          <p:nvPr/>
        </p:nvSpPr>
        <p:spPr>
          <a:xfrm>
            <a:off x="191032" y="6598447"/>
            <a:ext cx="3282435" cy="261610"/>
          </a:xfrm>
          <a:prstGeom prst="rect">
            <a:avLst/>
          </a:prstGeom>
          <a:noFill/>
        </p:spPr>
        <p:txBody>
          <a:bodyPr wrap="square">
            <a:spAutoFit/>
          </a:bodyPr>
          <a:lstStyle/>
          <a:p>
            <a:r>
              <a:rPr lang="en-US" sz="1100" dirty="0"/>
              <a:t>BFV: </a:t>
            </a:r>
            <a:r>
              <a:rPr lang="en-US" sz="1100" dirty="0">
                <a:hlinkClick r:id="rId14"/>
              </a:rPr>
              <a:t>https://eprint.iacr.org/2012/144.pdf</a:t>
            </a:r>
            <a:r>
              <a:rPr lang="en-US" sz="1100" dirty="0"/>
              <a:t> </a:t>
            </a:r>
          </a:p>
        </p:txBody>
      </p:sp>
    </p:spTree>
    <p:extLst>
      <p:ext uri="{BB962C8B-B14F-4D97-AF65-F5344CB8AC3E}">
        <p14:creationId xmlns:p14="http://schemas.microsoft.com/office/powerpoint/2010/main" val="126868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fade">
                                      <p:cBhvr>
                                        <p:cTn id="12" dur="500"/>
                                        <p:tgtEl>
                                          <p:spTgt spid="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fade">
                                      <p:cBhvr>
                                        <p:cTn id="17" dur="5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fade">
                                      <p:cBhvr>
                                        <p:cTn id="22" dur="500"/>
                                        <p:tgtEl>
                                          <p:spTgt spid="9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5"/>
                                        </p:tgtEl>
                                        <p:attrNameLst>
                                          <p:attrName>style.visibility</p:attrName>
                                        </p:attrNameLst>
                                      </p:cBhvr>
                                      <p:to>
                                        <p:strVal val="visible"/>
                                      </p:to>
                                    </p:set>
                                    <p:animEffect transition="in" filter="fade">
                                      <p:cBhvr>
                                        <p:cTn id="27" dur="500"/>
                                        <p:tgtEl>
                                          <p:spTgt spid="9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8"/>
                                        </p:tgtEl>
                                        <p:attrNameLst>
                                          <p:attrName>style.visibility</p:attrName>
                                        </p:attrNameLst>
                                      </p:cBhvr>
                                      <p:to>
                                        <p:strVal val="visible"/>
                                      </p:to>
                                    </p:set>
                                    <p:animEffect transition="in" filter="fade">
                                      <p:cBhvr>
                                        <p:cTn id="3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(B)FV.SHE Scheme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grpSp>
        <p:nvGrpSpPr>
          <p:cNvPr id="96" name="Group 95">
            <a:extLst>
              <a:ext uri="{FF2B5EF4-FFF2-40B4-BE49-F238E27FC236}">
                <a16:creationId xmlns:a16="http://schemas.microsoft.com/office/drawing/2014/main" id="{FB39C169-5527-48D0-9781-423A2CAF2010}"/>
              </a:ext>
            </a:extLst>
          </p:cNvPr>
          <p:cNvGrpSpPr/>
          <p:nvPr/>
        </p:nvGrpSpPr>
        <p:grpSpPr>
          <a:xfrm>
            <a:off x="4991380" y="87948"/>
            <a:ext cx="2912065" cy="570767"/>
            <a:chOff x="5038860" y="119978"/>
            <a:chExt cx="2912065" cy="570767"/>
          </a:xfrm>
        </p:grpSpPr>
        <p:pic>
          <p:nvPicPr>
            <p:cNvPr id="75" name="Picture 74">
              <a:extLst>
                <a:ext uri="{FF2B5EF4-FFF2-40B4-BE49-F238E27FC236}">
                  <a16:creationId xmlns:a16="http://schemas.microsoft.com/office/drawing/2014/main" id="{F072D31B-C458-4E1C-8283-EC35294E58D3}"/>
                </a:ext>
              </a:extLst>
            </p:cNvPr>
            <p:cNvPicPr>
              <a:picLocks noChangeAspect="1"/>
            </p:cNvPicPr>
            <p:nvPr/>
          </p:nvPicPr>
          <p:blipFill>
            <a:blip r:embed="rId4"/>
            <a:stretch>
              <a:fillRect/>
            </a:stretch>
          </p:blipFill>
          <p:spPr>
            <a:xfrm>
              <a:off x="5038860" y="125414"/>
              <a:ext cx="615583" cy="565331"/>
            </a:xfrm>
            <a:prstGeom prst="rect">
              <a:avLst/>
            </a:prstGeom>
          </p:spPr>
        </p:pic>
        <p:pic>
          <p:nvPicPr>
            <p:cNvPr id="77" name="Picture 76">
              <a:extLst>
                <a:ext uri="{FF2B5EF4-FFF2-40B4-BE49-F238E27FC236}">
                  <a16:creationId xmlns:a16="http://schemas.microsoft.com/office/drawing/2014/main" id="{682D85FC-011F-4504-9791-8B6A524C41EF}"/>
                </a:ext>
              </a:extLst>
            </p:cNvPr>
            <p:cNvPicPr>
              <a:picLocks noChangeAspect="1"/>
            </p:cNvPicPr>
            <p:nvPr/>
          </p:nvPicPr>
          <p:blipFill>
            <a:blip r:embed="rId5"/>
            <a:stretch>
              <a:fillRect/>
            </a:stretch>
          </p:blipFill>
          <p:spPr>
            <a:xfrm>
              <a:off x="5791482" y="119978"/>
              <a:ext cx="2159443" cy="556838"/>
            </a:xfrm>
            <a:prstGeom prst="rect">
              <a:avLst/>
            </a:prstGeom>
          </p:spPr>
        </p:pic>
      </p:grpSp>
      <p:pic>
        <p:nvPicPr>
          <p:cNvPr id="29" name="Picture 28">
            <a:extLst>
              <a:ext uri="{FF2B5EF4-FFF2-40B4-BE49-F238E27FC236}">
                <a16:creationId xmlns:a16="http://schemas.microsoft.com/office/drawing/2014/main" id="{6DB63C98-8B0A-4B53-9CDF-57FA5D56D767}"/>
              </a:ext>
            </a:extLst>
          </p:cNvPr>
          <p:cNvPicPr>
            <a:picLocks noChangeAspect="1"/>
          </p:cNvPicPr>
          <p:nvPr/>
        </p:nvPicPr>
        <p:blipFill>
          <a:blip r:embed="rId6"/>
          <a:stretch>
            <a:fillRect/>
          </a:stretch>
        </p:blipFill>
        <p:spPr>
          <a:xfrm>
            <a:off x="4657889" y="1764602"/>
            <a:ext cx="3118382" cy="3581684"/>
          </a:xfrm>
          <a:prstGeom prst="rect">
            <a:avLst/>
          </a:prstGeom>
        </p:spPr>
      </p:pic>
      <p:pic>
        <p:nvPicPr>
          <p:cNvPr id="4" name="Picture 3">
            <a:extLst>
              <a:ext uri="{FF2B5EF4-FFF2-40B4-BE49-F238E27FC236}">
                <a16:creationId xmlns:a16="http://schemas.microsoft.com/office/drawing/2014/main" id="{D823E6D7-FC4F-4396-8736-695F8E0C0F95}"/>
              </a:ext>
            </a:extLst>
          </p:cNvPr>
          <p:cNvPicPr>
            <a:picLocks noChangeAspect="1"/>
          </p:cNvPicPr>
          <p:nvPr/>
        </p:nvPicPr>
        <p:blipFill>
          <a:blip r:embed="rId7"/>
          <a:stretch>
            <a:fillRect/>
          </a:stretch>
        </p:blipFill>
        <p:spPr>
          <a:xfrm>
            <a:off x="8040484" y="88024"/>
            <a:ext cx="2751341" cy="287134"/>
          </a:xfrm>
          <a:prstGeom prst="rect">
            <a:avLst/>
          </a:prstGeom>
        </p:spPr>
      </p:pic>
      <p:pic>
        <p:nvPicPr>
          <p:cNvPr id="6" name="Picture 5">
            <a:extLst>
              <a:ext uri="{FF2B5EF4-FFF2-40B4-BE49-F238E27FC236}">
                <a16:creationId xmlns:a16="http://schemas.microsoft.com/office/drawing/2014/main" id="{C6F3204B-62B8-4E60-86F8-1EE46487568C}"/>
              </a:ext>
            </a:extLst>
          </p:cNvPr>
          <p:cNvPicPr>
            <a:picLocks noChangeAspect="1"/>
          </p:cNvPicPr>
          <p:nvPr/>
        </p:nvPicPr>
        <p:blipFill>
          <a:blip r:embed="rId8"/>
          <a:stretch>
            <a:fillRect/>
          </a:stretch>
        </p:blipFill>
        <p:spPr>
          <a:xfrm>
            <a:off x="549659" y="1132971"/>
            <a:ext cx="3981750" cy="631631"/>
          </a:xfrm>
          <a:prstGeom prst="rect">
            <a:avLst/>
          </a:prstGeom>
        </p:spPr>
      </p:pic>
      <p:grpSp>
        <p:nvGrpSpPr>
          <p:cNvPr id="23" name="Group 22">
            <a:extLst>
              <a:ext uri="{FF2B5EF4-FFF2-40B4-BE49-F238E27FC236}">
                <a16:creationId xmlns:a16="http://schemas.microsoft.com/office/drawing/2014/main" id="{B7E52393-E327-48B6-9F0A-81E187E29383}"/>
              </a:ext>
            </a:extLst>
          </p:cNvPr>
          <p:cNvGrpSpPr/>
          <p:nvPr/>
        </p:nvGrpSpPr>
        <p:grpSpPr>
          <a:xfrm>
            <a:off x="549312" y="1764602"/>
            <a:ext cx="3981751" cy="2909719"/>
            <a:chOff x="549312" y="1879351"/>
            <a:chExt cx="3981751" cy="2909719"/>
          </a:xfrm>
        </p:grpSpPr>
        <p:pic>
          <p:nvPicPr>
            <p:cNvPr id="9" name="Picture 8">
              <a:extLst>
                <a:ext uri="{FF2B5EF4-FFF2-40B4-BE49-F238E27FC236}">
                  <a16:creationId xmlns:a16="http://schemas.microsoft.com/office/drawing/2014/main" id="{97BBECFD-8C09-4613-9F71-1606B51DB5F0}"/>
                </a:ext>
              </a:extLst>
            </p:cNvPr>
            <p:cNvPicPr>
              <a:picLocks noChangeAspect="1"/>
            </p:cNvPicPr>
            <p:nvPr/>
          </p:nvPicPr>
          <p:blipFill>
            <a:blip r:embed="rId9"/>
            <a:stretch>
              <a:fillRect/>
            </a:stretch>
          </p:blipFill>
          <p:spPr>
            <a:xfrm>
              <a:off x="549312" y="1879351"/>
              <a:ext cx="3981750" cy="2076198"/>
            </a:xfrm>
            <a:prstGeom prst="rect">
              <a:avLst/>
            </a:prstGeom>
          </p:spPr>
        </p:pic>
        <p:pic>
          <p:nvPicPr>
            <p:cNvPr id="20" name="Picture 19">
              <a:extLst>
                <a:ext uri="{FF2B5EF4-FFF2-40B4-BE49-F238E27FC236}">
                  <a16:creationId xmlns:a16="http://schemas.microsoft.com/office/drawing/2014/main" id="{6EBCCA12-0A84-43BD-9A20-9CFB16056F6B}"/>
                </a:ext>
              </a:extLst>
            </p:cNvPr>
            <p:cNvPicPr>
              <a:picLocks noChangeAspect="1"/>
            </p:cNvPicPr>
            <p:nvPr/>
          </p:nvPicPr>
          <p:blipFill>
            <a:blip r:embed="rId10"/>
            <a:stretch>
              <a:fillRect/>
            </a:stretch>
          </p:blipFill>
          <p:spPr>
            <a:xfrm>
              <a:off x="549313" y="3955549"/>
              <a:ext cx="3981750" cy="833521"/>
            </a:xfrm>
            <a:prstGeom prst="rect">
              <a:avLst/>
            </a:prstGeom>
          </p:spPr>
        </p:pic>
      </p:grpSp>
      <p:grpSp>
        <p:nvGrpSpPr>
          <p:cNvPr id="26" name="Group 25">
            <a:extLst>
              <a:ext uri="{FF2B5EF4-FFF2-40B4-BE49-F238E27FC236}">
                <a16:creationId xmlns:a16="http://schemas.microsoft.com/office/drawing/2014/main" id="{4C2EBF6F-2BD2-4B96-B77E-B19E70C1B41C}"/>
              </a:ext>
            </a:extLst>
          </p:cNvPr>
          <p:cNvGrpSpPr/>
          <p:nvPr/>
        </p:nvGrpSpPr>
        <p:grpSpPr>
          <a:xfrm>
            <a:off x="549313" y="4801609"/>
            <a:ext cx="3981750" cy="1737042"/>
            <a:chOff x="549313" y="4982180"/>
            <a:chExt cx="3981750" cy="1737042"/>
          </a:xfrm>
        </p:grpSpPr>
        <p:pic>
          <p:nvPicPr>
            <p:cNvPr id="25" name="Picture 24">
              <a:extLst>
                <a:ext uri="{FF2B5EF4-FFF2-40B4-BE49-F238E27FC236}">
                  <a16:creationId xmlns:a16="http://schemas.microsoft.com/office/drawing/2014/main" id="{F4DF68A0-C402-413D-8D1D-0C548B251E9D}"/>
                </a:ext>
              </a:extLst>
            </p:cNvPr>
            <p:cNvPicPr>
              <a:picLocks noChangeAspect="1"/>
            </p:cNvPicPr>
            <p:nvPr/>
          </p:nvPicPr>
          <p:blipFill>
            <a:blip r:embed="rId11"/>
            <a:stretch>
              <a:fillRect/>
            </a:stretch>
          </p:blipFill>
          <p:spPr>
            <a:xfrm>
              <a:off x="549313" y="4982180"/>
              <a:ext cx="3981750" cy="1730231"/>
            </a:xfrm>
            <a:prstGeom prst="rect">
              <a:avLst/>
            </a:prstGeom>
          </p:spPr>
        </p:pic>
        <p:pic>
          <p:nvPicPr>
            <p:cNvPr id="22" name="Picture 21">
              <a:extLst>
                <a:ext uri="{FF2B5EF4-FFF2-40B4-BE49-F238E27FC236}">
                  <a16:creationId xmlns:a16="http://schemas.microsoft.com/office/drawing/2014/main" id="{A04A5513-C03D-4B95-811A-7A3FDAE218E4}"/>
                </a:ext>
              </a:extLst>
            </p:cNvPr>
            <p:cNvPicPr>
              <a:picLocks noChangeAspect="1"/>
            </p:cNvPicPr>
            <p:nvPr/>
          </p:nvPicPr>
          <p:blipFill>
            <a:blip r:embed="rId12"/>
            <a:stretch>
              <a:fillRect/>
            </a:stretch>
          </p:blipFill>
          <p:spPr>
            <a:xfrm>
              <a:off x="3340864" y="6504449"/>
              <a:ext cx="1190198" cy="214773"/>
            </a:xfrm>
            <a:prstGeom prst="rect">
              <a:avLst/>
            </a:prstGeom>
          </p:spPr>
        </p:pic>
      </p:grpSp>
      <p:pic>
        <p:nvPicPr>
          <p:cNvPr id="3" name="Picture 2">
            <a:extLst>
              <a:ext uri="{FF2B5EF4-FFF2-40B4-BE49-F238E27FC236}">
                <a16:creationId xmlns:a16="http://schemas.microsoft.com/office/drawing/2014/main" id="{A19BE7D6-93A2-45F1-BE28-2A4AD4243DF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903445" y="1764602"/>
            <a:ext cx="3981750" cy="2404397"/>
          </a:xfrm>
          <a:prstGeom prst="rect">
            <a:avLst/>
          </a:prstGeom>
        </p:spPr>
      </p:pic>
      <p:pic>
        <p:nvPicPr>
          <p:cNvPr id="15" name="Picture 14">
            <a:extLst>
              <a:ext uri="{FF2B5EF4-FFF2-40B4-BE49-F238E27FC236}">
                <a16:creationId xmlns:a16="http://schemas.microsoft.com/office/drawing/2014/main" id="{A7C6FC21-A1F7-468B-83F2-2EE183F11D91}"/>
              </a:ext>
            </a:extLst>
          </p:cNvPr>
          <p:cNvPicPr>
            <a:picLocks noChangeAspect="1"/>
          </p:cNvPicPr>
          <p:nvPr/>
        </p:nvPicPr>
        <p:blipFill>
          <a:blip r:embed="rId14"/>
          <a:stretch>
            <a:fillRect/>
          </a:stretch>
        </p:blipFill>
        <p:spPr>
          <a:xfrm>
            <a:off x="7903445" y="4257560"/>
            <a:ext cx="3981750" cy="1604979"/>
          </a:xfrm>
          <a:prstGeom prst="rect">
            <a:avLst/>
          </a:prstGeom>
        </p:spPr>
      </p:pic>
      <p:sp>
        <p:nvSpPr>
          <p:cNvPr id="24" name="TextBox 23">
            <a:extLst>
              <a:ext uri="{FF2B5EF4-FFF2-40B4-BE49-F238E27FC236}">
                <a16:creationId xmlns:a16="http://schemas.microsoft.com/office/drawing/2014/main" id="{2FF4EE8C-8F66-4364-BEF1-17C6513BDE4C}"/>
              </a:ext>
            </a:extLst>
          </p:cNvPr>
          <p:cNvSpPr txBox="1"/>
          <p:nvPr/>
        </p:nvSpPr>
        <p:spPr>
          <a:xfrm>
            <a:off x="191032" y="6598447"/>
            <a:ext cx="3282435" cy="261610"/>
          </a:xfrm>
          <a:prstGeom prst="rect">
            <a:avLst/>
          </a:prstGeom>
          <a:noFill/>
        </p:spPr>
        <p:txBody>
          <a:bodyPr wrap="square">
            <a:spAutoFit/>
          </a:bodyPr>
          <a:lstStyle/>
          <a:p>
            <a:r>
              <a:rPr lang="en-US" sz="1100" dirty="0"/>
              <a:t>BFV: </a:t>
            </a:r>
            <a:r>
              <a:rPr lang="en-US" sz="1100" dirty="0">
                <a:hlinkClick r:id="rId15"/>
              </a:rPr>
              <a:t>https://eprint.iacr.org/2012/144.pdf</a:t>
            </a:r>
            <a:r>
              <a:rPr lang="en-US" sz="1100" dirty="0"/>
              <a:t> </a:t>
            </a:r>
          </a:p>
        </p:txBody>
      </p:sp>
    </p:spTree>
    <p:extLst>
      <p:ext uri="{BB962C8B-B14F-4D97-AF65-F5344CB8AC3E}">
        <p14:creationId xmlns:p14="http://schemas.microsoft.com/office/powerpoint/2010/main" val="168563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par>
                                <p:cTn id="23" presetID="10"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(B)FV.SHE Scheme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grpSp>
        <p:nvGrpSpPr>
          <p:cNvPr id="96" name="Group 95">
            <a:extLst>
              <a:ext uri="{FF2B5EF4-FFF2-40B4-BE49-F238E27FC236}">
                <a16:creationId xmlns:a16="http://schemas.microsoft.com/office/drawing/2014/main" id="{FB39C169-5527-48D0-9781-423A2CAF2010}"/>
              </a:ext>
            </a:extLst>
          </p:cNvPr>
          <p:cNvGrpSpPr/>
          <p:nvPr/>
        </p:nvGrpSpPr>
        <p:grpSpPr>
          <a:xfrm>
            <a:off x="4991380" y="87948"/>
            <a:ext cx="2912065" cy="570767"/>
            <a:chOff x="5038860" y="119978"/>
            <a:chExt cx="2912065" cy="570767"/>
          </a:xfrm>
        </p:grpSpPr>
        <p:pic>
          <p:nvPicPr>
            <p:cNvPr id="75" name="Picture 74">
              <a:extLst>
                <a:ext uri="{FF2B5EF4-FFF2-40B4-BE49-F238E27FC236}">
                  <a16:creationId xmlns:a16="http://schemas.microsoft.com/office/drawing/2014/main" id="{F072D31B-C458-4E1C-8283-EC35294E58D3}"/>
                </a:ext>
              </a:extLst>
            </p:cNvPr>
            <p:cNvPicPr>
              <a:picLocks noChangeAspect="1"/>
            </p:cNvPicPr>
            <p:nvPr/>
          </p:nvPicPr>
          <p:blipFill>
            <a:blip r:embed="rId4"/>
            <a:stretch>
              <a:fillRect/>
            </a:stretch>
          </p:blipFill>
          <p:spPr>
            <a:xfrm>
              <a:off x="5038860" y="125414"/>
              <a:ext cx="615583" cy="565331"/>
            </a:xfrm>
            <a:prstGeom prst="rect">
              <a:avLst/>
            </a:prstGeom>
          </p:spPr>
        </p:pic>
        <p:pic>
          <p:nvPicPr>
            <p:cNvPr id="77" name="Picture 76">
              <a:extLst>
                <a:ext uri="{FF2B5EF4-FFF2-40B4-BE49-F238E27FC236}">
                  <a16:creationId xmlns:a16="http://schemas.microsoft.com/office/drawing/2014/main" id="{682D85FC-011F-4504-9791-8B6A524C41EF}"/>
                </a:ext>
              </a:extLst>
            </p:cNvPr>
            <p:cNvPicPr>
              <a:picLocks noChangeAspect="1"/>
            </p:cNvPicPr>
            <p:nvPr/>
          </p:nvPicPr>
          <p:blipFill>
            <a:blip r:embed="rId5"/>
            <a:stretch>
              <a:fillRect/>
            </a:stretch>
          </p:blipFill>
          <p:spPr>
            <a:xfrm>
              <a:off x="5791482" y="119978"/>
              <a:ext cx="2159443" cy="556838"/>
            </a:xfrm>
            <a:prstGeom prst="rect">
              <a:avLst/>
            </a:prstGeom>
          </p:spPr>
        </p:pic>
      </p:grpSp>
      <p:pic>
        <p:nvPicPr>
          <p:cNvPr id="30" name="Picture 29">
            <a:extLst>
              <a:ext uri="{FF2B5EF4-FFF2-40B4-BE49-F238E27FC236}">
                <a16:creationId xmlns:a16="http://schemas.microsoft.com/office/drawing/2014/main" id="{91702FB4-4333-47B3-81C3-E91749313F32}"/>
              </a:ext>
            </a:extLst>
          </p:cNvPr>
          <p:cNvPicPr>
            <a:picLocks noChangeAspect="1"/>
          </p:cNvPicPr>
          <p:nvPr/>
        </p:nvPicPr>
        <p:blipFill>
          <a:blip r:embed="rId6"/>
          <a:stretch>
            <a:fillRect/>
          </a:stretch>
        </p:blipFill>
        <p:spPr>
          <a:xfrm>
            <a:off x="8569612" y="1072478"/>
            <a:ext cx="3183364" cy="2635108"/>
          </a:xfrm>
          <a:prstGeom prst="rect">
            <a:avLst/>
          </a:prstGeom>
        </p:spPr>
      </p:pic>
      <p:pic>
        <p:nvPicPr>
          <p:cNvPr id="4" name="Picture 3">
            <a:extLst>
              <a:ext uri="{FF2B5EF4-FFF2-40B4-BE49-F238E27FC236}">
                <a16:creationId xmlns:a16="http://schemas.microsoft.com/office/drawing/2014/main" id="{D823E6D7-FC4F-4396-8736-695F8E0C0F95}"/>
              </a:ext>
            </a:extLst>
          </p:cNvPr>
          <p:cNvPicPr>
            <a:picLocks noChangeAspect="1"/>
          </p:cNvPicPr>
          <p:nvPr/>
        </p:nvPicPr>
        <p:blipFill>
          <a:blip r:embed="rId7"/>
          <a:stretch>
            <a:fillRect/>
          </a:stretch>
        </p:blipFill>
        <p:spPr>
          <a:xfrm>
            <a:off x="8040484" y="88024"/>
            <a:ext cx="2751341" cy="287134"/>
          </a:xfrm>
          <a:prstGeom prst="rect">
            <a:avLst/>
          </a:prstGeom>
        </p:spPr>
      </p:pic>
      <p:pic>
        <p:nvPicPr>
          <p:cNvPr id="32" name="Picture 31">
            <a:extLst>
              <a:ext uri="{FF2B5EF4-FFF2-40B4-BE49-F238E27FC236}">
                <a16:creationId xmlns:a16="http://schemas.microsoft.com/office/drawing/2014/main" id="{263FA451-BB65-4994-8DBE-52155484C905}"/>
              </a:ext>
            </a:extLst>
          </p:cNvPr>
          <p:cNvPicPr>
            <a:picLocks noChangeAspect="1"/>
          </p:cNvPicPr>
          <p:nvPr/>
        </p:nvPicPr>
        <p:blipFill>
          <a:blip r:embed="rId8"/>
          <a:stretch>
            <a:fillRect/>
          </a:stretch>
        </p:blipFill>
        <p:spPr>
          <a:xfrm>
            <a:off x="549313" y="1026444"/>
            <a:ext cx="3981750" cy="650208"/>
          </a:xfrm>
          <a:prstGeom prst="rect">
            <a:avLst/>
          </a:prstGeom>
        </p:spPr>
      </p:pic>
      <p:pic>
        <p:nvPicPr>
          <p:cNvPr id="34" name="Picture 33">
            <a:extLst>
              <a:ext uri="{FF2B5EF4-FFF2-40B4-BE49-F238E27FC236}">
                <a16:creationId xmlns:a16="http://schemas.microsoft.com/office/drawing/2014/main" id="{E481F07C-A62D-4515-B367-CFBE0E7DE5FE}"/>
              </a:ext>
            </a:extLst>
          </p:cNvPr>
          <p:cNvPicPr>
            <a:picLocks noChangeAspect="1"/>
          </p:cNvPicPr>
          <p:nvPr/>
        </p:nvPicPr>
        <p:blipFill>
          <a:blip r:embed="rId9"/>
          <a:stretch>
            <a:fillRect/>
          </a:stretch>
        </p:blipFill>
        <p:spPr>
          <a:xfrm>
            <a:off x="549313" y="1676652"/>
            <a:ext cx="4149914" cy="2276223"/>
          </a:xfrm>
          <a:prstGeom prst="rect">
            <a:avLst/>
          </a:prstGeom>
        </p:spPr>
      </p:pic>
      <p:pic>
        <p:nvPicPr>
          <p:cNvPr id="36" name="Picture 35">
            <a:extLst>
              <a:ext uri="{FF2B5EF4-FFF2-40B4-BE49-F238E27FC236}">
                <a16:creationId xmlns:a16="http://schemas.microsoft.com/office/drawing/2014/main" id="{AA7D101D-F0AD-4BF8-AE80-16C8E7EDEB3D}"/>
              </a:ext>
            </a:extLst>
          </p:cNvPr>
          <p:cNvPicPr>
            <a:picLocks noChangeAspect="1"/>
          </p:cNvPicPr>
          <p:nvPr/>
        </p:nvPicPr>
        <p:blipFill>
          <a:blip r:embed="rId10"/>
          <a:stretch>
            <a:fillRect/>
          </a:stretch>
        </p:blipFill>
        <p:spPr>
          <a:xfrm>
            <a:off x="549314" y="4029075"/>
            <a:ext cx="4149914" cy="2306048"/>
          </a:xfrm>
          <a:prstGeom prst="rect">
            <a:avLst/>
          </a:prstGeom>
        </p:spPr>
      </p:pic>
      <p:pic>
        <p:nvPicPr>
          <p:cNvPr id="38" name="Picture 37">
            <a:extLst>
              <a:ext uri="{FF2B5EF4-FFF2-40B4-BE49-F238E27FC236}">
                <a16:creationId xmlns:a16="http://schemas.microsoft.com/office/drawing/2014/main" id="{040FF637-77FD-4B86-A45A-916EC3900CDC}"/>
              </a:ext>
            </a:extLst>
          </p:cNvPr>
          <p:cNvPicPr>
            <a:picLocks noChangeAspect="1"/>
          </p:cNvPicPr>
          <p:nvPr/>
        </p:nvPicPr>
        <p:blipFill>
          <a:blip r:embed="rId11"/>
          <a:stretch>
            <a:fillRect/>
          </a:stretch>
        </p:blipFill>
        <p:spPr>
          <a:xfrm>
            <a:off x="4892887" y="1066270"/>
            <a:ext cx="3496515" cy="3084305"/>
          </a:xfrm>
          <a:prstGeom prst="rect">
            <a:avLst/>
          </a:prstGeom>
        </p:spPr>
      </p:pic>
      <p:grpSp>
        <p:nvGrpSpPr>
          <p:cNvPr id="61" name="Group 60">
            <a:extLst>
              <a:ext uri="{FF2B5EF4-FFF2-40B4-BE49-F238E27FC236}">
                <a16:creationId xmlns:a16="http://schemas.microsoft.com/office/drawing/2014/main" id="{BC4399B0-1A1A-43E8-86D1-A3F17FF7B6FC}"/>
              </a:ext>
            </a:extLst>
          </p:cNvPr>
          <p:cNvGrpSpPr/>
          <p:nvPr/>
        </p:nvGrpSpPr>
        <p:grpSpPr>
          <a:xfrm>
            <a:off x="8040484" y="419287"/>
            <a:ext cx="3555205" cy="234610"/>
            <a:chOff x="3002349" y="3133725"/>
            <a:chExt cx="9130196" cy="602506"/>
          </a:xfrm>
        </p:grpSpPr>
        <p:pic>
          <p:nvPicPr>
            <p:cNvPr id="63" name="Picture 62">
              <a:extLst>
                <a:ext uri="{FF2B5EF4-FFF2-40B4-BE49-F238E27FC236}">
                  <a16:creationId xmlns:a16="http://schemas.microsoft.com/office/drawing/2014/main" id="{DA352F04-7C97-4633-AC14-20784AB43158}"/>
                </a:ext>
              </a:extLst>
            </p:cNvPr>
            <p:cNvPicPr>
              <a:picLocks noChangeAspect="1"/>
            </p:cNvPicPr>
            <p:nvPr/>
          </p:nvPicPr>
          <p:blipFill>
            <a:blip r:embed="rId12"/>
            <a:stretch>
              <a:fillRect/>
            </a:stretch>
          </p:blipFill>
          <p:spPr>
            <a:xfrm>
              <a:off x="3002349" y="3133725"/>
              <a:ext cx="1170583" cy="602506"/>
            </a:xfrm>
            <a:prstGeom prst="rect">
              <a:avLst/>
            </a:prstGeom>
          </p:spPr>
        </p:pic>
        <p:pic>
          <p:nvPicPr>
            <p:cNvPr id="65" name="Picture 64">
              <a:extLst>
                <a:ext uri="{FF2B5EF4-FFF2-40B4-BE49-F238E27FC236}">
                  <a16:creationId xmlns:a16="http://schemas.microsoft.com/office/drawing/2014/main" id="{C754B64E-DD98-4539-9645-4F202D272FD4}"/>
                </a:ext>
              </a:extLst>
            </p:cNvPr>
            <p:cNvPicPr>
              <a:picLocks noChangeAspect="1"/>
            </p:cNvPicPr>
            <p:nvPr/>
          </p:nvPicPr>
          <p:blipFill>
            <a:blip r:embed="rId13"/>
            <a:stretch>
              <a:fillRect/>
            </a:stretch>
          </p:blipFill>
          <p:spPr>
            <a:xfrm>
              <a:off x="4172932" y="3133725"/>
              <a:ext cx="3722948" cy="602506"/>
            </a:xfrm>
            <a:prstGeom prst="rect">
              <a:avLst/>
            </a:prstGeom>
          </p:spPr>
        </p:pic>
        <p:pic>
          <p:nvPicPr>
            <p:cNvPr id="68" name="Picture 67">
              <a:extLst>
                <a:ext uri="{FF2B5EF4-FFF2-40B4-BE49-F238E27FC236}">
                  <a16:creationId xmlns:a16="http://schemas.microsoft.com/office/drawing/2014/main" id="{D81ABA25-6458-4E3A-B994-A0F50C032753}"/>
                </a:ext>
              </a:extLst>
            </p:cNvPr>
            <p:cNvPicPr>
              <a:picLocks noChangeAspect="1"/>
            </p:cNvPicPr>
            <p:nvPr/>
          </p:nvPicPr>
          <p:blipFill>
            <a:blip r:embed="rId14"/>
            <a:stretch>
              <a:fillRect/>
            </a:stretch>
          </p:blipFill>
          <p:spPr>
            <a:xfrm>
              <a:off x="7903445" y="3133725"/>
              <a:ext cx="4229100" cy="590550"/>
            </a:xfrm>
            <a:prstGeom prst="rect">
              <a:avLst/>
            </a:prstGeom>
          </p:spPr>
        </p:pic>
      </p:grpSp>
      <p:pic>
        <p:nvPicPr>
          <p:cNvPr id="44" name="Picture 43">
            <a:extLst>
              <a:ext uri="{FF2B5EF4-FFF2-40B4-BE49-F238E27FC236}">
                <a16:creationId xmlns:a16="http://schemas.microsoft.com/office/drawing/2014/main" id="{9AF48681-604D-4664-8481-57EA184B0022}"/>
              </a:ext>
            </a:extLst>
          </p:cNvPr>
          <p:cNvPicPr>
            <a:picLocks noChangeAspect="1"/>
          </p:cNvPicPr>
          <p:nvPr/>
        </p:nvPicPr>
        <p:blipFill>
          <a:blip r:embed="rId15"/>
          <a:stretch>
            <a:fillRect/>
          </a:stretch>
        </p:blipFill>
        <p:spPr>
          <a:xfrm>
            <a:off x="4892888" y="4206093"/>
            <a:ext cx="3473873" cy="1016633"/>
          </a:xfrm>
          <a:prstGeom prst="rect">
            <a:avLst/>
          </a:prstGeom>
        </p:spPr>
      </p:pic>
      <p:pic>
        <p:nvPicPr>
          <p:cNvPr id="46" name="Picture 45">
            <a:extLst>
              <a:ext uri="{FF2B5EF4-FFF2-40B4-BE49-F238E27FC236}">
                <a16:creationId xmlns:a16="http://schemas.microsoft.com/office/drawing/2014/main" id="{C3EE0AA4-B407-43ED-A5B0-BD9E8EC4B7EB}"/>
              </a:ext>
            </a:extLst>
          </p:cNvPr>
          <p:cNvPicPr>
            <a:picLocks noChangeAspect="1"/>
          </p:cNvPicPr>
          <p:nvPr/>
        </p:nvPicPr>
        <p:blipFill>
          <a:blip r:embed="rId16"/>
          <a:stretch>
            <a:fillRect/>
          </a:stretch>
        </p:blipFill>
        <p:spPr>
          <a:xfrm>
            <a:off x="4892887" y="5294635"/>
            <a:ext cx="3473873" cy="691064"/>
          </a:xfrm>
          <a:prstGeom prst="rect">
            <a:avLst/>
          </a:prstGeom>
        </p:spPr>
      </p:pic>
      <p:pic>
        <p:nvPicPr>
          <p:cNvPr id="48" name="Picture 47">
            <a:extLst>
              <a:ext uri="{FF2B5EF4-FFF2-40B4-BE49-F238E27FC236}">
                <a16:creationId xmlns:a16="http://schemas.microsoft.com/office/drawing/2014/main" id="{D8DC1347-F901-4C59-A14D-E173B0A9CC0C}"/>
              </a:ext>
            </a:extLst>
          </p:cNvPr>
          <p:cNvPicPr>
            <a:picLocks noChangeAspect="1"/>
          </p:cNvPicPr>
          <p:nvPr/>
        </p:nvPicPr>
        <p:blipFill>
          <a:blip r:embed="rId17"/>
          <a:stretch>
            <a:fillRect/>
          </a:stretch>
        </p:blipFill>
        <p:spPr>
          <a:xfrm>
            <a:off x="4892888" y="6057609"/>
            <a:ext cx="3473873" cy="277514"/>
          </a:xfrm>
          <a:prstGeom prst="rect">
            <a:avLst/>
          </a:prstGeom>
        </p:spPr>
      </p:pic>
      <p:pic>
        <p:nvPicPr>
          <p:cNvPr id="3" name="Рисунок 2">
            <a:extLst>
              <a:ext uri="{FF2B5EF4-FFF2-40B4-BE49-F238E27FC236}">
                <a16:creationId xmlns:a16="http://schemas.microsoft.com/office/drawing/2014/main" id="{AD35BAB8-F01A-49C4-A4DA-FABBA1D25E63}"/>
              </a:ext>
            </a:extLst>
          </p:cNvPr>
          <p:cNvPicPr>
            <a:picLocks noChangeAspect="1"/>
          </p:cNvPicPr>
          <p:nvPr/>
        </p:nvPicPr>
        <p:blipFill>
          <a:blip r:embed="rId18"/>
          <a:stretch>
            <a:fillRect/>
          </a:stretch>
        </p:blipFill>
        <p:spPr>
          <a:xfrm>
            <a:off x="8569613" y="3883805"/>
            <a:ext cx="3183364" cy="2228355"/>
          </a:xfrm>
          <a:prstGeom prst="rect">
            <a:avLst/>
          </a:prstGeom>
        </p:spPr>
      </p:pic>
      <p:sp>
        <p:nvSpPr>
          <p:cNvPr id="25" name="TextBox 24">
            <a:extLst>
              <a:ext uri="{FF2B5EF4-FFF2-40B4-BE49-F238E27FC236}">
                <a16:creationId xmlns:a16="http://schemas.microsoft.com/office/drawing/2014/main" id="{BB576049-C368-4574-869C-DC564F768E6D}"/>
              </a:ext>
            </a:extLst>
          </p:cNvPr>
          <p:cNvSpPr txBox="1"/>
          <p:nvPr/>
        </p:nvSpPr>
        <p:spPr>
          <a:xfrm>
            <a:off x="191032" y="6598447"/>
            <a:ext cx="3282435" cy="261610"/>
          </a:xfrm>
          <a:prstGeom prst="rect">
            <a:avLst/>
          </a:prstGeom>
          <a:noFill/>
        </p:spPr>
        <p:txBody>
          <a:bodyPr wrap="square">
            <a:spAutoFit/>
          </a:bodyPr>
          <a:lstStyle/>
          <a:p>
            <a:r>
              <a:rPr lang="en-US" sz="1100" dirty="0"/>
              <a:t>BFV: </a:t>
            </a:r>
            <a:r>
              <a:rPr lang="en-US" sz="1100" dirty="0">
                <a:hlinkClick r:id="rId19"/>
              </a:rPr>
              <a:t>https://eprint.iacr.org/2012/144.pdf</a:t>
            </a:r>
            <a:r>
              <a:rPr lang="en-US" sz="1100" dirty="0"/>
              <a:t> </a:t>
            </a:r>
          </a:p>
        </p:txBody>
      </p:sp>
    </p:spTree>
    <p:extLst>
      <p:ext uri="{BB962C8B-B14F-4D97-AF65-F5344CB8AC3E}">
        <p14:creationId xmlns:p14="http://schemas.microsoft.com/office/powerpoint/2010/main" val="402836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500"/>
                                        <p:tgtEl>
                                          <p:spTgt spid="4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500"/>
                                        <p:tgtEl>
                                          <p:spTgt spid="4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par>
                                <p:cTn id="43" presetID="10" presetClass="entr" presetSubtype="0" fill="hold" nodeType="with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fade">
                                      <p:cBhvr>
                                        <p:cTn id="4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(B)FV.SHE Scheme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grpSp>
        <p:nvGrpSpPr>
          <p:cNvPr id="96" name="Group 95">
            <a:extLst>
              <a:ext uri="{FF2B5EF4-FFF2-40B4-BE49-F238E27FC236}">
                <a16:creationId xmlns:a16="http://schemas.microsoft.com/office/drawing/2014/main" id="{FB39C169-5527-48D0-9781-423A2CAF2010}"/>
              </a:ext>
            </a:extLst>
          </p:cNvPr>
          <p:cNvGrpSpPr/>
          <p:nvPr/>
        </p:nvGrpSpPr>
        <p:grpSpPr>
          <a:xfrm>
            <a:off x="4991380" y="87948"/>
            <a:ext cx="2912065" cy="570767"/>
            <a:chOff x="5038860" y="119978"/>
            <a:chExt cx="2912065" cy="570767"/>
          </a:xfrm>
        </p:grpSpPr>
        <p:pic>
          <p:nvPicPr>
            <p:cNvPr id="75" name="Picture 74">
              <a:extLst>
                <a:ext uri="{FF2B5EF4-FFF2-40B4-BE49-F238E27FC236}">
                  <a16:creationId xmlns:a16="http://schemas.microsoft.com/office/drawing/2014/main" id="{F072D31B-C458-4E1C-8283-EC35294E58D3}"/>
                </a:ext>
              </a:extLst>
            </p:cNvPr>
            <p:cNvPicPr>
              <a:picLocks noChangeAspect="1"/>
            </p:cNvPicPr>
            <p:nvPr/>
          </p:nvPicPr>
          <p:blipFill>
            <a:blip r:embed="rId4"/>
            <a:stretch>
              <a:fillRect/>
            </a:stretch>
          </p:blipFill>
          <p:spPr>
            <a:xfrm>
              <a:off x="5038860" y="125414"/>
              <a:ext cx="615583" cy="565331"/>
            </a:xfrm>
            <a:prstGeom prst="rect">
              <a:avLst/>
            </a:prstGeom>
          </p:spPr>
        </p:pic>
        <p:pic>
          <p:nvPicPr>
            <p:cNvPr id="77" name="Picture 76">
              <a:extLst>
                <a:ext uri="{FF2B5EF4-FFF2-40B4-BE49-F238E27FC236}">
                  <a16:creationId xmlns:a16="http://schemas.microsoft.com/office/drawing/2014/main" id="{682D85FC-011F-4504-9791-8B6A524C41EF}"/>
                </a:ext>
              </a:extLst>
            </p:cNvPr>
            <p:cNvPicPr>
              <a:picLocks noChangeAspect="1"/>
            </p:cNvPicPr>
            <p:nvPr/>
          </p:nvPicPr>
          <p:blipFill>
            <a:blip r:embed="rId5"/>
            <a:stretch>
              <a:fillRect/>
            </a:stretch>
          </p:blipFill>
          <p:spPr>
            <a:xfrm>
              <a:off x="5791482" y="119978"/>
              <a:ext cx="2159443" cy="556838"/>
            </a:xfrm>
            <a:prstGeom prst="rect">
              <a:avLst/>
            </a:prstGeom>
          </p:spPr>
        </p:pic>
      </p:grpSp>
      <p:grpSp>
        <p:nvGrpSpPr>
          <p:cNvPr id="33" name="Group 32">
            <a:extLst>
              <a:ext uri="{FF2B5EF4-FFF2-40B4-BE49-F238E27FC236}">
                <a16:creationId xmlns:a16="http://schemas.microsoft.com/office/drawing/2014/main" id="{5E8857BB-B359-4E9C-BBE0-D0E1D208144F}"/>
              </a:ext>
            </a:extLst>
          </p:cNvPr>
          <p:cNvGrpSpPr/>
          <p:nvPr/>
        </p:nvGrpSpPr>
        <p:grpSpPr>
          <a:xfrm>
            <a:off x="8040484" y="419287"/>
            <a:ext cx="3555205" cy="234610"/>
            <a:chOff x="3002349" y="3133725"/>
            <a:chExt cx="9130196" cy="602506"/>
          </a:xfrm>
        </p:grpSpPr>
        <p:pic>
          <p:nvPicPr>
            <p:cNvPr id="34" name="Picture 33">
              <a:extLst>
                <a:ext uri="{FF2B5EF4-FFF2-40B4-BE49-F238E27FC236}">
                  <a16:creationId xmlns:a16="http://schemas.microsoft.com/office/drawing/2014/main" id="{BE9FA9F0-6EAC-4A13-B93F-4FE967EFDC4B}"/>
                </a:ext>
              </a:extLst>
            </p:cNvPr>
            <p:cNvPicPr>
              <a:picLocks noChangeAspect="1"/>
            </p:cNvPicPr>
            <p:nvPr/>
          </p:nvPicPr>
          <p:blipFill>
            <a:blip r:embed="rId6"/>
            <a:stretch>
              <a:fillRect/>
            </a:stretch>
          </p:blipFill>
          <p:spPr>
            <a:xfrm>
              <a:off x="3002349" y="3133725"/>
              <a:ext cx="1170583" cy="602506"/>
            </a:xfrm>
            <a:prstGeom prst="rect">
              <a:avLst/>
            </a:prstGeom>
          </p:spPr>
        </p:pic>
        <p:pic>
          <p:nvPicPr>
            <p:cNvPr id="35" name="Picture 34">
              <a:extLst>
                <a:ext uri="{FF2B5EF4-FFF2-40B4-BE49-F238E27FC236}">
                  <a16:creationId xmlns:a16="http://schemas.microsoft.com/office/drawing/2014/main" id="{2937D565-8CF5-43C6-B891-39E482E90B17}"/>
                </a:ext>
              </a:extLst>
            </p:cNvPr>
            <p:cNvPicPr>
              <a:picLocks noChangeAspect="1"/>
            </p:cNvPicPr>
            <p:nvPr/>
          </p:nvPicPr>
          <p:blipFill>
            <a:blip r:embed="rId7"/>
            <a:stretch>
              <a:fillRect/>
            </a:stretch>
          </p:blipFill>
          <p:spPr>
            <a:xfrm>
              <a:off x="4172932" y="3133725"/>
              <a:ext cx="3722948" cy="602506"/>
            </a:xfrm>
            <a:prstGeom prst="rect">
              <a:avLst/>
            </a:prstGeom>
          </p:spPr>
        </p:pic>
        <p:pic>
          <p:nvPicPr>
            <p:cNvPr id="36" name="Picture 35">
              <a:extLst>
                <a:ext uri="{FF2B5EF4-FFF2-40B4-BE49-F238E27FC236}">
                  <a16:creationId xmlns:a16="http://schemas.microsoft.com/office/drawing/2014/main" id="{33141464-B3FD-4319-B0B8-0ADF698D0286}"/>
                </a:ext>
              </a:extLst>
            </p:cNvPr>
            <p:cNvPicPr>
              <a:picLocks noChangeAspect="1"/>
            </p:cNvPicPr>
            <p:nvPr/>
          </p:nvPicPr>
          <p:blipFill>
            <a:blip r:embed="rId8"/>
            <a:stretch>
              <a:fillRect/>
            </a:stretch>
          </p:blipFill>
          <p:spPr>
            <a:xfrm>
              <a:off x="7903445" y="3133725"/>
              <a:ext cx="4229100" cy="590550"/>
            </a:xfrm>
            <a:prstGeom prst="rect">
              <a:avLst/>
            </a:prstGeom>
          </p:spPr>
        </p:pic>
      </p:grpSp>
      <p:pic>
        <p:nvPicPr>
          <p:cNvPr id="37" name="Picture 36">
            <a:extLst>
              <a:ext uri="{FF2B5EF4-FFF2-40B4-BE49-F238E27FC236}">
                <a16:creationId xmlns:a16="http://schemas.microsoft.com/office/drawing/2014/main" id="{599DD4C5-EF24-43D4-B10D-F2F31B8C3C55}"/>
              </a:ext>
            </a:extLst>
          </p:cNvPr>
          <p:cNvPicPr>
            <a:picLocks noChangeAspect="1"/>
          </p:cNvPicPr>
          <p:nvPr/>
        </p:nvPicPr>
        <p:blipFill>
          <a:blip r:embed="rId9"/>
          <a:stretch>
            <a:fillRect/>
          </a:stretch>
        </p:blipFill>
        <p:spPr>
          <a:xfrm>
            <a:off x="8040484" y="88024"/>
            <a:ext cx="2751341" cy="287134"/>
          </a:xfrm>
          <a:prstGeom prst="rect">
            <a:avLst/>
          </a:prstGeom>
        </p:spPr>
      </p:pic>
      <p:grpSp>
        <p:nvGrpSpPr>
          <p:cNvPr id="7" name="Группа 6">
            <a:extLst>
              <a:ext uri="{FF2B5EF4-FFF2-40B4-BE49-F238E27FC236}">
                <a16:creationId xmlns:a16="http://schemas.microsoft.com/office/drawing/2014/main" id="{3B5103A2-FE48-41C1-B0BB-0E228A47A1F5}"/>
              </a:ext>
            </a:extLst>
          </p:cNvPr>
          <p:cNvGrpSpPr/>
          <p:nvPr/>
        </p:nvGrpSpPr>
        <p:grpSpPr>
          <a:xfrm>
            <a:off x="8115137" y="843760"/>
            <a:ext cx="3667560" cy="3806542"/>
            <a:chOff x="12599148" y="-2135310"/>
            <a:chExt cx="3667560" cy="2575739"/>
          </a:xfrm>
        </p:grpSpPr>
        <p:pic>
          <p:nvPicPr>
            <p:cNvPr id="17" name="Picture 16">
              <a:extLst>
                <a:ext uri="{FF2B5EF4-FFF2-40B4-BE49-F238E27FC236}">
                  <a16:creationId xmlns:a16="http://schemas.microsoft.com/office/drawing/2014/main" id="{52557976-55E9-492C-A424-BC5081E9415E}"/>
                </a:ext>
              </a:extLst>
            </p:cNvPr>
            <p:cNvPicPr>
              <a:picLocks noChangeAspect="1"/>
            </p:cNvPicPr>
            <p:nvPr/>
          </p:nvPicPr>
          <p:blipFill>
            <a:blip r:embed="rId10"/>
            <a:stretch>
              <a:fillRect/>
            </a:stretch>
          </p:blipFill>
          <p:spPr>
            <a:xfrm>
              <a:off x="12672989" y="-1858422"/>
              <a:ext cx="3453363" cy="2298851"/>
            </a:xfrm>
            <a:prstGeom prst="rect">
              <a:avLst/>
            </a:prstGeom>
          </p:spPr>
        </p:pic>
        <p:sp>
          <p:nvSpPr>
            <p:cNvPr id="23" name="TextBox 22">
              <a:extLst>
                <a:ext uri="{FF2B5EF4-FFF2-40B4-BE49-F238E27FC236}">
                  <a16:creationId xmlns:a16="http://schemas.microsoft.com/office/drawing/2014/main" id="{7DA503C6-9754-4A52-B3EA-B6DB7FF9B0A8}"/>
                </a:ext>
              </a:extLst>
            </p:cNvPr>
            <p:cNvSpPr txBox="1"/>
            <p:nvPr/>
          </p:nvSpPr>
          <p:spPr>
            <a:xfrm>
              <a:off x="12599148" y="-2135310"/>
              <a:ext cx="3667560" cy="249913"/>
            </a:xfrm>
            <a:prstGeom prst="rect">
              <a:avLst/>
            </a:prstGeom>
            <a:noFill/>
          </p:spPr>
          <p:txBody>
            <a:bodyPr wrap="square">
              <a:spAutoFit/>
            </a:bodyPr>
            <a:lstStyle/>
            <a:p>
              <a:r>
                <a:rPr lang="en-US" b="1" dirty="0"/>
                <a:t>Multiplication (</a:t>
              </a:r>
              <a:r>
                <a:rPr lang="en-US" b="1" dirty="0" err="1"/>
                <a:t>ct</a:t>
              </a:r>
              <a:r>
                <a:rPr lang="en-US" b="1" dirty="0"/>
                <a:t>, </a:t>
              </a:r>
              <a:r>
                <a:rPr lang="en-US" b="1" dirty="0" err="1"/>
                <a:t>pt</a:t>
              </a:r>
              <a:r>
                <a:rPr lang="en-US" b="1" dirty="0"/>
                <a:t>) example</a:t>
              </a:r>
              <a:endParaRPr lang="en-US" dirty="0"/>
            </a:p>
          </p:txBody>
        </p:sp>
      </p:grpSp>
      <p:sp>
        <p:nvSpPr>
          <p:cNvPr id="29" name="TextBox 28">
            <a:extLst>
              <a:ext uri="{FF2B5EF4-FFF2-40B4-BE49-F238E27FC236}">
                <a16:creationId xmlns:a16="http://schemas.microsoft.com/office/drawing/2014/main" id="{775C2B25-58D3-46C8-9C8E-4C1FF84FB316}"/>
              </a:ext>
            </a:extLst>
          </p:cNvPr>
          <p:cNvSpPr txBox="1"/>
          <p:nvPr/>
        </p:nvSpPr>
        <p:spPr>
          <a:xfrm>
            <a:off x="191032" y="6598447"/>
            <a:ext cx="3282435" cy="261610"/>
          </a:xfrm>
          <a:prstGeom prst="rect">
            <a:avLst/>
          </a:prstGeom>
          <a:noFill/>
        </p:spPr>
        <p:txBody>
          <a:bodyPr wrap="square">
            <a:spAutoFit/>
          </a:bodyPr>
          <a:lstStyle/>
          <a:p>
            <a:r>
              <a:rPr lang="en-US" sz="1100" dirty="0"/>
              <a:t>BFV: </a:t>
            </a:r>
            <a:r>
              <a:rPr lang="en-US" sz="1100" dirty="0">
                <a:hlinkClick r:id="rId11"/>
              </a:rPr>
              <a:t>https://eprint.iacr.org/2012/144.pdf</a:t>
            </a:r>
            <a:r>
              <a:rPr lang="en-US" sz="1100" dirty="0"/>
              <a:t> </a:t>
            </a:r>
          </a:p>
        </p:txBody>
      </p:sp>
      <p:grpSp>
        <p:nvGrpSpPr>
          <p:cNvPr id="18" name="Группа 17">
            <a:extLst>
              <a:ext uri="{FF2B5EF4-FFF2-40B4-BE49-F238E27FC236}">
                <a16:creationId xmlns:a16="http://schemas.microsoft.com/office/drawing/2014/main" id="{68498DC0-7D77-4761-8929-DFF47601B42F}"/>
              </a:ext>
            </a:extLst>
          </p:cNvPr>
          <p:cNvGrpSpPr/>
          <p:nvPr/>
        </p:nvGrpSpPr>
        <p:grpSpPr>
          <a:xfrm>
            <a:off x="549659" y="841295"/>
            <a:ext cx="3791998" cy="2305803"/>
            <a:chOff x="549659" y="841295"/>
            <a:chExt cx="3791998" cy="2305803"/>
          </a:xfrm>
        </p:grpSpPr>
        <p:sp>
          <p:nvSpPr>
            <p:cNvPr id="31" name="TextBox 30">
              <a:extLst>
                <a:ext uri="{FF2B5EF4-FFF2-40B4-BE49-F238E27FC236}">
                  <a16:creationId xmlns:a16="http://schemas.microsoft.com/office/drawing/2014/main" id="{F44606FD-1792-48B3-B702-755AB311D008}"/>
                </a:ext>
              </a:extLst>
            </p:cNvPr>
            <p:cNvSpPr txBox="1"/>
            <p:nvPr/>
          </p:nvSpPr>
          <p:spPr>
            <a:xfrm>
              <a:off x="549659" y="841295"/>
              <a:ext cx="2832148" cy="294807"/>
            </a:xfrm>
            <a:prstGeom prst="rect">
              <a:avLst/>
            </a:prstGeom>
            <a:noFill/>
          </p:spPr>
          <p:txBody>
            <a:bodyPr wrap="square">
              <a:spAutoFit/>
            </a:bodyPr>
            <a:lstStyle/>
            <a:p>
              <a:r>
                <a:rPr lang="en-US" b="1" dirty="0" err="1"/>
                <a:t>FV.SH.Add</a:t>
              </a:r>
              <a:r>
                <a:rPr lang="en-US" b="1" dirty="0"/>
                <a:t>(</a:t>
              </a:r>
              <a:r>
                <a:rPr lang="en-US" b="1" dirty="0" err="1"/>
                <a:t>ct</a:t>
              </a:r>
              <a:r>
                <a:rPr lang="en-US" b="1" dirty="0"/>
                <a:t>, </a:t>
              </a:r>
              <a:r>
                <a:rPr lang="en-US" b="1" dirty="0" err="1"/>
                <a:t>pt</a:t>
              </a:r>
              <a:r>
                <a:rPr lang="en-US" b="1" dirty="0"/>
                <a:t>)</a:t>
              </a:r>
              <a:endParaRPr lang="en-US" b="1" baseline="30000" dirty="0"/>
            </a:p>
          </p:txBody>
        </p:sp>
        <p:pic>
          <p:nvPicPr>
            <p:cNvPr id="15" name="Рисунок 14">
              <a:extLst>
                <a:ext uri="{FF2B5EF4-FFF2-40B4-BE49-F238E27FC236}">
                  <a16:creationId xmlns:a16="http://schemas.microsoft.com/office/drawing/2014/main" id="{90A1C5A3-24FD-4E2F-849C-B4BABF215CF4}"/>
                </a:ext>
              </a:extLst>
            </p:cNvPr>
            <p:cNvPicPr>
              <a:picLocks noChangeAspect="1"/>
            </p:cNvPicPr>
            <p:nvPr/>
          </p:nvPicPr>
          <p:blipFill>
            <a:blip r:embed="rId12"/>
            <a:stretch>
              <a:fillRect/>
            </a:stretch>
          </p:blipFill>
          <p:spPr>
            <a:xfrm>
              <a:off x="566873" y="1252957"/>
              <a:ext cx="3774784" cy="1894141"/>
            </a:xfrm>
            <a:prstGeom prst="rect">
              <a:avLst/>
            </a:prstGeom>
          </p:spPr>
        </p:pic>
      </p:grpSp>
      <p:sp>
        <p:nvSpPr>
          <p:cNvPr id="39" name="TextBox 38">
            <a:extLst>
              <a:ext uri="{FF2B5EF4-FFF2-40B4-BE49-F238E27FC236}">
                <a16:creationId xmlns:a16="http://schemas.microsoft.com/office/drawing/2014/main" id="{1B580E96-673B-4632-8A65-8930F2E29A79}"/>
              </a:ext>
            </a:extLst>
          </p:cNvPr>
          <p:cNvSpPr txBox="1"/>
          <p:nvPr/>
        </p:nvSpPr>
        <p:spPr>
          <a:xfrm>
            <a:off x="6513632" y="857614"/>
            <a:ext cx="425467" cy="369332"/>
          </a:xfrm>
          <a:prstGeom prst="rect">
            <a:avLst/>
          </a:prstGeom>
          <a:noFill/>
        </p:spPr>
        <p:txBody>
          <a:bodyPr wrap="square">
            <a:spAutoFit/>
          </a:bodyPr>
          <a:lstStyle/>
          <a:p>
            <a:r>
              <a:rPr lang="en-US" b="1" dirty="0"/>
              <a:t>!!!</a:t>
            </a:r>
            <a:endParaRPr lang="en-US" dirty="0"/>
          </a:p>
        </p:txBody>
      </p:sp>
      <p:grpSp>
        <p:nvGrpSpPr>
          <p:cNvPr id="20" name="Группа 19">
            <a:extLst>
              <a:ext uri="{FF2B5EF4-FFF2-40B4-BE49-F238E27FC236}">
                <a16:creationId xmlns:a16="http://schemas.microsoft.com/office/drawing/2014/main" id="{4F0F246D-F641-4411-AD22-E0660C71E504}"/>
              </a:ext>
            </a:extLst>
          </p:cNvPr>
          <p:cNvGrpSpPr/>
          <p:nvPr/>
        </p:nvGrpSpPr>
        <p:grpSpPr>
          <a:xfrm>
            <a:off x="549659" y="4299749"/>
            <a:ext cx="3791998" cy="1632234"/>
            <a:chOff x="549659" y="3177649"/>
            <a:chExt cx="3791998" cy="1632234"/>
          </a:xfrm>
        </p:grpSpPr>
        <p:pic>
          <p:nvPicPr>
            <p:cNvPr id="6" name="Picture 5">
              <a:extLst>
                <a:ext uri="{FF2B5EF4-FFF2-40B4-BE49-F238E27FC236}">
                  <a16:creationId xmlns:a16="http://schemas.microsoft.com/office/drawing/2014/main" id="{9E5ADA5F-5648-4FDD-8429-7667EC6705A6}"/>
                </a:ext>
              </a:extLst>
            </p:cNvPr>
            <p:cNvPicPr>
              <a:picLocks noChangeAspect="1"/>
            </p:cNvPicPr>
            <p:nvPr/>
          </p:nvPicPr>
          <p:blipFill>
            <a:blip r:embed="rId13"/>
            <a:stretch>
              <a:fillRect/>
            </a:stretch>
          </p:blipFill>
          <p:spPr>
            <a:xfrm>
              <a:off x="566873" y="3592925"/>
              <a:ext cx="3774784" cy="1216958"/>
            </a:xfrm>
            <a:prstGeom prst="rect">
              <a:avLst/>
            </a:prstGeom>
          </p:spPr>
        </p:pic>
        <p:sp>
          <p:nvSpPr>
            <p:cNvPr id="40" name="TextBox 39">
              <a:extLst>
                <a:ext uri="{FF2B5EF4-FFF2-40B4-BE49-F238E27FC236}">
                  <a16:creationId xmlns:a16="http://schemas.microsoft.com/office/drawing/2014/main" id="{0ADA86C9-B2AB-4A45-92EB-05198CC35BD8}"/>
                </a:ext>
              </a:extLst>
            </p:cNvPr>
            <p:cNvSpPr txBox="1"/>
            <p:nvPr/>
          </p:nvSpPr>
          <p:spPr>
            <a:xfrm>
              <a:off x="549659" y="3177649"/>
              <a:ext cx="3667560" cy="369332"/>
            </a:xfrm>
            <a:prstGeom prst="rect">
              <a:avLst/>
            </a:prstGeom>
            <a:noFill/>
          </p:spPr>
          <p:txBody>
            <a:bodyPr wrap="square">
              <a:spAutoFit/>
            </a:bodyPr>
            <a:lstStyle/>
            <a:p>
              <a:r>
                <a:rPr lang="en-US" b="1" dirty="0"/>
                <a:t>Addition (</a:t>
              </a:r>
              <a:r>
                <a:rPr lang="en-US" b="1" dirty="0" err="1"/>
                <a:t>ct</a:t>
              </a:r>
              <a:r>
                <a:rPr lang="en-US" b="1" dirty="0"/>
                <a:t>, </a:t>
              </a:r>
              <a:r>
                <a:rPr lang="en-US" b="1" dirty="0" err="1"/>
                <a:t>pt</a:t>
              </a:r>
              <a:r>
                <a:rPr lang="en-US" b="1" dirty="0"/>
                <a:t>) example</a:t>
              </a:r>
              <a:endParaRPr lang="en-US" dirty="0"/>
            </a:p>
          </p:txBody>
        </p:sp>
      </p:grpSp>
      <p:grpSp>
        <p:nvGrpSpPr>
          <p:cNvPr id="24" name="Группа 23">
            <a:extLst>
              <a:ext uri="{FF2B5EF4-FFF2-40B4-BE49-F238E27FC236}">
                <a16:creationId xmlns:a16="http://schemas.microsoft.com/office/drawing/2014/main" id="{E9DBCDD7-C22C-4719-8B47-6A138DFA6BED}"/>
              </a:ext>
            </a:extLst>
          </p:cNvPr>
          <p:cNvGrpSpPr/>
          <p:nvPr/>
        </p:nvGrpSpPr>
        <p:grpSpPr>
          <a:xfrm>
            <a:off x="509781" y="3263953"/>
            <a:ext cx="3831877" cy="836465"/>
            <a:chOff x="509781" y="3121673"/>
            <a:chExt cx="3831877" cy="836465"/>
          </a:xfrm>
        </p:grpSpPr>
        <p:pic>
          <p:nvPicPr>
            <p:cNvPr id="22" name="Рисунок 21">
              <a:extLst>
                <a:ext uri="{FF2B5EF4-FFF2-40B4-BE49-F238E27FC236}">
                  <a16:creationId xmlns:a16="http://schemas.microsoft.com/office/drawing/2014/main" id="{0CE68443-1BBC-4536-AD48-EC289D296468}"/>
                </a:ext>
              </a:extLst>
            </p:cNvPr>
            <p:cNvPicPr>
              <a:picLocks noChangeAspect="1"/>
            </p:cNvPicPr>
            <p:nvPr/>
          </p:nvPicPr>
          <p:blipFill>
            <a:blip r:embed="rId14"/>
            <a:stretch>
              <a:fillRect/>
            </a:stretch>
          </p:blipFill>
          <p:spPr>
            <a:xfrm>
              <a:off x="566874" y="3465580"/>
              <a:ext cx="3774784" cy="492558"/>
            </a:xfrm>
            <a:prstGeom prst="rect">
              <a:avLst/>
            </a:prstGeom>
          </p:spPr>
        </p:pic>
        <p:sp>
          <p:nvSpPr>
            <p:cNvPr id="41" name="TextBox 40">
              <a:extLst>
                <a:ext uri="{FF2B5EF4-FFF2-40B4-BE49-F238E27FC236}">
                  <a16:creationId xmlns:a16="http://schemas.microsoft.com/office/drawing/2014/main" id="{CBB33ADA-6A4C-43AD-8B9E-EE80813B672D}"/>
                </a:ext>
              </a:extLst>
            </p:cNvPr>
            <p:cNvSpPr txBox="1"/>
            <p:nvPr/>
          </p:nvSpPr>
          <p:spPr>
            <a:xfrm>
              <a:off x="509781" y="3121673"/>
              <a:ext cx="1944484" cy="369332"/>
            </a:xfrm>
            <a:prstGeom prst="rect">
              <a:avLst/>
            </a:prstGeom>
            <a:noFill/>
          </p:spPr>
          <p:txBody>
            <a:bodyPr wrap="square">
              <a:spAutoFit/>
            </a:bodyPr>
            <a:lstStyle/>
            <a:p>
              <a:r>
                <a:rPr lang="en-US" b="1" dirty="0"/>
                <a:t>Decryption circuit:</a:t>
              </a:r>
              <a:endParaRPr lang="en-US" dirty="0"/>
            </a:p>
          </p:txBody>
        </p:sp>
      </p:grpSp>
      <p:grpSp>
        <p:nvGrpSpPr>
          <p:cNvPr id="47" name="Группа 46">
            <a:extLst>
              <a:ext uri="{FF2B5EF4-FFF2-40B4-BE49-F238E27FC236}">
                <a16:creationId xmlns:a16="http://schemas.microsoft.com/office/drawing/2014/main" id="{EDD5B941-202B-4918-9A53-A2DEADD59048}"/>
              </a:ext>
            </a:extLst>
          </p:cNvPr>
          <p:cNvGrpSpPr/>
          <p:nvPr/>
        </p:nvGrpSpPr>
        <p:grpSpPr>
          <a:xfrm>
            <a:off x="4504829" y="841295"/>
            <a:ext cx="3520976" cy="1609978"/>
            <a:chOff x="4504829" y="841295"/>
            <a:chExt cx="3520976" cy="1609978"/>
          </a:xfrm>
        </p:grpSpPr>
        <p:sp>
          <p:nvSpPr>
            <p:cNvPr id="32" name="TextBox 31">
              <a:extLst>
                <a:ext uri="{FF2B5EF4-FFF2-40B4-BE49-F238E27FC236}">
                  <a16:creationId xmlns:a16="http://schemas.microsoft.com/office/drawing/2014/main" id="{31A88B41-63D7-468C-A72E-E1A3D505258B}"/>
                </a:ext>
              </a:extLst>
            </p:cNvPr>
            <p:cNvSpPr txBox="1"/>
            <p:nvPr/>
          </p:nvSpPr>
          <p:spPr>
            <a:xfrm>
              <a:off x="4509647" y="841295"/>
              <a:ext cx="1911917" cy="369332"/>
            </a:xfrm>
            <a:prstGeom prst="rect">
              <a:avLst/>
            </a:prstGeom>
            <a:noFill/>
          </p:spPr>
          <p:txBody>
            <a:bodyPr wrap="square">
              <a:spAutoFit/>
            </a:bodyPr>
            <a:lstStyle/>
            <a:p>
              <a:r>
                <a:rPr lang="en-US" b="1" dirty="0" err="1"/>
                <a:t>FV.SH.Mul</a:t>
              </a:r>
              <a:r>
                <a:rPr lang="en-US" b="1" dirty="0"/>
                <a:t>(</a:t>
              </a:r>
              <a:r>
                <a:rPr lang="en-US" b="1" dirty="0" err="1"/>
                <a:t>ct</a:t>
              </a:r>
              <a:r>
                <a:rPr lang="en-US" b="1" dirty="0"/>
                <a:t>, </a:t>
              </a:r>
              <a:r>
                <a:rPr lang="en-US" b="1" dirty="0" err="1"/>
                <a:t>pt</a:t>
              </a:r>
              <a:r>
                <a:rPr lang="en-US" b="1" dirty="0"/>
                <a:t>) </a:t>
              </a:r>
              <a:endParaRPr lang="en-US" b="1" baseline="30000" dirty="0"/>
            </a:p>
          </p:txBody>
        </p:sp>
        <p:pic>
          <p:nvPicPr>
            <p:cNvPr id="27" name="Рисунок 26">
              <a:extLst>
                <a:ext uri="{FF2B5EF4-FFF2-40B4-BE49-F238E27FC236}">
                  <a16:creationId xmlns:a16="http://schemas.microsoft.com/office/drawing/2014/main" id="{A9210111-1078-40CE-9C78-205B4C9007CA}"/>
                </a:ext>
              </a:extLst>
            </p:cNvPr>
            <p:cNvPicPr>
              <a:picLocks noChangeAspect="1"/>
            </p:cNvPicPr>
            <p:nvPr/>
          </p:nvPicPr>
          <p:blipFill>
            <a:blip r:embed="rId15"/>
            <a:stretch>
              <a:fillRect/>
            </a:stretch>
          </p:blipFill>
          <p:spPr>
            <a:xfrm>
              <a:off x="4504829" y="1252957"/>
              <a:ext cx="3520976" cy="1198316"/>
            </a:xfrm>
            <a:prstGeom prst="rect">
              <a:avLst/>
            </a:prstGeom>
          </p:spPr>
        </p:pic>
      </p:grpSp>
      <p:pic>
        <p:nvPicPr>
          <p:cNvPr id="42" name="Рисунок 41">
            <a:extLst>
              <a:ext uri="{FF2B5EF4-FFF2-40B4-BE49-F238E27FC236}">
                <a16:creationId xmlns:a16="http://schemas.microsoft.com/office/drawing/2014/main" id="{7A59BF67-112B-4B14-9AF8-A2019151DC5D}"/>
              </a:ext>
            </a:extLst>
          </p:cNvPr>
          <p:cNvPicPr>
            <a:picLocks noChangeAspect="1"/>
          </p:cNvPicPr>
          <p:nvPr/>
        </p:nvPicPr>
        <p:blipFill>
          <a:blip r:embed="rId16"/>
          <a:stretch>
            <a:fillRect/>
          </a:stretch>
        </p:blipFill>
        <p:spPr>
          <a:xfrm>
            <a:off x="4504829" y="2451273"/>
            <a:ext cx="3520976" cy="1126122"/>
          </a:xfrm>
          <a:prstGeom prst="rect">
            <a:avLst/>
          </a:prstGeom>
        </p:spPr>
      </p:pic>
      <p:pic>
        <p:nvPicPr>
          <p:cNvPr id="44" name="Рисунок 43">
            <a:extLst>
              <a:ext uri="{FF2B5EF4-FFF2-40B4-BE49-F238E27FC236}">
                <a16:creationId xmlns:a16="http://schemas.microsoft.com/office/drawing/2014/main" id="{B8DD8B88-BA7B-4C77-9723-77CD444BD628}"/>
              </a:ext>
            </a:extLst>
          </p:cNvPr>
          <p:cNvPicPr>
            <a:picLocks noChangeAspect="1"/>
          </p:cNvPicPr>
          <p:nvPr/>
        </p:nvPicPr>
        <p:blipFill>
          <a:blip r:embed="rId17"/>
          <a:stretch>
            <a:fillRect/>
          </a:stretch>
        </p:blipFill>
        <p:spPr>
          <a:xfrm>
            <a:off x="4504829" y="3574441"/>
            <a:ext cx="3520976" cy="943466"/>
          </a:xfrm>
          <a:prstGeom prst="rect">
            <a:avLst/>
          </a:prstGeom>
        </p:spPr>
      </p:pic>
      <p:grpSp>
        <p:nvGrpSpPr>
          <p:cNvPr id="48" name="Группа 47">
            <a:extLst>
              <a:ext uri="{FF2B5EF4-FFF2-40B4-BE49-F238E27FC236}">
                <a16:creationId xmlns:a16="http://schemas.microsoft.com/office/drawing/2014/main" id="{0B77FC58-7D56-42FA-88A8-3B3722F87CD7}"/>
              </a:ext>
            </a:extLst>
          </p:cNvPr>
          <p:cNvGrpSpPr/>
          <p:nvPr/>
        </p:nvGrpSpPr>
        <p:grpSpPr>
          <a:xfrm>
            <a:off x="4477081" y="4602523"/>
            <a:ext cx="3563403" cy="1972147"/>
            <a:chOff x="4477081" y="4602523"/>
            <a:chExt cx="3563403" cy="1972147"/>
          </a:xfrm>
        </p:grpSpPr>
        <p:pic>
          <p:nvPicPr>
            <p:cNvPr id="46" name="Рисунок 45">
              <a:extLst>
                <a:ext uri="{FF2B5EF4-FFF2-40B4-BE49-F238E27FC236}">
                  <a16:creationId xmlns:a16="http://schemas.microsoft.com/office/drawing/2014/main" id="{269BEF87-6B7D-4947-B77B-BE45904106BE}"/>
                </a:ext>
              </a:extLst>
            </p:cNvPr>
            <p:cNvPicPr>
              <a:picLocks noChangeAspect="1"/>
            </p:cNvPicPr>
            <p:nvPr/>
          </p:nvPicPr>
          <p:blipFill>
            <a:blip r:embed="rId18"/>
            <a:stretch>
              <a:fillRect/>
            </a:stretch>
          </p:blipFill>
          <p:spPr>
            <a:xfrm>
              <a:off x="4519508" y="5010832"/>
              <a:ext cx="3520976" cy="1563838"/>
            </a:xfrm>
            <a:prstGeom prst="rect">
              <a:avLst/>
            </a:prstGeom>
          </p:spPr>
        </p:pic>
        <p:sp>
          <p:nvSpPr>
            <p:cNvPr id="50" name="TextBox 49">
              <a:extLst>
                <a:ext uri="{FF2B5EF4-FFF2-40B4-BE49-F238E27FC236}">
                  <a16:creationId xmlns:a16="http://schemas.microsoft.com/office/drawing/2014/main" id="{B2583D64-2ED4-4B31-BD3F-133BCF3B79D0}"/>
                </a:ext>
              </a:extLst>
            </p:cNvPr>
            <p:cNvSpPr txBox="1"/>
            <p:nvPr/>
          </p:nvSpPr>
          <p:spPr>
            <a:xfrm>
              <a:off x="4477081" y="4602523"/>
              <a:ext cx="1944484" cy="369332"/>
            </a:xfrm>
            <a:prstGeom prst="rect">
              <a:avLst/>
            </a:prstGeom>
            <a:noFill/>
          </p:spPr>
          <p:txBody>
            <a:bodyPr wrap="square">
              <a:spAutoFit/>
            </a:bodyPr>
            <a:lstStyle/>
            <a:p>
              <a:r>
                <a:rPr lang="en-US" b="1" dirty="0"/>
                <a:t>Decryption circuit:</a:t>
              </a:r>
              <a:endParaRPr lang="en-US" dirty="0"/>
            </a:p>
          </p:txBody>
        </p:sp>
      </p:grpSp>
    </p:spTree>
    <p:extLst>
      <p:ext uri="{BB962C8B-B14F-4D97-AF65-F5344CB8AC3E}">
        <p14:creationId xmlns:p14="http://schemas.microsoft.com/office/powerpoint/2010/main" val="107324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5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500"/>
                                        <p:tgtEl>
                                          <p:spTgt spid="4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(B)FV.SHE Scheme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pic>
        <p:nvPicPr>
          <p:cNvPr id="11" name="Рисунок 10">
            <a:extLst>
              <a:ext uri="{FF2B5EF4-FFF2-40B4-BE49-F238E27FC236}">
                <a16:creationId xmlns:a16="http://schemas.microsoft.com/office/drawing/2014/main" id="{54F672B4-55DF-4CFA-B731-C6B55F27CB16}"/>
              </a:ext>
            </a:extLst>
          </p:cNvPr>
          <p:cNvPicPr>
            <a:picLocks noChangeAspect="1"/>
          </p:cNvPicPr>
          <p:nvPr/>
        </p:nvPicPr>
        <p:blipFill>
          <a:blip r:embed="rId4"/>
          <a:stretch>
            <a:fillRect/>
          </a:stretch>
        </p:blipFill>
        <p:spPr>
          <a:xfrm>
            <a:off x="536671" y="1509296"/>
            <a:ext cx="4454709" cy="249464"/>
          </a:xfrm>
          <a:prstGeom prst="rect">
            <a:avLst/>
          </a:prstGeom>
        </p:spPr>
      </p:pic>
      <p:pic>
        <p:nvPicPr>
          <p:cNvPr id="18" name="Рисунок 17">
            <a:extLst>
              <a:ext uri="{FF2B5EF4-FFF2-40B4-BE49-F238E27FC236}">
                <a16:creationId xmlns:a16="http://schemas.microsoft.com/office/drawing/2014/main" id="{E6896B70-0848-4149-B189-51720FBDC3FA}"/>
              </a:ext>
            </a:extLst>
          </p:cNvPr>
          <p:cNvPicPr>
            <a:picLocks noChangeAspect="1"/>
          </p:cNvPicPr>
          <p:nvPr/>
        </p:nvPicPr>
        <p:blipFill>
          <a:blip r:embed="rId5"/>
          <a:stretch>
            <a:fillRect/>
          </a:stretch>
        </p:blipFill>
        <p:spPr>
          <a:xfrm>
            <a:off x="566367" y="2039549"/>
            <a:ext cx="5061861" cy="1008542"/>
          </a:xfrm>
          <a:prstGeom prst="rect">
            <a:avLst/>
          </a:prstGeom>
        </p:spPr>
      </p:pic>
      <p:pic>
        <p:nvPicPr>
          <p:cNvPr id="22" name="Рисунок 21">
            <a:extLst>
              <a:ext uri="{FF2B5EF4-FFF2-40B4-BE49-F238E27FC236}">
                <a16:creationId xmlns:a16="http://schemas.microsoft.com/office/drawing/2014/main" id="{DDCFDF0A-E7FD-41CB-9E61-6844CEE92CD2}"/>
              </a:ext>
            </a:extLst>
          </p:cNvPr>
          <p:cNvPicPr>
            <a:picLocks noChangeAspect="1"/>
          </p:cNvPicPr>
          <p:nvPr/>
        </p:nvPicPr>
        <p:blipFill>
          <a:blip r:embed="rId6"/>
          <a:stretch>
            <a:fillRect/>
          </a:stretch>
        </p:blipFill>
        <p:spPr>
          <a:xfrm>
            <a:off x="566368" y="3040595"/>
            <a:ext cx="5061862" cy="934791"/>
          </a:xfrm>
          <a:prstGeom prst="rect">
            <a:avLst/>
          </a:prstGeom>
        </p:spPr>
      </p:pic>
      <p:pic>
        <p:nvPicPr>
          <p:cNvPr id="25" name="Рисунок 24">
            <a:extLst>
              <a:ext uri="{FF2B5EF4-FFF2-40B4-BE49-F238E27FC236}">
                <a16:creationId xmlns:a16="http://schemas.microsoft.com/office/drawing/2014/main" id="{B6ECC8B0-8EFD-4689-85EF-4D9956AAE120}"/>
              </a:ext>
            </a:extLst>
          </p:cNvPr>
          <p:cNvPicPr>
            <a:picLocks noChangeAspect="1"/>
          </p:cNvPicPr>
          <p:nvPr/>
        </p:nvPicPr>
        <p:blipFill>
          <a:blip r:embed="rId7"/>
          <a:stretch>
            <a:fillRect/>
          </a:stretch>
        </p:blipFill>
        <p:spPr>
          <a:xfrm>
            <a:off x="566368" y="3975386"/>
            <a:ext cx="5061864" cy="900999"/>
          </a:xfrm>
          <a:prstGeom prst="rect">
            <a:avLst/>
          </a:prstGeom>
        </p:spPr>
      </p:pic>
      <p:pic>
        <p:nvPicPr>
          <p:cNvPr id="27" name="Рисунок 26">
            <a:extLst>
              <a:ext uri="{FF2B5EF4-FFF2-40B4-BE49-F238E27FC236}">
                <a16:creationId xmlns:a16="http://schemas.microsoft.com/office/drawing/2014/main" id="{4F9E3A5C-BF88-4064-A3E4-98F386ED4F34}"/>
              </a:ext>
            </a:extLst>
          </p:cNvPr>
          <p:cNvPicPr>
            <a:picLocks noChangeAspect="1"/>
          </p:cNvPicPr>
          <p:nvPr/>
        </p:nvPicPr>
        <p:blipFill>
          <a:blip r:embed="rId8"/>
          <a:stretch>
            <a:fillRect/>
          </a:stretch>
        </p:blipFill>
        <p:spPr>
          <a:xfrm>
            <a:off x="566369" y="4876385"/>
            <a:ext cx="5061861" cy="1027860"/>
          </a:xfrm>
          <a:prstGeom prst="rect">
            <a:avLst/>
          </a:prstGeom>
        </p:spPr>
      </p:pic>
      <p:pic>
        <p:nvPicPr>
          <p:cNvPr id="29" name="Рисунок 28">
            <a:extLst>
              <a:ext uri="{FF2B5EF4-FFF2-40B4-BE49-F238E27FC236}">
                <a16:creationId xmlns:a16="http://schemas.microsoft.com/office/drawing/2014/main" id="{A0C3AAF0-47E7-4EE5-9D93-9417F1B38F53}"/>
              </a:ext>
            </a:extLst>
          </p:cNvPr>
          <p:cNvPicPr>
            <a:picLocks noChangeAspect="1"/>
          </p:cNvPicPr>
          <p:nvPr/>
        </p:nvPicPr>
        <p:blipFill>
          <a:blip r:embed="rId9"/>
          <a:stretch>
            <a:fillRect/>
          </a:stretch>
        </p:blipFill>
        <p:spPr>
          <a:xfrm>
            <a:off x="6269234" y="2032682"/>
            <a:ext cx="5326449" cy="721211"/>
          </a:xfrm>
          <a:prstGeom prst="rect">
            <a:avLst/>
          </a:prstGeom>
        </p:spPr>
      </p:pic>
      <p:pic>
        <p:nvPicPr>
          <p:cNvPr id="38" name="Рисунок 37">
            <a:extLst>
              <a:ext uri="{FF2B5EF4-FFF2-40B4-BE49-F238E27FC236}">
                <a16:creationId xmlns:a16="http://schemas.microsoft.com/office/drawing/2014/main" id="{02914471-9040-4810-9666-851D04FC80B4}"/>
              </a:ext>
            </a:extLst>
          </p:cNvPr>
          <p:cNvPicPr>
            <a:picLocks noChangeAspect="1"/>
          </p:cNvPicPr>
          <p:nvPr/>
        </p:nvPicPr>
        <p:blipFill>
          <a:blip r:embed="rId10"/>
          <a:stretch>
            <a:fillRect/>
          </a:stretch>
        </p:blipFill>
        <p:spPr>
          <a:xfrm>
            <a:off x="6269234" y="2753893"/>
            <a:ext cx="5326455" cy="1021718"/>
          </a:xfrm>
          <a:prstGeom prst="rect">
            <a:avLst/>
          </a:prstGeom>
        </p:spPr>
      </p:pic>
      <p:pic>
        <p:nvPicPr>
          <p:cNvPr id="40" name="Рисунок 39">
            <a:extLst>
              <a:ext uri="{FF2B5EF4-FFF2-40B4-BE49-F238E27FC236}">
                <a16:creationId xmlns:a16="http://schemas.microsoft.com/office/drawing/2014/main" id="{93E03C8B-E0CB-4D00-BB5D-C931C85D48C7}"/>
              </a:ext>
            </a:extLst>
          </p:cNvPr>
          <p:cNvPicPr>
            <a:picLocks noChangeAspect="1"/>
          </p:cNvPicPr>
          <p:nvPr/>
        </p:nvPicPr>
        <p:blipFill>
          <a:blip r:embed="rId11"/>
          <a:stretch>
            <a:fillRect/>
          </a:stretch>
        </p:blipFill>
        <p:spPr>
          <a:xfrm>
            <a:off x="6269234" y="3775611"/>
            <a:ext cx="5326453" cy="1315083"/>
          </a:xfrm>
          <a:prstGeom prst="rect">
            <a:avLst/>
          </a:prstGeom>
        </p:spPr>
      </p:pic>
      <p:pic>
        <p:nvPicPr>
          <p:cNvPr id="42" name="Рисунок 41">
            <a:extLst>
              <a:ext uri="{FF2B5EF4-FFF2-40B4-BE49-F238E27FC236}">
                <a16:creationId xmlns:a16="http://schemas.microsoft.com/office/drawing/2014/main" id="{F20BE36A-C5DB-4F07-973B-F34714D4613B}"/>
              </a:ext>
            </a:extLst>
          </p:cNvPr>
          <p:cNvPicPr>
            <a:picLocks noChangeAspect="1"/>
          </p:cNvPicPr>
          <p:nvPr/>
        </p:nvPicPr>
        <p:blipFill>
          <a:blip r:embed="rId12"/>
          <a:stretch>
            <a:fillRect/>
          </a:stretch>
        </p:blipFill>
        <p:spPr>
          <a:xfrm>
            <a:off x="6269234" y="5090694"/>
            <a:ext cx="5326452" cy="773552"/>
          </a:xfrm>
          <a:prstGeom prst="rect">
            <a:avLst/>
          </a:prstGeom>
        </p:spPr>
      </p:pic>
      <p:sp>
        <p:nvSpPr>
          <p:cNvPr id="28" name="TextBox 27">
            <a:extLst>
              <a:ext uri="{FF2B5EF4-FFF2-40B4-BE49-F238E27FC236}">
                <a16:creationId xmlns:a16="http://schemas.microsoft.com/office/drawing/2014/main" id="{C7C5C93D-A8CD-40AA-B2E2-F22CBBF89284}"/>
              </a:ext>
            </a:extLst>
          </p:cNvPr>
          <p:cNvSpPr txBox="1"/>
          <p:nvPr/>
        </p:nvSpPr>
        <p:spPr>
          <a:xfrm>
            <a:off x="6239537" y="1428246"/>
            <a:ext cx="1944484" cy="369332"/>
          </a:xfrm>
          <a:prstGeom prst="rect">
            <a:avLst/>
          </a:prstGeom>
          <a:noFill/>
        </p:spPr>
        <p:txBody>
          <a:bodyPr wrap="square">
            <a:spAutoFit/>
          </a:bodyPr>
          <a:lstStyle/>
          <a:p>
            <a:r>
              <a:rPr lang="en-US" b="1" dirty="0"/>
              <a:t>Decryption circuit:</a:t>
            </a:r>
            <a:endParaRPr lang="en-US" dirty="0"/>
          </a:p>
        </p:txBody>
      </p:sp>
      <p:sp>
        <p:nvSpPr>
          <p:cNvPr id="30" name="TextBox 29">
            <a:extLst>
              <a:ext uri="{FF2B5EF4-FFF2-40B4-BE49-F238E27FC236}">
                <a16:creationId xmlns:a16="http://schemas.microsoft.com/office/drawing/2014/main" id="{78850297-DC94-4222-B8EA-402AE9C96F2D}"/>
              </a:ext>
            </a:extLst>
          </p:cNvPr>
          <p:cNvSpPr txBox="1"/>
          <p:nvPr/>
        </p:nvSpPr>
        <p:spPr>
          <a:xfrm>
            <a:off x="4885508" y="1428246"/>
            <a:ext cx="444137" cy="369332"/>
          </a:xfrm>
          <a:prstGeom prst="rect">
            <a:avLst/>
          </a:prstGeom>
          <a:noFill/>
        </p:spPr>
        <p:txBody>
          <a:bodyPr wrap="square">
            <a:spAutoFit/>
          </a:bodyPr>
          <a:lstStyle/>
          <a:p>
            <a:r>
              <a:rPr lang="en-US" b="1" dirty="0"/>
              <a:t>!!!</a:t>
            </a:r>
            <a:endParaRPr lang="en-US" dirty="0"/>
          </a:p>
        </p:txBody>
      </p:sp>
    </p:spTree>
    <p:extLst>
      <p:ext uri="{BB962C8B-B14F-4D97-AF65-F5344CB8AC3E}">
        <p14:creationId xmlns:p14="http://schemas.microsoft.com/office/powerpoint/2010/main" val="1447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(B)FV.SHE Scheme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pic>
        <p:nvPicPr>
          <p:cNvPr id="3" name="Рисунок 2">
            <a:extLst>
              <a:ext uri="{FF2B5EF4-FFF2-40B4-BE49-F238E27FC236}">
                <a16:creationId xmlns:a16="http://schemas.microsoft.com/office/drawing/2014/main" id="{443D67E6-A45E-48AB-B840-EC65141522F6}"/>
              </a:ext>
            </a:extLst>
          </p:cNvPr>
          <p:cNvPicPr>
            <a:picLocks noChangeAspect="1"/>
          </p:cNvPicPr>
          <p:nvPr/>
        </p:nvPicPr>
        <p:blipFill>
          <a:blip r:embed="rId4"/>
          <a:stretch>
            <a:fillRect/>
          </a:stretch>
        </p:blipFill>
        <p:spPr>
          <a:xfrm>
            <a:off x="549659" y="2231412"/>
            <a:ext cx="3405224" cy="2667334"/>
          </a:xfrm>
          <a:prstGeom prst="rect">
            <a:avLst/>
          </a:prstGeom>
        </p:spPr>
      </p:pic>
      <p:pic>
        <p:nvPicPr>
          <p:cNvPr id="18" name="Picture 17">
            <a:extLst>
              <a:ext uri="{FF2B5EF4-FFF2-40B4-BE49-F238E27FC236}">
                <a16:creationId xmlns:a16="http://schemas.microsoft.com/office/drawing/2014/main" id="{EDAE3F5F-EE6A-43E3-A7E3-046BBC32E73A}"/>
              </a:ext>
            </a:extLst>
          </p:cNvPr>
          <p:cNvPicPr>
            <a:picLocks noChangeAspect="1"/>
          </p:cNvPicPr>
          <p:nvPr/>
        </p:nvPicPr>
        <p:blipFill>
          <a:blip r:embed="rId5"/>
          <a:stretch>
            <a:fillRect/>
          </a:stretch>
        </p:blipFill>
        <p:spPr>
          <a:xfrm>
            <a:off x="4292415" y="1464118"/>
            <a:ext cx="3405224" cy="2379554"/>
          </a:xfrm>
          <a:prstGeom prst="rect">
            <a:avLst/>
          </a:prstGeom>
        </p:spPr>
      </p:pic>
      <p:grpSp>
        <p:nvGrpSpPr>
          <p:cNvPr id="19" name="Group 18">
            <a:extLst>
              <a:ext uri="{FF2B5EF4-FFF2-40B4-BE49-F238E27FC236}">
                <a16:creationId xmlns:a16="http://schemas.microsoft.com/office/drawing/2014/main" id="{4B1CE6DF-A484-4221-A79B-CE284EB3AF7E}"/>
              </a:ext>
            </a:extLst>
          </p:cNvPr>
          <p:cNvGrpSpPr/>
          <p:nvPr/>
        </p:nvGrpSpPr>
        <p:grpSpPr>
          <a:xfrm>
            <a:off x="549659" y="1495974"/>
            <a:ext cx="3249930" cy="463281"/>
            <a:chOff x="3028950" y="3319463"/>
            <a:chExt cx="5876925" cy="837762"/>
          </a:xfrm>
        </p:grpSpPr>
        <p:pic>
          <p:nvPicPr>
            <p:cNvPr id="20" name="Picture 19">
              <a:extLst>
                <a:ext uri="{FF2B5EF4-FFF2-40B4-BE49-F238E27FC236}">
                  <a16:creationId xmlns:a16="http://schemas.microsoft.com/office/drawing/2014/main" id="{41A5622A-FD01-47F4-A97B-0DE73E12BC29}"/>
                </a:ext>
              </a:extLst>
            </p:cNvPr>
            <p:cNvPicPr>
              <a:picLocks noChangeAspect="1"/>
            </p:cNvPicPr>
            <p:nvPr/>
          </p:nvPicPr>
          <p:blipFill>
            <a:blip r:embed="rId6"/>
            <a:stretch>
              <a:fillRect/>
            </a:stretch>
          </p:blipFill>
          <p:spPr>
            <a:xfrm>
              <a:off x="3028950" y="3319463"/>
              <a:ext cx="5876925" cy="209890"/>
            </a:xfrm>
            <a:prstGeom prst="rect">
              <a:avLst/>
            </a:prstGeom>
          </p:spPr>
        </p:pic>
        <p:pic>
          <p:nvPicPr>
            <p:cNvPr id="21" name="Picture 20">
              <a:extLst>
                <a:ext uri="{FF2B5EF4-FFF2-40B4-BE49-F238E27FC236}">
                  <a16:creationId xmlns:a16="http://schemas.microsoft.com/office/drawing/2014/main" id="{4F23FC92-3921-4E33-9BF9-142A72681D07}"/>
                </a:ext>
              </a:extLst>
            </p:cNvPr>
            <p:cNvPicPr>
              <a:picLocks noChangeAspect="1"/>
            </p:cNvPicPr>
            <p:nvPr/>
          </p:nvPicPr>
          <p:blipFill>
            <a:blip r:embed="rId7"/>
            <a:stretch>
              <a:fillRect/>
            </a:stretch>
          </p:blipFill>
          <p:spPr>
            <a:xfrm>
              <a:off x="3028950" y="3519050"/>
              <a:ext cx="5876925" cy="638175"/>
            </a:xfrm>
            <a:prstGeom prst="rect">
              <a:avLst/>
            </a:prstGeom>
          </p:spPr>
        </p:pic>
      </p:grpSp>
      <p:pic>
        <p:nvPicPr>
          <p:cNvPr id="4" name="Рисунок 3">
            <a:extLst>
              <a:ext uri="{FF2B5EF4-FFF2-40B4-BE49-F238E27FC236}">
                <a16:creationId xmlns:a16="http://schemas.microsoft.com/office/drawing/2014/main" id="{F8CD1D08-030A-4D04-8311-7049361ECC65}"/>
              </a:ext>
            </a:extLst>
          </p:cNvPr>
          <p:cNvPicPr>
            <a:picLocks noChangeAspect="1"/>
          </p:cNvPicPr>
          <p:nvPr/>
        </p:nvPicPr>
        <p:blipFill>
          <a:blip r:embed="rId8"/>
          <a:stretch>
            <a:fillRect/>
          </a:stretch>
        </p:blipFill>
        <p:spPr>
          <a:xfrm>
            <a:off x="7789776" y="1459661"/>
            <a:ext cx="3204835" cy="2379555"/>
          </a:xfrm>
          <a:prstGeom prst="rect">
            <a:avLst/>
          </a:prstGeom>
        </p:spPr>
      </p:pic>
      <p:pic>
        <p:nvPicPr>
          <p:cNvPr id="22" name="Рисунок 21">
            <a:extLst>
              <a:ext uri="{FF2B5EF4-FFF2-40B4-BE49-F238E27FC236}">
                <a16:creationId xmlns:a16="http://schemas.microsoft.com/office/drawing/2014/main" id="{3353C34D-3F7D-41E1-8CE2-17555177693B}"/>
              </a:ext>
            </a:extLst>
          </p:cNvPr>
          <p:cNvPicPr>
            <a:picLocks noChangeAspect="1"/>
          </p:cNvPicPr>
          <p:nvPr/>
        </p:nvPicPr>
        <p:blipFill>
          <a:blip r:embed="rId9"/>
          <a:stretch>
            <a:fillRect/>
          </a:stretch>
        </p:blipFill>
        <p:spPr>
          <a:xfrm>
            <a:off x="4292416" y="3897780"/>
            <a:ext cx="6702196" cy="2011401"/>
          </a:xfrm>
          <a:prstGeom prst="rect">
            <a:avLst/>
          </a:prstGeom>
        </p:spPr>
      </p:pic>
      <p:sp>
        <p:nvSpPr>
          <p:cNvPr id="31" name="TextBox 30">
            <a:extLst>
              <a:ext uri="{FF2B5EF4-FFF2-40B4-BE49-F238E27FC236}">
                <a16:creationId xmlns:a16="http://schemas.microsoft.com/office/drawing/2014/main" id="{E57EA5CE-4C29-4D9A-9024-308E8481DE3C}"/>
              </a:ext>
            </a:extLst>
          </p:cNvPr>
          <p:cNvSpPr txBox="1"/>
          <p:nvPr/>
        </p:nvSpPr>
        <p:spPr>
          <a:xfrm>
            <a:off x="191032" y="6598447"/>
            <a:ext cx="3282435" cy="261610"/>
          </a:xfrm>
          <a:prstGeom prst="rect">
            <a:avLst/>
          </a:prstGeom>
          <a:noFill/>
        </p:spPr>
        <p:txBody>
          <a:bodyPr wrap="square">
            <a:spAutoFit/>
          </a:bodyPr>
          <a:lstStyle/>
          <a:p>
            <a:r>
              <a:rPr lang="en-US" sz="1100" dirty="0"/>
              <a:t>BFV: </a:t>
            </a:r>
            <a:r>
              <a:rPr lang="en-US" sz="1100" dirty="0">
                <a:hlinkClick r:id="rId10"/>
              </a:rPr>
              <a:t>https://eprint.iacr.org/2012/144.pdf</a:t>
            </a:r>
            <a:r>
              <a:rPr lang="en-US" sz="1100" dirty="0"/>
              <a:t> </a:t>
            </a:r>
          </a:p>
        </p:txBody>
      </p:sp>
    </p:spTree>
    <p:extLst>
      <p:ext uri="{BB962C8B-B14F-4D97-AF65-F5344CB8AC3E}">
        <p14:creationId xmlns:p14="http://schemas.microsoft.com/office/powerpoint/2010/main" val="3934536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(B)FV.SHE Scheme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sp>
        <p:nvSpPr>
          <p:cNvPr id="26" name="TextBox 25">
            <a:extLst>
              <a:ext uri="{FF2B5EF4-FFF2-40B4-BE49-F238E27FC236}">
                <a16:creationId xmlns:a16="http://schemas.microsoft.com/office/drawing/2014/main" id="{D72AC92A-B4C2-4670-AAED-4C9ACC4DE128}"/>
              </a:ext>
            </a:extLst>
          </p:cNvPr>
          <p:cNvSpPr txBox="1"/>
          <p:nvPr/>
        </p:nvSpPr>
        <p:spPr>
          <a:xfrm>
            <a:off x="191032" y="6598447"/>
            <a:ext cx="3282435" cy="261610"/>
          </a:xfrm>
          <a:prstGeom prst="rect">
            <a:avLst/>
          </a:prstGeom>
          <a:noFill/>
        </p:spPr>
        <p:txBody>
          <a:bodyPr wrap="square">
            <a:spAutoFit/>
          </a:bodyPr>
          <a:lstStyle/>
          <a:p>
            <a:r>
              <a:rPr lang="en-US" sz="1100" dirty="0"/>
              <a:t>BFV: </a:t>
            </a:r>
            <a:r>
              <a:rPr lang="en-US" sz="1100" dirty="0">
                <a:hlinkClick r:id="rId4"/>
              </a:rPr>
              <a:t>https://eprint.iacr.org/2012/144.pdf</a:t>
            </a:r>
            <a:r>
              <a:rPr lang="en-US" sz="1100" dirty="0"/>
              <a:t> </a:t>
            </a:r>
          </a:p>
        </p:txBody>
      </p:sp>
      <p:grpSp>
        <p:nvGrpSpPr>
          <p:cNvPr id="90" name="Группа 89">
            <a:extLst>
              <a:ext uri="{FF2B5EF4-FFF2-40B4-BE49-F238E27FC236}">
                <a16:creationId xmlns:a16="http://schemas.microsoft.com/office/drawing/2014/main" id="{169E0142-5584-4219-97D1-11477BDEB811}"/>
              </a:ext>
            </a:extLst>
          </p:cNvPr>
          <p:cNvGrpSpPr/>
          <p:nvPr/>
        </p:nvGrpSpPr>
        <p:grpSpPr>
          <a:xfrm>
            <a:off x="536671" y="4543454"/>
            <a:ext cx="9290912" cy="774731"/>
            <a:chOff x="536671" y="4806318"/>
            <a:chExt cx="9290912" cy="774731"/>
          </a:xfrm>
        </p:grpSpPr>
        <p:grpSp>
          <p:nvGrpSpPr>
            <p:cNvPr id="41" name="Группа 40">
              <a:extLst>
                <a:ext uri="{FF2B5EF4-FFF2-40B4-BE49-F238E27FC236}">
                  <a16:creationId xmlns:a16="http://schemas.microsoft.com/office/drawing/2014/main" id="{581B9566-CD8D-4C1B-A293-D33C9BC84916}"/>
                </a:ext>
              </a:extLst>
            </p:cNvPr>
            <p:cNvGrpSpPr/>
            <p:nvPr/>
          </p:nvGrpSpPr>
          <p:grpSpPr>
            <a:xfrm>
              <a:off x="651555" y="5187192"/>
              <a:ext cx="1763985" cy="393857"/>
              <a:chOff x="536671" y="3147944"/>
              <a:chExt cx="2361388" cy="527243"/>
            </a:xfrm>
          </p:grpSpPr>
          <p:pic>
            <p:nvPicPr>
              <p:cNvPr id="21" name="Рисунок 20">
                <a:extLst>
                  <a:ext uri="{FF2B5EF4-FFF2-40B4-BE49-F238E27FC236}">
                    <a16:creationId xmlns:a16="http://schemas.microsoft.com/office/drawing/2014/main" id="{C355F2E0-7F80-4061-A60C-E77D7E3C0CDC}"/>
                  </a:ext>
                </a:extLst>
              </p:cNvPr>
              <p:cNvPicPr>
                <a:picLocks noChangeAspect="1"/>
              </p:cNvPicPr>
              <p:nvPr/>
            </p:nvPicPr>
            <p:blipFill>
              <a:blip r:embed="rId5"/>
              <a:stretch>
                <a:fillRect/>
              </a:stretch>
            </p:blipFill>
            <p:spPr>
              <a:xfrm>
                <a:off x="536671" y="3151312"/>
                <a:ext cx="1076325" cy="523875"/>
              </a:xfrm>
              <a:prstGeom prst="rect">
                <a:avLst/>
              </a:prstGeom>
            </p:spPr>
          </p:pic>
          <p:pic>
            <p:nvPicPr>
              <p:cNvPr id="31" name="Рисунок 30">
                <a:extLst>
                  <a:ext uri="{FF2B5EF4-FFF2-40B4-BE49-F238E27FC236}">
                    <a16:creationId xmlns:a16="http://schemas.microsoft.com/office/drawing/2014/main" id="{1BDAB18F-3E73-4B0E-870C-031F4A308976}"/>
                  </a:ext>
                </a:extLst>
              </p:cNvPr>
              <p:cNvPicPr>
                <a:picLocks noChangeAspect="1"/>
              </p:cNvPicPr>
              <p:nvPr/>
            </p:nvPicPr>
            <p:blipFill>
              <a:blip r:embed="rId6"/>
              <a:stretch>
                <a:fillRect/>
              </a:stretch>
            </p:blipFill>
            <p:spPr>
              <a:xfrm>
                <a:off x="1982414" y="3147944"/>
                <a:ext cx="915645" cy="522003"/>
              </a:xfrm>
              <a:prstGeom prst="rect">
                <a:avLst/>
              </a:prstGeom>
            </p:spPr>
          </p:pic>
          <p:pic>
            <p:nvPicPr>
              <p:cNvPr id="39" name="Рисунок 38">
                <a:extLst>
                  <a:ext uri="{FF2B5EF4-FFF2-40B4-BE49-F238E27FC236}">
                    <a16:creationId xmlns:a16="http://schemas.microsoft.com/office/drawing/2014/main" id="{A9A2F2B1-7341-4515-8695-C38969E6DE49}"/>
                  </a:ext>
                </a:extLst>
              </p:cNvPr>
              <p:cNvPicPr>
                <a:picLocks noChangeAspect="1"/>
              </p:cNvPicPr>
              <p:nvPr/>
            </p:nvPicPr>
            <p:blipFill>
              <a:blip r:embed="rId7"/>
              <a:stretch>
                <a:fillRect/>
              </a:stretch>
            </p:blipFill>
            <p:spPr>
              <a:xfrm>
                <a:off x="1612996" y="3151312"/>
                <a:ext cx="369418" cy="522003"/>
              </a:xfrm>
              <a:prstGeom prst="rect">
                <a:avLst/>
              </a:prstGeom>
            </p:spPr>
          </p:pic>
        </p:grpSp>
        <p:sp>
          <p:nvSpPr>
            <p:cNvPr id="46" name="TextBox 45">
              <a:extLst>
                <a:ext uri="{FF2B5EF4-FFF2-40B4-BE49-F238E27FC236}">
                  <a16:creationId xmlns:a16="http://schemas.microsoft.com/office/drawing/2014/main" id="{EE529C4D-08EE-444F-9449-11CCA9EC5A2B}"/>
                </a:ext>
              </a:extLst>
            </p:cNvPr>
            <p:cNvSpPr txBox="1"/>
            <p:nvPr/>
          </p:nvSpPr>
          <p:spPr>
            <a:xfrm>
              <a:off x="536671" y="4806318"/>
              <a:ext cx="2147505" cy="307777"/>
            </a:xfrm>
            <a:prstGeom prst="rect">
              <a:avLst/>
            </a:prstGeom>
            <a:noFill/>
          </p:spPr>
          <p:txBody>
            <a:bodyPr wrap="square">
              <a:spAutoFit/>
            </a:bodyPr>
            <a:lstStyle/>
            <a:p>
              <a:r>
                <a:rPr lang="en-US" sz="1400" dirty="0" err="1"/>
                <a:t>FV.SH.Mul</a:t>
              </a:r>
              <a:r>
                <a:rPr lang="en-US" sz="1400" dirty="0"/>
                <a:t>(</a:t>
              </a:r>
              <a:r>
                <a:rPr lang="en-US" sz="1400" dirty="0" err="1"/>
                <a:t>ct</a:t>
              </a:r>
              <a:r>
                <a:rPr lang="en-US" sz="1400" dirty="0"/>
                <a:t>, </a:t>
              </a:r>
              <a:r>
                <a:rPr lang="en-US" sz="1400" dirty="0" err="1"/>
                <a:t>pt</a:t>
              </a:r>
              <a:r>
                <a:rPr lang="en-US" sz="1400" dirty="0"/>
                <a:t>) </a:t>
              </a:r>
              <a:endParaRPr lang="en-US" sz="1400" baseline="30000" dirty="0"/>
            </a:p>
          </p:txBody>
        </p:sp>
        <p:grpSp>
          <p:nvGrpSpPr>
            <p:cNvPr id="48" name="Группа 47">
              <a:extLst>
                <a:ext uri="{FF2B5EF4-FFF2-40B4-BE49-F238E27FC236}">
                  <a16:creationId xmlns:a16="http://schemas.microsoft.com/office/drawing/2014/main" id="{724CDE9E-4BFD-4319-B512-5335ABFFCA2C}"/>
                </a:ext>
              </a:extLst>
            </p:cNvPr>
            <p:cNvGrpSpPr/>
            <p:nvPr/>
          </p:nvGrpSpPr>
          <p:grpSpPr>
            <a:xfrm>
              <a:off x="5691782" y="5184387"/>
              <a:ext cx="4135801" cy="396662"/>
              <a:chOff x="2917921" y="3187125"/>
              <a:chExt cx="4135801" cy="396662"/>
            </a:xfrm>
          </p:grpSpPr>
          <p:pic>
            <p:nvPicPr>
              <p:cNvPr id="44" name="Рисунок 43">
                <a:extLst>
                  <a:ext uri="{FF2B5EF4-FFF2-40B4-BE49-F238E27FC236}">
                    <a16:creationId xmlns:a16="http://schemas.microsoft.com/office/drawing/2014/main" id="{28E39600-9DAE-40AE-9FED-4800267F0DAE}"/>
                  </a:ext>
                </a:extLst>
              </p:cNvPr>
              <p:cNvPicPr>
                <a:picLocks noChangeAspect="1"/>
              </p:cNvPicPr>
              <p:nvPr/>
            </p:nvPicPr>
            <p:blipFill>
              <a:blip r:embed="rId8"/>
              <a:stretch>
                <a:fillRect/>
              </a:stretch>
            </p:blipFill>
            <p:spPr>
              <a:xfrm>
                <a:off x="2917921" y="3187125"/>
                <a:ext cx="1852199" cy="389501"/>
              </a:xfrm>
              <a:prstGeom prst="rect">
                <a:avLst/>
              </a:prstGeom>
            </p:spPr>
          </p:pic>
          <p:pic>
            <p:nvPicPr>
              <p:cNvPr id="47" name="Рисунок 46">
                <a:extLst>
                  <a:ext uri="{FF2B5EF4-FFF2-40B4-BE49-F238E27FC236}">
                    <a16:creationId xmlns:a16="http://schemas.microsoft.com/office/drawing/2014/main" id="{0F844BBE-31BA-4209-93F0-C9053E2A6042}"/>
                  </a:ext>
                </a:extLst>
              </p:cNvPr>
              <p:cNvPicPr>
                <a:picLocks noChangeAspect="1"/>
              </p:cNvPicPr>
              <p:nvPr/>
            </p:nvPicPr>
            <p:blipFill>
              <a:blip r:embed="rId9"/>
              <a:stretch>
                <a:fillRect/>
              </a:stretch>
            </p:blipFill>
            <p:spPr>
              <a:xfrm>
                <a:off x="4920122" y="3191205"/>
                <a:ext cx="2133600" cy="392582"/>
              </a:xfrm>
              <a:prstGeom prst="rect">
                <a:avLst/>
              </a:prstGeom>
            </p:spPr>
          </p:pic>
        </p:grpSp>
      </p:grpSp>
      <p:sp>
        <p:nvSpPr>
          <p:cNvPr id="52" name="TextBox 51">
            <a:extLst>
              <a:ext uri="{FF2B5EF4-FFF2-40B4-BE49-F238E27FC236}">
                <a16:creationId xmlns:a16="http://schemas.microsoft.com/office/drawing/2014/main" id="{1E631C18-6457-4DB6-8479-CA9CE097BBDB}"/>
              </a:ext>
            </a:extLst>
          </p:cNvPr>
          <p:cNvSpPr txBox="1"/>
          <p:nvPr/>
        </p:nvSpPr>
        <p:spPr>
          <a:xfrm>
            <a:off x="549659" y="1078184"/>
            <a:ext cx="3896503" cy="369332"/>
          </a:xfrm>
          <a:prstGeom prst="rect">
            <a:avLst/>
          </a:prstGeom>
          <a:noFill/>
        </p:spPr>
        <p:txBody>
          <a:bodyPr wrap="square">
            <a:spAutoFit/>
          </a:bodyPr>
          <a:lstStyle/>
          <a:p>
            <a:r>
              <a:rPr lang="en-US" b="1" dirty="0"/>
              <a:t>Scaled message terms per operation</a:t>
            </a:r>
            <a:endParaRPr lang="en-US" b="1" baseline="30000" dirty="0"/>
          </a:p>
        </p:txBody>
      </p:sp>
      <p:sp>
        <p:nvSpPr>
          <p:cNvPr id="53" name="TextBox 52">
            <a:extLst>
              <a:ext uri="{FF2B5EF4-FFF2-40B4-BE49-F238E27FC236}">
                <a16:creationId xmlns:a16="http://schemas.microsoft.com/office/drawing/2014/main" id="{97A83E55-417C-4E29-BC57-ABD346B540D4}"/>
              </a:ext>
            </a:extLst>
          </p:cNvPr>
          <p:cNvSpPr txBox="1"/>
          <p:nvPr/>
        </p:nvSpPr>
        <p:spPr>
          <a:xfrm>
            <a:off x="5687517" y="1078184"/>
            <a:ext cx="3548099" cy="369332"/>
          </a:xfrm>
          <a:prstGeom prst="rect">
            <a:avLst/>
          </a:prstGeom>
          <a:noFill/>
        </p:spPr>
        <p:txBody>
          <a:bodyPr wrap="square">
            <a:spAutoFit/>
          </a:bodyPr>
          <a:lstStyle/>
          <a:p>
            <a:r>
              <a:rPr lang="en-US" b="1" dirty="0"/>
              <a:t>Decryption circuit per operation</a:t>
            </a:r>
            <a:endParaRPr lang="en-US" b="1" baseline="30000" dirty="0"/>
          </a:p>
        </p:txBody>
      </p:sp>
      <p:grpSp>
        <p:nvGrpSpPr>
          <p:cNvPr id="89" name="Группа 88">
            <a:extLst>
              <a:ext uri="{FF2B5EF4-FFF2-40B4-BE49-F238E27FC236}">
                <a16:creationId xmlns:a16="http://schemas.microsoft.com/office/drawing/2014/main" id="{47586EE5-E883-47C5-8C59-B769A55FE991}"/>
              </a:ext>
            </a:extLst>
          </p:cNvPr>
          <p:cNvGrpSpPr/>
          <p:nvPr/>
        </p:nvGrpSpPr>
        <p:grpSpPr>
          <a:xfrm>
            <a:off x="536669" y="1660025"/>
            <a:ext cx="9524010" cy="778620"/>
            <a:chOff x="536669" y="1660025"/>
            <a:chExt cx="9524010" cy="778620"/>
          </a:xfrm>
        </p:grpSpPr>
        <p:grpSp>
          <p:nvGrpSpPr>
            <p:cNvPr id="66" name="Группа 65">
              <a:extLst>
                <a:ext uri="{FF2B5EF4-FFF2-40B4-BE49-F238E27FC236}">
                  <a16:creationId xmlns:a16="http://schemas.microsoft.com/office/drawing/2014/main" id="{30747A0A-EF6E-41AD-9817-CEC29FAE971C}"/>
                </a:ext>
              </a:extLst>
            </p:cNvPr>
            <p:cNvGrpSpPr/>
            <p:nvPr/>
          </p:nvGrpSpPr>
          <p:grpSpPr>
            <a:xfrm>
              <a:off x="536669" y="1660025"/>
              <a:ext cx="3909493" cy="776516"/>
              <a:chOff x="536669" y="1660025"/>
              <a:chExt cx="3909493" cy="776516"/>
            </a:xfrm>
          </p:grpSpPr>
          <p:sp>
            <p:nvSpPr>
              <p:cNvPr id="67" name="TextBox 66">
                <a:extLst>
                  <a:ext uri="{FF2B5EF4-FFF2-40B4-BE49-F238E27FC236}">
                    <a16:creationId xmlns:a16="http://schemas.microsoft.com/office/drawing/2014/main" id="{A58B2E4E-E0AF-40C9-96A7-87531974FFFB}"/>
                  </a:ext>
                </a:extLst>
              </p:cNvPr>
              <p:cNvSpPr txBox="1"/>
              <p:nvPr/>
            </p:nvSpPr>
            <p:spPr>
              <a:xfrm>
                <a:off x="536669" y="1660025"/>
                <a:ext cx="3909493" cy="307777"/>
              </a:xfrm>
              <a:prstGeom prst="rect">
                <a:avLst/>
              </a:prstGeom>
              <a:noFill/>
            </p:spPr>
            <p:txBody>
              <a:bodyPr wrap="square">
                <a:spAutoFit/>
              </a:bodyPr>
              <a:lstStyle/>
              <a:p>
                <a:r>
                  <a:rPr lang="en-US" sz="1400" dirty="0" err="1"/>
                  <a:t>FV.SH.Dec</a:t>
                </a:r>
                <a:r>
                  <a:rPr lang="en-US" sz="1400" dirty="0"/>
                  <a:t>(</a:t>
                </a:r>
                <a:r>
                  <a:rPr lang="en-US" sz="1400" dirty="0" err="1"/>
                  <a:t>sk</a:t>
                </a:r>
                <a:r>
                  <a:rPr lang="en-US" sz="1400" dirty="0"/>
                  <a:t>, </a:t>
                </a:r>
                <a:r>
                  <a:rPr lang="en-US" sz="1400" dirty="0" err="1"/>
                  <a:t>ct</a:t>
                </a:r>
                <a:r>
                  <a:rPr lang="en-US" sz="1400" dirty="0"/>
                  <a:t>)</a:t>
                </a:r>
                <a:endParaRPr lang="en-US" sz="1400" baseline="30000" dirty="0"/>
              </a:p>
            </p:txBody>
          </p:sp>
          <p:pic>
            <p:nvPicPr>
              <p:cNvPr id="65" name="Рисунок 64">
                <a:extLst>
                  <a:ext uri="{FF2B5EF4-FFF2-40B4-BE49-F238E27FC236}">
                    <a16:creationId xmlns:a16="http://schemas.microsoft.com/office/drawing/2014/main" id="{EE34C09D-C0AC-41B9-9C74-D0701BAEF1AC}"/>
                  </a:ext>
                </a:extLst>
              </p:cNvPr>
              <p:cNvPicPr>
                <a:picLocks noChangeAspect="1"/>
              </p:cNvPicPr>
              <p:nvPr/>
            </p:nvPicPr>
            <p:blipFill>
              <a:blip r:embed="rId10"/>
              <a:stretch>
                <a:fillRect/>
              </a:stretch>
            </p:blipFill>
            <p:spPr>
              <a:xfrm>
                <a:off x="638226" y="2031847"/>
                <a:ext cx="3323160" cy="404694"/>
              </a:xfrm>
              <a:prstGeom prst="rect">
                <a:avLst/>
              </a:prstGeom>
            </p:spPr>
          </p:pic>
        </p:grpSp>
        <p:pic>
          <p:nvPicPr>
            <p:cNvPr id="69" name="Рисунок 68">
              <a:extLst>
                <a:ext uri="{FF2B5EF4-FFF2-40B4-BE49-F238E27FC236}">
                  <a16:creationId xmlns:a16="http://schemas.microsoft.com/office/drawing/2014/main" id="{880A7C27-7A2C-4647-93D1-1AFD0AEF2A3C}"/>
                </a:ext>
              </a:extLst>
            </p:cNvPr>
            <p:cNvPicPr>
              <a:picLocks noChangeAspect="1"/>
            </p:cNvPicPr>
            <p:nvPr/>
          </p:nvPicPr>
          <p:blipFill>
            <a:blip r:embed="rId11"/>
            <a:stretch>
              <a:fillRect/>
            </a:stretch>
          </p:blipFill>
          <p:spPr>
            <a:xfrm>
              <a:off x="5685556" y="2031507"/>
              <a:ext cx="4375123" cy="407138"/>
            </a:xfrm>
            <a:prstGeom prst="rect">
              <a:avLst/>
            </a:prstGeom>
          </p:spPr>
        </p:pic>
      </p:grpSp>
      <p:sp>
        <p:nvSpPr>
          <p:cNvPr id="73" name="TextBox 72">
            <a:extLst>
              <a:ext uri="{FF2B5EF4-FFF2-40B4-BE49-F238E27FC236}">
                <a16:creationId xmlns:a16="http://schemas.microsoft.com/office/drawing/2014/main" id="{EF6B37F3-34AC-4618-A53B-505781F9A4FF}"/>
              </a:ext>
            </a:extLst>
          </p:cNvPr>
          <p:cNvSpPr txBox="1"/>
          <p:nvPr/>
        </p:nvSpPr>
        <p:spPr>
          <a:xfrm>
            <a:off x="540570" y="5484331"/>
            <a:ext cx="2147505" cy="307777"/>
          </a:xfrm>
          <a:prstGeom prst="rect">
            <a:avLst/>
          </a:prstGeom>
          <a:noFill/>
        </p:spPr>
        <p:txBody>
          <a:bodyPr wrap="square">
            <a:spAutoFit/>
          </a:bodyPr>
          <a:lstStyle/>
          <a:p>
            <a:r>
              <a:rPr lang="en-US" sz="1400" dirty="0" err="1"/>
              <a:t>FV.SH.Mul</a:t>
            </a:r>
            <a:r>
              <a:rPr lang="en-US" sz="1400" dirty="0"/>
              <a:t>(ct1, ct2) </a:t>
            </a:r>
            <a:endParaRPr lang="en-US" sz="1400" baseline="30000" dirty="0"/>
          </a:p>
        </p:txBody>
      </p:sp>
      <p:grpSp>
        <p:nvGrpSpPr>
          <p:cNvPr id="88" name="Группа 87">
            <a:extLst>
              <a:ext uri="{FF2B5EF4-FFF2-40B4-BE49-F238E27FC236}">
                <a16:creationId xmlns:a16="http://schemas.microsoft.com/office/drawing/2014/main" id="{A2AEBDFD-302A-4DE4-A817-868B6EA596F8}"/>
              </a:ext>
            </a:extLst>
          </p:cNvPr>
          <p:cNvGrpSpPr/>
          <p:nvPr/>
        </p:nvGrpSpPr>
        <p:grpSpPr>
          <a:xfrm>
            <a:off x="549659" y="2685151"/>
            <a:ext cx="10867550" cy="706090"/>
            <a:chOff x="549659" y="2685151"/>
            <a:chExt cx="10867550" cy="706090"/>
          </a:xfrm>
        </p:grpSpPr>
        <p:grpSp>
          <p:nvGrpSpPr>
            <p:cNvPr id="60" name="Группа 59">
              <a:extLst>
                <a:ext uri="{FF2B5EF4-FFF2-40B4-BE49-F238E27FC236}">
                  <a16:creationId xmlns:a16="http://schemas.microsoft.com/office/drawing/2014/main" id="{AF9FC393-0D14-4613-8582-28E854AB6ACF}"/>
                </a:ext>
              </a:extLst>
            </p:cNvPr>
            <p:cNvGrpSpPr/>
            <p:nvPr/>
          </p:nvGrpSpPr>
          <p:grpSpPr>
            <a:xfrm>
              <a:off x="549659" y="2685151"/>
              <a:ext cx="4114613" cy="705301"/>
              <a:chOff x="1439151" y="2654709"/>
              <a:chExt cx="4114613" cy="705301"/>
            </a:xfrm>
          </p:grpSpPr>
          <p:sp>
            <p:nvSpPr>
              <p:cNvPr id="56" name="TextBox 55">
                <a:extLst>
                  <a:ext uri="{FF2B5EF4-FFF2-40B4-BE49-F238E27FC236}">
                    <a16:creationId xmlns:a16="http://schemas.microsoft.com/office/drawing/2014/main" id="{70ED6423-6049-4B5C-B7C2-94C892F72010}"/>
                  </a:ext>
                </a:extLst>
              </p:cNvPr>
              <p:cNvSpPr txBox="1"/>
              <p:nvPr/>
            </p:nvSpPr>
            <p:spPr>
              <a:xfrm>
                <a:off x="1439151" y="2654709"/>
                <a:ext cx="4114613" cy="307777"/>
              </a:xfrm>
              <a:prstGeom prst="rect">
                <a:avLst/>
              </a:prstGeom>
              <a:noFill/>
            </p:spPr>
            <p:txBody>
              <a:bodyPr wrap="square">
                <a:spAutoFit/>
              </a:bodyPr>
              <a:lstStyle/>
              <a:p>
                <a:r>
                  <a:rPr lang="en-US" sz="1400" dirty="0" err="1"/>
                  <a:t>FV.SH.Add</a:t>
                </a:r>
                <a:r>
                  <a:rPr lang="en-US" sz="1400" dirty="0"/>
                  <a:t>(</a:t>
                </a:r>
                <a:r>
                  <a:rPr lang="en-US" sz="1400" dirty="0" err="1"/>
                  <a:t>ct</a:t>
                </a:r>
                <a:r>
                  <a:rPr lang="en-US" sz="1400" dirty="0"/>
                  <a:t>, </a:t>
                </a:r>
                <a:r>
                  <a:rPr lang="en-US" sz="1400" dirty="0" err="1"/>
                  <a:t>pt</a:t>
                </a:r>
                <a:r>
                  <a:rPr lang="en-US" sz="1400" dirty="0"/>
                  <a:t>)</a:t>
                </a:r>
                <a:endParaRPr lang="en-US" sz="1400" baseline="30000" dirty="0"/>
              </a:p>
            </p:txBody>
          </p:sp>
          <p:pic>
            <p:nvPicPr>
              <p:cNvPr id="57" name="Рисунок 56">
                <a:extLst>
                  <a:ext uri="{FF2B5EF4-FFF2-40B4-BE49-F238E27FC236}">
                    <a16:creationId xmlns:a16="http://schemas.microsoft.com/office/drawing/2014/main" id="{C3DD3645-FE68-4FE4-BA9F-E3FF9CBBBF0C}"/>
                  </a:ext>
                </a:extLst>
              </p:cNvPr>
              <p:cNvPicPr>
                <a:picLocks noChangeAspect="1"/>
              </p:cNvPicPr>
              <p:nvPr/>
            </p:nvPicPr>
            <p:blipFill>
              <a:blip r:embed="rId12"/>
              <a:stretch>
                <a:fillRect/>
              </a:stretch>
            </p:blipFill>
            <p:spPr>
              <a:xfrm>
                <a:off x="1539019" y="2955820"/>
                <a:ext cx="2432909" cy="404190"/>
              </a:xfrm>
              <a:prstGeom prst="rect">
                <a:avLst/>
              </a:prstGeom>
            </p:spPr>
          </p:pic>
        </p:grpSp>
        <p:pic>
          <p:nvPicPr>
            <p:cNvPr id="71" name="Рисунок 70">
              <a:extLst>
                <a:ext uri="{FF2B5EF4-FFF2-40B4-BE49-F238E27FC236}">
                  <a16:creationId xmlns:a16="http://schemas.microsoft.com/office/drawing/2014/main" id="{FD94B83B-7BE5-404C-8E56-E7EBFE93CDA9}"/>
                </a:ext>
              </a:extLst>
            </p:cNvPr>
            <p:cNvPicPr>
              <a:picLocks noChangeAspect="1"/>
            </p:cNvPicPr>
            <p:nvPr/>
          </p:nvPicPr>
          <p:blipFill>
            <a:blip r:embed="rId13"/>
            <a:stretch>
              <a:fillRect/>
            </a:stretch>
          </p:blipFill>
          <p:spPr>
            <a:xfrm>
              <a:off x="5685556" y="2987050"/>
              <a:ext cx="5731653" cy="404191"/>
            </a:xfrm>
            <a:prstGeom prst="rect">
              <a:avLst/>
            </a:prstGeom>
          </p:spPr>
        </p:pic>
      </p:grpSp>
      <p:grpSp>
        <p:nvGrpSpPr>
          <p:cNvPr id="87" name="Группа 86">
            <a:extLst>
              <a:ext uri="{FF2B5EF4-FFF2-40B4-BE49-F238E27FC236}">
                <a16:creationId xmlns:a16="http://schemas.microsoft.com/office/drawing/2014/main" id="{C95DF32E-AF3B-40ED-A053-87F0C0DDBACE}"/>
              </a:ext>
            </a:extLst>
          </p:cNvPr>
          <p:cNvGrpSpPr/>
          <p:nvPr/>
        </p:nvGrpSpPr>
        <p:grpSpPr>
          <a:xfrm>
            <a:off x="549659" y="3583227"/>
            <a:ext cx="8681694" cy="779480"/>
            <a:chOff x="549659" y="3809831"/>
            <a:chExt cx="8681694" cy="779480"/>
          </a:xfrm>
        </p:grpSpPr>
        <p:pic>
          <p:nvPicPr>
            <p:cNvPr id="15" name="Рисунок 14">
              <a:extLst>
                <a:ext uri="{FF2B5EF4-FFF2-40B4-BE49-F238E27FC236}">
                  <a16:creationId xmlns:a16="http://schemas.microsoft.com/office/drawing/2014/main" id="{0D249662-65DA-456B-8DD4-95A3B6688183}"/>
                </a:ext>
              </a:extLst>
            </p:cNvPr>
            <p:cNvPicPr>
              <a:picLocks noChangeAspect="1"/>
            </p:cNvPicPr>
            <p:nvPr/>
          </p:nvPicPr>
          <p:blipFill>
            <a:blip r:embed="rId14"/>
            <a:stretch>
              <a:fillRect/>
            </a:stretch>
          </p:blipFill>
          <p:spPr>
            <a:xfrm>
              <a:off x="651555" y="4184616"/>
              <a:ext cx="2592572" cy="404694"/>
            </a:xfrm>
            <a:prstGeom prst="rect">
              <a:avLst/>
            </a:prstGeom>
          </p:spPr>
        </p:pic>
        <p:pic>
          <p:nvPicPr>
            <p:cNvPr id="19" name="Рисунок 18">
              <a:extLst>
                <a:ext uri="{FF2B5EF4-FFF2-40B4-BE49-F238E27FC236}">
                  <a16:creationId xmlns:a16="http://schemas.microsoft.com/office/drawing/2014/main" id="{0CAF3761-1E03-4C31-A076-732AFD0D842A}"/>
                </a:ext>
              </a:extLst>
            </p:cNvPr>
            <p:cNvPicPr>
              <a:picLocks noChangeAspect="1"/>
            </p:cNvPicPr>
            <p:nvPr/>
          </p:nvPicPr>
          <p:blipFill>
            <a:blip r:embed="rId15"/>
            <a:stretch>
              <a:fillRect/>
            </a:stretch>
          </p:blipFill>
          <p:spPr>
            <a:xfrm>
              <a:off x="5691782" y="4184616"/>
              <a:ext cx="3539571" cy="404695"/>
            </a:xfrm>
            <a:prstGeom prst="rect">
              <a:avLst/>
            </a:prstGeom>
          </p:spPr>
        </p:pic>
        <p:sp>
          <p:nvSpPr>
            <p:cNvPr id="76" name="TextBox 75">
              <a:extLst>
                <a:ext uri="{FF2B5EF4-FFF2-40B4-BE49-F238E27FC236}">
                  <a16:creationId xmlns:a16="http://schemas.microsoft.com/office/drawing/2014/main" id="{E8060550-1428-4F0C-8316-22A9222EED0D}"/>
                </a:ext>
              </a:extLst>
            </p:cNvPr>
            <p:cNvSpPr txBox="1"/>
            <p:nvPr/>
          </p:nvSpPr>
          <p:spPr>
            <a:xfrm>
              <a:off x="549659" y="3809831"/>
              <a:ext cx="4952117" cy="307777"/>
            </a:xfrm>
            <a:prstGeom prst="rect">
              <a:avLst/>
            </a:prstGeom>
            <a:noFill/>
          </p:spPr>
          <p:txBody>
            <a:bodyPr wrap="square">
              <a:spAutoFit/>
            </a:bodyPr>
            <a:lstStyle/>
            <a:p>
              <a:r>
                <a:rPr lang="en-US" sz="1400" dirty="0" err="1"/>
                <a:t>FV.SH.Add</a:t>
              </a:r>
              <a:r>
                <a:rPr lang="en-US" sz="1400" dirty="0"/>
                <a:t>(ct1,ct2)</a:t>
              </a:r>
              <a:endParaRPr lang="en-US" sz="1400" baseline="30000" dirty="0"/>
            </a:p>
          </p:txBody>
        </p:sp>
      </p:grpSp>
      <p:cxnSp>
        <p:nvCxnSpPr>
          <p:cNvPr id="79" name="Прямая соединительная линия 78">
            <a:extLst>
              <a:ext uri="{FF2B5EF4-FFF2-40B4-BE49-F238E27FC236}">
                <a16:creationId xmlns:a16="http://schemas.microsoft.com/office/drawing/2014/main" id="{0813A199-0075-4DBA-A7FE-077F21138CFE}"/>
              </a:ext>
            </a:extLst>
          </p:cNvPr>
          <p:cNvCxnSpPr/>
          <p:nvPr/>
        </p:nvCxnSpPr>
        <p:spPr>
          <a:xfrm>
            <a:off x="651555" y="2650921"/>
            <a:ext cx="103296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Прямая соединительная линия 80">
            <a:extLst>
              <a:ext uri="{FF2B5EF4-FFF2-40B4-BE49-F238E27FC236}">
                <a16:creationId xmlns:a16="http://schemas.microsoft.com/office/drawing/2014/main" id="{25D9BDEB-8BAF-464E-A3FD-899724A5DD16}"/>
              </a:ext>
            </a:extLst>
          </p:cNvPr>
          <p:cNvCxnSpPr/>
          <p:nvPr/>
        </p:nvCxnSpPr>
        <p:spPr>
          <a:xfrm>
            <a:off x="638226" y="3533163"/>
            <a:ext cx="103296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Прямая соединительная линия 81">
            <a:extLst>
              <a:ext uri="{FF2B5EF4-FFF2-40B4-BE49-F238E27FC236}">
                <a16:creationId xmlns:a16="http://schemas.microsoft.com/office/drawing/2014/main" id="{A4E66923-A9C4-4EF2-AD83-982BCFEC17E9}"/>
              </a:ext>
            </a:extLst>
          </p:cNvPr>
          <p:cNvCxnSpPr/>
          <p:nvPr/>
        </p:nvCxnSpPr>
        <p:spPr>
          <a:xfrm>
            <a:off x="624897" y="4523888"/>
            <a:ext cx="103296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Прямая соединительная линия 82">
            <a:extLst>
              <a:ext uri="{FF2B5EF4-FFF2-40B4-BE49-F238E27FC236}">
                <a16:creationId xmlns:a16="http://schemas.microsoft.com/office/drawing/2014/main" id="{1AB1B198-698C-4F7D-BB3F-8846C93F5DC0}"/>
              </a:ext>
            </a:extLst>
          </p:cNvPr>
          <p:cNvCxnSpPr/>
          <p:nvPr/>
        </p:nvCxnSpPr>
        <p:spPr>
          <a:xfrm>
            <a:off x="611568" y="5439113"/>
            <a:ext cx="103296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Прямая соединительная линия 83">
            <a:extLst>
              <a:ext uri="{FF2B5EF4-FFF2-40B4-BE49-F238E27FC236}">
                <a16:creationId xmlns:a16="http://schemas.microsoft.com/office/drawing/2014/main" id="{26AD541C-E744-420E-9970-1F2E0A8ECCAC}"/>
              </a:ext>
            </a:extLst>
          </p:cNvPr>
          <p:cNvCxnSpPr/>
          <p:nvPr/>
        </p:nvCxnSpPr>
        <p:spPr>
          <a:xfrm>
            <a:off x="638226" y="1561750"/>
            <a:ext cx="1032963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Прямая соединительная линия 84">
            <a:extLst>
              <a:ext uri="{FF2B5EF4-FFF2-40B4-BE49-F238E27FC236}">
                <a16:creationId xmlns:a16="http://schemas.microsoft.com/office/drawing/2014/main" id="{490BAEED-57C6-42B7-AC3F-52AFA400EF86}"/>
              </a:ext>
            </a:extLst>
          </p:cNvPr>
          <p:cNvCxnSpPr>
            <a:cxnSpLocks/>
          </p:cNvCxnSpPr>
          <p:nvPr/>
        </p:nvCxnSpPr>
        <p:spPr>
          <a:xfrm>
            <a:off x="5539976" y="1146442"/>
            <a:ext cx="0" cy="5339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94" name="Рисунок 93">
            <a:extLst>
              <a:ext uri="{FF2B5EF4-FFF2-40B4-BE49-F238E27FC236}">
                <a16:creationId xmlns:a16="http://schemas.microsoft.com/office/drawing/2014/main" id="{176863C9-E434-44F7-B919-161CADB8BF9A}"/>
              </a:ext>
            </a:extLst>
          </p:cNvPr>
          <p:cNvPicPr>
            <a:picLocks noChangeAspect="1"/>
          </p:cNvPicPr>
          <p:nvPr/>
        </p:nvPicPr>
        <p:blipFill>
          <a:blip r:embed="rId16"/>
          <a:stretch>
            <a:fillRect/>
          </a:stretch>
        </p:blipFill>
        <p:spPr>
          <a:xfrm>
            <a:off x="5687492" y="5953095"/>
            <a:ext cx="4371249" cy="396507"/>
          </a:xfrm>
          <a:prstGeom prst="rect">
            <a:avLst/>
          </a:prstGeom>
        </p:spPr>
      </p:pic>
      <p:pic>
        <p:nvPicPr>
          <p:cNvPr id="99" name="Рисунок 98">
            <a:extLst>
              <a:ext uri="{FF2B5EF4-FFF2-40B4-BE49-F238E27FC236}">
                <a16:creationId xmlns:a16="http://schemas.microsoft.com/office/drawing/2014/main" id="{55D62C01-6A84-45F0-9321-380653C2C5E4}"/>
              </a:ext>
            </a:extLst>
          </p:cNvPr>
          <p:cNvPicPr>
            <a:picLocks noChangeAspect="1"/>
          </p:cNvPicPr>
          <p:nvPr/>
        </p:nvPicPr>
        <p:blipFill>
          <a:blip r:embed="rId17"/>
          <a:stretch>
            <a:fillRect/>
          </a:stretch>
        </p:blipFill>
        <p:spPr>
          <a:xfrm>
            <a:off x="638225" y="5875408"/>
            <a:ext cx="1680945" cy="478929"/>
          </a:xfrm>
          <a:prstGeom prst="rect">
            <a:avLst/>
          </a:prstGeom>
        </p:spPr>
      </p:pic>
      <p:pic>
        <p:nvPicPr>
          <p:cNvPr id="103" name="Рисунок 102">
            <a:extLst>
              <a:ext uri="{FF2B5EF4-FFF2-40B4-BE49-F238E27FC236}">
                <a16:creationId xmlns:a16="http://schemas.microsoft.com/office/drawing/2014/main" id="{EBFDBE1B-AF4B-44D0-A553-F3471A14C0D9}"/>
              </a:ext>
            </a:extLst>
          </p:cNvPr>
          <p:cNvPicPr>
            <a:picLocks noChangeAspect="1"/>
          </p:cNvPicPr>
          <p:nvPr/>
        </p:nvPicPr>
        <p:blipFill>
          <a:blip r:embed="rId18"/>
          <a:stretch>
            <a:fillRect/>
          </a:stretch>
        </p:blipFill>
        <p:spPr>
          <a:xfrm>
            <a:off x="7543100" y="4921523"/>
            <a:ext cx="165614" cy="389500"/>
          </a:xfrm>
          <a:prstGeom prst="rect">
            <a:avLst/>
          </a:prstGeom>
        </p:spPr>
      </p:pic>
    </p:spTree>
    <p:extLst>
      <p:ext uri="{BB962C8B-B14F-4D97-AF65-F5344CB8AC3E}">
        <p14:creationId xmlns:p14="http://schemas.microsoft.com/office/powerpoint/2010/main" val="3791043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2.3</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5013958" y="3819092"/>
            <a:ext cx="1995028" cy="85260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CPIR from BFV.SHE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67169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28</a:t>
            </a:fld>
            <a:endParaRPr lang="en-US"/>
          </a:p>
        </p:txBody>
      </p:sp>
    </p:spTree>
    <p:extLst>
      <p:ext uri="{BB962C8B-B14F-4D97-AF65-F5344CB8AC3E}">
        <p14:creationId xmlns:p14="http://schemas.microsoft.com/office/powerpoint/2010/main" val="2414653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BFV-based CPIR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grpSp>
        <p:nvGrpSpPr>
          <p:cNvPr id="173" name="Group 172">
            <a:extLst>
              <a:ext uri="{FF2B5EF4-FFF2-40B4-BE49-F238E27FC236}">
                <a16:creationId xmlns:a16="http://schemas.microsoft.com/office/drawing/2014/main" id="{12DFD471-06DF-40FE-A98F-584FD7810D2F}"/>
              </a:ext>
            </a:extLst>
          </p:cNvPr>
          <p:cNvGrpSpPr/>
          <p:nvPr/>
        </p:nvGrpSpPr>
        <p:grpSpPr>
          <a:xfrm>
            <a:off x="3937002" y="2533051"/>
            <a:ext cx="1705884" cy="515005"/>
            <a:chOff x="3937002" y="2046658"/>
            <a:chExt cx="1705884" cy="515005"/>
          </a:xfrm>
        </p:grpSpPr>
        <p:cxnSp>
          <p:nvCxnSpPr>
            <p:cNvPr id="68" name="Straight Arrow Connector 67">
              <a:extLst>
                <a:ext uri="{FF2B5EF4-FFF2-40B4-BE49-F238E27FC236}">
                  <a16:creationId xmlns:a16="http://schemas.microsoft.com/office/drawing/2014/main" id="{05E328F5-F9B0-4B59-A35E-43AF14D9A400}"/>
                </a:ext>
              </a:extLst>
            </p:cNvPr>
            <p:cNvCxnSpPr>
              <a:cxnSpLocks/>
            </p:cNvCxnSpPr>
            <p:nvPr/>
          </p:nvCxnSpPr>
          <p:spPr>
            <a:xfrm>
              <a:off x="3941124" y="2561663"/>
              <a:ext cx="1701762" cy="0"/>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CB5044BC-AF5A-46B9-99E8-58A1F60A6435}"/>
                </a:ext>
              </a:extLst>
            </p:cNvPr>
            <p:cNvSpPr txBox="1"/>
            <p:nvPr/>
          </p:nvSpPr>
          <p:spPr>
            <a:xfrm>
              <a:off x="3937002" y="2046658"/>
              <a:ext cx="1635774" cy="461665"/>
            </a:xfrm>
            <a:prstGeom prst="rect">
              <a:avLst/>
            </a:prstGeom>
            <a:noFill/>
          </p:spPr>
          <p:txBody>
            <a:bodyPr wrap="square">
              <a:spAutoFit/>
            </a:bodyPr>
            <a:lstStyle/>
            <a:p>
              <a:r>
                <a:rPr lang="en-US" sz="1200" b="1" dirty="0"/>
                <a:t>3. </a:t>
              </a:r>
              <a:r>
                <a:rPr lang="en-US" sz="1200" dirty="0"/>
                <a:t>Send the ciphertext to the server</a:t>
              </a:r>
            </a:p>
          </p:txBody>
        </p:sp>
      </p:grpSp>
      <p:grpSp>
        <p:nvGrpSpPr>
          <p:cNvPr id="74" name="Группа 73">
            <a:extLst>
              <a:ext uri="{FF2B5EF4-FFF2-40B4-BE49-F238E27FC236}">
                <a16:creationId xmlns:a16="http://schemas.microsoft.com/office/drawing/2014/main" id="{14FD6871-E5A3-4578-B99E-0DA9EA803D09}"/>
              </a:ext>
            </a:extLst>
          </p:cNvPr>
          <p:cNvGrpSpPr/>
          <p:nvPr/>
        </p:nvGrpSpPr>
        <p:grpSpPr>
          <a:xfrm>
            <a:off x="6197242" y="4501910"/>
            <a:ext cx="3738317" cy="784631"/>
            <a:chOff x="6197242" y="4501910"/>
            <a:chExt cx="3738317" cy="784631"/>
          </a:xfrm>
        </p:grpSpPr>
        <p:cxnSp>
          <p:nvCxnSpPr>
            <p:cNvPr id="203" name="Straight Arrow Connector 202">
              <a:extLst>
                <a:ext uri="{FF2B5EF4-FFF2-40B4-BE49-F238E27FC236}">
                  <a16:creationId xmlns:a16="http://schemas.microsoft.com/office/drawing/2014/main" id="{6119B3A3-E437-4322-AC92-87900FB6FECB}"/>
                </a:ext>
              </a:extLst>
            </p:cNvPr>
            <p:cNvCxnSpPr>
              <a:cxnSpLocks/>
            </p:cNvCxnSpPr>
            <p:nvPr/>
          </p:nvCxnSpPr>
          <p:spPr>
            <a:xfrm flipH="1">
              <a:off x="6197242" y="4501910"/>
              <a:ext cx="3738317" cy="0"/>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sp>
          <p:nvSpPr>
            <p:cNvPr id="209" name="TextBox 208">
              <a:extLst>
                <a:ext uri="{FF2B5EF4-FFF2-40B4-BE49-F238E27FC236}">
                  <a16:creationId xmlns:a16="http://schemas.microsoft.com/office/drawing/2014/main" id="{3BCBD7D0-CEDF-42EF-999C-6A21BF37BEE4}"/>
                </a:ext>
              </a:extLst>
            </p:cNvPr>
            <p:cNvSpPr txBox="1"/>
            <p:nvPr/>
          </p:nvSpPr>
          <p:spPr>
            <a:xfrm>
              <a:off x="6714157" y="4824876"/>
              <a:ext cx="2049668" cy="461665"/>
            </a:xfrm>
            <a:prstGeom prst="rect">
              <a:avLst/>
            </a:prstGeom>
            <a:noFill/>
          </p:spPr>
          <p:txBody>
            <a:bodyPr wrap="square">
              <a:spAutoFit/>
            </a:bodyPr>
            <a:lstStyle/>
            <a:p>
              <a:r>
                <a:rPr lang="ru-RU" sz="1200" b="1" dirty="0"/>
                <a:t>6</a:t>
              </a:r>
              <a:r>
                <a:rPr lang="en-US" sz="1200" b="1" dirty="0"/>
                <a:t>. </a:t>
              </a:r>
              <a:r>
                <a:rPr lang="en-US" sz="1200" dirty="0"/>
                <a:t>Send accumulated ciphertext back to the client</a:t>
              </a:r>
            </a:p>
          </p:txBody>
        </p:sp>
      </p:grpSp>
      <p:grpSp>
        <p:nvGrpSpPr>
          <p:cNvPr id="123" name="Группа 122">
            <a:extLst>
              <a:ext uri="{FF2B5EF4-FFF2-40B4-BE49-F238E27FC236}">
                <a16:creationId xmlns:a16="http://schemas.microsoft.com/office/drawing/2014/main" id="{48906DB1-2EE3-4569-8C97-A7FA928C616E}"/>
              </a:ext>
            </a:extLst>
          </p:cNvPr>
          <p:cNvGrpSpPr/>
          <p:nvPr/>
        </p:nvGrpSpPr>
        <p:grpSpPr>
          <a:xfrm>
            <a:off x="6962667" y="5659622"/>
            <a:ext cx="1847879" cy="1004191"/>
            <a:chOff x="8310689" y="5659622"/>
            <a:chExt cx="1847879" cy="1004191"/>
          </a:xfrm>
        </p:grpSpPr>
        <p:sp>
          <p:nvSpPr>
            <p:cNvPr id="192" name="TextBox 191">
              <a:extLst>
                <a:ext uri="{FF2B5EF4-FFF2-40B4-BE49-F238E27FC236}">
                  <a16:creationId xmlns:a16="http://schemas.microsoft.com/office/drawing/2014/main" id="{2EF25858-962A-4754-9939-F7D084B7099F}"/>
                </a:ext>
              </a:extLst>
            </p:cNvPr>
            <p:cNvSpPr txBox="1"/>
            <p:nvPr/>
          </p:nvSpPr>
          <p:spPr>
            <a:xfrm>
              <a:off x="8310690" y="5925149"/>
              <a:ext cx="1847878" cy="738664"/>
            </a:xfrm>
            <a:prstGeom prst="rect">
              <a:avLst/>
            </a:prstGeom>
            <a:noFill/>
          </p:spPr>
          <p:txBody>
            <a:bodyPr wrap="square">
              <a:spAutoFit/>
            </a:bodyPr>
            <a:lstStyle/>
            <a:p>
              <a:pPr marL="342900" indent="-342900">
                <a:buAutoNum type="arabicPeriod"/>
              </a:pPr>
              <a:r>
                <a:rPr lang="en-US" sz="1400" dirty="0" err="1"/>
                <a:t>LPR.ES.KeyGen</a:t>
              </a:r>
              <a:r>
                <a:rPr lang="en-US" sz="1400" dirty="0"/>
                <a:t>(…)</a:t>
              </a:r>
            </a:p>
            <a:p>
              <a:pPr marL="342900" indent="-342900">
                <a:buAutoNum type="arabicPeriod"/>
              </a:pPr>
              <a:r>
                <a:rPr lang="en-US" sz="1400" dirty="0" err="1"/>
                <a:t>LPR.ES.Enc</a:t>
              </a:r>
              <a:r>
                <a:rPr lang="en-US" sz="1400" dirty="0"/>
                <a:t>(</a:t>
              </a:r>
              <a:r>
                <a:rPr lang="en-US" sz="1400" dirty="0" err="1"/>
                <a:t>sk</a:t>
              </a:r>
              <a:r>
                <a:rPr lang="en-US" sz="1400" dirty="0"/>
                <a:t>, </a:t>
              </a:r>
              <a:r>
                <a:rPr lang="en-US" sz="1400" dirty="0" err="1"/>
                <a:t>pt</a:t>
              </a:r>
              <a:r>
                <a:rPr lang="en-US" sz="1400" dirty="0"/>
                <a:t>)</a:t>
              </a:r>
            </a:p>
            <a:p>
              <a:pPr marL="342900" indent="-342900">
                <a:buFontTx/>
                <a:buAutoNum type="arabicPeriod"/>
              </a:pPr>
              <a:r>
                <a:rPr lang="en-US" sz="1400" dirty="0" err="1"/>
                <a:t>LPR.ES.Dec</a:t>
              </a:r>
              <a:r>
                <a:rPr lang="en-US" sz="1400" dirty="0"/>
                <a:t>(</a:t>
              </a:r>
              <a:r>
                <a:rPr lang="en-US" sz="1400" dirty="0" err="1"/>
                <a:t>sk</a:t>
              </a:r>
              <a:r>
                <a:rPr lang="en-US" sz="1400" dirty="0"/>
                <a:t>, </a:t>
              </a:r>
              <a:r>
                <a:rPr lang="en-US" sz="1400" dirty="0" err="1"/>
                <a:t>ct</a:t>
              </a:r>
              <a:r>
                <a:rPr lang="en-US" sz="1400" dirty="0"/>
                <a:t>) </a:t>
              </a:r>
              <a:endParaRPr lang="en-US" sz="1400" baseline="30000" dirty="0"/>
            </a:p>
          </p:txBody>
        </p:sp>
        <p:sp>
          <p:nvSpPr>
            <p:cNvPr id="266" name="TextBox 265">
              <a:extLst>
                <a:ext uri="{FF2B5EF4-FFF2-40B4-BE49-F238E27FC236}">
                  <a16:creationId xmlns:a16="http://schemas.microsoft.com/office/drawing/2014/main" id="{F95FC734-DCDA-43BD-8F26-637B61FBEE4C}"/>
                </a:ext>
              </a:extLst>
            </p:cNvPr>
            <p:cNvSpPr txBox="1"/>
            <p:nvPr/>
          </p:nvSpPr>
          <p:spPr>
            <a:xfrm>
              <a:off x="8310689" y="5659622"/>
              <a:ext cx="1426577" cy="307777"/>
            </a:xfrm>
            <a:prstGeom prst="rect">
              <a:avLst/>
            </a:prstGeom>
            <a:noFill/>
          </p:spPr>
          <p:txBody>
            <a:bodyPr wrap="square">
              <a:spAutoFit/>
            </a:bodyPr>
            <a:lstStyle/>
            <a:p>
              <a:r>
                <a:rPr lang="en-US" sz="1400" b="1" dirty="0"/>
                <a:t>LPR.ES:</a:t>
              </a:r>
              <a:endParaRPr lang="en-US" sz="1400" b="1" baseline="30000" dirty="0"/>
            </a:p>
          </p:txBody>
        </p:sp>
      </p:grpSp>
      <p:grpSp>
        <p:nvGrpSpPr>
          <p:cNvPr id="124" name="Группа 123">
            <a:extLst>
              <a:ext uri="{FF2B5EF4-FFF2-40B4-BE49-F238E27FC236}">
                <a16:creationId xmlns:a16="http://schemas.microsoft.com/office/drawing/2014/main" id="{897A72C9-9E25-417E-AD19-CD9B117B6BFA}"/>
              </a:ext>
            </a:extLst>
          </p:cNvPr>
          <p:cNvGrpSpPr/>
          <p:nvPr/>
        </p:nvGrpSpPr>
        <p:grpSpPr>
          <a:xfrm>
            <a:off x="8886623" y="5667489"/>
            <a:ext cx="1701803" cy="801408"/>
            <a:chOff x="10255271" y="5667489"/>
            <a:chExt cx="1701803" cy="801408"/>
          </a:xfrm>
        </p:grpSpPr>
        <p:sp>
          <p:nvSpPr>
            <p:cNvPr id="195" name="TextBox 194">
              <a:extLst>
                <a:ext uri="{FF2B5EF4-FFF2-40B4-BE49-F238E27FC236}">
                  <a16:creationId xmlns:a16="http://schemas.microsoft.com/office/drawing/2014/main" id="{BBB4D65E-53B1-407D-B654-335C72FCDBED}"/>
                </a:ext>
              </a:extLst>
            </p:cNvPr>
            <p:cNvSpPr txBox="1"/>
            <p:nvPr/>
          </p:nvSpPr>
          <p:spPr>
            <a:xfrm>
              <a:off x="10256812" y="5925149"/>
              <a:ext cx="1700262" cy="307777"/>
            </a:xfrm>
            <a:prstGeom prst="rect">
              <a:avLst/>
            </a:prstGeom>
            <a:noFill/>
          </p:spPr>
          <p:txBody>
            <a:bodyPr wrap="square">
              <a:spAutoFit/>
            </a:bodyPr>
            <a:lstStyle/>
            <a:p>
              <a:r>
                <a:rPr lang="en-US" sz="1400" dirty="0"/>
                <a:t>1. </a:t>
              </a:r>
              <a:r>
                <a:rPr lang="en-US" sz="1400" dirty="0" err="1"/>
                <a:t>FV.SH.Mul</a:t>
              </a:r>
              <a:r>
                <a:rPr lang="en-US" sz="1400" dirty="0"/>
                <a:t>(</a:t>
              </a:r>
              <a:r>
                <a:rPr lang="en-US" sz="1400" dirty="0" err="1"/>
                <a:t>ct</a:t>
              </a:r>
              <a:r>
                <a:rPr lang="en-US" sz="1400" dirty="0"/>
                <a:t>, </a:t>
              </a:r>
              <a:r>
                <a:rPr lang="en-US" sz="1400" dirty="0" err="1"/>
                <a:t>pt</a:t>
              </a:r>
              <a:r>
                <a:rPr lang="en-US" sz="1400" dirty="0"/>
                <a:t>)</a:t>
              </a:r>
            </a:p>
          </p:txBody>
        </p:sp>
        <p:sp>
          <p:nvSpPr>
            <p:cNvPr id="263" name="TextBox 262">
              <a:extLst>
                <a:ext uri="{FF2B5EF4-FFF2-40B4-BE49-F238E27FC236}">
                  <a16:creationId xmlns:a16="http://schemas.microsoft.com/office/drawing/2014/main" id="{1350513D-0346-4441-B0DA-4A4D60A10634}"/>
                </a:ext>
              </a:extLst>
            </p:cNvPr>
            <p:cNvSpPr txBox="1"/>
            <p:nvPr/>
          </p:nvSpPr>
          <p:spPr>
            <a:xfrm>
              <a:off x="10255272" y="6161120"/>
              <a:ext cx="1700262" cy="307777"/>
            </a:xfrm>
            <a:prstGeom prst="rect">
              <a:avLst/>
            </a:prstGeom>
            <a:noFill/>
          </p:spPr>
          <p:txBody>
            <a:bodyPr wrap="square">
              <a:spAutoFit/>
            </a:bodyPr>
            <a:lstStyle/>
            <a:p>
              <a:r>
                <a:rPr lang="en-US" sz="1400" dirty="0"/>
                <a:t>2. </a:t>
              </a:r>
              <a:r>
                <a:rPr lang="en-US" sz="1400" dirty="0" err="1"/>
                <a:t>FV.SH.Add</a:t>
              </a:r>
              <a:r>
                <a:rPr lang="en-US" sz="1400" dirty="0"/>
                <a:t>(ct1,ct2)</a:t>
              </a:r>
            </a:p>
          </p:txBody>
        </p:sp>
        <p:sp>
          <p:nvSpPr>
            <p:cNvPr id="267" name="TextBox 266">
              <a:extLst>
                <a:ext uri="{FF2B5EF4-FFF2-40B4-BE49-F238E27FC236}">
                  <a16:creationId xmlns:a16="http://schemas.microsoft.com/office/drawing/2014/main" id="{FC64B8DF-A6AD-47A9-B302-A8AA02E664ED}"/>
                </a:ext>
              </a:extLst>
            </p:cNvPr>
            <p:cNvSpPr txBox="1"/>
            <p:nvPr/>
          </p:nvSpPr>
          <p:spPr>
            <a:xfrm>
              <a:off x="10255271" y="5667489"/>
              <a:ext cx="1426577" cy="307777"/>
            </a:xfrm>
            <a:prstGeom prst="rect">
              <a:avLst/>
            </a:prstGeom>
            <a:noFill/>
          </p:spPr>
          <p:txBody>
            <a:bodyPr wrap="square">
              <a:spAutoFit/>
            </a:bodyPr>
            <a:lstStyle/>
            <a:p>
              <a:r>
                <a:rPr lang="en-US" sz="1400" b="1" dirty="0"/>
                <a:t>FV.SH:</a:t>
              </a:r>
              <a:endParaRPr lang="en-US" sz="1400" b="1" baseline="30000" dirty="0"/>
            </a:p>
          </p:txBody>
        </p:sp>
      </p:grpSp>
      <p:grpSp>
        <p:nvGrpSpPr>
          <p:cNvPr id="35" name="Группа 34">
            <a:extLst>
              <a:ext uri="{FF2B5EF4-FFF2-40B4-BE49-F238E27FC236}">
                <a16:creationId xmlns:a16="http://schemas.microsoft.com/office/drawing/2014/main" id="{BAA59EBC-807C-4EDB-AFA7-414307A80D5D}"/>
              </a:ext>
            </a:extLst>
          </p:cNvPr>
          <p:cNvGrpSpPr/>
          <p:nvPr/>
        </p:nvGrpSpPr>
        <p:grpSpPr>
          <a:xfrm>
            <a:off x="1365208" y="1816373"/>
            <a:ext cx="3057435" cy="2234909"/>
            <a:chOff x="1365208" y="1816373"/>
            <a:chExt cx="3057435" cy="2234909"/>
          </a:xfrm>
        </p:grpSpPr>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5CCFB84-2170-4469-8878-D406F8C13D64}"/>
                    </a:ext>
                  </a:extLst>
                </p:cNvPr>
                <p:cNvSpPr txBox="1"/>
                <p:nvPr/>
              </p:nvSpPr>
              <p:spPr>
                <a:xfrm>
                  <a:off x="1365208" y="2518820"/>
                  <a:ext cx="1967902" cy="287899"/>
                </a:xfrm>
                <a:prstGeom prst="rect">
                  <a:avLst/>
                </a:prstGeom>
                <a:noFill/>
              </p:spPr>
              <p:txBody>
                <a:bodyPr wrap="square">
                  <a:spAutoFit/>
                </a:bodyPr>
                <a:lstStyle/>
                <a:p>
                  <a:r>
                    <a:rPr lang="en-US" sz="1200" b="1" dirty="0"/>
                    <a:t>2. </a:t>
                  </a:r>
                  <a:r>
                    <a:rPr lang="en-US" sz="1200" dirty="0"/>
                    <a:t> </a:t>
                  </a:r>
                  <a14:m>
                    <m:oMath xmlns:m="http://schemas.openxmlformats.org/officeDocument/2006/math">
                      <m:sSubSup>
                        <m:sSubSupPr>
                          <m:ctrlPr>
                            <a:rPr lang="en-US" sz="1200" i="1" smtClean="0">
                              <a:latin typeface="Cambria Math" panose="02040503050406030204" pitchFamily="18" charset="0"/>
                            </a:rPr>
                          </m:ctrlPr>
                        </m:sSubSupPr>
                        <m:e>
                          <m:r>
                            <m:rPr>
                              <m:nor/>
                            </m:rPr>
                            <a:rPr lang="en-US" sz="1200" i="1" smtClean="0">
                              <a:latin typeface="Cambria Math" panose="02040503050406030204" pitchFamily="18" charset="0"/>
                            </a:rPr>
                            <m:t>{</m:t>
                          </m:r>
                          <m:r>
                            <m:rPr>
                              <m:nor/>
                            </m:rPr>
                            <a:rPr lang="en-US" sz="1200" b="0" i="1" smtClean="0">
                              <a:latin typeface="Cambria Math" panose="02040503050406030204" pitchFamily="18" charset="0"/>
                            </a:rPr>
                            <m:t>LPR</m:t>
                          </m:r>
                          <m:r>
                            <m:rPr>
                              <m:nor/>
                            </m:rPr>
                            <a:rPr lang="en-US" sz="1200" i="1" dirty="0"/>
                            <m:t>.</m:t>
                          </m:r>
                          <m:r>
                            <m:rPr>
                              <m:nor/>
                            </m:rPr>
                            <a:rPr lang="en-US" sz="1200" b="0" i="1" dirty="0" smtClean="0"/>
                            <m:t>ES</m:t>
                          </m:r>
                          <m:r>
                            <m:rPr>
                              <m:nor/>
                            </m:rPr>
                            <a:rPr lang="en-US" sz="1200" i="1" dirty="0"/>
                            <m:t>.</m:t>
                          </m:r>
                          <m:r>
                            <m:rPr>
                              <m:nor/>
                            </m:rPr>
                            <a:rPr lang="en-US" sz="1200" b="0" i="1" dirty="0" smtClean="0"/>
                            <m:t>Enc</m:t>
                          </m:r>
                          <m:r>
                            <m:rPr>
                              <m:nor/>
                            </m:rPr>
                            <a:rPr lang="en-US" sz="1200" i="1" dirty="0"/>
                            <m:t>(</m:t>
                          </m:r>
                          <m:r>
                            <m:rPr>
                              <m:nor/>
                            </m:rPr>
                            <a:rPr lang="en-US" sz="1200" b="0" i="1" dirty="0" smtClean="0"/>
                            <m:t>sk</m:t>
                          </m:r>
                          <m:r>
                            <m:rPr>
                              <m:nor/>
                            </m:rPr>
                            <a:rPr lang="en-US" sz="1200" i="1" dirty="0"/>
                            <m:t>,</m:t>
                          </m:r>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i="1">
                                  <a:latin typeface="Cambria Math" panose="02040503050406030204" pitchFamily="18" charset="0"/>
                                </a:rPr>
                                <m:t>𝑖</m:t>
                              </m:r>
                            </m:sub>
                          </m:sSub>
                          <m:r>
                            <m:rPr>
                              <m:nor/>
                            </m:rPr>
                            <a:rPr lang="en-US" sz="1200" i="1" dirty="0"/>
                            <m:t>)</m:t>
                          </m:r>
                          <m:r>
                            <m:rPr>
                              <m:nor/>
                            </m:rPr>
                            <a:rPr lang="en-US" sz="1200" i="1" dirty="0" smtClean="0"/>
                            <m:t>}</m:t>
                          </m:r>
                        </m:e>
                        <m:sub>
                          <m:r>
                            <a:rPr lang="en-US" sz="1200" b="0" i="1" smtClean="0">
                              <a:latin typeface="Cambria Math" panose="02040503050406030204" pitchFamily="18" charset="0"/>
                            </a:rPr>
                            <m:t> </m:t>
                          </m:r>
                          <m:r>
                            <a:rPr lang="en-US" sz="1200" b="0" i="1" smtClean="0">
                              <a:latin typeface="Cambria Math" panose="02040503050406030204" pitchFamily="18" charset="0"/>
                            </a:rPr>
                            <m:t>𝑖</m:t>
                          </m:r>
                          <m:r>
                            <a:rPr lang="en-US" sz="1200" b="0" i="1" smtClean="0">
                              <a:latin typeface="Cambria Math" panose="02040503050406030204" pitchFamily="18" charset="0"/>
                            </a:rPr>
                            <m:t>=0</m:t>
                          </m:r>
                        </m:sub>
                        <m:sup>
                          <m:r>
                            <a:rPr lang="en-US" sz="1200" b="0" i="1" smtClean="0">
                              <a:latin typeface="Cambria Math" panose="02040503050406030204" pitchFamily="18" charset="0"/>
                            </a:rPr>
                            <m:t> </m:t>
                          </m:r>
                          <m:r>
                            <a:rPr lang="en-US" sz="1200" b="0" i="1" smtClean="0">
                              <a:latin typeface="Cambria Math" panose="02040503050406030204" pitchFamily="18" charset="0"/>
                            </a:rPr>
                            <m:t>𝑚</m:t>
                          </m:r>
                          <m:r>
                            <a:rPr lang="en-US" sz="1200" b="0" i="1" smtClean="0">
                              <a:latin typeface="Cambria Math" panose="02040503050406030204" pitchFamily="18" charset="0"/>
                            </a:rPr>
                            <m:t>−1</m:t>
                          </m:r>
                        </m:sup>
                      </m:sSubSup>
                    </m:oMath>
                  </a14:m>
                  <a:r>
                    <a:rPr lang="en-US" sz="1200" b="1" dirty="0"/>
                    <a:t> </a:t>
                  </a:r>
                </a:p>
              </p:txBody>
            </p:sp>
          </mc:Choice>
          <mc:Fallback xmlns="">
            <p:sp>
              <p:nvSpPr>
                <p:cNvPr id="39" name="TextBox 38">
                  <a:extLst>
                    <a:ext uri="{FF2B5EF4-FFF2-40B4-BE49-F238E27FC236}">
                      <a16:creationId xmlns:a16="http://schemas.microsoft.com/office/drawing/2014/main" id="{D5CCFB84-2170-4469-8878-D406F8C13D64}"/>
                    </a:ext>
                  </a:extLst>
                </p:cNvPr>
                <p:cNvSpPr txBox="1">
                  <a:spLocks noRot="1" noChangeAspect="1" noMove="1" noResize="1" noEditPoints="1" noAdjustHandles="1" noChangeArrowheads="1" noChangeShapeType="1" noTextEdit="1"/>
                </p:cNvSpPr>
                <p:nvPr/>
              </p:nvSpPr>
              <p:spPr>
                <a:xfrm>
                  <a:off x="1365208" y="2518820"/>
                  <a:ext cx="1967902" cy="287899"/>
                </a:xfrm>
                <a:prstGeom prst="rect">
                  <a:avLst/>
                </a:prstGeom>
                <a:blipFill>
                  <a:blip r:embed="rId4"/>
                  <a:stretch>
                    <a:fillRect l="-310" b="-17021"/>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F465EC2B-2D0C-4C9D-B63E-89BBEF535AE1}"/>
                </a:ext>
              </a:extLst>
            </p:cNvPr>
            <p:cNvCxnSpPr>
              <a:cxnSpLocks/>
            </p:cNvCxnSpPr>
            <p:nvPr/>
          </p:nvCxnSpPr>
          <p:spPr>
            <a:xfrm>
              <a:off x="1422721" y="2992573"/>
              <a:ext cx="1458105" cy="395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2" name="Группа 31">
              <a:extLst>
                <a:ext uri="{FF2B5EF4-FFF2-40B4-BE49-F238E27FC236}">
                  <a16:creationId xmlns:a16="http://schemas.microsoft.com/office/drawing/2014/main" id="{A9C68619-AB07-4E5A-A2D5-FC4927060151}"/>
                </a:ext>
              </a:extLst>
            </p:cNvPr>
            <p:cNvGrpSpPr/>
            <p:nvPr/>
          </p:nvGrpSpPr>
          <p:grpSpPr>
            <a:xfrm>
              <a:off x="2955548" y="1816373"/>
              <a:ext cx="1467095" cy="2234909"/>
              <a:chOff x="2955516" y="1879303"/>
              <a:chExt cx="1467095" cy="2234909"/>
            </a:xfrm>
          </p:grpSpPr>
          <p:grpSp>
            <p:nvGrpSpPr>
              <p:cNvPr id="106" name="Group 105">
                <a:extLst>
                  <a:ext uri="{FF2B5EF4-FFF2-40B4-BE49-F238E27FC236}">
                    <a16:creationId xmlns:a16="http://schemas.microsoft.com/office/drawing/2014/main" id="{0E85FEE1-A9D9-4DDB-BA70-7DE6EF9FEA7A}"/>
                  </a:ext>
                </a:extLst>
              </p:cNvPr>
              <p:cNvGrpSpPr/>
              <p:nvPr/>
            </p:nvGrpSpPr>
            <p:grpSpPr>
              <a:xfrm>
                <a:off x="2955516" y="1907792"/>
                <a:ext cx="810123" cy="2206420"/>
                <a:chOff x="2955516" y="1421399"/>
                <a:chExt cx="810123" cy="2206420"/>
              </a:xfrm>
            </p:grpSpPr>
            <p:sp>
              <p:nvSpPr>
                <p:cNvPr id="56" name="TextBox 55">
                  <a:extLst>
                    <a:ext uri="{FF2B5EF4-FFF2-40B4-BE49-F238E27FC236}">
                      <a16:creationId xmlns:a16="http://schemas.microsoft.com/office/drawing/2014/main" id="{93C42D4F-F301-4868-922B-CC64FD70D20A}"/>
                    </a:ext>
                  </a:extLst>
                </p:cNvPr>
                <p:cNvSpPr txBox="1"/>
                <p:nvPr/>
              </p:nvSpPr>
              <p:spPr>
                <a:xfrm>
                  <a:off x="3016728" y="1421399"/>
                  <a:ext cx="228375" cy="276999"/>
                </a:xfrm>
                <a:prstGeom prst="rect">
                  <a:avLst/>
                </a:prstGeom>
                <a:noFill/>
              </p:spPr>
              <p:txBody>
                <a:bodyPr wrap="square">
                  <a:spAutoFit/>
                </a:bodyPr>
                <a:lstStyle/>
                <a:p>
                  <a:r>
                    <a:rPr lang="en-US" sz="1200" dirty="0"/>
                    <a:t>0</a:t>
                  </a:r>
                </a:p>
              </p:txBody>
            </p:sp>
            <p:grpSp>
              <p:nvGrpSpPr>
                <p:cNvPr id="23" name="Group 22">
                  <a:extLst>
                    <a:ext uri="{FF2B5EF4-FFF2-40B4-BE49-F238E27FC236}">
                      <a16:creationId xmlns:a16="http://schemas.microsoft.com/office/drawing/2014/main" id="{0CF73408-59E1-4233-A16E-7BE9E3CA268E}"/>
                    </a:ext>
                  </a:extLst>
                </p:cNvPr>
                <p:cNvGrpSpPr/>
                <p:nvPr/>
              </p:nvGrpSpPr>
              <p:grpSpPr>
                <a:xfrm>
                  <a:off x="3302318" y="1643208"/>
                  <a:ext cx="463321" cy="1738544"/>
                  <a:chOff x="3302318" y="1643208"/>
                  <a:chExt cx="463321" cy="1738544"/>
                </a:xfrm>
              </p:grpSpPr>
              <p:sp>
                <p:nvSpPr>
                  <p:cNvPr id="57" name="Rectangle 56">
                    <a:extLst>
                      <a:ext uri="{FF2B5EF4-FFF2-40B4-BE49-F238E27FC236}">
                        <a16:creationId xmlns:a16="http://schemas.microsoft.com/office/drawing/2014/main" id="{835978C0-C3BD-4F74-B8F8-943272CFFBBA}"/>
                      </a:ext>
                    </a:extLst>
                  </p:cNvPr>
                  <p:cNvSpPr/>
                  <p:nvPr/>
                </p:nvSpPr>
                <p:spPr>
                  <a:xfrm>
                    <a:off x="3326349" y="1643208"/>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A0693D3E-FCA6-4644-9A5F-84651C4B5B5B}"/>
                      </a:ext>
                    </a:extLst>
                  </p:cNvPr>
                  <p:cNvSpPr/>
                  <p:nvPr/>
                </p:nvSpPr>
                <p:spPr>
                  <a:xfrm>
                    <a:off x="3326351" y="1651521"/>
                    <a:ext cx="385893" cy="173023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4946460-258D-4C88-9235-D30FCC9D688A}"/>
                      </a:ext>
                    </a:extLst>
                  </p:cNvPr>
                  <p:cNvSpPr/>
                  <p:nvPr/>
                </p:nvSpPr>
                <p:spPr>
                  <a:xfrm>
                    <a:off x="3326348" y="1989254"/>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DF780D59-373F-4FAA-962B-4A8ADB880794}"/>
                      </a:ext>
                    </a:extLst>
                  </p:cNvPr>
                  <p:cNvSpPr/>
                  <p:nvPr/>
                </p:nvSpPr>
                <p:spPr>
                  <a:xfrm>
                    <a:off x="3326345" y="2335300"/>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E248FC53-51B7-4910-86EB-3FC08E5C09A3}"/>
                      </a:ext>
                    </a:extLst>
                  </p:cNvPr>
                  <p:cNvSpPr/>
                  <p:nvPr/>
                </p:nvSpPr>
                <p:spPr>
                  <a:xfrm>
                    <a:off x="3326342" y="2681346"/>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4B801DA-F748-4631-93AA-B2F572636AFB}"/>
                      </a:ext>
                    </a:extLst>
                  </p:cNvPr>
                  <p:cNvSpPr/>
                  <p:nvPr/>
                </p:nvSpPr>
                <p:spPr>
                  <a:xfrm>
                    <a:off x="3326339" y="3027392"/>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TextBox 100">
                    <a:extLst>
                      <a:ext uri="{FF2B5EF4-FFF2-40B4-BE49-F238E27FC236}">
                        <a16:creationId xmlns:a16="http://schemas.microsoft.com/office/drawing/2014/main" id="{07727098-9C27-4C73-8920-5BCF4A457748}"/>
                      </a:ext>
                    </a:extLst>
                  </p:cNvPr>
                  <p:cNvSpPr txBox="1"/>
                  <p:nvPr/>
                </p:nvSpPr>
                <p:spPr>
                  <a:xfrm rot="5400000">
                    <a:off x="3433428" y="2693353"/>
                    <a:ext cx="228375" cy="276999"/>
                  </a:xfrm>
                  <a:prstGeom prst="rect">
                    <a:avLst/>
                  </a:prstGeom>
                  <a:noFill/>
                </p:spPr>
                <p:txBody>
                  <a:bodyPr wrap="square">
                    <a:spAutoFit/>
                  </a:bodyPr>
                  <a:lstStyle/>
                  <a:p>
                    <a:r>
                      <a:rPr lang="en-US" sz="1200" dirty="0"/>
                      <a:t>…</a:t>
                    </a:r>
                  </a:p>
                </p:txBody>
              </p:sp>
              <p:sp>
                <p:nvSpPr>
                  <p:cNvPr id="92" name="TextBox 91">
                    <a:extLst>
                      <a:ext uri="{FF2B5EF4-FFF2-40B4-BE49-F238E27FC236}">
                        <a16:creationId xmlns:a16="http://schemas.microsoft.com/office/drawing/2014/main" id="{F23B8958-43B2-4D19-9904-298AC7ED4AC2}"/>
                      </a:ext>
                    </a:extLst>
                  </p:cNvPr>
                  <p:cNvSpPr txBox="1"/>
                  <p:nvPr/>
                </p:nvSpPr>
                <p:spPr>
                  <a:xfrm>
                    <a:off x="3311211" y="1687180"/>
                    <a:ext cx="454428" cy="276999"/>
                  </a:xfrm>
                  <a:prstGeom prst="rect">
                    <a:avLst/>
                  </a:prstGeom>
                  <a:noFill/>
                </p:spPr>
                <p:txBody>
                  <a:bodyPr wrap="square">
                    <a:spAutoFit/>
                  </a:bodyPr>
                  <a:lstStyle/>
                  <a:p>
                    <a:r>
                      <a:rPr lang="en-US" sz="1200" dirty="0"/>
                      <a:t>S(0)</a:t>
                    </a:r>
                  </a:p>
                </p:txBody>
              </p:sp>
              <p:sp>
                <p:nvSpPr>
                  <p:cNvPr id="99" name="TextBox 98">
                    <a:extLst>
                      <a:ext uri="{FF2B5EF4-FFF2-40B4-BE49-F238E27FC236}">
                        <a16:creationId xmlns:a16="http://schemas.microsoft.com/office/drawing/2014/main" id="{4A046574-4B69-41AA-BD89-85DAB2C475F4}"/>
                      </a:ext>
                    </a:extLst>
                  </p:cNvPr>
                  <p:cNvSpPr txBox="1"/>
                  <p:nvPr/>
                </p:nvSpPr>
                <p:spPr>
                  <a:xfrm>
                    <a:off x="3302318" y="2028655"/>
                    <a:ext cx="454428" cy="276999"/>
                  </a:xfrm>
                  <a:prstGeom prst="rect">
                    <a:avLst/>
                  </a:prstGeom>
                  <a:noFill/>
                </p:spPr>
                <p:txBody>
                  <a:bodyPr wrap="square">
                    <a:spAutoFit/>
                  </a:bodyPr>
                  <a:lstStyle/>
                  <a:p>
                    <a:r>
                      <a:rPr lang="en-US" sz="1200" dirty="0"/>
                      <a:t>S(0)</a:t>
                    </a:r>
                  </a:p>
                </p:txBody>
              </p:sp>
              <p:sp>
                <p:nvSpPr>
                  <p:cNvPr id="100" name="TextBox 99">
                    <a:extLst>
                      <a:ext uri="{FF2B5EF4-FFF2-40B4-BE49-F238E27FC236}">
                        <a16:creationId xmlns:a16="http://schemas.microsoft.com/office/drawing/2014/main" id="{892C5542-BB61-40D7-BE3E-5FC97203D76C}"/>
                      </a:ext>
                    </a:extLst>
                  </p:cNvPr>
                  <p:cNvSpPr txBox="1"/>
                  <p:nvPr/>
                </p:nvSpPr>
                <p:spPr>
                  <a:xfrm>
                    <a:off x="3302318" y="2378136"/>
                    <a:ext cx="454428" cy="276999"/>
                  </a:xfrm>
                  <a:prstGeom prst="rect">
                    <a:avLst/>
                  </a:prstGeom>
                  <a:noFill/>
                </p:spPr>
                <p:txBody>
                  <a:bodyPr wrap="square">
                    <a:spAutoFit/>
                  </a:bodyPr>
                  <a:lstStyle/>
                  <a:p>
                    <a:r>
                      <a:rPr lang="en-US" sz="1200" dirty="0"/>
                      <a:t>S(1)</a:t>
                    </a:r>
                  </a:p>
                </p:txBody>
              </p:sp>
              <p:sp>
                <p:nvSpPr>
                  <p:cNvPr id="102" name="TextBox 101">
                    <a:extLst>
                      <a:ext uri="{FF2B5EF4-FFF2-40B4-BE49-F238E27FC236}">
                        <a16:creationId xmlns:a16="http://schemas.microsoft.com/office/drawing/2014/main" id="{7C4BDF69-693F-4A73-B365-C61563D0658A}"/>
                      </a:ext>
                    </a:extLst>
                  </p:cNvPr>
                  <p:cNvSpPr txBox="1"/>
                  <p:nvPr/>
                </p:nvSpPr>
                <p:spPr>
                  <a:xfrm>
                    <a:off x="3311211" y="3059966"/>
                    <a:ext cx="454428" cy="276999"/>
                  </a:xfrm>
                  <a:prstGeom prst="rect">
                    <a:avLst/>
                  </a:prstGeom>
                  <a:noFill/>
                </p:spPr>
                <p:txBody>
                  <a:bodyPr wrap="square">
                    <a:spAutoFit/>
                  </a:bodyPr>
                  <a:lstStyle/>
                  <a:p>
                    <a:r>
                      <a:rPr lang="en-US" sz="1200" dirty="0"/>
                      <a:t>S(0)</a:t>
                    </a:r>
                  </a:p>
                </p:txBody>
              </p:sp>
            </p:grpSp>
            <p:sp>
              <p:nvSpPr>
                <p:cNvPr id="103" name="TextBox 102">
                  <a:extLst>
                    <a:ext uri="{FF2B5EF4-FFF2-40B4-BE49-F238E27FC236}">
                      <a16:creationId xmlns:a16="http://schemas.microsoft.com/office/drawing/2014/main" id="{D644289F-47A0-421C-8857-B25CC04FF00D}"/>
                    </a:ext>
                  </a:extLst>
                </p:cNvPr>
                <p:cNvSpPr txBox="1"/>
                <p:nvPr/>
              </p:nvSpPr>
              <p:spPr>
                <a:xfrm>
                  <a:off x="2955516" y="3350820"/>
                  <a:ext cx="439302" cy="276999"/>
                </a:xfrm>
                <a:prstGeom prst="rect">
                  <a:avLst/>
                </a:prstGeom>
                <a:noFill/>
              </p:spPr>
              <p:txBody>
                <a:bodyPr wrap="square">
                  <a:spAutoFit/>
                </a:bodyPr>
                <a:lstStyle/>
                <a:p>
                  <a:r>
                    <a:rPr lang="en-US" sz="1200" dirty="0"/>
                    <a:t>m-1</a:t>
                  </a:r>
                </a:p>
              </p:txBody>
            </p:sp>
          </p:grpSp>
          <mc:AlternateContent xmlns:mc="http://schemas.openxmlformats.org/markup-compatibility/2006" xmlns:a14="http://schemas.microsoft.com/office/drawing/2010/main">
            <mc:Choice Requires="a14">
              <p:sp>
                <p:nvSpPr>
                  <p:cNvPr id="282" name="TextBox 281">
                    <a:extLst>
                      <a:ext uri="{FF2B5EF4-FFF2-40B4-BE49-F238E27FC236}">
                        <a16:creationId xmlns:a16="http://schemas.microsoft.com/office/drawing/2014/main" id="{A9CDA318-610A-42BE-A469-AC6E1913C5C6}"/>
                      </a:ext>
                    </a:extLst>
                  </p:cNvPr>
                  <p:cNvSpPr txBox="1"/>
                  <p:nvPr/>
                </p:nvSpPr>
                <p:spPr>
                  <a:xfrm>
                    <a:off x="3692514" y="1879303"/>
                    <a:ext cx="730097" cy="2912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200" i="1" dirty="0" smtClean="0">
                                  <a:latin typeface="Cambria Math" panose="02040503050406030204" pitchFamily="18" charset="0"/>
                                </a:rPr>
                              </m:ctrlPr>
                            </m:sSubSupPr>
                            <m:e>
                              <m:r>
                                <a:rPr lang="en-US" sz="1200" b="0" i="1" dirty="0" smtClean="0">
                                  <a:latin typeface="Cambria Math" panose="02040503050406030204" pitchFamily="18" charset="0"/>
                                </a:rPr>
                                <m:t>𝑅</m:t>
                              </m:r>
                            </m:e>
                            <m:sub>
                              <m:r>
                                <a:rPr lang="en-US" sz="1200" b="0" i="1" dirty="0" smtClean="0">
                                  <a:latin typeface="Cambria Math" panose="02040503050406030204" pitchFamily="18" charset="0"/>
                                </a:rPr>
                                <m:t>𝑞</m:t>
                              </m:r>
                            </m:sub>
                            <m:sup>
                              <m:r>
                                <a:rPr lang="en-US" sz="1200" b="0" i="1" dirty="0" smtClean="0">
                                  <a:latin typeface="Cambria Math" panose="02040503050406030204" pitchFamily="18" charset="0"/>
                                </a:rPr>
                                <m:t>𝑛</m:t>
                              </m:r>
                            </m:sup>
                          </m:sSubSup>
                          <m:r>
                            <a:rPr lang="en-US" sz="1200" i="1" dirty="0" smtClean="0">
                              <a:latin typeface="Cambria Math" panose="02040503050406030204" pitchFamily="18" charset="0"/>
                              <a:ea typeface="Cambria Math" panose="02040503050406030204" pitchFamily="18" charset="0"/>
                            </a:rPr>
                            <m:t>×</m:t>
                          </m:r>
                          <m:sSubSup>
                            <m:sSubSupPr>
                              <m:ctrlPr>
                                <a:rPr lang="en-US" sz="1200" i="1" dirty="0" smtClean="0">
                                  <a:latin typeface="Cambria Math" panose="02040503050406030204" pitchFamily="18" charset="0"/>
                                  <a:ea typeface="Cambria Math" panose="02040503050406030204" pitchFamily="18" charset="0"/>
                                </a:rPr>
                              </m:ctrlPr>
                            </m:sSubSupPr>
                            <m:e>
                              <m:r>
                                <a:rPr lang="en-US" sz="1200" b="0" i="1" dirty="0" smtClean="0">
                                  <a:latin typeface="Cambria Math" panose="02040503050406030204" pitchFamily="18" charset="0"/>
                                  <a:ea typeface="Cambria Math" panose="02040503050406030204" pitchFamily="18" charset="0"/>
                                </a:rPr>
                                <m:t>𝑅</m:t>
                              </m:r>
                            </m:e>
                            <m:sub>
                              <m:r>
                                <a:rPr lang="en-US" sz="1200" b="0" i="1" dirty="0" smtClean="0">
                                  <a:latin typeface="Cambria Math" panose="02040503050406030204" pitchFamily="18" charset="0"/>
                                  <a:ea typeface="Cambria Math" panose="02040503050406030204" pitchFamily="18" charset="0"/>
                                </a:rPr>
                                <m:t>𝑞</m:t>
                              </m:r>
                            </m:sub>
                            <m:sup>
                              <m:r>
                                <a:rPr lang="en-US" sz="1200" b="0" i="1" dirty="0" smtClean="0">
                                  <a:latin typeface="Cambria Math" panose="02040503050406030204" pitchFamily="18" charset="0"/>
                                  <a:ea typeface="Cambria Math" panose="02040503050406030204" pitchFamily="18" charset="0"/>
                                </a:rPr>
                                <m:t>𝑛</m:t>
                              </m:r>
                            </m:sup>
                          </m:sSubSup>
                        </m:oMath>
                      </m:oMathPara>
                    </a14:m>
                    <a:endParaRPr lang="en-US" sz="1200" dirty="0"/>
                  </a:p>
                </p:txBody>
              </p:sp>
            </mc:Choice>
            <mc:Fallback xmlns="">
              <p:sp>
                <p:nvSpPr>
                  <p:cNvPr id="282" name="TextBox 281">
                    <a:extLst>
                      <a:ext uri="{FF2B5EF4-FFF2-40B4-BE49-F238E27FC236}">
                        <a16:creationId xmlns:a16="http://schemas.microsoft.com/office/drawing/2014/main" id="{A9CDA318-610A-42BE-A469-AC6E1913C5C6}"/>
                      </a:ext>
                    </a:extLst>
                  </p:cNvPr>
                  <p:cNvSpPr txBox="1">
                    <a:spLocks noRot="1" noChangeAspect="1" noMove="1" noResize="1" noEditPoints="1" noAdjustHandles="1" noChangeArrowheads="1" noChangeShapeType="1" noTextEdit="1"/>
                  </p:cNvSpPr>
                  <p:nvPr/>
                </p:nvSpPr>
                <p:spPr>
                  <a:xfrm>
                    <a:off x="3692514" y="1879303"/>
                    <a:ext cx="730097" cy="291298"/>
                  </a:xfrm>
                  <a:prstGeom prst="rect">
                    <a:avLst/>
                  </a:prstGeom>
                  <a:blipFill>
                    <a:blip r:embed="rId5"/>
                    <a:stretch>
                      <a:fillRect/>
                    </a:stretch>
                  </a:blipFill>
                </p:spPr>
                <p:txBody>
                  <a:bodyPr/>
                  <a:lstStyle/>
                  <a:p>
                    <a:r>
                      <a:rPr lang="en-US">
                        <a:noFill/>
                      </a:rPr>
                      <a:t> </a:t>
                    </a:r>
                  </a:p>
                </p:txBody>
              </p:sp>
            </mc:Fallback>
          </mc:AlternateContent>
        </p:grpSp>
      </p:grpSp>
      <p:grpSp>
        <p:nvGrpSpPr>
          <p:cNvPr id="31" name="Группа 30">
            <a:extLst>
              <a:ext uri="{FF2B5EF4-FFF2-40B4-BE49-F238E27FC236}">
                <a16:creationId xmlns:a16="http://schemas.microsoft.com/office/drawing/2014/main" id="{53E4628E-3138-4736-8BF2-04B77236B546}"/>
              </a:ext>
            </a:extLst>
          </p:cNvPr>
          <p:cNvGrpSpPr/>
          <p:nvPr/>
        </p:nvGrpSpPr>
        <p:grpSpPr>
          <a:xfrm>
            <a:off x="408898" y="1330097"/>
            <a:ext cx="3191458" cy="2784115"/>
            <a:chOff x="408898" y="1330097"/>
            <a:chExt cx="3191458" cy="2784115"/>
          </a:xfrm>
        </p:grpSpPr>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F7C6676-B8C9-4D5D-A403-C979CE0E5AF9}"/>
                    </a:ext>
                  </a:extLst>
                </p:cNvPr>
                <p:cNvSpPr txBox="1"/>
                <p:nvPr/>
              </p:nvSpPr>
              <p:spPr>
                <a:xfrm>
                  <a:off x="534215" y="1330097"/>
                  <a:ext cx="3066141" cy="461665"/>
                </a:xfrm>
                <a:prstGeom prst="rect">
                  <a:avLst/>
                </a:prstGeom>
                <a:noFill/>
              </p:spPr>
              <p:txBody>
                <a:bodyPr wrap="square">
                  <a:spAutoFit/>
                </a:bodyPr>
                <a:lstStyle/>
                <a:p>
                  <a:r>
                    <a:rPr lang="en-US" sz="1200" dirty="0"/>
                    <a:t>1. Build a one-hot vector for the index “3”, </a:t>
                  </a:r>
                </a:p>
                <a:p>
                  <a:r>
                    <a:rPr lang="en-US" sz="1100" dirty="0">
                      <a:solidFill>
                        <a:schemeClr val="bg1">
                          <a:lumMod val="65000"/>
                        </a:schemeClr>
                      </a:solidFill>
                    </a:rPr>
                    <a:t>where </a:t>
                  </a:r>
                  <a14:m>
                    <m:oMath xmlns:m="http://schemas.openxmlformats.org/officeDocument/2006/math">
                      <m:sSub>
                        <m:sSubPr>
                          <m:ctrlPr>
                            <a:rPr lang="en-US" sz="1100" i="1">
                              <a:solidFill>
                                <a:schemeClr val="bg1">
                                  <a:lumMod val="65000"/>
                                </a:schemeClr>
                              </a:solidFill>
                              <a:latin typeface="Cambria Math" panose="02040503050406030204" pitchFamily="18" charset="0"/>
                            </a:rPr>
                          </m:ctrlPr>
                        </m:sSubPr>
                        <m:e>
                          <m:r>
                            <a:rPr lang="en-US" sz="1100" i="1">
                              <a:solidFill>
                                <a:schemeClr val="bg1">
                                  <a:lumMod val="65000"/>
                                </a:schemeClr>
                              </a:solidFill>
                              <a:latin typeface="Cambria Math" panose="02040503050406030204" pitchFamily="18" charset="0"/>
                            </a:rPr>
                            <m:t>𝑠𝑒𝑙</m:t>
                          </m:r>
                        </m:e>
                        <m:sub>
                          <m:r>
                            <a:rPr lang="en-US" sz="1100" i="1">
                              <a:solidFill>
                                <a:schemeClr val="bg1">
                                  <a:lumMod val="65000"/>
                                </a:schemeClr>
                              </a:solidFill>
                              <a:latin typeface="Cambria Math" panose="02040503050406030204" pitchFamily="18" charset="0"/>
                            </a:rPr>
                            <m:t>𝑖</m:t>
                          </m:r>
                        </m:sub>
                      </m:sSub>
                      <m:r>
                        <a:rPr lang="en-US" sz="1100" i="1">
                          <a:solidFill>
                            <a:schemeClr val="bg1">
                              <a:lumMod val="65000"/>
                            </a:schemeClr>
                          </a:solidFill>
                          <a:latin typeface="Cambria Math" panose="02040503050406030204" pitchFamily="18" charset="0"/>
                          <a:ea typeface="Cambria Math" panose="02040503050406030204" pitchFamily="18" charset="0"/>
                        </a:rPr>
                        <m:t>∈</m:t>
                      </m:r>
                      <m:d>
                        <m:dPr>
                          <m:begChr m:val="{"/>
                          <m:endChr m:val="}"/>
                          <m:ctrlPr>
                            <a:rPr lang="en-US" sz="1100" i="1">
                              <a:solidFill>
                                <a:schemeClr val="bg1">
                                  <a:lumMod val="65000"/>
                                </a:schemeClr>
                              </a:solidFill>
                              <a:latin typeface="Cambria Math" panose="02040503050406030204" pitchFamily="18" charset="0"/>
                              <a:ea typeface="Cambria Math" panose="02040503050406030204" pitchFamily="18" charset="0"/>
                            </a:rPr>
                          </m:ctrlPr>
                        </m:dPr>
                        <m:e>
                          <m:r>
                            <a:rPr lang="en-US" sz="1100" i="1">
                              <a:solidFill>
                                <a:schemeClr val="bg1">
                                  <a:lumMod val="65000"/>
                                </a:schemeClr>
                              </a:solidFill>
                              <a:latin typeface="Cambria Math" panose="02040503050406030204" pitchFamily="18" charset="0"/>
                              <a:ea typeface="Cambria Math" panose="02040503050406030204" pitchFamily="18" charset="0"/>
                            </a:rPr>
                            <m:t>0,1</m:t>
                          </m:r>
                        </m:e>
                      </m:d>
                    </m:oMath>
                  </a14:m>
                  <a:r>
                    <a:rPr lang="en-US" sz="1100" dirty="0">
                      <a:solidFill>
                        <a:schemeClr val="bg1">
                          <a:lumMod val="65000"/>
                        </a:schemeClr>
                      </a:solidFill>
                    </a:rPr>
                    <a:t> </a:t>
                  </a:r>
                </a:p>
              </p:txBody>
            </p:sp>
          </mc:Choice>
          <mc:Fallback xmlns="">
            <p:sp>
              <p:nvSpPr>
                <p:cNvPr id="37" name="TextBox 36">
                  <a:extLst>
                    <a:ext uri="{FF2B5EF4-FFF2-40B4-BE49-F238E27FC236}">
                      <a16:creationId xmlns:a16="http://schemas.microsoft.com/office/drawing/2014/main" id="{AF7C6676-B8C9-4D5D-A403-C979CE0E5AF9}"/>
                    </a:ext>
                  </a:extLst>
                </p:cNvPr>
                <p:cNvSpPr txBox="1">
                  <a:spLocks noRot="1" noChangeAspect="1" noMove="1" noResize="1" noEditPoints="1" noAdjustHandles="1" noChangeArrowheads="1" noChangeShapeType="1" noTextEdit="1"/>
                </p:cNvSpPr>
                <p:nvPr/>
              </p:nvSpPr>
              <p:spPr>
                <a:xfrm>
                  <a:off x="534215" y="1330097"/>
                  <a:ext cx="3066141" cy="461665"/>
                </a:xfrm>
                <a:prstGeom prst="rect">
                  <a:avLst/>
                </a:prstGeom>
                <a:blipFill>
                  <a:blip r:embed="rId6"/>
                  <a:stretch>
                    <a:fillRect l="-199" b="-5263"/>
                  </a:stretch>
                </a:blipFill>
              </p:spPr>
              <p:txBody>
                <a:bodyPr/>
                <a:lstStyle/>
                <a:p>
                  <a:r>
                    <a:rPr lang="en-US">
                      <a:noFill/>
                    </a:rPr>
                    <a:t> </a:t>
                  </a:r>
                </a:p>
              </p:txBody>
            </p:sp>
          </mc:Fallback>
        </mc:AlternateContent>
        <p:grpSp>
          <p:nvGrpSpPr>
            <p:cNvPr id="3" name="Группа 2">
              <a:extLst>
                <a:ext uri="{FF2B5EF4-FFF2-40B4-BE49-F238E27FC236}">
                  <a16:creationId xmlns:a16="http://schemas.microsoft.com/office/drawing/2014/main" id="{5A3B44DA-A818-4046-ADA8-E9145F0F4BBA}"/>
                </a:ext>
              </a:extLst>
            </p:cNvPr>
            <p:cNvGrpSpPr/>
            <p:nvPr/>
          </p:nvGrpSpPr>
          <p:grpSpPr>
            <a:xfrm>
              <a:off x="408898" y="1876862"/>
              <a:ext cx="1149254" cy="2237350"/>
              <a:chOff x="1049026" y="1876862"/>
              <a:chExt cx="1149254" cy="2237350"/>
            </a:xfrm>
          </p:grpSpPr>
          <p:grpSp>
            <p:nvGrpSpPr>
              <p:cNvPr id="53" name="Group 52">
                <a:extLst>
                  <a:ext uri="{FF2B5EF4-FFF2-40B4-BE49-F238E27FC236}">
                    <a16:creationId xmlns:a16="http://schemas.microsoft.com/office/drawing/2014/main" id="{2EDD4DA6-6F1D-4386-B084-C16EFDCD5F09}"/>
                  </a:ext>
                </a:extLst>
              </p:cNvPr>
              <p:cNvGrpSpPr/>
              <p:nvPr/>
            </p:nvGrpSpPr>
            <p:grpSpPr>
              <a:xfrm>
                <a:off x="1474965" y="2129601"/>
                <a:ext cx="385905" cy="1738544"/>
                <a:chOff x="1474965" y="1643208"/>
                <a:chExt cx="385905" cy="1738544"/>
              </a:xfrm>
            </p:grpSpPr>
            <p:sp>
              <p:nvSpPr>
                <p:cNvPr id="40" name="Rectangle 39">
                  <a:extLst>
                    <a:ext uri="{FF2B5EF4-FFF2-40B4-BE49-F238E27FC236}">
                      <a16:creationId xmlns:a16="http://schemas.microsoft.com/office/drawing/2014/main" id="{F717BE2A-E6CC-432A-AAE0-AA2948BFF3E4}"/>
                    </a:ext>
                  </a:extLst>
                </p:cNvPr>
                <p:cNvSpPr/>
                <p:nvPr/>
              </p:nvSpPr>
              <p:spPr>
                <a:xfrm>
                  <a:off x="1474975" y="1643208"/>
                  <a:ext cx="385893" cy="34604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4E54E0B-B294-4B33-8D9B-FC9436ED492D}"/>
                    </a:ext>
                  </a:extLst>
                </p:cNvPr>
                <p:cNvSpPr/>
                <p:nvPr/>
              </p:nvSpPr>
              <p:spPr>
                <a:xfrm>
                  <a:off x="1474977" y="1651521"/>
                  <a:ext cx="385893" cy="1730231"/>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19211E4-58A1-4B33-9B25-A97C65B8CCA9}"/>
                    </a:ext>
                  </a:extLst>
                </p:cNvPr>
                <p:cNvSpPr/>
                <p:nvPr/>
              </p:nvSpPr>
              <p:spPr>
                <a:xfrm>
                  <a:off x="1474974" y="1989254"/>
                  <a:ext cx="385893" cy="34604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8F2ACD14-D40D-41F0-B39D-E77C77CC06AC}"/>
                    </a:ext>
                  </a:extLst>
                </p:cNvPr>
                <p:cNvSpPr/>
                <p:nvPr/>
              </p:nvSpPr>
              <p:spPr>
                <a:xfrm>
                  <a:off x="1474971" y="2335300"/>
                  <a:ext cx="385893" cy="34604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F6A6899-23C8-4BCF-B766-192719F849CF}"/>
                    </a:ext>
                  </a:extLst>
                </p:cNvPr>
                <p:cNvSpPr/>
                <p:nvPr/>
              </p:nvSpPr>
              <p:spPr>
                <a:xfrm>
                  <a:off x="1474968" y="2681346"/>
                  <a:ext cx="385893" cy="34604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322B2EA-65CB-46BD-A060-74D50960F38C}"/>
                    </a:ext>
                  </a:extLst>
                </p:cNvPr>
                <p:cNvSpPr/>
                <p:nvPr/>
              </p:nvSpPr>
              <p:spPr>
                <a:xfrm>
                  <a:off x="1474965" y="3027392"/>
                  <a:ext cx="385893" cy="34604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25D76FD7-842D-4D34-9784-C524867B20FD}"/>
                    </a:ext>
                  </a:extLst>
                </p:cNvPr>
                <p:cNvSpPr txBox="1"/>
                <p:nvPr/>
              </p:nvSpPr>
              <p:spPr>
                <a:xfrm>
                  <a:off x="1528525" y="1703941"/>
                  <a:ext cx="228375" cy="276999"/>
                </a:xfrm>
                <a:prstGeom prst="rect">
                  <a:avLst/>
                </a:prstGeom>
                <a:noFill/>
              </p:spPr>
              <p:txBody>
                <a:bodyPr wrap="square">
                  <a:spAutoFit/>
                </a:bodyPr>
                <a:lstStyle/>
                <a:p>
                  <a:r>
                    <a:rPr lang="en-US" sz="1200" dirty="0"/>
                    <a:t>0</a:t>
                  </a:r>
                </a:p>
              </p:txBody>
            </p:sp>
            <p:sp>
              <p:nvSpPr>
                <p:cNvPr id="81" name="TextBox 80">
                  <a:extLst>
                    <a:ext uri="{FF2B5EF4-FFF2-40B4-BE49-F238E27FC236}">
                      <a16:creationId xmlns:a16="http://schemas.microsoft.com/office/drawing/2014/main" id="{C9140262-27B5-42E0-AE81-16E19D8A1962}"/>
                    </a:ext>
                  </a:extLst>
                </p:cNvPr>
                <p:cNvSpPr txBox="1"/>
                <p:nvPr/>
              </p:nvSpPr>
              <p:spPr>
                <a:xfrm>
                  <a:off x="1528525" y="2031955"/>
                  <a:ext cx="228375" cy="276999"/>
                </a:xfrm>
                <a:prstGeom prst="rect">
                  <a:avLst/>
                </a:prstGeom>
                <a:noFill/>
              </p:spPr>
              <p:txBody>
                <a:bodyPr wrap="square">
                  <a:spAutoFit/>
                </a:bodyPr>
                <a:lstStyle/>
                <a:p>
                  <a:r>
                    <a:rPr lang="en-US" sz="1200" dirty="0"/>
                    <a:t>0</a:t>
                  </a:r>
                </a:p>
              </p:txBody>
            </p:sp>
            <p:sp>
              <p:nvSpPr>
                <p:cNvPr id="82" name="TextBox 81">
                  <a:extLst>
                    <a:ext uri="{FF2B5EF4-FFF2-40B4-BE49-F238E27FC236}">
                      <a16:creationId xmlns:a16="http://schemas.microsoft.com/office/drawing/2014/main" id="{86672BE7-A730-473D-BEA4-F9622CCF922D}"/>
                    </a:ext>
                  </a:extLst>
                </p:cNvPr>
                <p:cNvSpPr txBox="1"/>
                <p:nvPr/>
              </p:nvSpPr>
              <p:spPr>
                <a:xfrm>
                  <a:off x="1528525" y="2359969"/>
                  <a:ext cx="228375" cy="276999"/>
                </a:xfrm>
                <a:prstGeom prst="rect">
                  <a:avLst/>
                </a:prstGeom>
                <a:noFill/>
              </p:spPr>
              <p:txBody>
                <a:bodyPr wrap="square">
                  <a:spAutoFit/>
                </a:bodyPr>
                <a:lstStyle/>
                <a:p>
                  <a:r>
                    <a:rPr lang="en-US" sz="1200" dirty="0"/>
                    <a:t>1</a:t>
                  </a:r>
                </a:p>
              </p:txBody>
            </p:sp>
            <p:sp>
              <p:nvSpPr>
                <p:cNvPr id="83" name="TextBox 82">
                  <a:extLst>
                    <a:ext uri="{FF2B5EF4-FFF2-40B4-BE49-F238E27FC236}">
                      <a16:creationId xmlns:a16="http://schemas.microsoft.com/office/drawing/2014/main" id="{C21C033C-E89E-4662-8A5B-33748BDC535A}"/>
                    </a:ext>
                  </a:extLst>
                </p:cNvPr>
                <p:cNvSpPr txBox="1"/>
                <p:nvPr/>
              </p:nvSpPr>
              <p:spPr>
                <a:xfrm rot="5400000">
                  <a:off x="1582054" y="2687983"/>
                  <a:ext cx="228375" cy="276999"/>
                </a:xfrm>
                <a:prstGeom prst="rect">
                  <a:avLst/>
                </a:prstGeom>
                <a:noFill/>
              </p:spPr>
              <p:txBody>
                <a:bodyPr wrap="square">
                  <a:spAutoFit/>
                </a:bodyPr>
                <a:lstStyle/>
                <a:p>
                  <a:r>
                    <a:rPr lang="en-US" sz="1200" dirty="0"/>
                    <a:t>…</a:t>
                  </a:r>
                </a:p>
              </p:txBody>
            </p:sp>
            <p:sp>
              <p:nvSpPr>
                <p:cNvPr id="84" name="TextBox 83">
                  <a:extLst>
                    <a:ext uri="{FF2B5EF4-FFF2-40B4-BE49-F238E27FC236}">
                      <a16:creationId xmlns:a16="http://schemas.microsoft.com/office/drawing/2014/main" id="{7ECE12BA-CDB0-4FA0-9845-D973839F3F5A}"/>
                    </a:ext>
                  </a:extLst>
                </p:cNvPr>
                <p:cNvSpPr txBox="1"/>
                <p:nvPr/>
              </p:nvSpPr>
              <p:spPr>
                <a:xfrm>
                  <a:off x="1528525" y="3015997"/>
                  <a:ext cx="228375" cy="276999"/>
                </a:xfrm>
                <a:prstGeom prst="rect">
                  <a:avLst/>
                </a:prstGeom>
                <a:noFill/>
              </p:spPr>
              <p:txBody>
                <a:bodyPr wrap="square">
                  <a:spAutoFit/>
                </a:bodyPr>
                <a:lstStyle/>
                <a:p>
                  <a:r>
                    <a:rPr lang="en-US" sz="1200" dirty="0"/>
                    <a:t>0</a:t>
                  </a:r>
                </a:p>
              </p:txBody>
            </p:sp>
          </p:grpSp>
          <p:grpSp>
            <p:nvGrpSpPr>
              <p:cNvPr id="300" name="Группа 299">
                <a:extLst>
                  <a:ext uri="{FF2B5EF4-FFF2-40B4-BE49-F238E27FC236}">
                    <a16:creationId xmlns:a16="http://schemas.microsoft.com/office/drawing/2014/main" id="{EEED52FF-53CA-4602-9BFE-6810D991B1AF}"/>
                  </a:ext>
                </a:extLst>
              </p:cNvPr>
              <p:cNvGrpSpPr/>
              <p:nvPr/>
            </p:nvGrpSpPr>
            <p:grpSpPr>
              <a:xfrm>
                <a:off x="1049026" y="1876862"/>
                <a:ext cx="1149254" cy="2237350"/>
                <a:chOff x="1049026" y="2617541"/>
                <a:chExt cx="1149254" cy="2237350"/>
              </a:xfrm>
            </p:grpSpPr>
            <p:sp>
              <p:nvSpPr>
                <p:cNvPr id="52" name="TextBox 51">
                  <a:extLst>
                    <a:ext uri="{FF2B5EF4-FFF2-40B4-BE49-F238E27FC236}">
                      <a16:creationId xmlns:a16="http://schemas.microsoft.com/office/drawing/2014/main" id="{B344C09A-4C37-4084-9107-716A79FF9ED7}"/>
                    </a:ext>
                  </a:extLst>
                </p:cNvPr>
                <p:cNvSpPr txBox="1"/>
                <p:nvPr/>
              </p:nvSpPr>
              <p:spPr>
                <a:xfrm>
                  <a:off x="1165354" y="2648471"/>
                  <a:ext cx="228375" cy="276999"/>
                </a:xfrm>
                <a:prstGeom prst="rect">
                  <a:avLst/>
                </a:prstGeom>
                <a:noFill/>
              </p:spPr>
              <p:txBody>
                <a:bodyPr wrap="square">
                  <a:spAutoFit/>
                </a:bodyPr>
                <a:lstStyle/>
                <a:p>
                  <a:r>
                    <a:rPr lang="en-US" sz="1200" dirty="0"/>
                    <a:t>0</a:t>
                  </a:r>
                </a:p>
              </p:txBody>
            </p:sp>
            <p:sp>
              <p:nvSpPr>
                <p:cNvPr id="104" name="TextBox 103">
                  <a:extLst>
                    <a:ext uri="{FF2B5EF4-FFF2-40B4-BE49-F238E27FC236}">
                      <a16:creationId xmlns:a16="http://schemas.microsoft.com/office/drawing/2014/main" id="{BCF910F3-4431-429C-9268-0F4AA14C5E82}"/>
                    </a:ext>
                  </a:extLst>
                </p:cNvPr>
                <p:cNvSpPr txBox="1"/>
                <p:nvPr/>
              </p:nvSpPr>
              <p:spPr>
                <a:xfrm>
                  <a:off x="1049026" y="4577892"/>
                  <a:ext cx="439302" cy="276999"/>
                </a:xfrm>
                <a:prstGeom prst="rect">
                  <a:avLst/>
                </a:prstGeom>
                <a:noFill/>
              </p:spPr>
              <p:txBody>
                <a:bodyPr wrap="square">
                  <a:spAutoFit/>
                </a:bodyPr>
                <a:lstStyle/>
                <a:p>
                  <a:r>
                    <a:rPr lang="en-US" sz="1200" dirty="0"/>
                    <a:t>m-1</a:t>
                  </a:r>
                </a:p>
              </p:txBody>
            </p:sp>
            <mc:AlternateContent xmlns:mc="http://schemas.openxmlformats.org/markup-compatibility/2006" xmlns:a14="http://schemas.microsoft.com/office/drawing/2010/main">
              <mc:Choice Requires="a14">
                <p:sp>
                  <p:nvSpPr>
                    <p:cNvPr id="283" name="TextBox 282">
                      <a:extLst>
                        <a:ext uri="{FF2B5EF4-FFF2-40B4-BE49-F238E27FC236}">
                          <a16:creationId xmlns:a16="http://schemas.microsoft.com/office/drawing/2014/main" id="{43800249-DC73-4A66-A261-C0A4036E2F65}"/>
                        </a:ext>
                      </a:extLst>
                    </p:cNvPr>
                    <p:cNvSpPr txBox="1"/>
                    <p:nvPr/>
                  </p:nvSpPr>
                  <p:spPr>
                    <a:xfrm>
                      <a:off x="1807318" y="2617541"/>
                      <a:ext cx="39096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200" i="1" dirty="0" smtClean="0">
                                    <a:latin typeface="Cambria Math" panose="02040503050406030204" pitchFamily="18" charset="0"/>
                                  </a:rPr>
                                </m:ctrlPr>
                              </m:sSubSupPr>
                              <m:e>
                                <m:r>
                                  <a:rPr lang="en-US" sz="1200" b="0" i="1" dirty="0" smtClean="0">
                                    <a:latin typeface="Cambria Math" panose="02040503050406030204" pitchFamily="18" charset="0"/>
                                  </a:rPr>
                                  <m:t>𝑅</m:t>
                                </m:r>
                              </m:e>
                              <m:sub>
                                <m:r>
                                  <a:rPr lang="en-US" sz="1200" b="0" i="1" dirty="0" smtClean="0">
                                    <a:latin typeface="Cambria Math" panose="02040503050406030204" pitchFamily="18" charset="0"/>
                                  </a:rPr>
                                  <m:t>2</m:t>
                                </m:r>
                              </m:sub>
                              <m:sup>
                                <m:r>
                                  <a:rPr lang="en-US" sz="1200" b="0" i="1" dirty="0" smtClean="0">
                                    <a:latin typeface="Cambria Math" panose="02040503050406030204" pitchFamily="18" charset="0"/>
                                  </a:rPr>
                                  <m:t>𝑛</m:t>
                                </m:r>
                              </m:sup>
                            </m:sSubSup>
                          </m:oMath>
                        </m:oMathPara>
                      </a14:m>
                      <a:endParaRPr lang="en-US" sz="1200" dirty="0"/>
                    </a:p>
                  </p:txBody>
                </p:sp>
              </mc:Choice>
              <mc:Fallback xmlns="">
                <p:sp>
                  <p:nvSpPr>
                    <p:cNvPr id="283" name="TextBox 282">
                      <a:extLst>
                        <a:ext uri="{FF2B5EF4-FFF2-40B4-BE49-F238E27FC236}">
                          <a16:creationId xmlns:a16="http://schemas.microsoft.com/office/drawing/2014/main" id="{43800249-DC73-4A66-A261-C0A4036E2F65}"/>
                        </a:ext>
                      </a:extLst>
                    </p:cNvPr>
                    <p:cNvSpPr txBox="1">
                      <a:spLocks noRot="1" noChangeAspect="1" noMove="1" noResize="1" noEditPoints="1" noAdjustHandles="1" noChangeArrowheads="1" noChangeShapeType="1" noTextEdit="1"/>
                    </p:cNvSpPr>
                    <p:nvPr/>
                  </p:nvSpPr>
                  <p:spPr>
                    <a:xfrm>
                      <a:off x="1807318" y="2617541"/>
                      <a:ext cx="390962" cy="276999"/>
                    </a:xfrm>
                    <a:prstGeom prst="rect">
                      <a:avLst/>
                    </a:prstGeom>
                    <a:blipFill>
                      <a:blip r:embed="rId7"/>
                      <a:stretch>
                        <a:fillRect/>
                      </a:stretch>
                    </a:blipFill>
                  </p:spPr>
                  <p:txBody>
                    <a:bodyPr/>
                    <a:lstStyle/>
                    <a:p>
                      <a:r>
                        <a:rPr lang="en-US">
                          <a:noFill/>
                        </a:rPr>
                        <a:t> </a:t>
                      </a:r>
                    </a:p>
                  </p:txBody>
                </p:sp>
              </mc:Fallback>
            </mc:AlternateContent>
          </p:grpSp>
        </p:grpSp>
      </p:grpSp>
      <p:grpSp>
        <p:nvGrpSpPr>
          <p:cNvPr id="71" name="Группа 70">
            <a:extLst>
              <a:ext uri="{FF2B5EF4-FFF2-40B4-BE49-F238E27FC236}">
                <a16:creationId xmlns:a16="http://schemas.microsoft.com/office/drawing/2014/main" id="{0B79E017-29E7-4E97-8943-5CFA5EC4B710}"/>
              </a:ext>
            </a:extLst>
          </p:cNvPr>
          <p:cNvGrpSpPr/>
          <p:nvPr/>
        </p:nvGrpSpPr>
        <p:grpSpPr>
          <a:xfrm>
            <a:off x="5581673" y="1329674"/>
            <a:ext cx="5835338" cy="2794461"/>
            <a:chOff x="5581673" y="1329674"/>
            <a:chExt cx="5835338" cy="2794461"/>
          </a:xfrm>
        </p:grpSpPr>
        <mc:AlternateContent xmlns:mc="http://schemas.openxmlformats.org/markup-compatibility/2006" xmlns:a14="http://schemas.microsoft.com/office/drawing/2010/main">
          <mc:Choice Requires="a14">
            <p:sp>
              <p:nvSpPr>
                <p:cNvPr id="191" name="TextBox 190">
                  <a:extLst>
                    <a:ext uri="{FF2B5EF4-FFF2-40B4-BE49-F238E27FC236}">
                      <a16:creationId xmlns:a16="http://schemas.microsoft.com/office/drawing/2014/main" id="{CC3111E4-F32F-4524-9894-F42BD7BFC5FE}"/>
                    </a:ext>
                  </a:extLst>
                </p:cNvPr>
                <p:cNvSpPr txBox="1"/>
                <p:nvPr/>
              </p:nvSpPr>
              <p:spPr>
                <a:xfrm>
                  <a:off x="9572022" y="2846361"/>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91" name="TextBox 190">
                  <a:extLst>
                    <a:ext uri="{FF2B5EF4-FFF2-40B4-BE49-F238E27FC236}">
                      <a16:creationId xmlns:a16="http://schemas.microsoft.com/office/drawing/2014/main" id="{CC3111E4-F32F-4524-9894-F42BD7BFC5FE}"/>
                    </a:ext>
                  </a:extLst>
                </p:cNvPr>
                <p:cNvSpPr txBox="1">
                  <a:spLocks noRot="1" noChangeAspect="1" noMove="1" noResize="1" noEditPoints="1" noAdjustHandles="1" noChangeArrowheads="1" noChangeShapeType="1" noTextEdit="1"/>
                </p:cNvSpPr>
                <p:nvPr/>
              </p:nvSpPr>
              <p:spPr>
                <a:xfrm>
                  <a:off x="9572022" y="2846361"/>
                  <a:ext cx="226023" cy="276999"/>
                </a:xfrm>
                <a:prstGeom prst="rect">
                  <a:avLst/>
                </a:prstGeom>
                <a:blipFill>
                  <a:blip r:embed="rId8"/>
                  <a:stretch>
                    <a:fillRect l="-10811" r="-10811"/>
                  </a:stretch>
                </a:blipFill>
              </p:spPr>
              <p:txBody>
                <a:bodyPr/>
                <a:lstStyle/>
                <a:p>
                  <a:r>
                    <a:rPr lang="en-US">
                      <a:noFill/>
                    </a:rPr>
                    <a:t> </a:t>
                  </a:r>
                </a:p>
              </p:txBody>
            </p:sp>
          </mc:Fallback>
        </mc:AlternateContent>
        <p:grpSp>
          <p:nvGrpSpPr>
            <p:cNvPr id="48" name="Группа 47">
              <a:extLst>
                <a:ext uri="{FF2B5EF4-FFF2-40B4-BE49-F238E27FC236}">
                  <a16:creationId xmlns:a16="http://schemas.microsoft.com/office/drawing/2014/main" id="{D2076C40-F0B7-414A-A9AE-64D35788E332}"/>
                </a:ext>
              </a:extLst>
            </p:cNvPr>
            <p:cNvGrpSpPr/>
            <p:nvPr/>
          </p:nvGrpSpPr>
          <p:grpSpPr>
            <a:xfrm>
              <a:off x="9758010" y="1888170"/>
              <a:ext cx="1659001" cy="2220187"/>
              <a:chOff x="9323563" y="1888170"/>
              <a:chExt cx="1659001" cy="2220187"/>
            </a:xfrm>
          </p:grpSpPr>
          <p:grpSp>
            <p:nvGrpSpPr>
              <p:cNvPr id="155" name="Group 154">
                <a:extLst>
                  <a:ext uri="{FF2B5EF4-FFF2-40B4-BE49-F238E27FC236}">
                    <a16:creationId xmlns:a16="http://schemas.microsoft.com/office/drawing/2014/main" id="{477DB4B1-E865-4C44-9263-D60297620774}"/>
                  </a:ext>
                </a:extLst>
              </p:cNvPr>
              <p:cNvGrpSpPr/>
              <p:nvPr/>
            </p:nvGrpSpPr>
            <p:grpSpPr>
              <a:xfrm>
                <a:off x="10278700" y="2507839"/>
                <a:ext cx="703864" cy="513086"/>
                <a:chOff x="7857593" y="2021446"/>
                <a:chExt cx="703864" cy="513086"/>
              </a:xfrm>
            </p:grpSpPr>
            <p:cxnSp>
              <p:nvCxnSpPr>
                <p:cNvPr id="149" name="Straight Arrow Connector 148">
                  <a:extLst>
                    <a:ext uri="{FF2B5EF4-FFF2-40B4-BE49-F238E27FC236}">
                      <a16:creationId xmlns:a16="http://schemas.microsoft.com/office/drawing/2014/main" id="{1E6FEC17-D50E-4B87-ABE8-4E2A1D7EC445}"/>
                    </a:ext>
                  </a:extLst>
                </p:cNvPr>
                <p:cNvCxnSpPr>
                  <a:cxnSpLocks/>
                </p:cNvCxnSpPr>
                <p:nvPr/>
              </p:nvCxnSpPr>
              <p:spPr>
                <a:xfrm flipH="1">
                  <a:off x="7857593" y="2534532"/>
                  <a:ext cx="70386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F58F8BBA-52B5-4FDE-9CF3-33D2DD562BA2}"/>
                    </a:ext>
                  </a:extLst>
                </p:cNvPr>
                <p:cNvSpPr txBox="1"/>
                <p:nvPr/>
              </p:nvSpPr>
              <p:spPr>
                <a:xfrm>
                  <a:off x="7924094" y="2021446"/>
                  <a:ext cx="601473" cy="461665"/>
                </a:xfrm>
                <a:prstGeom prst="rect">
                  <a:avLst/>
                </a:prstGeom>
                <a:noFill/>
              </p:spPr>
              <p:txBody>
                <a:bodyPr wrap="square">
                  <a:spAutoFit/>
                </a:bodyPr>
                <a:lstStyle/>
                <a:p>
                  <a:r>
                    <a:rPr lang="en-US" sz="1200" b="1" dirty="0"/>
                    <a:t>Target record</a:t>
                  </a:r>
                </a:p>
              </p:txBody>
            </p:sp>
          </p:grpSp>
          <p:grpSp>
            <p:nvGrpSpPr>
              <p:cNvPr id="42" name="Группа 41">
                <a:extLst>
                  <a:ext uri="{FF2B5EF4-FFF2-40B4-BE49-F238E27FC236}">
                    <a16:creationId xmlns:a16="http://schemas.microsoft.com/office/drawing/2014/main" id="{7BE53265-839E-4FB1-90F0-06D529FE2361}"/>
                  </a:ext>
                </a:extLst>
              </p:cNvPr>
              <p:cNvGrpSpPr/>
              <p:nvPr/>
            </p:nvGrpSpPr>
            <p:grpSpPr>
              <a:xfrm>
                <a:off x="9323563" y="1888170"/>
                <a:ext cx="1493377" cy="2220187"/>
                <a:chOff x="9323563" y="1888170"/>
                <a:chExt cx="1493377" cy="2220187"/>
              </a:xfrm>
            </p:grpSpPr>
            <p:grpSp>
              <p:nvGrpSpPr>
                <p:cNvPr id="279" name="Группа 278">
                  <a:extLst>
                    <a:ext uri="{FF2B5EF4-FFF2-40B4-BE49-F238E27FC236}">
                      <a16:creationId xmlns:a16="http://schemas.microsoft.com/office/drawing/2014/main" id="{8B6D8C17-22EC-4833-BC5B-CC004BFE44F6}"/>
                    </a:ext>
                  </a:extLst>
                </p:cNvPr>
                <p:cNvGrpSpPr/>
                <p:nvPr/>
              </p:nvGrpSpPr>
              <p:grpSpPr>
                <a:xfrm>
                  <a:off x="9323563" y="1888170"/>
                  <a:ext cx="1493377" cy="2220187"/>
                  <a:chOff x="8866410" y="2628849"/>
                  <a:chExt cx="1475297" cy="2220187"/>
                </a:xfrm>
              </p:grpSpPr>
              <p:grpSp>
                <p:nvGrpSpPr>
                  <p:cNvPr id="122" name="Группа 121">
                    <a:extLst>
                      <a:ext uri="{FF2B5EF4-FFF2-40B4-BE49-F238E27FC236}">
                        <a16:creationId xmlns:a16="http://schemas.microsoft.com/office/drawing/2014/main" id="{C81359B2-7830-418C-A661-9953F753DE44}"/>
                      </a:ext>
                    </a:extLst>
                  </p:cNvPr>
                  <p:cNvGrpSpPr/>
                  <p:nvPr/>
                </p:nvGrpSpPr>
                <p:grpSpPr>
                  <a:xfrm>
                    <a:off x="8866410" y="2642616"/>
                    <a:ext cx="439302" cy="2206420"/>
                    <a:chOff x="8866410" y="2642616"/>
                    <a:chExt cx="439302" cy="2206420"/>
                  </a:xfrm>
                </p:grpSpPr>
                <p:sp>
                  <p:nvSpPr>
                    <p:cNvPr id="176" name="TextBox 175">
                      <a:extLst>
                        <a:ext uri="{FF2B5EF4-FFF2-40B4-BE49-F238E27FC236}">
                          <a16:creationId xmlns:a16="http://schemas.microsoft.com/office/drawing/2014/main" id="{343EEF7E-AC40-4D5D-A0AE-545E9B201F7E}"/>
                        </a:ext>
                      </a:extLst>
                    </p:cNvPr>
                    <p:cNvSpPr txBox="1"/>
                    <p:nvPr/>
                  </p:nvSpPr>
                  <p:spPr>
                    <a:xfrm>
                      <a:off x="8927622" y="2642616"/>
                      <a:ext cx="228375" cy="276999"/>
                    </a:xfrm>
                    <a:prstGeom prst="rect">
                      <a:avLst/>
                    </a:prstGeom>
                    <a:noFill/>
                  </p:spPr>
                  <p:txBody>
                    <a:bodyPr wrap="square">
                      <a:spAutoFit/>
                    </a:bodyPr>
                    <a:lstStyle/>
                    <a:p>
                      <a:r>
                        <a:rPr lang="en-US" sz="1200" dirty="0"/>
                        <a:t>0</a:t>
                      </a:r>
                    </a:p>
                  </p:txBody>
                </p:sp>
                <p:sp>
                  <p:nvSpPr>
                    <p:cNvPr id="178" name="TextBox 177">
                      <a:extLst>
                        <a:ext uri="{FF2B5EF4-FFF2-40B4-BE49-F238E27FC236}">
                          <a16:creationId xmlns:a16="http://schemas.microsoft.com/office/drawing/2014/main" id="{2B6C0DE7-3F48-40A6-8246-F06A3461A530}"/>
                        </a:ext>
                      </a:extLst>
                    </p:cNvPr>
                    <p:cNvSpPr txBox="1"/>
                    <p:nvPr/>
                  </p:nvSpPr>
                  <p:spPr>
                    <a:xfrm>
                      <a:off x="8866410" y="4572037"/>
                      <a:ext cx="439302" cy="276999"/>
                    </a:xfrm>
                    <a:prstGeom prst="rect">
                      <a:avLst/>
                    </a:prstGeom>
                    <a:noFill/>
                  </p:spPr>
                  <p:txBody>
                    <a:bodyPr wrap="square">
                      <a:spAutoFit/>
                    </a:bodyPr>
                    <a:lstStyle/>
                    <a:p>
                      <a:r>
                        <a:rPr lang="en-US" sz="1200" dirty="0"/>
                        <a:t>m-1</a:t>
                      </a:r>
                    </a:p>
                  </p:txBody>
                </p:sp>
              </p:grpSp>
              <mc:AlternateContent xmlns:mc="http://schemas.openxmlformats.org/markup-compatibility/2006" xmlns:a14="http://schemas.microsoft.com/office/drawing/2010/main">
                <mc:Choice Requires="a14">
                  <p:sp>
                    <p:nvSpPr>
                      <p:cNvPr id="261" name="TextBox 260">
                        <a:extLst>
                          <a:ext uri="{FF2B5EF4-FFF2-40B4-BE49-F238E27FC236}">
                            <a16:creationId xmlns:a16="http://schemas.microsoft.com/office/drawing/2014/main" id="{44490655-F9EF-450E-9F5A-70FCAE06625E}"/>
                          </a:ext>
                        </a:extLst>
                      </p:cNvPr>
                      <p:cNvSpPr txBox="1"/>
                      <p:nvPr/>
                    </p:nvSpPr>
                    <p:spPr>
                      <a:xfrm>
                        <a:off x="9620449" y="2628849"/>
                        <a:ext cx="721258" cy="2912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200" i="1" dirty="0" smtClean="0">
                                      <a:latin typeface="Cambria Math" panose="02040503050406030204" pitchFamily="18" charset="0"/>
                                    </a:rPr>
                                  </m:ctrlPr>
                                </m:sSubSupPr>
                                <m:e>
                                  <m:r>
                                    <a:rPr lang="en-US" sz="1200" b="0" i="1" dirty="0" smtClean="0">
                                      <a:latin typeface="Cambria Math" panose="02040503050406030204" pitchFamily="18" charset="0"/>
                                    </a:rPr>
                                    <m:t>𝑅</m:t>
                                  </m:r>
                                </m:e>
                                <m:sub>
                                  <m:r>
                                    <a:rPr lang="en-US" sz="1200" b="0" i="1" dirty="0" smtClean="0">
                                      <a:latin typeface="Cambria Math" panose="02040503050406030204" pitchFamily="18" charset="0"/>
                                    </a:rPr>
                                    <m:t>𝑞</m:t>
                                  </m:r>
                                </m:sub>
                                <m:sup>
                                  <m:r>
                                    <a:rPr lang="en-US" sz="1200" b="0" i="1" dirty="0" smtClean="0">
                                      <a:latin typeface="Cambria Math" panose="02040503050406030204" pitchFamily="18" charset="0"/>
                                    </a:rPr>
                                    <m:t>𝑛</m:t>
                                  </m:r>
                                </m:sup>
                              </m:sSubSup>
                              <m:r>
                                <a:rPr lang="en-US" sz="1200" i="1" dirty="0" smtClean="0">
                                  <a:latin typeface="Cambria Math" panose="02040503050406030204" pitchFamily="18" charset="0"/>
                                  <a:ea typeface="Cambria Math" panose="02040503050406030204" pitchFamily="18" charset="0"/>
                                </a:rPr>
                                <m:t>×</m:t>
                              </m:r>
                              <m:sSubSup>
                                <m:sSubSupPr>
                                  <m:ctrlPr>
                                    <a:rPr lang="en-US" sz="1200" i="1" dirty="0" smtClean="0">
                                      <a:latin typeface="Cambria Math" panose="02040503050406030204" pitchFamily="18" charset="0"/>
                                      <a:ea typeface="Cambria Math" panose="02040503050406030204" pitchFamily="18" charset="0"/>
                                    </a:rPr>
                                  </m:ctrlPr>
                                </m:sSubSupPr>
                                <m:e>
                                  <m:r>
                                    <a:rPr lang="en-US" sz="1200" b="0" i="1" dirty="0" smtClean="0">
                                      <a:latin typeface="Cambria Math" panose="02040503050406030204" pitchFamily="18" charset="0"/>
                                      <a:ea typeface="Cambria Math" panose="02040503050406030204" pitchFamily="18" charset="0"/>
                                    </a:rPr>
                                    <m:t>𝑅</m:t>
                                  </m:r>
                                </m:e>
                                <m:sub>
                                  <m:r>
                                    <a:rPr lang="en-US" sz="1200" b="0" i="1" dirty="0" smtClean="0">
                                      <a:latin typeface="Cambria Math" panose="02040503050406030204" pitchFamily="18" charset="0"/>
                                      <a:ea typeface="Cambria Math" panose="02040503050406030204" pitchFamily="18" charset="0"/>
                                    </a:rPr>
                                    <m:t>𝑞</m:t>
                                  </m:r>
                                </m:sub>
                                <m:sup>
                                  <m:r>
                                    <a:rPr lang="en-US" sz="1200" b="0" i="1" dirty="0" smtClean="0">
                                      <a:latin typeface="Cambria Math" panose="02040503050406030204" pitchFamily="18" charset="0"/>
                                      <a:ea typeface="Cambria Math" panose="02040503050406030204" pitchFamily="18" charset="0"/>
                                    </a:rPr>
                                    <m:t>𝑛</m:t>
                                  </m:r>
                                </m:sup>
                              </m:sSubSup>
                            </m:oMath>
                          </m:oMathPara>
                        </a14:m>
                        <a:endParaRPr lang="en-US" sz="1200" dirty="0"/>
                      </a:p>
                    </p:txBody>
                  </p:sp>
                </mc:Choice>
                <mc:Fallback xmlns="">
                  <p:sp>
                    <p:nvSpPr>
                      <p:cNvPr id="261" name="TextBox 260">
                        <a:extLst>
                          <a:ext uri="{FF2B5EF4-FFF2-40B4-BE49-F238E27FC236}">
                            <a16:creationId xmlns:a16="http://schemas.microsoft.com/office/drawing/2014/main" id="{44490655-F9EF-450E-9F5A-70FCAE06625E}"/>
                          </a:ext>
                        </a:extLst>
                      </p:cNvPr>
                      <p:cNvSpPr txBox="1">
                        <a:spLocks noRot="1" noChangeAspect="1" noMove="1" noResize="1" noEditPoints="1" noAdjustHandles="1" noChangeArrowheads="1" noChangeShapeType="1" noTextEdit="1"/>
                      </p:cNvSpPr>
                      <p:nvPr/>
                    </p:nvSpPr>
                    <p:spPr>
                      <a:xfrm>
                        <a:off x="9620449" y="2628849"/>
                        <a:ext cx="721258" cy="291298"/>
                      </a:xfrm>
                      <a:prstGeom prst="rect">
                        <a:avLst/>
                      </a:prstGeom>
                      <a:blipFill>
                        <a:blip r:embed="rId9"/>
                        <a:stretch>
                          <a:fillRect/>
                        </a:stretch>
                      </a:blipFill>
                    </p:spPr>
                    <p:txBody>
                      <a:bodyPr/>
                      <a:lstStyle/>
                      <a:p>
                        <a:r>
                          <a:rPr lang="en-US">
                            <a:noFill/>
                          </a:rPr>
                          <a:t> </a:t>
                        </a:r>
                      </a:p>
                    </p:txBody>
                  </p:sp>
                </mc:Fallback>
              </mc:AlternateContent>
            </p:grpSp>
            <p:grpSp>
              <p:nvGrpSpPr>
                <p:cNvPr id="305" name="Группа 304">
                  <a:extLst>
                    <a:ext uri="{FF2B5EF4-FFF2-40B4-BE49-F238E27FC236}">
                      <a16:creationId xmlns:a16="http://schemas.microsoft.com/office/drawing/2014/main" id="{123B54DF-6708-44B3-AFAC-6858E62AF482}"/>
                    </a:ext>
                  </a:extLst>
                </p:cNvPr>
                <p:cNvGrpSpPr/>
                <p:nvPr/>
              </p:nvGrpSpPr>
              <p:grpSpPr>
                <a:xfrm>
                  <a:off x="9694636" y="2123746"/>
                  <a:ext cx="500775" cy="1730230"/>
                  <a:chOff x="9676030" y="2864425"/>
                  <a:chExt cx="500775" cy="1730230"/>
                </a:xfrm>
              </p:grpSpPr>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E058A7B8-FF18-4AA2-A1FD-89D056760839}"/>
                          </a:ext>
                        </a:extLst>
                      </p:cNvPr>
                      <p:cNvSpPr txBox="1"/>
                      <p:nvPr/>
                    </p:nvSpPr>
                    <p:spPr>
                      <a:xfrm>
                        <a:off x="9676030" y="3599353"/>
                        <a:ext cx="500775" cy="276999"/>
                      </a:xfrm>
                      <a:prstGeom prst="rect">
                        <a:avLst/>
                      </a:prstGeom>
                      <a:noFill/>
                    </p:spPr>
                    <p:txBody>
                      <a:bodyPr wrap="square">
                        <a:spAutoFit/>
                      </a:bodyPr>
                      <a:lstStyle/>
                      <a:p>
                        <a:r>
                          <a:rPr lang="en-US" sz="1200" dirty="0"/>
                          <a:t>P(</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2</m:t>
                                </m:r>
                              </m:sub>
                            </m:sSub>
                          </m:oMath>
                        </a14:m>
                        <a:r>
                          <a:rPr lang="en-US" sz="1200" dirty="0"/>
                          <a:t>)</a:t>
                        </a:r>
                      </a:p>
                    </p:txBody>
                  </p:sp>
                </mc:Choice>
                <mc:Fallback xmlns="">
                  <p:sp>
                    <p:nvSpPr>
                      <p:cNvPr id="188" name="TextBox 187">
                        <a:extLst>
                          <a:ext uri="{FF2B5EF4-FFF2-40B4-BE49-F238E27FC236}">
                            <a16:creationId xmlns:a16="http://schemas.microsoft.com/office/drawing/2014/main" id="{E058A7B8-FF18-4AA2-A1FD-89D056760839}"/>
                          </a:ext>
                        </a:extLst>
                      </p:cNvPr>
                      <p:cNvSpPr txBox="1">
                        <a:spLocks noRot="1" noChangeAspect="1" noMove="1" noResize="1" noEditPoints="1" noAdjustHandles="1" noChangeArrowheads="1" noChangeShapeType="1" noTextEdit="1"/>
                      </p:cNvSpPr>
                      <p:nvPr/>
                    </p:nvSpPr>
                    <p:spPr>
                      <a:xfrm>
                        <a:off x="9676030" y="3599353"/>
                        <a:ext cx="500775" cy="276999"/>
                      </a:xfrm>
                      <a:prstGeom prst="rect">
                        <a:avLst/>
                      </a:prstGeom>
                      <a:blipFill>
                        <a:blip r:embed="rId23"/>
                        <a:stretch>
                          <a:fillRect b="-15217"/>
                        </a:stretch>
                      </a:blipFill>
                    </p:spPr>
                    <p:txBody>
                      <a:bodyPr/>
                      <a:lstStyle/>
                      <a:p>
                        <a:r>
                          <a:rPr lang="en-US">
                            <a:noFill/>
                          </a:rPr>
                          <a:t> </a:t>
                        </a:r>
                      </a:p>
                    </p:txBody>
                  </p:sp>
                </mc:Fallback>
              </mc:AlternateContent>
              <p:grpSp>
                <p:nvGrpSpPr>
                  <p:cNvPr id="304" name="Группа 303">
                    <a:extLst>
                      <a:ext uri="{FF2B5EF4-FFF2-40B4-BE49-F238E27FC236}">
                        <a16:creationId xmlns:a16="http://schemas.microsoft.com/office/drawing/2014/main" id="{05FD02F4-AC3E-4665-9969-56B83DF81C9C}"/>
                      </a:ext>
                    </a:extLst>
                  </p:cNvPr>
                  <p:cNvGrpSpPr/>
                  <p:nvPr/>
                </p:nvGrpSpPr>
                <p:grpSpPr>
                  <a:xfrm>
                    <a:off x="9676032" y="2864425"/>
                    <a:ext cx="468999" cy="1730230"/>
                    <a:chOff x="9676032" y="2864425"/>
                    <a:chExt cx="468999" cy="1730230"/>
                  </a:xfrm>
                </p:grpSpPr>
                <p:sp>
                  <p:nvSpPr>
                    <p:cNvPr id="179" name="Rectangle 178">
                      <a:extLst>
                        <a:ext uri="{FF2B5EF4-FFF2-40B4-BE49-F238E27FC236}">
                          <a16:creationId xmlns:a16="http://schemas.microsoft.com/office/drawing/2014/main" id="{1FFA1A08-13EE-4C3D-B444-A0D59A5C6021}"/>
                        </a:ext>
                      </a:extLst>
                    </p:cNvPr>
                    <p:cNvSpPr/>
                    <p:nvPr/>
                  </p:nvSpPr>
                  <p:spPr>
                    <a:xfrm>
                      <a:off x="9700358" y="2864425"/>
                      <a:ext cx="390622"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3DA9DF76-E9ED-4407-8B76-A58D5165986B}"/>
                        </a:ext>
                      </a:extLst>
                    </p:cNvPr>
                    <p:cNvSpPr/>
                    <p:nvPr/>
                  </p:nvSpPr>
                  <p:spPr>
                    <a:xfrm>
                      <a:off x="9700356" y="3210471"/>
                      <a:ext cx="390622"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CDE7F892-7B0A-4222-A1CC-E71615AD8D84}"/>
                        </a:ext>
                      </a:extLst>
                    </p:cNvPr>
                    <p:cNvSpPr/>
                    <p:nvPr/>
                  </p:nvSpPr>
                  <p:spPr>
                    <a:xfrm>
                      <a:off x="9700353" y="3556517"/>
                      <a:ext cx="390622"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AB09761E-A619-4BDB-A4FD-BAA9DE468D5E}"/>
                        </a:ext>
                      </a:extLst>
                    </p:cNvPr>
                    <p:cNvSpPr/>
                    <p:nvPr/>
                  </p:nvSpPr>
                  <p:spPr>
                    <a:xfrm>
                      <a:off x="9700350" y="3902563"/>
                      <a:ext cx="390622"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75E2B886-6574-4981-AB9F-ABAE29B0E1AB}"/>
                        </a:ext>
                      </a:extLst>
                    </p:cNvPr>
                    <p:cNvSpPr/>
                    <p:nvPr/>
                  </p:nvSpPr>
                  <p:spPr>
                    <a:xfrm>
                      <a:off x="9700347" y="4248609"/>
                      <a:ext cx="390622"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TextBox 184">
                      <a:extLst>
                        <a:ext uri="{FF2B5EF4-FFF2-40B4-BE49-F238E27FC236}">
                          <a16:creationId xmlns:a16="http://schemas.microsoft.com/office/drawing/2014/main" id="{AD705BE0-6ECD-4AC9-8BFB-D53C68667954}"/>
                        </a:ext>
                      </a:extLst>
                    </p:cNvPr>
                    <p:cNvSpPr txBox="1"/>
                    <p:nvPr/>
                  </p:nvSpPr>
                  <p:spPr>
                    <a:xfrm rot="5400000">
                      <a:off x="9812951" y="3912873"/>
                      <a:ext cx="228375" cy="280394"/>
                    </a:xfrm>
                    <a:prstGeom prst="rect">
                      <a:avLst/>
                    </a:prstGeom>
                    <a:noFill/>
                  </p:spPr>
                  <p:txBody>
                    <a:bodyPr wrap="square">
                      <a:spAutoFit/>
                    </a:bodyPr>
                    <a:lstStyle/>
                    <a:p>
                      <a:r>
                        <a:rPr lang="en-US" sz="1200" dirty="0"/>
                        <a:t>…</a:t>
                      </a:r>
                    </a:p>
                  </p:txBody>
                </p:sp>
                <p:sp>
                  <p:nvSpPr>
                    <p:cNvPr id="186" name="TextBox 185">
                      <a:extLst>
                        <a:ext uri="{FF2B5EF4-FFF2-40B4-BE49-F238E27FC236}">
                          <a16:creationId xmlns:a16="http://schemas.microsoft.com/office/drawing/2014/main" id="{E4302078-FBD8-44C8-8E12-BCCBDD5FF180}"/>
                        </a:ext>
                      </a:extLst>
                    </p:cNvPr>
                    <p:cNvSpPr txBox="1"/>
                    <p:nvPr/>
                  </p:nvSpPr>
                  <p:spPr>
                    <a:xfrm>
                      <a:off x="9685034" y="2908397"/>
                      <a:ext cx="459997" cy="276999"/>
                    </a:xfrm>
                    <a:prstGeom prst="rect">
                      <a:avLst/>
                    </a:prstGeom>
                    <a:noFill/>
                  </p:spPr>
                  <p:txBody>
                    <a:bodyPr wrap="square">
                      <a:spAutoFit/>
                    </a:bodyPr>
                    <a:lstStyle/>
                    <a:p>
                      <a:r>
                        <a:rPr lang="en-US" sz="1200" dirty="0"/>
                        <a:t>P(0)</a:t>
                      </a:r>
                    </a:p>
                  </p:txBody>
                </p:sp>
                <p:sp>
                  <p:nvSpPr>
                    <p:cNvPr id="187" name="TextBox 186">
                      <a:extLst>
                        <a:ext uri="{FF2B5EF4-FFF2-40B4-BE49-F238E27FC236}">
                          <a16:creationId xmlns:a16="http://schemas.microsoft.com/office/drawing/2014/main" id="{1F7B9649-8A42-437D-A593-AF8D69891583}"/>
                        </a:ext>
                      </a:extLst>
                    </p:cNvPr>
                    <p:cNvSpPr txBox="1"/>
                    <p:nvPr/>
                  </p:nvSpPr>
                  <p:spPr>
                    <a:xfrm>
                      <a:off x="9676032" y="3249872"/>
                      <a:ext cx="459997" cy="276999"/>
                    </a:xfrm>
                    <a:prstGeom prst="rect">
                      <a:avLst/>
                    </a:prstGeom>
                    <a:noFill/>
                  </p:spPr>
                  <p:txBody>
                    <a:bodyPr wrap="square">
                      <a:spAutoFit/>
                    </a:bodyPr>
                    <a:lstStyle/>
                    <a:p>
                      <a:r>
                        <a:rPr lang="en-US" sz="1200" dirty="0"/>
                        <a:t>P(0)</a:t>
                      </a:r>
                    </a:p>
                  </p:txBody>
                </p:sp>
                <p:sp>
                  <p:nvSpPr>
                    <p:cNvPr id="189" name="TextBox 188">
                      <a:extLst>
                        <a:ext uri="{FF2B5EF4-FFF2-40B4-BE49-F238E27FC236}">
                          <a16:creationId xmlns:a16="http://schemas.microsoft.com/office/drawing/2014/main" id="{F2A72E47-42CC-477B-9490-A3BA9A3D8AD9}"/>
                        </a:ext>
                      </a:extLst>
                    </p:cNvPr>
                    <p:cNvSpPr txBox="1"/>
                    <p:nvPr/>
                  </p:nvSpPr>
                  <p:spPr>
                    <a:xfrm>
                      <a:off x="9685034" y="4281183"/>
                      <a:ext cx="459997" cy="276999"/>
                    </a:xfrm>
                    <a:prstGeom prst="rect">
                      <a:avLst/>
                    </a:prstGeom>
                    <a:noFill/>
                  </p:spPr>
                  <p:txBody>
                    <a:bodyPr wrap="square">
                      <a:spAutoFit/>
                    </a:bodyPr>
                    <a:lstStyle/>
                    <a:p>
                      <a:r>
                        <a:rPr lang="en-US" sz="1200" dirty="0"/>
                        <a:t>P(0)</a:t>
                      </a:r>
                    </a:p>
                  </p:txBody>
                </p:sp>
              </p:grpSp>
            </p:grpSp>
          </p:grpSp>
        </p:grpSp>
        <p:grpSp>
          <p:nvGrpSpPr>
            <p:cNvPr id="70" name="Группа 69">
              <a:extLst>
                <a:ext uri="{FF2B5EF4-FFF2-40B4-BE49-F238E27FC236}">
                  <a16:creationId xmlns:a16="http://schemas.microsoft.com/office/drawing/2014/main" id="{E898E919-EC0C-4481-8427-586B2D96F14B}"/>
                </a:ext>
              </a:extLst>
            </p:cNvPr>
            <p:cNvGrpSpPr/>
            <p:nvPr/>
          </p:nvGrpSpPr>
          <p:grpSpPr>
            <a:xfrm>
              <a:off x="5581673" y="1329674"/>
              <a:ext cx="3958128" cy="2794461"/>
              <a:chOff x="5581673" y="1329674"/>
              <a:chExt cx="3958128" cy="2794461"/>
            </a:xfrm>
          </p:grpSpPr>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DBCAC01D-8F90-482E-ACDD-C7627F9DACE6}"/>
                      </a:ext>
                    </a:extLst>
                  </p:cNvPr>
                  <p:cNvSpPr txBox="1"/>
                  <p:nvPr/>
                </p:nvSpPr>
                <p:spPr>
                  <a:xfrm>
                    <a:off x="5642886" y="1329674"/>
                    <a:ext cx="3686353" cy="681020"/>
                  </a:xfrm>
                  <a:prstGeom prst="rect">
                    <a:avLst/>
                  </a:prstGeom>
                  <a:noFill/>
                </p:spPr>
                <p:txBody>
                  <a:bodyPr wrap="square">
                    <a:spAutoFit/>
                  </a:bodyPr>
                  <a:lstStyle/>
                  <a:p>
                    <a:r>
                      <a:rPr lang="en-US" sz="1200" b="1" dirty="0"/>
                      <a:t>4.</a:t>
                    </a:r>
                    <a:r>
                      <a:rPr lang="en-US" sz="1200" dirty="0"/>
                      <a:t> </a:t>
                    </a:r>
                    <a14:m>
                      <m:oMath xmlns:m="http://schemas.openxmlformats.org/officeDocument/2006/math">
                        <m:sSubSup>
                          <m:sSubSupPr>
                            <m:ctrlPr>
                              <a:rPr lang="en-US" sz="1200" i="1" smtClean="0">
                                <a:latin typeface="Cambria Math" panose="02040503050406030204" pitchFamily="18" charset="0"/>
                              </a:rPr>
                            </m:ctrlPr>
                          </m:sSubSupPr>
                          <m:e>
                            <m:r>
                              <m:rPr>
                                <m:nor/>
                              </m:rPr>
                              <a:rPr lang="en-US" sz="1200" i="1" smtClean="0">
                                <a:latin typeface="Cambria Math" panose="02040503050406030204" pitchFamily="18" charset="0"/>
                              </a:rPr>
                              <m:t>{</m:t>
                            </m:r>
                            <m:r>
                              <m:rPr>
                                <m:nor/>
                              </m:rPr>
                              <a:rPr lang="en-US" sz="1200" b="0" i="1" smtClean="0">
                                <a:latin typeface="Cambria Math" panose="02040503050406030204" pitchFamily="18" charset="0"/>
                              </a:rPr>
                              <m:t> </m:t>
                            </m:r>
                            <m:r>
                              <m:rPr>
                                <m:nor/>
                              </m:rPr>
                              <a:rPr lang="en-US" sz="1200" i="1" dirty="0"/>
                              <m:t>FV</m:t>
                            </m:r>
                            <m:r>
                              <m:rPr>
                                <m:nor/>
                              </m:rPr>
                              <a:rPr lang="en-US" sz="1200" i="1" dirty="0"/>
                              <m:t>.</m:t>
                            </m:r>
                            <m:r>
                              <m:rPr>
                                <m:nor/>
                              </m:rPr>
                              <a:rPr lang="en-US" sz="1200" i="1" dirty="0"/>
                              <m:t>SH</m:t>
                            </m:r>
                            <m:r>
                              <m:rPr>
                                <m:nor/>
                              </m:rPr>
                              <a:rPr lang="en-US" sz="1200" i="1" dirty="0"/>
                              <m:t>.</m:t>
                            </m:r>
                            <m:r>
                              <m:rPr>
                                <m:nor/>
                              </m:rPr>
                              <a:rPr lang="en-US" sz="1200" i="1" dirty="0"/>
                              <m:t>Mul</m:t>
                            </m:r>
                            <m:r>
                              <m:rPr>
                                <m:nor/>
                              </m:rPr>
                              <a:rPr lang="en-US" sz="1200" i="1" dirty="0"/>
                              <m:t>(</m:t>
                            </m:r>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b="0" i="1" smtClean="0">
                                    <a:latin typeface="Cambria Math" panose="02040503050406030204" pitchFamily="18" charset="0"/>
                                  </a:rPr>
                                  <m:t>𝑖</m:t>
                                </m:r>
                              </m:sub>
                            </m:sSub>
                            <m:r>
                              <m:rPr>
                                <m:nor/>
                              </m:rPr>
                              <a:rPr lang="en-US" sz="1200" i="1" dirty="0"/>
                              <m:t>,</m:t>
                            </m:r>
                            <m:sSub>
                              <m:sSubPr>
                                <m:ctrlPr>
                                  <a:rPr lang="en-US"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r>
                              <m:rPr>
                                <m:nor/>
                              </m:rPr>
                              <a:rPr lang="en-US" sz="1200" i="1" dirty="0"/>
                              <m:t>)</m:t>
                            </m:r>
                            <m:r>
                              <m:rPr>
                                <m:nor/>
                              </m:rPr>
                              <a:rPr lang="en-US" sz="1200" i="1" dirty="0" smtClean="0"/>
                              <m:t>}</m:t>
                            </m:r>
                          </m:e>
                          <m:sub>
                            <m:r>
                              <a:rPr lang="en-US" sz="1200" b="0" i="1" smtClean="0">
                                <a:latin typeface="Cambria Math" panose="02040503050406030204" pitchFamily="18" charset="0"/>
                              </a:rPr>
                              <m:t> </m:t>
                            </m:r>
                            <m:r>
                              <a:rPr lang="en-US" sz="1200" b="0" i="1" smtClean="0">
                                <a:latin typeface="Cambria Math" panose="02040503050406030204" pitchFamily="18" charset="0"/>
                              </a:rPr>
                              <m:t>𝑖</m:t>
                            </m:r>
                            <m:r>
                              <a:rPr lang="en-US" sz="1200" b="0" i="1" smtClean="0">
                                <a:latin typeface="Cambria Math" panose="02040503050406030204" pitchFamily="18" charset="0"/>
                              </a:rPr>
                              <m:t>=0</m:t>
                            </m:r>
                          </m:sub>
                          <m:sup>
                            <m:r>
                              <a:rPr lang="en-US" sz="1200" b="0" i="1" smtClean="0">
                                <a:latin typeface="Cambria Math" panose="02040503050406030204" pitchFamily="18" charset="0"/>
                              </a:rPr>
                              <m:t> </m:t>
                            </m:r>
                            <m:r>
                              <a:rPr lang="en-US" sz="1200" b="0" i="1" smtClean="0">
                                <a:latin typeface="Cambria Math" panose="02040503050406030204" pitchFamily="18" charset="0"/>
                              </a:rPr>
                              <m:t>𝑚</m:t>
                            </m:r>
                            <m:r>
                              <a:rPr lang="en-US" sz="1200" b="0" i="1" smtClean="0">
                                <a:latin typeface="Cambria Math" panose="02040503050406030204" pitchFamily="18" charset="0"/>
                              </a:rPr>
                              <m:t>−1</m:t>
                            </m:r>
                          </m:sup>
                        </m:sSubSup>
                      </m:oMath>
                    </a14:m>
                    <a:r>
                      <a:rPr lang="en-US" sz="1200" dirty="0"/>
                      <a:t>, </a:t>
                    </a:r>
                  </a:p>
                  <a:p>
                    <a:r>
                      <a:rPr lang="en-US" sz="1100" dirty="0">
                        <a:solidFill>
                          <a:schemeClr val="bg1">
                            <a:lumMod val="65000"/>
                          </a:schemeClr>
                        </a:solidFill>
                      </a:rPr>
                      <a:t>where </a:t>
                    </a:r>
                    <a14:m>
                      <m:oMath xmlns:m="http://schemas.openxmlformats.org/officeDocument/2006/math">
                        <m:sSub>
                          <m:sSubPr>
                            <m:ctrlPr>
                              <a:rPr lang="en-US" sz="1100" i="1" smtClean="0">
                                <a:solidFill>
                                  <a:schemeClr val="bg1">
                                    <a:lumMod val="65000"/>
                                  </a:schemeClr>
                                </a:solidFill>
                                <a:latin typeface="Cambria Math" panose="02040503050406030204" pitchFamily="18" charset="0"/>
                              </a:rPr>
                            </m:ctrlPr>
                          </m:sSubPr>
                          <m:e>
                            <m:r>
                              <a:rPr lang="en-US" sz="1100" b="0" i="1" smtClean="0">
                                <a:solidFill>
                                  <a:schemeClr val="bg1">
                                    <a:lumMod val="65000"/>
                                  </a:schemeClr>
                                </a:solidFill>
                                <a:latin typeface="Cambria Math" panose="02040503050406030204" pitchFamily="18" charset="0"/>
                              </a:rPr>
                              <m:t>𝑆</m:t>
                            </m:r>
                          </m:e>
                          <m:sub>
                            <m:r>
                              <a:rPr lang="en-US" sz="1100" b="0" i="1" smtClean="0">
                                <a:solidFill>
                                  <a:schemeClr val="bg1">
                                    <a:lumMod val="65000"/>
                                  </a:schemeClr>
                                </a:solidFill>
                                <a:latin typeface="Cambria Math" panose="02040503050406030204" pitchFamily="18" charset="0"/>
                              </a:rPr>
                              <m:t>𝑖</m:t>
                            </m:r>
                          </m:sub>
                        </m:sSub>
                        <m:r>
                          <a:rPr lang="en-US" sz="1100" b="0" i="1" smtClean="0">
                            <a:solidFill>
                              <a:schemeClr val="bg1">
                                <a:lumMod val="65000"/>
                              </a:schemeClr>
                            </a:solidFill>
                            <a:latin typeface="Cambria Math" panose="02040503050406030204" pitchFamily="18" charset="0"/>
                          </a:rPr>
                          <m:t>=</m:t>
                        </m:r>
                        <m:d>
                          <m:dPr>
                            <m:ctrlPr>
                              <a:rPr lang="en-US" sz="1100" b="0" i="1" smtClean="0">
                                <a:solidFill>
                                  <a:schemeClr val="bg1">
                                    <a:lumMod val="65000"/>
                                  </a:schemeClr>
                                </a:solidFill>
                                <a:latin typeface="Cambria Math" panose="02040503050406030204" pitchFamily="18" charset="0"/>
                              </a:rPr>
                            </m:ctrlPr>
                          </m:dPr>
                          <m:e>
                            <m:sSub>
                              <m:sSubPr>
                                <m:ctrlPr>
                                  <a:rPr lang="en-US" sz="1100" b="0" i="1" smtClean="0">
                                    <a:solidFill>
                                      <a:schemeClr val="bg1">
                                        <a:lumMod val="65000"/>
                                      </a:schemeClr>
                                    </a:solidFill>
                                    <a:latin typeface="Cambria Math" panose="02040503050406030204" pitchFamily="18" charset="0"/>
                                  </a:rPr>
                                </m:ctrlPr>
                              </m:sSubPr>
                              <m:e>
                                <m:r>
                                  <a:rPr lang="en-US" sz="1100" b="0" i="1" smtClean="0">
                                    <a:solidFill>
                                      <a:schemeClr val="bg1">
                                        <a:lumMod val="65000"/>
                                      </a:schemeClr>
                                    </a:solidFill>
                                    <a:latin typeface="Cambria Math" panose="02040503050406030204" pitchFamily="18" charset="0"/>
                                  </a:rPr>
                                  <m:t>𝑐</m:t>
                                </m:r>
                              </m:e>
                              <m:sub>
                                <m:r>
                                  <a:rPr lang="en-US" sz="1100" b="0" i="1" smtClean="0">
                                    <a:solidFill>
                                      <a:schemeClr val="bg1">
                                        <a:lumMod val="65000"/>
                                      </a:schemeClr>
                                    </a:solidFill>
                                    <a:latin typeface="Cambria Math" panose="02040503050406030204" pitchFamily="18" charset="0"/>
                                  </a:rPr>
                                  <m:t>0,</m:t>
                                </m:r>
                                <m:r>
                                  <a:rPr lang="en-US" sz="1100" b="0" i="1" smtClean="0">
                                    <a:solidFill>
                                      <a:schemeClr val="bg1">
                                        <a:lumMod val="65000"/>
                                      </a:schemeClr>
                                    </a:solidFill>
                                    <a:latin typeface="Cambria Math" panose="02040503050406030204" pitchFamily="18" charset="0"/>
                                  </a:rPr>
                                  <m:t>𝑖</m:t>
                                </m:r>
                              </m:sub>
                            </m:sSub>
                            <m:r>
                              <a:rPr lang="en-US" sz="1100" b="0" i="1" smtClean="0">
                                <a:solidFill>
                                  <a:schemeClr val="bg1">
                                    <a:lumMod val="65000"/>
                                  </a:schemeClr>
                                </a:solidFill>
                                <a:latin typeface="Cambria Math" panose="02040503050406030204" pitchFamily="18" charset="0"/>
                              </a:rPr>
                              <m:t>,</m:t>
                            </m:r>
                            <m:sSub>
                              <m:sSubPr>
                                <m:ctrlPr>
                                  <a:rPr lang="en-US" sz="1100" b="0" i="1" smtClean="0">
                                    <a:solidFill>
                                      <a:schemeClr val="bg1">
                                        <a:lumMod val="65000"/>
                                      </a:schemeClr>
                                    </a:solidFill>
                                    <a:latin typeface="Cambria Math" panose="02040503050406030204" pitchFamily="18" charset="0"/>
                                  </a:rPr>
                                </m:ctrlPr>
                              </m:sSubPr>
                              <m:e>
                                <m:r>
                                  <a:rPr lang="en-US" sz="1100" b="0" i="1" smtClean="0">
                                    <a:solidFill>
                                      <a:schemeClr val="bg1">
                                        <a:lumMod val="65000"/>
                                      </a:schemeClr>
                                    </a:solidFill>
                                    <a:latin typeface="Cambria Math" panose="02040503050406030204" pitchFamily="18" charset="0"/>
                                  </a:rPr>
                                  <m:t>𝑐</m:t>
                                </m:r>
                              </m:e>
                              <m:sub>
                                <m:r>
                                  <a:rPr lang="en-US" sz="1100" b="0" i="1" smtClean="0">
                                    <a:solidFill>
                                      <a:schemeClr val="bg1">
                                        <a:lumMod val="65000"/>
                                      </a:schemeClr>
                                    </a:solidFill>
                                    <a:latin typeface="Cambria Math" panose="02040503050406030204" pitchFamily="18" charset="0"/>
                                  </a:rPr>
                                  <m:t>1,</m:t>
                                </m:r>
                                <m:r>
                                  <a:rPr lang="en-US" sz="1100" b="0" i="1" smtClean="0">
                                    <a:solidFill>
                                      <a:schemeClr val="bg1">
                                        <a:lumMod val="65000"/>
                                      </a:schemeClr>
                                    </a:solidFill>
                                    <a:latin typeface="Cambria Math" panose="02040503050406030204" pitchFamily="18" charset="0"/>
                                  </a:rPr>
                                  <m:t>𝑖</m:t>
                                </m:r>
                              </m:sub>
                            </m:sSub>
                          </m:e>
                        </m:d>
                      </m:oMath>
                    </a14:m>
                    <a:r>
                      <a:rPr lang="en-US" sz="1100" dirty="0">
                        <a:solidFill>
                          <a:schemeClr val="bg1">
                            <a:lumMod val="65000"/>
                          </a:schemeClr>
                        </a:solidFill>
                      </a:rPr>
                      <a:t> and</a:t>
                    </a:r>
                    <a14:m>
                      <m:oMath xmlns:m="http://schemas.openxmlformats.org/officeDocument/2006/math">
                        <m:r>
                          <a:rPr lang="en-US" sz="1100" b="0" i="0" smtClean="0">
                            <a:solidFill>
                              <a:schemeClr val="bg1">
                                <a:lumMod val="65000"/>
                              </a:schemeClr>
                            </a:solidFill>
                            <a:latin typeface="Cambria Math" panose="02040503050406030204" pitchFamily="18" charset="0"/>
                          </a:rPr>
                          <m:t> </m:t>
                        </m:r>
                        <m:sSub>
                          <m:sSubPr>
                            <m:ctrlPr>
                              <a:rPr lang="en-US" sz="1100" i="1">
                                <a:solidFill>
                                  <a:schemeClr val="bg1">
                                    <a:lumMod val="65000"/>
                                  </a:schemeClr>
                                </a:solidFill>
                                <a:latin typeface="Cambria Math" panose="02040503050406030204" pitchFamily="18" charset="0"/>
                              </a:rPr>
                            </m:ctrlPr>
                          </m:sSubPr>
                          <m:e>
                            <m:r>
                              <a:rPr lang="en-US" sz="1100" b="0" i="1" smtClean="0">
                                <a:solidFill>
                                  <a:schemeClr val="bg1">
                                    <a:lumMod val="65000"/>
                                  </a:schemeClr>
                                </a:solidFill>
                                <a:latin typeface="Cambria Math" panose="02040503050406030204" pitchFamily="18" charset="0"/>
                              </a:rPr>
                              <m:t>(</m:t>
                            </m:r>
                            <m:r>
                              <a:rPr lang="en-US" sz="1100" i="1">
                                <a:solidFill>
                                  <a:schemeClr val="bg1">
                                    <a:lumMod val="65000"/>
                                  </a:schemeClr>
                                </a:solidFill>
                                <a:latin typeface="Cambria Math" panose="02040503050406030204" pitchFamily="18" charset="0"/>
                              </a:rPr>
                              <m:t>𝑆</m:t>
                            </m:r>
                          </m:e>
                          <m:sub>
                            <m:r>
                              <a:rPr lang="en-US" sz="1100" i="1">
                                <a:solidFill>
                                  <a:schemeClr val="bg1">
                                    <a:lumMod val="65000"/>
                                  </a:schemeClr>
                                </a:solidFill>
                                <a:latin typeface="Cambria Math" panose="02040503050406030204" pitchFamily="18" charset="0"/>
                              </a:rPr>
                              <m:t>𝑖</m:t>
                            </m:r>
                          </m:sub>
                        </m:sSub>
                        <m:r>
                          <m:rPr>
                            <m:nor/>
                          </m:rPr>
                          <a:rPr lang="en-US" sz="1100" b="0" i="0" smtClean="0">
                            <a:solidFill>
                              <a:schemeClr val="bg1">
                                <a:lumMod val="65000"/>
                              </a:schemeClr>
                            </a:solidFill>
                            <a:latin typeface="Cambria Math" panose="02040503050406030204" pitchFamily="18" charset="0"/>
                          </a:rPr>
                          <m:t> </m:t>
                        </m:r>
                        <m:r>
                          <m:rPr>
                            <m:nor/>
                          </m:rPr>
                          <a:rPr lang="en-US" sz="1100">
                            <a:solidFill>
                              <a:schemeClr val="bg1">
                                <a:lumMod val="65000"/>
                              </a:schemeClr>
                            </a:solidFill>
                          </a:rPr>
                          <m:t>⋅</m:t>
                        </m:r>
                        <m:r>
                          <a:rPr lang="en-US" sz="1100" b="0" i="1" smtClean="0">
                            <a:solidFill>
                              <a:schemeClr val="bg1">
                                <a:lumMod val="65000"/>
                              </a:schemeClr>
                            </a:solidFill>
                            <a:latin typeface="Cambria Math" panose="02040503050406030204" pitchFamily="18" charset="0"/>
                          </a:rPr>
                          <m:t> </m:t>
                        </m:r>
                        <m:sSub>
                          <m:sSubPr>
                            <m:ctrlPr>
                              <a:rPr lang="en-US" sz="1100" i="1">
                                <a:solidFill>
                                  <a:schemeClr val="bg1">
                                    <a:lumMod val="65000"/>
                                  </a:schemeClr>
                                </a:solidFill>
                                <a:latin typeface="Cambria Math" panose="02040503050406030204" pitchFamily="18" charset="0"/>
                              </a:rPr>
                            </m:ctrlPr>
                          </m:sSubPr>
                          <m:e>
                            <m:r>
                              <a:rPr lang="en-US" sz="1100" i="1">
                                <a:solidFill>
                                  <a:schemeClr val="bg1">
                                    <a:lumMod val="65000"/>
                                  </a:schemeClr>
                                </a:solidFill>
                                <a:latin typeface="Cambria Math" panose="02040503050406030204" pitchFamily="18" charset="0"/>
                              </a:rPr>
                              <m:t>𝑟</m:t>
                            </m:r>
                          </m:e>
                          <m:sub>
                            <m:r>
                              <a:rPr lang="en-US" sz="1100" i="1">
                                <a:solidFill>
                                  <a:schemeClr val="bg1">
                                    <a:lumMod val="65000"/>
                                  </a:schemeClr>
                                </a:solidFill>
                                <a:latin typeface="Cambria Math" panose="02040503050406030204" pitchFamily="18" charset="0"/>
                              </a:rPr>
                              <m:t>𝑖</m:t>
                            </m:r>
                          </m:sub>
                        </m:sSub>
                        <m:r>
                          <a:rPr lang="en-US" sz="1100" b="0" i="1" smtClean="0">
                            <a:solidFill>
                              <a:schemeClr val="bg1">
                                <a:lumMod val="65000"/>
                              </a:schemeClr>
                            </a:solidFill>
                            <a:latin typeface="Cambria Math" panose="02040503050406030204" pitchFamily="18" charset="0"/>
                          </a:rPr>
                          <m:t>)=</m:t>
                        </m:r>
                        <m:d>
                          <m:dPr>
                            <m:ctrlPr>
                              <a:rPr lang="en-US" sz="1100" b="0" i="1" smtClean="0">
                                <a:solidFill>
                                  <a:schemeClr val="bg1">
                                    <a:lumMod val="65000"/>
                                  </a:schemeClr>
                                </a:solidFill>
                                <a:latin typeface="Cambria Math" panose="02040503050406030204" pitchFamily="18" charset="0"/>
                              </a:rPr>
                            </m:ctrlPr>
                          </m:dPr>
                          <m:e>
                            <m:sSub>
                              <m:sSubPr>
                                <m:ctrlPr>
                                  <a:rPr lang="en-US" sz="1100" i="1">
                                    <a:solidFill>
                                      <a:schemeClr val="bg1">
                                        <a:lumMod val="65000"/>
                                      </a:schemeClr>
                                    </a:solidFill>
                                    <a:latin typeface="Cambria Math" panose="02040503050406030204" pitchFamily="18" charset="0"/>
                                  </a:rPr>
                                </m:ctrlPr>
                              </m:sSubPr>
                              <m:e>
                                <m:r>
                                  <a:rPr lang="en-US" sz="1100" i="1">
                                    <a:solidFill>
                                      <a:schemeClr val="bg1">
                                        <a:lumMod val="65000"/>
                                      </a:schemeClr>
                                    </a:solidFill>
                                    <a:latin typeface="Cambria Math" panose="02040503050406030204" pitchFamily="18" charset="0"/>
                                  </a:rPr>
                                  <m:t>𝑐</m:t>
                                </m:r>
                              </m:e>
                              <m:sub>
                                <m:r>
                                  <a:rPr lang="en-US" sz="1100" i="1">
                                    <a:solidFill>
                                      <a:schemeClr val="bg1">
                                        <a:lumMod val="65000"/>
                                      </a:schemeClr>
                                    </a:solidFill>
                                    <a:latin typeface="Cambria Math" panose="02040503050406030204" pitchFamily="18" charset="0"/>
                                  </a:rPr>
                                  <m:t>0,</m:t>
                                </m:r>
                                <m:r>
                                  <a:rPr lang="en-US" sz="1100" i="1">
                                    <a:solidFill>
                                      <a:schemeClr val="bg1">
                                        <a:lumMod val="65000"/>
                                      </a:schemeClr>
                                    </a:solidFill>
                                    <a:latin typeface="Cambria Math" panose="02040503050406030204" pitchFamily="18" charset="0"/>
                                  </a:rPr>
                                  <m:t>𝑖</m:t>
                                </m:r>
                              </m:sub>
                            </m:sSub>
                            <m:r>
                              <m:rPr>
                                <m:nor/>
                              </m:rPr>
                              <a:rPr lang="en-US" sz="1100" b="0" i="0" smtClean="0">
                                <a:solidFill>
                                  <a:schemeClr val="bg1">
                                    <a:lumMod val="65000"/>
                                  </a:schemeClr>
                                </a:solidFill>
                                <a:latin typeface="Cambria Math" panose="02040503050406030204" pitchFamily="18" charset="0"/>
                              </a:rPr>
                              <m:t> </m:t>
                            </m:r>
                            <m:r>
                              <m:rPr>
                                <m:nor/>
                              </m:rPr>
                              <a:rPr lang="en-US" sz="1100" smtClean="0">
                                <a:solidFill>
                                  <a:schemeClr val="bg1">
                                    <a:lumMod val="65000"/>
                                  </a:schemeClr>
                                </a:solidFill>
                              </a:rPr>
                              <m:t>⋅</m:t>
                            </m:r>
                            <m:r>
                              <a:rPr lang="en-US" sz="1100" b="0" i="1" smtClean="0">
                                <a:solidFill>
                                  <a:schemeClr val="bg1">
                                    <a:lumMod val="65000"/>
                                  </a:schemeClr>
                                </a:solidFill>
                                <a:latin typeface="Cambria Math" panose="02040503050406030204" pitchFamily="18" charset="0"/>
                              </a:rPr>
                              <m:t> </m:t>
                            </m:r>
                            <m:sSub>
                              <m:sSubPr>
                                <m:ctrlPr>
                                  <a:rPr lang="en-US" sz="1100" i="1">
                                    <a:solidFill>
                                      <a:schemeClr val="bg1">
                                        <a:lumMod val="65000"/>
                                      </a:schemeClr>
                                    </a:solidFill>
                                    <a:latin typeface="Cambria Math" panose="02040503050406030204" pitchFamily="18" charset="0"/>
                                  </a:rPr>
                                </m:ctrlPr>
                              </m:sSubPr>
                              <m:e>
                                <m:r>
                                  <a:rPr lang="en-US" sz="1100" i="1">
                                    <a:solidFill>
                                      <a:schemeClr val="bg1">
                                        <a:lumMod val="65000"/>
                                      </a:schemeClr>
                                    </a:solidFill>
                                    <a:latin typeface="Cambria Math" panose="02040503050406030204" pitchFamily="18" charset="0"/>
                                  </a:rPr>
                                  <m:t>𝑟</m:t>
                                </m:r>
                              </m:e>
                              <m:sub>
                                <m:r>
                                  <a:rPr lang="en-US" sz="1100" i="1">
                                    <a:solidFill>
                                      <a:schemeClr val="bg1">
                                        <a:lumMod val="65000"/>
                                      </a:schemeClr>
                                    </a:solidFill>
                                    <a:latin typeface="Cambria Math" panose="02040503050406030204" pitchFamily="18" charset="0"/>
                                  </a:rPr>
                                  <m:t>𝑖</m:t>
                                </m:r>
                              </m:sub>
                            </m:sSub>
                            <m:r>
                              <a:rPr lang="en-US" sz="1100" i="1">
                                <a:solidFill>
                                  <a:schemeClr val="bg1">
                                    <a:lumMod val="65000"/>
                                  </a:schemeClr>
                                </a:solidFill>
                                <a:latin typeface="Cambria Math" panose="02040503050406030204" pitchFamily="18" charset="0"/>
                              </a:rPr>
                              <m:t>,</m:t>
                            </m:r>
                            <m:sSub>
                              <m:sSubPr>
                                <m:ctrlPr>
                                  <a:rPr lang="en-US" sz="1100" i="1">
                                    <a:solidFill>
                                      <a:schemeClr val="bg1">
                                        <a:lumMod val="65000"/>
                                      </a:schemeClr>
                                    </a:solidFill>
                                    <a:latin typeface="Cambria Math" panose="02040503050406030204" pitchFamily="18" charset="0"/>
                                  </a:rPr>
                                </m:ctrlPr>
                              </m:sSubPr>
                              <m:e>
                                <m:r>
                                  <a:rPr lang="en-US" sz="1100" i="1">
                                    <a:solidFill>
                                      <a:schemeClr val="bg1">
                                        <a:lumMod val="65000"/>
                                      </a:schemeClr>
                                    </a:solidFill>
                                    <a:latin typeface="Cambria Math" panose="02040503050406030204" pitchFamily="18" charset="0"/>
                                  </a:rPr>
                                  <m:t>𝑐</m:t>
                                </m:r>
                              </m:e>
                              <m:sub>
                                <m:r>
                                  <a:rPr lang="en-US" sz="1100" i="1">
                                    <a:solidFill>
                                      <a:schemeClr val="bg1">
                                        <a:lumMod val="65000"/>
                                      </a:schemeClr>
                                    </a:solidFill>
                                    <a:latin typeface="Cambria Math" panose="02040503050406030204" pitchFamily="18" charset="0"/>
                                  </a:rPr>
                                  <m:t>1,</m:t>
                                </m:r>
                                <m:r>
                                  <a:rPr lang="en-US" sz="1100" i="1">
                                    <a:solidFill>
                                      <a:schemeClr val="bg1">
                                        <a:lumMod val="65000"/>
                                      </a:schemeClr>
                                    </a:solidFill>
                                    <a:latin typeface="Cambria Math" panose="02040503050406030204" pitchFamily="18" charset="0"/>
                                  </a:rPr>
                                  <m:t>𝑖</m:t>
                                </m:r>
                              </m:sub>
                            </m:sSub>
                            <m:r>
                              <m:rPr>
                                <m:nor/>
                              </m:rPr>
                              <a:rPr lang="en-US" sz="1100">
                                <a:solidFill>
                                  <a:schemeClr val="bg1">
                                    <a:lumMod val="65000"/>
                                  </a:schemeClr>
                                </a:solidFill>
                              </a:rPr>
                              <m:t>⋅</m:t>
                            </m:r>
                            <m:r>
                              <a:rPr lang="en-US" sz="1100" b="0" i="1" smtClean="0">
                                <a:solidFill>
                                  <a:schemeClr val="bg1">
                                    <a:lumMod val="65000"/>
                                  </a:schemeClr>
                                </a:solidFill>
                                <a:latin typeface="Cambria Math" panose="02040503050406030204" pitchFamily="18" charset="0"/>
                              </a:rPr>
                              <m:t> </m:t>
                            </m:r>
                            <m:sSub>
                              <m:sSubPr>
                                <m:ctrlPr>
                                  <a:rPr lang="en-US" sz="1100" i="1">
                                    <a:solidFill>
                                      <a:schemeClr val="bg1">
                                        <a:lumMod val="65000"/>
                                      </a:schemeClr>
                                    </a:solidFill>
                                    <a:latin typeface="Cambria Math" panose="02040503050406030204" pitchFamily="18" charset="0"/>
                                  </a:rPr>
                                </m:ctrlPr>
                              </m:sSubPr>
                              <m:e>
                                <m:r>
                                  <a:rPr lang="en-US" sz="1100" i="1">
                                    <a:solidFill>
                                      <a:schemeClr val="bg1">
                                        <a:lumMod val="65000"/>
                                      </a:schemeClr>
                                    </a:solidFill>
                                    <a:latin typeface="Cambria Math" panose="02040503050406030204" pitchFamily="18" charset="0"/>
                                  </a:rPr>
                                  <m:t>𝑟</m:t>
                                </m:r>
                              </m:e>
                              <m:sub>
                                <m:r>
                                  <a:rPr lang="en-US" sz="1100" i="1">
                                    <a:solidFill>
                                      <a:schemeClr val="bg1">
                                        <a:lumMod val="65000"/>
                                      </a:schemeClr>
                                    </a:solidFill>
                                    <a:latin typeface="Cambria Math" panose="02040503050406030204" pitchFamily="18" charset="0"/>
                                  </a:rPr>
                                  <m:t>𝑖</m:t>
                                </m:r>
                              </m:sub>
                            </m:sSub>
                          </m:e>
                        </m:d>
                      </m:oMath>
                    </a14:m>
                    <a:endParaRPr lang="en-US" sz="1100" b="0" dirty="0">
                      <a:solidFill>
                        <a:schemeClr val="bg1">
                          <a:lumMod val="65000"/>
                        </a:schemeClr>
                      </a:solidFill>
                    </a:endParaRPr>
                  </a:p>
                  <a:p>
                    <a:pPr marL="685800" lvl="1" indent="-228600">
                      <a:buFont typeface="+mj-lt"/>
                      <a:buAutoNum type="arabicPeriod"/>
                    </a:pPr>
                    <a:endParaRPr lang="en-US" sz="1200" dirty="0"/>
                  </a:p>
                </p:txBody>
              </p:sp>
            </mc:Choice>
            <mc:Fallback xmlns="">
              <p:sp>
                <p:nvSpPr>
                  <p:cNvPr id="174" name="TextBox 173">
                    <a:extLst>
                      <a:ext uri="{FF2B5EF4-FFF2-40B4-BE49-F238E27FC236}">
                        <a16:creationId xmlns:a16="http://schemas.microsoft.com/office/drawing/2014/main" id="{DBCAC01D-8F90-482E-ACDD-C7627F9DACE6}"/>
                      </a:ext>
                    </a:extLst>
                  </p:cNvPr>
                  <p:cNvSpPr txBox="1">
                    <a:spLocks noRot="1" noChangeAspect="1" noMove="1" noResize="1" noEditPoints="1" noAdjustHandles="1" noChangeArrowheads="1" noChangeShapeType="1" noTextEdit="1"/>
                  </p:cNvSpPr>
                  <p:nvPr/>
                </p:nvSpPr>
                <p:spPr>
                  <a:xfrm>
                    <a:off x="5642886" y="1329674"/>
                    <a:ext cx="3686353" cy="681020"/>
                  </a:xfrm>
                  <a:prstGeom prst="rect">
                    <a:avLst/>
                  </a:prstGeom>
                  <a:blipFill>
                    <a:blip r:embed="rId24"/>
                    <a:stretch>
                      <a:fillRect l="-166"/>
                    </a:stretch>
                  </a:blipFill>
                </p:spPr>
                <p:txBody>
                  <a:bodyPr/>
                  <a:lstStyle/>
                  <a:p>
                    <a:r>
                      <a:rPr lang="en-US">
                        <a:noFill/>
                      </a:rPr>
                      <a:t> </a:t>
                    </a:r>
                  </a:p>
                </p:txBody>
              </p:sp>
            </mc:Fallback>
          </mc:AlternateContent>
          <p:grpSp>
            <p:nvGrpSpPr>
              <p:cNvPr id="69" name="Группа 68">
                <a:extLst>
                  <a:ext uri="{FF2B5EF4-FFF2-40B4-BE49-F238E27FC236}">
                    <a16:creationId xmlns:a16="http://schemas.microsoft.com/office/drawing/2014/main" id="{337C1687-8063-4C3B-AC16-9C5467C4FCF6}"/>
                  </a:ext>
                </a:extLst>
              </p:cNvPr>
              <p:cNvGrpSpPr/>
              <p:nvPr/>
            </p:nvGrpSpPr>
            <p:grpSpPr>
              <a:xfrm>
                <a:off x="5581673" y="1872940"/>
                <a:ext cx="3958128" cy="2251195"/>
                <a:chOff x="5581673" y="1872940"/>
                <a:chExt cx="3958128" cy="2251195"/>
              </a:xfrm>
            </p:grpSpPr>
            <mc:AlternateContent xmlns:mc="http://schemas.openxmlformats.org/markup-compatibility/2006" xmlns:a14="http://schemas.microsoft.com/office/drawing/2010/main">
              <mc:Choice Requires="a14">
                <p:sp>
                  <p:nvSpPr>
                    <p:cNvPr id="190" name="TextBox 189">
                      <a:extLst>
                        <a:ext uri="{FF2B5EF4-FFF2-40B4-BE49-F238E27FC236}">
                          <a16:creationId xmlns:a16="http://schemas.microsoft.com/office/drawing/2014/main" id="{869C148D-8D40-4A3D-ADAF-3EFC7EFF2520}"/>
                        </a:ext>
                      </a:extLst>
                    </p:cNvPr>
                    <p:cNvSpPr txBox="1"/>
                    <p:nvPr/>
                  </p:nvSpPr>
                  <p:spPr>
                    <a:xfrm>
                      <a:off x="6654504" y="2840756"/>
                      <a:ext cx="2180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90" name="TextBox 189">
                      <a:extLst>
                        <a:ext uri="{FF2B5EF4-FFF2-40B4-BE49-F238E27FC236}">
                          <a16:creationId xmlns:a16="http://schemas.microsoft.com/office/drawing/2014/main" id="{869C148D-8D40-4A3D-ADAF-3EFC7EFF2520}"/>
                        </a:ext>
                      </a:extLst>
                    </p:cNvPr>
                    <p:cNvSpPr txBox="1">
                      <a:spLocks noRot="1" noChangeAspect="1" noMove="1" noResize="1" noEditPoints="1" noAdjustHandles="1" noChangeArrowheads="1" noChangeShapeType="1" noTextEdit="1"/>
                    </p:cNvSpPr>
                    <p:nvPr/>
                  </p:nvSpPr>
                  <p:spPr>
                    <a:xfrm>
                      <a:off x="6654504" y="2840756"/>
                      <a:ext cx="218008" cy="276999"/>
                    </a:xfrm>
                    <a:prstGeom prst="rect">
                      <a:avLst/>
                    </a:prstGeom>
                    <a:blipFill>
                      <a:blip r:embed="rId25"/>
                      <a:stretch>
                        <a:fillRect l="-20000" r="-20000" b="-2222"/>
                      </a:stretch>
                    </a:blipFill>
                  </p:spPr>
                  <p:txBody>
                    <a:bodyPr/>
                    <a:lstStyle/>
                    <a:p>
                      <a:r>
                        <a:rPr lang="en-US">
                          <a:noFill/>
                        </a:rPr>
                        <a:t> </a:t>
                      </a:r>
                    </a:p>
                  </p:txBody>
                </p:sp>
              </mc:Fallback>
            </mc:AlternateContent>
            <p:grpSp>
              <p:nvGrpSpPr>
                <p:cNvPr id="67" name="Группа 66">
                  <a:extLst>
                    <a:ext uri="{FF2B5EF4-FFF2-40B4-BE49-F238E27FC236}">
                      <a16:creationId xmlns:a16="http://schemas.microsoft.com/office/drawing/2014/main" id="{E9C2A429-841C-4FBE-A72E-E99355CA6D04}"/>
                    </a:ext>
                  </a:extLst>
                </p:cNvPr>
                <p:cNvGrpSpPr/>
                <p:nvPr/>
              </p:nvGrpSpPr>
              <p:grpSpPr>
                <a:xfrm>
                  <a:off x="6901981" y="1884161"/>
                  <a:ext cx="2637820" cy="2234766"/>
                  <a:chOff x="6901981" y="1884161"/>
                  <a:chExt cx="2637820" cy="2234766"/>
                </a:xfrm>
              </p:grpSpPr>
              <p:grpSp>
                <p:nvGrpSpPr>
                  <p:cNvPr id="290" name="Группа 289">
                    <a:extLst>
                      <a:ext uri="{FF2B5EF4-FFF2-40B4-BE49-F238E27FC236}">
                        <a16:creationId xmlns:a16="http://schemas.microsoft.com/office/drawing/2014/main" id="{E6930F93-3797-4D08-BB95-98DABDAC1A23}"/>
                      </a:ext>
                    </a:extLst>
                  </p:cNvPr>
                  <p:cNvGrpSpPr/>
                  <p:nvPr/>
                </p:nvGrpSpPr>
                <p:grpSpPr>
                  <a:xfrm>
                    <a:off x="6901981" y="1884161"/>
                    <a:ext cx="2637820" cy="2234766"/>
                    <a:chOff x="6475254" y="2624840"/>
                    <a:chExt cx="2637820" cy="2234766"/>
                  </a:xfrm>
                </p:grpSpPr>
                <p:grpSp>
                  <p:nvGrpSpPr>
                    <p:cNvPr id="289" name="Группа 288">
                      <a:extLst>
                        <a:ext uri="{FF2B5EF4-FFF2-40B4-BE49-F238E27FC236}">
                          <a16:creationId xmlns:a16="http://schemas.microsoft.com/office/drawing/2014/main" id="{9E5AFBF8-E54B-403E-A331-CD4C61BF49AF}"/>
                        </a:ext>
                      </a:extLst>
                    </p:cNvPr>
                    <p:cNvGrpSpPr/>
                    <p:nvPr/>
                  </p:nvGrpSpPr>
                  <p:grpSpPr>
                    <a:xfrm>
                      <a:off x="6475254" y="2647659"/>
                      <a:ext cx="439302" cy="2211947"/>
                      <a:chOff x="6475254" y="2647659"/>
                      <a:chExt cx="439302" cy="2211947"/>
                    </a:xfrm>
                  </p:grpSpPr>
                  <p:sp>
                    <p:nvSpPr>
                      <p:cNvPr id="24" name="TextBox 23">
                        <a:extLst>
                          <a:ext uri="{FF2B5EF4-FFF2-40B4-BE49-F238E27FC236}">
                            <a16:creationId xmlns:a16="http://schemas.microsoft.com/office/drawing/2014/main" id="{D0B96079-DD85-4590-9893-59802E0B95E7}"/>
                          </a:ext>
                        </a:extLst>
                      </p:cNvPr>
                      <p:cNvSpPr txBox="1"/>
                      <p:nvPr/>
                    </p:nvSpPr>
                    <p:spPr>
                      <a:xfrm>
                        <a:off x="6475254" y="4582607"/>
                        <a:ext cx="439302" cy="276999"/>
                      </a:xfrm>
                      <a:prstGeom prst="rect">
                        <a:avLst/>
                      </a:prstGeom>
                      <a:noFill/>
                    </p:spPr>
                    <p:txBody>
                      <a:bodyPr wrap="square">
                        <a:spAutoFit/>
                      </a:bodyPr>
                      <a:lstStyle/>
                      <a:p>
                        <a:r>
                          <a:rPr lang="en-US" sz="1200" dirty="0"/>
                          <a:t>m-1</a:t>
                        </a:r>
                      </a:p>
                    </p:txBody>
                  </p:sp>
                  <p:sp>
                    <p:nvSpPr>
                      <p:cNvPr id="33" name="TextBox 32">
                        <a:extLst>
                          <a:ext uri="{FF2B5EF4-FFF2-40B4-BE49-F238E27FC236}">
                            <a16:creationId xmlns:a16="http://schemas.microsoft.com/office/drawing/2014/main" id="{0FE0941A-4ECC-4DEA-8FCD-5A700FEAE255}"/>
                          </a:ext>
                        </a:extLst>
                      </p:cNvPr>
                      <p:cNvSpPr txBox="1"/>
                      <p:nvPr/>
                    </p:nvSpPr>
                    <p:spPr>
                      <a:xfrm>
                        <a:off x="6551538" y="2647659"/>
                        <a:ext cx="228375" cy="276999"/>
                      </a:xfrm>
                      <a:prstGeom prst="rect">
                        <a:avLst/>
                      </a:prstGeom>
                      <a:noFill/>
                    </p:spPr>
                    <p:txBody>
                      <a:bodyPr wrap="square">
                        <a:spAutoFit/>
                      </a:bodyPr>
                      <a:lstStyle/>
                      <a:p>
                        <a:r>
                          <a:rPr lang="en-US" sz="1200" dirty="0"/>
                          <a:t>0</a:t>
                        </a:r>
                      </a:p>
                    </p:txBody>
                  </p:sp>
                </p:grpSp>
                <mc:AlternateContent xmlns:mc="http://schemas.openxmlformats.org/markup-compatibility/2006" xmlns:a14="http://schemas.microsoft.com/office/drawing/2010/main">
                  <mc:Choice Requires="a14">
                    <p:sp>
                      <p:nvSpPr>
                        <p:cNvPr id="274" name="TextBox 273">
                          <a:extLst>
                            <a:ext uri="{FF2B5EF4-FFF2-40B4-BE49-F238E27FC236}">
                              <a16:creationId xmlns:a16="http://schemas.microsoft.com/office/drawing/2014/main" id="{BAC8C6F9-C914-4101-93DD-CD7D9E1D36D3}"/>
                            </a:ext>
                          </a:extLst>
                        </p:cNvPr>
                        <p:cNvSpPr txBox="1"/>
                        <p:nvPr/>
                      </p:nvSpPr>
                      <p:spPr>
                        <a:xfrm>
                          <a:off x="8722112" y="2624840"/>
                          <a:ext cx="39096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200" i="1" dirty="0" smtClean="0">
                                        <a:latin typeface="Cambria Math" panose="02040503050406030204" pitchFamily="18" charset="0"/>
                                      </a:rPr>
                                    </m:ctrlPr>
                                  </m:sSubSupPr>
                                  <m:e>
                                    <m:r>
                                      <a:rPr lang="en-US" sz="1200" b="0" i="1" dirty="0" smtClean="0">
                                        <a:latin typeface="Cambria Math" panose="02040503050406030204" pitchFamily="18" charset="0"/>
                                      </a:rPr>
                                      <m:t>𝑅</m:t>
                                    </m:r>
                                  </m:e>
                                  <m:sub>
                                    <m:r>
                                      <a:rPr lang="en-US" sz="1200" b="0" i="1" dirty="0" smtClean="0">
                                        <a:latin typeface="Cambria Math" panose="02040503050406030204" pitchFamily="18" charset="0"/>
                                      </a:rPr>
                                      <m:t>𝑡</m:t>
                                    </m:r>
                                  </m:sub>
                                  <m:sup>
                                    <m:r>
                                      <a:rPr lang="en-US" sz="1200" b="0" i="1" dirty="0" smtClean="0">
                                        <a:latin typeface="Cambria Math" panose="02040503050406030204" pitchFamily="18" charset="0"/>
                                      </a:rPr>
                                      <m:t>𝑛</m:t>
                                    </m:r>
                                  </m:sup>
                                </m:sSubSup>
                              </m:oMath>
                            </m:oMathPara>
                          </a14:m>
                          <a:endParaRPr lang="en-US" sz="1200" dirty="0"/>
                        </a:p>
                      </p:txBody>
                    </p:sp>
                  </mc:Choice>
                  <mc:Fallback xmlns="">
                    <p:sp>
                      <p:nvSpPr>
                        <p:cNvPr id="274" name="TextBox 273">
                          <a:extLst>
                            <a:ext uri="{FF2B5EF4-FFF2-40B4-BE49-F238E27FC236}">
                              <a16:creationId xmlns:a16="http://schemas.microsoft.com/office/drawing/2014/main" id="{BAC8C6F9-C914-4101-93DD-CD7D9E1D36D3}"/>
                            </a:ext>
                          </a:extLst>
                        </p:cNvPr>
                        <p:cNvSpPr txBox="1">
                          <a:spLocks noRot="1" noChangeAspect="1" noMove="1" noResize="1" noEditPoints="1" noAdjustHandles="1" noChangeArrowheads="1" noChangeShapeType="1" noTextEdit="1"/>
                        </p:cNvSpPr>
                        <p:nvPr/>
                      </p:nvSpPr>
                      <p:spPr>
                        <a:xfrm>
                          <a:off x="8722112" y="2624840"/>
                          <a:ext cx="390962" cy="276999"/>
                        </a:xfrm>
                        <a:prstGeom prst="rect">
                          <a:avLst/>
                        </a:prstGeom>
                        <a:blipFill>
                          <a:blip r:embed="rId26"/>
                          <a:stretch>
                            <a:fillRect/>
                          </a:stretch>
                        </a:blipFill>
                      </p:spPr>
                      <p:txBody>
                        <a:bodyPr/>
                        <a:lstStyle/>
                        <a:p>
                          <a:r>
                            <a:rPr lang="en-US">
                              <a:noFill/>
                            </a:rPr>
                            <a:t> </a:t>
                          </a:r>
                        </a:p>
                      </p:txBody>
                    </p:sp>
                  </mc:Fallback>
                </mc:AlternateContent>
              </p:grpSp>
              <p:grpSp>
                <p:nvGrpSpPr>
                  <p:cNvPr id="291" name="Группа 290">
                    <a:extLst>
                      <a:ext uri="{FF2B5EF4-FFF2-40B4-BE49-F238E27FC236}">
                        <a16:creationId xmlns:a16="http://schemas.microsoft.com/office/drawing/2014/main" id="{8F282ED2-BDC0-449E-9CE5-35017C081DA9}"/>
                      </a:ext>
                    </a:extLst>
                  </p:cNvPr>
                  <p:cNvGrpSpPr/>
                  <p:nvPr/>
                </p:nvGrpSpPr>
                <p:grpSpPr>
                  <a:xfrm>
                    <a:off x="7189367" y="2141121"/>
                    <a:ext cx="2041590" cy="1738544"/>
                    <a:chOff x="6762640" y="2881800"/>
                    <a:chExt cx="2041590" cy="1738544"/>
                  </a:xfrm>
                </p:grpSpPr>
                <p:sp>
                  <p:nvSpPr>
                    <p:cNvPr id="114" name="TextBox 113">
                      <a:extLst>
                        <a:ext uri="{FF2B5EF4-FFF2-40B4-BE49-F238E27FC236}">
                          <a16:creationId xmlns:a16="http://schemas.microsoft.com/office/drawing/2014/main" id="{1FFA20BD-C0B9-4F80-8BC5-8ACEF275F032}"/>
                        </a:ext>
                      </a:extLst>
                    </p:cNvPr>
                    <p:cNvSpPr txBox="1"/>
                    <p:nvPr/>
                  </p:nvSpPr>
                  <p:spPr>
                    <a:xfrm rot="2700000">
                      <a:off x="7752817" y="3948164"/>
                      <a:ext cx="439302" cy="276999"/>
                    </a:xfrm>
                    <a:prstGeom prst="rect">
                      <a:avLst/>
                    </a:prstGeom>
                    <a:noFill/>
                  </p:spPr>
                  <p:txBody>
                    <a:bodyPr wrap="square">
                      <a:spAutoFit/>
                    </a:bodyPr>
                    <a:lstStyle/>
                    <a:p>
                      <a:r>
                        <a:rPr lang="en-US" sz="1200" dirty="0"/>
                        <a:t>…….</a:t>
                      </a:r>
                    </a:p>
                  </p:txBody>
                </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F1B99951-256A-4C21-8A73-63A5A8870A9B}"/>
                            </a:ext>
                          </a:extLst>
                        </p:cNvPr>
                        <p:cNvSpPr txBox="1"/>
                        <p:nvPr/>
                      </p:nvSpPr>
                      <p:spPr>
                        <a:xfrm>
                          <a:off x="6796224" y="2931013"/>
                          <a:ext cx="228375"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0,0</m:t>
                                    </m:r>
                                  </m:sub>
                                </m:sSub>
                              </m:oMath>
                            </m:oMathPara>
                          </a14:m>
                          <a:endParaRPr lang="en-US" sz="1200" dirty="0"/>
                        </a:p>
                      </p:txBody>
                    </p:sp>
                  </mc:Choice>
                  <mc:Fallback xmlns="">
                    <p:sp>
                      <p:nvSpPr>
                        <p:cNvPr id="105" name="TextBox 104">
                          <a:extLst>
                            <a:ext uri="{FF2B5EF4-FFF2-40B4-BE49-F238E27FC236}">
                              <a16:creationId xmlns:a16="http://schemas.microsoft.com/office/drawing/2014/main" id="{F1B99951-256A-4C21-8A73-63A5A8870A9B}"/>
                            </a:ext>
                          </a:extLst>
                        </p:cNvPr>
                        <p:cNvSpPr txBox="1">
                          <a:spLocks noRot="1" noChangeAspect="1" noMove="1" noResize="1" noEditPoints="1" noAdjustHandles="1" noChangeArrowheads="1" noChangeShapeType="1" noTextEdit="1"/>
                        </p:cNvSpPr>
                        <p:nvPr/>
                      </p:nvSpPr>
                      <p:spPr>
                        <a:xfrm>
                          <a:off x="6796224" y="2931013"/>
                          <a:ext cx="228375" cy="285206"/>
                        </a:xfrm>
                        <a:prstGeom prst="rect">
                          <a:avLst/>
                        </a:prstGeom>
                        <a:blipFill>
                          <a:blip r:embed="rId11"/>
                          <a:stretch>
                            <a:fillRect r="-48649"/>
                          </a:stretch>
                        </a:blipFill>
                      </p:spPr>
                      <p:txBody>
                        <a:bodyPr/>
                        <a:lstStyle/>
                        <a:p>
                          <a:r>
                            <a:rPr lang="en-US">
                              <a:noFill/>
                            </a:rPr>
                            <a:t> </a:t>
                          </a:r>
                        </a:p>
                      </p:txBody>
                    </p:sp>
                  </mc:Fallback>
                </mc:AlternateContent>
                <p:sp>
                  <p:nvSpPr>
                    <p:cNvPr id="205" name="TextBox 204">
                      <a:extLst>
                        <a:ext uri="{FF2B5EF4-FFF2-40B4-BE49-F238E27FC236}">
                          <a16:creationId xmlns:a16="http://schemas.microsoft.com/office/drawing/2014/main" id="{D0FACBE5-618D-4936-8D28-CCCF642F313F}"/>
                        </a:ext>
                      </a:extLst>
                    </p:cNvPr>
                    <p:cNvSpPr txBox="1"/>
                    <p:nvPr/>
                  </p:nvSpPr>
                  <p:spPr>
                    <a:xfrm>
                      <a:off x="7709770" y="2908079"/>
                      <a:ext cx="439302" cy="276999"/>
                    </a:xfrm>
                    <a:prstGeom prst="rect">
                      <a:avLst/>
                    </a:prstGeom>
                    <a:noFill/>
                  </p:spPr>
                  <p:txBody>
                    <a:bodyPr wrap="square">
                      <a:spAutoFit/>
                    </a:bodyPr>
                    <a:lstStyle/>
                    <a:p>
                      <a:r>
                        <a:rPr lang="en-US" sz="1200" dirty="0"/>
                        <a:t>…….</a:t>
                      </a:r>
                    </a:p>
                  </p:txBody>
                </p:sp>
                <p:sp>
                  <p:nvSpPr>
                    <p:cNvPr id="208" name="TextBox 207">
                      <a:extLst>
                        <a:ext uri="{FF2B5EF4-FFF2-40B4-BE49-F238E27FC236}">
                          <a16:creationId xmlns:a16="http://schemas.microsoft.com/office/drawing/2014/main" id="{A59854EA-3EA0-4E91-92AA-A60694B8EB20}"/>
                        </a:ext>
                      </a:extLst>
                    </p:cNvPr>
                    <p:cNvSpPr txBox="1"/>
                    <p:nvPr/>
                  </p:nvSpPr>
                  <p:spPr>
                    <a:xfrm rot="5400000">
                      <a:off x="6789856" y="3960284"/>
                      <a:ext cx="439302" cy="276999"/>
                    </a:xfrm>
                    <a:prstGeom prst="rect">
                      <a:avLst/>
                    </a:prstGeom>
                    <a:noFill/>
                  </p:spPr>
                  <p:txBody>
                    <a:bodyPr wrap="square">
                      <a:spAutoFit/>
                    </a:bodyPr>
                    <a:lstStyle/>
                    <a:p>
                      <a:r>
                        <a:rPr lang="en-US" sz="1200" dirty="0"/>
                        <a:t>…….</a:t>
                      </a:r>
                    </a:p>
                  </p:txBody>
                </p:sp>
                <p:sp>
                  <p:nvSpPr>
                    <p:cNvPr id="210" name="TextBox 209">
                      <a:extLst>
                        <a:ext uri="{FF2B5EF4-FFF2-40B4-BE49-F238E27FC236}">
                          <a16:creationId xmlns:a16="http://schemas.microsoft.com/office/drawing/2014/main" id="{BD231429-3DAE-48BD-A6DA-6F7B417CD475}"/>
                        </a:ext>
                      </a:extLst>
                    </p:cNvPr>
                    <p:cNvSpPr txBox="1"/>
                    <p:nvPr/>
                  </p:nvSpPr>
                  <p:spPr>
                    <a:xfrm rot="5400000">
                      <a:off x="8351071" y="3974789"/>
                      <a:ext cx="439302" cy="276999"/>
                    </a:xfrm>
                    <a:prstGeom prst="rect">
                      <a:avLst/>
                    </a:prstGeom>
                    <a:noFill/>
                  </p:spPr>
                  <p:txBody>
                    <a:bodyPr wrap="square">
                      <a:spAutoFit/>
                    </a:bodyPr>
                    <a:lstStyle/>
                    <a:p>
                      <a:r>
                        <a:rPr lang="en-US" sz="1200" dirty="0"/>
                        <a:t>…….</a:t>
                      </a:r>
                    </a:p>
                  </p:txBody>
                </p:sp>
                <mc:AlternateContent xmlns:mc="http://schemas.openxmlformats.org/markup-compatibility/2006" xmlns:a14="http://schemas.microsoft.com/office/drawing/2010/main">
                  <mc:Choice Requires="a14">
                    <p:sp>
                      <p:nvSpPr>
                        <p:cNvPr id="227" name="TextBox 226">
                          <a:extLst>
                            <a:ext uri="{FF2B5EF4-FFF2-40B4-BE49-F238E27FC236}">
                              <a16:creationId xmlns:a16="http://schemas.microsoft.com/office/drawing/2014/main" id="{1F6644F0-512D-47D4-8089-0B3093FD4825}"/>
                            </a:ext>
                          </a:extLst>
                        </p:cNvPr>
                        <p:cNvSpPr txBox="1"/>
                        <p:nvPr/>
                      </p:nvSpPr>
                      <p:spPr>
                        <a:xfrm>
                          <a:off x="6796224" y="3264920"/>
                          <a:ext cx="228375"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1,0</m:t>
                                    </m:r>
                                  </m:sub>
                                </m:sSub>
                              </m:oMath>
                            </m:oMathPara>
                          </a14:m>
                          <a:endParaRPr lang="en-US" sz="1200" dirty="0"/>
                        </a:p>
                      </p:txBody>
                    </p:sp>
                  </mc:Choice>
                  <mc:Fallback xmlns="">
                    <p:sp>
                      <p:nvSpPr>
                        <p:cNvPr id="227" name="TextBox 226">
                          <a:extLst>
                            <a:ext uri="{FF2B5EF4-FFF2-40B4-BE49-F238E27FC236}">
                              <a16:creationId xmlns:a16="http://schemas.microsoft.com/office/drawing/2014/main" id="{1F6644F0-512D-47D4-8089-0B3093FD4825}"/>
                            </a:ext>
                          </a:extLst>
                        </p:cNvPr>
                        <p:cNvSpPr txBox="1">
                          <a:spLocks noRot="1" noChangeAspect="1" noMove="1" noResize="1" noEditPoints="1" noAdjustHandles="1" noChangeArrowheads="1" noChangeShapeType="1" noTextEdit="1"/>
                        </p:cNvSpPr>
                        <p:nvPr/>
                      </p:nvSpPr>
                      <p:spPr>
                        <a:xfrm>
                          <a:off x="6796224" y="3264920"/>
                          <a:ext cx="228375" cy="285206"/>
                        </a:xfrm>
                        <a:prstGeom prst="rect">
                          <a:avLst/>
                        </a:prstGeom>
                        <a:blipFill>
                          <a:blip r:embed="rId12"/>
                          <a:stretch>
                            <a:fillRect r="-45946"/>
                          </a:stretch>
                        </a:blipFill>
                      </p:spPr>
                      <p:txBody>
                        <a:bodyPr/>
                        <a:lstStyle/>
                        <a:p>
                          <a:r>
                            <a:rPr lang="en-US">
                              <a:noFill/>
                            </a:rPr>
                            <a:t> </a:t>
                          </a:r>
                        </a:p>
                      </p:txBody>
                    </p:sp>
                  </mc:Fallback>
                </mc:AlternateContent>
                <p:sp>
                  <p:nvSpPr>
                    <p:cNvPr id="230" name="TextBox 229">
                      <a:extLst>
                        <a:ext uri="{FF2B5EF4-FFF2-40B4-BE49-F238E27FC236}">
                          <a16:creationId xmlns:a16="http://schemas.microsoft.com/office/drawing/2014/main" id="{A0D8EC77-E072-4A18-B112-F0BF5F2FC024}"/>
                        </a:ext>
                      </a:extLst>
                    </p:cNvPr>
                    <p:cNvSpPr txBox="1"/>
                    <p:nvPr/>
                  </p:nvSpPr>
                  <p:spPr>
                    <a:xfrm>
                      <a:off x="7709770" y="3241986"/>
                      <a:ext cx="439302" cy="276999"/>
                    </a:xfrm>
                    <a:prstGeom prst="rect">
                      <a:avLst/>
                    </a:prstGeom>
                    <a:noFill/>
                  </p:spPr>
                  <p:txBody>
                    <a:bodyPr wrap="square">
                      <a:spAutoFit/>
                    </a:bodyPr>
                    <a:lstStyle/>
                    <a:p>
                      <a:r>
                        <a:rPr lang="en-US" sz="1200" dirty="0"/>
                        <a:t>…….</a:t>
                      </a:r>
                    </a:p>
                  </p:txBody>
                </p:sp>
                <mc:AlternateContent xmlns:mc="http://schemas.openxmlformats.org/markup-compatibility/2006" xmlns:a14="http://schemas.microsoft.com/office/drawing/2010/main">
                  <mc:Choice Requires="a14">
                    <p:sp>
                      <p:nvSpPr>
                        <p:cNvPr id="233" name="TextBox 232">
                          <a:extLst>
                            <a:ext uri="{FF2B5EF4-FFF2-40B4-BE49-F238E27FC236}">
                              <a16:creationId xmlns:a16="http://schemas.microsoft.com/office/drawing/2014/main" id="{CD665CA4-2C1A-4177-AC19-543BE0F3202F}"/>
                            </a:ext>
                          </a:extLst>
                        </p:cNvPr>
                        <p:cNvSpPr txBox="1"/>
                        <p:nvPr/>
                      </p:nvSpPr>
                      <p:spPr>
                        <a:xfrm>
                          <a:off x="6796224" y="3598827"/>
                          <a:ext cx="228375"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2,0</m:t>
                                    </m:r>
                                  </m:sub>
                                </m:sSub>
                              </m:oMath>
                            </m:oMathPara>
                          </a14:m>
                          <a:endParaRPr lang="en-US" sz="1200" dirty="0"/>
                        </a:p>
                      </p:txBody>
                    </p:sp>
                  </mc:Choice>
                  <mc:Fallback xmlns="">
                    <p:sp>
                      <p:nvSpPr>
                        <p:cNvPr id="233" name="TextBox 232">
                          <a:extLst>
                            <a:ext uri="{FF2B5EF4-FFF2-40B4-BE49-F238E27FC236}">
                              <a16:creationId xmlns:a16="http://schemas.microsoft.com/office/drawing/2014/main" id="{CD665CA4-2C1A-4177-AC19-543BE0F3202F}"/>
                            </a:ext>
                          </a:extLst>
                        </p:cNvPr>
                        <p:cNvSpPr txBox="1">
                          <a:spLocks noRot="1" noChangeAspect="1" noMove="1" noResize="1" noEditPoints="1" noAdjustHandles="1" noChangeArrowheads="1" noChangeShapeType="1" noTextEdit="1"/>
                        </p:cNvSpPr>
                        <p:nvPr/>
                      </p:nvSpPr>
                      <p:spPr>
                        <a:xfrm>
                          <a:off x="6796224" y="3598827"/>
                          <a:ext cx="228375" cy="285206"/>
                        </a:xfrm>
                        <a:prstGeom prst="rect">
                          <a:avLst/>
                        </a:prstGeom>
                        <a:blipFill>
                          <a:blip r:embed="rId13"/>
                          <a:stretch>
                            <a:fillRect r="-48649"/>
                          </a:stretch>
                        </a:blipFill>
                      </p:spPr>
                      <p:txBody>
                        <a:bodyPr/>
                        <a:lstStyle/>
                        <a:p>
                          <a:r>
                            <a:rPr lang="en-US">
                              <a:noFill/>
                            </a:rPr>
                            <a:t> </a:t>
                          </a:r>
                        </a:p>
                      </p:txBody>
                    </p:sp>
                  </mc:Fallback>
                </mc:AlternateContent>
                <p:grpSp>
                  <p:nvGrpSpPr>
                    <p:cNvPr id="51" name="Группа 50">
                      <a:extLst>
                        <a:ext uri="{FF2B5EF4-FFF2-40B4-BE49-F238E27FC236}">
                          <a16:creationId xmlns:a16="http://schemas.microsoft.com/office/drawing/2014/main" id="{B90C4BE5-00CD-41C8-9517-F13A9EFE9D7E}"/>
                        </a:ext>
                      </a:extLst>
                    </p:cNvPr>
                    <p:cNvGrpSpPr/>
                    <p:nvPr/>
                  </p:nvGrpSpPr>
                  <p:grpSpPr>
                    <a:xfrm>
                      <a:off x="7297233" y="2936698"/>
                      <a:ext cx="228375" cy="953020"/>
                      <a:chOff x="7297233" y="3408137"/>
                      <a:chExt cx="228375" cy="953020"/>
                    </a:xfrm>
                  </p:grpSpPr>
                  <mc:AlternateContent xmlns:mc="http://schemas.openxmlformats.org/markup-compatibility/2006" xmlns:a14="http://schemas.microsoft.com/office/drawing/2010/main">
                    <mc:Choice Requires="a14">
                      <p:sp>
                        <p:nvSpPr>
                          <p:cNvPr id="196" name="TextBox 195">
                            <a:extLst>
                              <a:ext uri="{FF2B5EF4-FFF2-40B4-BE49-F238E27FC236}">
                                <a16:creationId xmlns:a16="http://schemas.microsoft.com/office/drawing/2014/main" id="{F70A8887-06B7-407F-8B4A-AA97F5F1DF40}"/>
                              </a:ext>
                            </a:extLst>
                          </p:cNvPr>
                          <p:cNvSpPr txBox="1"/>
                          <p:nvPr/>
                        </p:nvSpPr>
                        <p:spPr>
                          <a:xfrm>
                            <a:off x="7297233" y="3408137"/>
                            <a:ext cx="228375"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0,0</m:t>
                                      </m:r>
                                    </m:sub>
                                  </m:sSub>
                                </m:oMath>
                              </m:oMathPara>
                            </a14:m>
                            <a:endParaRPr lang="en-US" sz="1200" dirty="0"/>
                          </a:p>
                        </p:txBody>
                      </p:sp>
                    </mc:Choice>
                    <mc:Fallback xmlns="">
                      <p:sp>
                        <p:nvSpPr>
                          <p:cNvPr id="196" name="TextBox 195">
                            <a:extLst>
                              <a:ext uri="{FF2B5EF4-FFF2-40B4-BE49-F238E27FC236}">
                                <a16:creationId xmlns:a16="http://schemas.microsoft.com/office/drawing/2014/main" id="{F70A8887-06B7-407F-8B4A-AA97F5F1DF40}"/>
                              </a:ext>
                            </a:extLst>
                          </p:cNvPr>
                          <p:cNvSpPr txBox="1">
                            <a:spLocks noRot="1" noChangeAspect="1" noMove="1" noResize="1" noEditPoints="1" noAdjustHandles="1" noChangeArrowheads="1" noChangeShapeType="1" noTextEdit="1"/>
                          </p:cNvSpPr>
                          <p:nvPr/>
                        </p:nvSpPr>
                        <p:spPr>
                          <a:xfrm>
                            <a:off x="7297233" y="3408137"/>
                            <a:ext cx="228375" cy="285206"/>
                          </a:xfrm>
                          <a:prstGeom prst="rect">
                            <a:avLst/>
                          </a:prstGeom>
                          <a:blipFill>
                            <a:blip r:embed="rId11"/>
                            <a:stretch>
                              <a:fillRect r="-447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9" name="TextBox 228">
                            <a:extLst>
                              <a:ext uri="{FF2B5EF4-FFF2-40B4-BE49-F238E27FC236}">
                                <a16:creationId xmlns:a16="http://schemas.microsoft.com/office/drawing/2014/main" id="{E7A13352-5B84-41E6-B571-EBD9E81EE746}"/>
                              </a:ext>
                            </a:extLst>
                          </p:cNvPr>
                          <p:cNvSpPr txBox="1"/>
                          <p:nvPr/>
                        </p:nvSpPr>
                        <p:spPr>
                          <a:xfrm>
                            <a:off x="7297233" y="3742044"/>
                            <a:ext cx="228375"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1,1</m:t>
                                      </m:r>
                                    </m:sub>
                                  </m:sSub>
                                </m:oMath>
                              </m:oMathPara>
                            </a14:m>
                            <a:endParaRPr lang="en-US" sz="1200" dirty="0"/>
                          </a:p>
                        </p:txBody>
                      </p:sp>
                    </mc:Choice>
                    <mc:Fallback xmlns="">
                      <p:sp>
                        <p:nvSpPr>
                          <p:cNvPr id="229" name="TextBox 228">
                            <a:extLst>
                              <a:ext uri="{FF2B5EF4-FFF2-40B4-BE49-F238E27FC236}">
                                <a16:creationId xmlns:a16="http://schemas.microsoft.com/office/drawing/2014/main" id="{E7A13352-5B84-41E6-B571-EBD9E81EE746}"/>
                              </a:ext>
                            </a:extLst>
                          </p:cNvPr>
                          <p:cNvSpPr txBox="1">
                            <a:spLocks noRot="1" noChangeAspect="1" noMove="1" noResize="1" noEditPoints="1" noAdjustHandles="1" noChangeArrowheads="1" noChangeShapeType="1" noTextEdit="1"/>
                          </p:cNvSpPr>
                          <p:nvPr/>
                        </p:nvSpPr>
                        <p:spPr>
                          <a:xfrm>
                            <a:off x="7297233" y="3742044"/>
                            <a:ext cx="228375" cy="285206"/>
                          </a:xfrm>
                          <a:prstGeom prst="rect">
                            <a:avLst/>
                          </a:prstGeom>
                          <a:blipFill>
                            <a:blip r:embed="rId14"/>
                            <a:stretch>
                              <a:fillRect r="-42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186FDF61-90C0-4293-A412-2CAB9F6BA21E}"/>
                              </a:ext>
                            </a:extLst>
                          </p:cNvPr>
                          <p:cNvSpPr txBox="1"/>
                          <p:nvPr/>
                        </p:nvSpPr>
                        <p:spPr>
                          <a:xfrm>
                            <a:off x="7297233" y="4075951"/>
                            <a:ext cx="228375"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2,1</m:t>
                                      </m:r>
                                    </m:sub>
                                  </m:sSub>
                                </m:oMath>
                              </m:oMathPara>
                            </a14:m>
                            <a:endParaRPr lang="en-US" sz="1200" dirty="0"/>
                          </a:p>
                        </p:txBody>
                      </p:sp>
                    </mc:Choice>
                    <mc:Fallback xmlns="">
                      <p:sp>
                        <p:nvSpPr>
                          <p:cNvPr id="234" name="TextBox 233">
                            <a:extLst>
                              <a:ext uri="{FF2B5EF4-FFF2-40B4-BE49-F238E27FC236}">
                                <a16:creationId xmlns:a16="http://schemas.microsoft.com/office/drawing/2014/main" id="{186FDF61-90C0-4293-A412-2CAB9F6BA21E}"/>
                              </a:ext>
                            </a:extLst>
                          </p:cNvPr>
                          <p:cNvSpPr txBox="1">
                            <a:spLocks noRot="1" noChangeAspect="1" noMove="1" noResize="1" noEditPoints="1" noAdjustHandles="1" noChangeArrowheads="1" noChangeShapeType="1" noTextEdit="1"/>
                          </p:cNvSpPr>
                          <p:nvPr/>
                        </p:nvSpPr>
                        <p:spPr>
                          <a:xfrm>
                            <a:off x="7297233" y="4075951"/>
                            <a:ext cx="228375" cy="285206"/>
                          </a:xfrm>
                          <a:prstGeom prst="rect">
                            <a:avLst/>
                          </a:prstGeom>
                          <a:blipFill>
                            <a:blip r:embed="rId15"/>
                            <a:stretch>
                              <a:fillRect r="-44737"/>
                            </a:stretch>
                          </a:blipFill>
                        </p:spPr>
                        <p:txBody>
                          <a:bodyPr/>
                          <a:lstStyle/>
                          <a:p>
                            <a:r>
                              <a:rPr lang="en-US">
                                <a:noFill/>
                              </a:rPr>
                              <a:t> </a:t>
                            </a:r>
                          </a:p>
                        </p:txBody>
                      </p:sp>
                    </mc:Fallback>
                  </mc:AlternateContent>
                </p:grpSp>
                <p:sp>
                  <p:nvSpPr>
                    <p:cNvPr id="235" name="TextBox 234">
                      <a:extLst>
                        <a:ext uri="{FF2B5EF4-FFF2-40B4-BE49-F238E27FC236}">
                          <a16:creationId xmlns:a16="http://schemas.microsoft.com/office/drawing/2014/main" id="{F01C9CF4-02E6-431E-AF2A-56B37C8E4D40}"/>
                        </a:ext>
                      </a:extLst>
                    </p:cNvPr>
                    <p:cNvSpPr txBox="1"/>
                    <p:nvPr/>
                  </p:nvSpPr>
                  <p:spPr>
                    <a:xfrm>
                      <a:off x="7709770" y="3575893"/>
                      <a:ext cx="439302" cy="276999"/>
                    </a:xfrm>
                    <a:prstGeom prst="rect">
                      <a:avLst/>
                    </a:prstGeom>
                    <a:noFill/>
                  </p:spPr>
                  <p:txBody>
                    <a:bodyPr wrap="square">
                      <a:spAutoFit/>
                    </a:bodyPr>
                    <a:lstStyle/>
                    <a:p>
                      <a:r>
                        <a:rPr lang="en-US" sz="1200" dirty="0"/>
                        <a:t>…….</a:t>
                      </a:r>
                    </a:p>
                  </p:txBody>
                </p:sp>
                <p:grpSp>
                  <p:nvGrpSpPr>
                    <p:cNvPr id="54" name="Группа 53">
                      <a:extLst>
                        <a:ext uri="{FF2B5EF4-FFF2-40B4-BE49-F238E27FC236}">
                          <a16:creationId xmlns:a16="http://schemas.microsoft.com/office/drawing/2014/main" id="{AA279ACF-1C87-4BF9-9809-50972C8034BC}"/>
                        </a:ext>
                      </a:extLst>
                    </p:cNvPr>
                    <p:cNvGrpSpPr/>
                    <p:nvPr/>
                  </p:nvGrpSpPr>
                  <p:grpSpPr>
                    <a:xfrm>
                      <a:off x="8280059" y="2927393"/>
                      <a:ext cx="482496" cy="953020"/>
                      <a:chOff x="8280059" y="3398832"/>
                      <a:chExt cx="482496" cy="953020"/>
                    </a:xfrm>
                  </p:grpSpPr>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E2498DB7-6A6A-4F7B-93E1-6DF024643FD0}"/>
                              </a:ext>
                            </a:extLst>
                          </p:cNvPr>
                          <p:cNvSpPr txBox="1"/>
                          <p:nvPr/>
                        </p:nvSpPr>
                        <p:spPr>
                          <a:xfrm>
                            <a:off x="8280059" y="3398832"/>
                            <a:ext cx="482496"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0,</m:t>
                                      </m:r>
                                      <m:r>
                                        <a:rPr lang="en-US" sz="1200" b="0" i="1" smtClean="0">
                                          <a:latin typeface="Cambria Math" panose="02040503050406030204" pitchFamily="18" charset="0"/>
                                        </a:rPr>
                                        <m:t>𝑛</m:t>
                                      </m:r>
                                      <m:r>
                                        <a:rPr lang="en-US" sz="1200" b="0" i="1" smtClean="0">
                                          <a:latin typeface="Cambria Math" panose="02040503050406030204" pitchFamily="18" charset="0"/>
                                        </a:rPr>
                                        <m:t>−1</m:t>
                                      </m:r>
                                    </m:sub>
                                  </m:sSub>
                                </m:oMath>
                              </m:oMathPara>
                            </a14:m>
                            <a:endParaRPr lang="en-US" sz="1200" dirty="0"/>
                          </a:p>
                        </p:txBody>
                      </p:sp>
                    </mc:Choice>
                    <mc:Fallback xmlns="">
                      <p:sp>
                        <p:nvSpPr>
                          <p:cNvPr id="207" name="TextBox 206">
                            <a:extLst>
                              <a:ext uri="{FF2B5EF4-FFF2-40B4-BE49-F238E27FC236}">
                                <a16:creationId xmlns:a16="http://schemas.microsoft.com/office/drawing/2014/main" id="{E2498DB7-6A6A-4F7B-93E1-6DF024643FD0}"/>
                              </a:ext>
                            </a:extLst>
                          </p:cNvPr>
                          <p:cNvSpPr txBox="1">
                            <a:spLocks noRot="1" noChangeAspect="1" noMove="1" noResize="1" noEditPoints="1" noAdjustHandles="1" noChangeArrowheads="1" noChangeShapeType="1" noTextEdit="1"/>
                          </p:cNvSpPr>
                          <p:nvPr/>
                        </p:nvSpPr>
                        <p:spPr>
                          <a:xfrm>
                            <a:off x="8280059" y="3398832"/>
                            <a:ext cx="482496" cy="285206"/>
                          </a:xfrm>
                          <a:prstGeom prst="rect">
                            <a:avLst/>
                          </a:prstGeom>
                          <a:blipFill>
                            <a:blip r:embed="rId16"/>
                            <a:stretch>
                              <a:fillRect r="-12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1" name="TextBox 230">
                            <a:extLst>
                              <a:ext uri="{FF2B5EF4-FFF2-40B4-BE49-F238E27FC236}">
                                <a16:creationId xmlns:a16="http://schemas.microsoft.com/office/drawing/2014/main" id="{5C6B3735-1556-4369-804B-055CE98291FE}"/>
                              </a:ext>
                            </a:extLst>
                          </p:cNvPr>
                          <p:cNvSpPr txBox="1"/>
                          <p:nvPr/>
                        </p:nvSpPr>
                        <p:spPr>
                          <a:xfrm>
                            <a:off x="8280059" y="3732739"/>
                            <a:ext cx="482496"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1,</m:t>
                                      </m:r>
                                      <m:r>
                                        <a:rPr lang="en-US" sz="1200" b="0" i="1" smtClean="0">
                                          <a:latin typeface="Cambria Math" panose="02040503050406030204" pitchFamily="18" charset="0"/>
                                        </a:rPr>
                                        <m:t>𝑛</m:t>
                                      </m:r>
                                      <m:r>
                                        <a:rPr lang="en-US" sz="1200" b="0" i="1" smtClean="0">
                                          <a:latin typeface="Cambria Math" panose="02040503050406030204" pitchFamily="18" charset="0"/>
                                        </a:rPr>
                                        <m:t>−1</m:t>
                                      </m:r>
                                    </m:sub>
                                  </m:sSub>
                                </m:oMath>
                              </m:oMathPara>
                            </a14:m>
                            <a:endParaRPr lang="en-US" sz="1200" dirty="0"/>
                          </a:p>
                        </p:txBody>
                      </p:sp>
                    </mc:Choice>
                    <mc:Fallback xmlns="">
                      <p:sp>
                        <p:nvSpPr>
                          <p:cNvPr id="231" name="TextBox 230">
                            <a:extLst>
                              <a:ext uri="{FF2B5EF4-FFF2-40B4-BE49-F238E27FC236}">
                                <a16:creationId xmlns:a16="http://schemas.microsoft.com/office/drawing/2014/main" id="{5C6B3735-1556-4369-804B-055CE98291FE}"/>
                              </a:ext>
                            </a:extLst>
                          </p:cNvPr>
                          <p:cNvSpPr txBox="1">
                            <a:spLocks noRot="1" noChangeAspect="1" noMove="1" noResize="1" noEditPoints="1" noAdjustHandles="1" noChangeArrowheads="1" noChangeShapeType="1" noTextEdit="1"/>
                          </p:cNvSpPr>
                          <p:nvPr/>
                        </p:nvSpPr>
                        <p:spPr>
                          <a:xfrm>
                            <a:off x="8280059" y="3732739"/>
                            <a:ext cx="482496" cy="285206"/>
                          </a:xfrm>
                          <a:prstGeom prst="rect">
                            <a:avLst/>
                          </a:prstGeom>
                          <a:blipFill>
                            <a:blip r:embed="rId17"/>
                            <a:stretch>
                              <a:fillRect r="-12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6" name="TextBox 235">
                            <a:extLst>
                              <a:ext uri="{FF2B5EF4-FFF2-40B4-BE49-F238E27FC236}">
                                <a16:creationId xmlns:a16="http://schemas.microsoft.com/office/drawing/2014/main" id="{E21E7867-8C69-45E1-AECA-2E4A7FABE2E0}"/>
                              </a:ext>
                            </a:extLst>
                          </p:cNvPr>
                          <p:cNvSpPr txBox="1"/>
                          <p:nvPr/>
                        </p:nvSpPr>
                        <p:spPr>
                          <a:xfrm>
                            <a:off x="8280059" y="4066646"/>
                            <a:ext cx="482496"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2,</m:t>
                                      </m:r>
                                      <m:r>
                                        <a:rPr lang="en-US" sz="1200" b="0" i="1" smtClean="0">
                                          <a:latin typeface="Cambria Math" panose="02040503050406030204" pitchFamily="18" charset="0"/>
                                        </a:rPr>
                                        <m:t>𝑛</m:t>
                                      </m:r>
                                      <m:r>
                                        <a:rPr lang="en-US" sz="1200" b="0" i="1" smtClean="0">
                                          <a:latin typeface="Cambria Math" panose="02040503050406030204" pitchFamily="18" charset="0"/>
                                        </a:rPr>
                                        <m:t>−1</m:t>
                                      </m:r>
                                    </m:sub>
                                  </m:sSub>
                                </m:oMath>
                              </m:oMathPara>
                            </a14:m>
                            <a:endParaRPr lang="en-US" sz="1200" dirty="0"/>
                          </a:p>
                        </p:txBody>
                      </p:sp>
                    </mc:Choice>
                    <mc:Fallback xmlns="">
                      <p:sp>
                        <p:nvSpPr>
                          <p:cNvPr id="236" name="TextBox 235">
                            <a:extLst>
                              <a:ext uri="{FF2B5EF4-FFF2-40B4-BE49-F238E27FC236}">
                                <a16:creationId xmlns:a16="http://schemas.microsoft.com/office/drawing/2014/main" id="{E21E7867-8C69-45E1-AECA-2E4A7FABE2E0}"/>
                              </a:ext>
                            </a:extLst>
                          </p:cNvPr>
                          <p:cNvSpPr txBox="1">
                            <a:spLocks noRot="1" noChangeAspect="1" noMove="1" noResize="1" noEditPoints="1" noAdjustHandles="1" noChangeArrowheads="1" noChangeShapeType="1" noTextEdit="1"/>
                          </p:cNvSpPr>
                          <p:nvPr/>
                        </p:nvSpPr>
                        <p:spPr>
                          <a:xfrm>
                            <a:off x="8280059" y="4066646"/>
                            <a:ext cx="482496" cy="285206"/>
                          </a:xfrm>
                          <a:prstGeom prst="rect">
                            <a:avLst/>
                          </a:prstGeom>
                          <a:blipFill>
                            <a:blip r:embed="rId18"/>
                            <a:stretch>
                              <a:fillRect r="-1266"/>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9" name="TextBox 238">
                          <a:extLst>
                            <a:ext uri="{FF2B5EF4-FFF2-40B4-BE49-F238E27FC236}">
                              <a16:creationId xmlns:a16="http://schemas.microsoft.com/office/drawing/2014/main" id="{3F5BC7C5-A8FB-4EDB-BB64-98DF7EE5B737}"/>
                            </a:ext>
                          </a:extLst>
                        </p:cNvPr>
                        <p:cNvSpPr txBox="1"/>
                        <p:nvPr/>
                      </p:nvSpPr>
                      <p:spPr>
                        <a:xfrm>
                          <a:off x="6762640" y="4286831"/>
                          <a:ext cx="228375"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𝑚</m:t>
                                    </m:r>
                                    <m:r>
                                      <a:rPr lang="en-US" sz="1200" b="0" i="1" smtClean="0">
                                        <a:latin typeface="Cambria Math" panose="02040503050406030204" pitchFamily="18" charset="0"/>
                                      </a:rPr>
                                      <m:t>−1,0</m:t>
                                    </m:r>
                                  </m:sub>
                                </m:sSub>
                              </m:oMath>
                            </m:oMathPara>
                          </a14:m>
                          <a:endParaRPr lang="en-US" sz="1200" dirty="0"/>
                        </a:p>
                      </p:txBody>
                    </p:sp>
                  </mc:Choice>
                  <mc:Fallback xmlns="">
                    <p:sp>
                      <p:nvSpPr>
                        <p:cNvPr id="239" name="TextBox 238">
                          <a:extLst>
                            <a:ext uri="{FF2B5EF4-FFF2-40B4-BE49-F238E27FC236}">
                              <a16:creationId xmlns:a16="http://schemas.microsoft.com/office/drawing/2014/main" id="{3F5BC7C5-A8FB-4EDB-BB64-98DF7EE5B737}"/>
                            </a:ext>
                          </a:extLst>
                        </p:cNvPr>
                        <p:cNvSpPr txBox="1">
                          <a:spLocks noRot="1" noChangeAspect="1" noMove="1" noResize="1" noEditPoints="1" noAdjustHandles="1" noChangeArrowheads="1" noChangeShapeType="1" noTextEdit="1"/>
                        </p:cNvSpPr>
                        <p:nvPr/>
                      </p:nvSpPr>
                      <p:spPr>
                        <a:xfrm>
                          <a:off x="6762640" y="4286831"/>
                          <a:ext cx="228375" cy="285206"/>
                        </a:xfrm>
                        <a:prstGeom prst="rect">
                          <a:avLst/>
                        </a:prstGeom>
                        <a:blipFill>
                          <a:blip r:embed="rId19"/>
                          <a:stretch>
                            <a:fillRect r="-1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563B07D3-265E-48ED-8FFB-B39F413F0ACC}"/>
                            </a:ext>
                          </a:extLst>
                        </p:cNvPr>
                        <p:cNvSpPr txBox="1"/>
                        <p:nvPr/>
                      </p:nvSpPr>
                      <p:spPr>
                        <a:xfrm>
                          <a:off x="7235406" y="4286831"/>
                          <a:ext cx="400959"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𝑚</m:t>
                                    </m:r>
                                    <m:r>
                                      <a:rPr lang="en-US" sz="1200" b="0" i="1" smtClean="0">
                                        <a:latin typeface="Cambria Math" panose="02040503050406030204" pitchFamily="18" charset="0"/>
                                      </a:rPr>
                                      <m:t>−1,1</m:t>
                                    </m:r>
                                  </m:sub>
                                </m:sSub>
                              </m:oMath>
                            </m:oMathPara>
                          </a14:m>
                          <a:endParaRPr lang="en-US" sz="1200" dirty="0"/>
                        </a:p>
                      </p:txBody>
                    </p:sp>
                  </mc:Choice>
                  <mc:Fallback xmlns="">
                    <p:sp>
                      <p:nvSpPr>
                        <p:cNvPr id="240" name="TextBox 239">
                          <a:extLst>
                            <a:ext uri="{FF2B5EF4-FFF2-40B4-BE49-F238E27FC236}">
                              <a16:creationId xmlns:a16="http://schemas.microsoft.com/office/drawing/2014/main" id="{563B07D3-265E-48ED-8FFB-B39F413F0ACC}"/>
                            </a:ext>
                          </a:extLst>
                        </p:cNvPr>
                        <p:cNvSpPr txBox="1">
                          <a:spLocks noRot="1" noChangeAspect="1" noMove="1" noResize="1" noEditPoints="1" noAdjustHandles="1" noChangeArrowheads="1" noChangeShapeType="1" noTextEdit="1"/>
                        </p:cNvSpPr>
                        <p:nvPr/>
                      </p:nvSpPr>
                      <p:spPr>
                        <a:xfrm>
                          <a:off x="7235406" y="4286831"/>
                          <a:ext cx="400959" cy="285206"/>
                        </a:xfrm>
                        <a:prstGeom prst="rect">
                          <a:avLst/>
                        </a:prstGeom>
                        <a:blipFill>
                          <a:blip r:embed="rId20"/>
                          <a:stretch>
                            <a:fillRect r="-30303"/>
                          </a:stretch>
                        </a:blipFill>
                      </p:spPr>
                      <p:txBody>
                        <a:bodyPr/>
                        <a:lstStyle/>
                        <a:p>
                          <a:r>
                            <a:rPr lang="en-US">
                              <a:noFill/>
                            </a:rPr>
                            <a:t> </a:t>
                          </a:r>
                        </a:p>
                      </p:txBody>
                    </p:sp>
                  </mc:Fallback>
                </mc:AlternateContent>
                <p:sp>
                  <p:nvSpPr>
                    <p:cNvPr id="241" name="TextBox 240">
                      <a:extLst>
                        <a:ext uri="{FF2B5EF4-FFF2-40B4-BE49-F238E27FC236}">
                          <a16:creationId xmlns:a16="http://schemas.microsoft.com/office/drawing/2014/main" id="{E7AF2544-C4C8-419C-9D07-332D5976B694}"/>
                        </a:ext>
                      </a:extLst>
                    </p:cNvPr>
                    <p:cNvSpPr txBox="1"/>
                    <p:nvPr/>
                  </p:nvSpPr>
                  <p:spPr>
                    <a:xfrm>
                      <a:off x="7717049" y="4263897"/>
                      <a:ext cx="439302" cy="276999"/>
                    </a:xfrm>
                    <a:prstGeom prst="rect">
                      <a:avLst/>
                    </a:prstGeom>
                    <a:noFill/>
                  </p:spPr>
                  <p:txBody>
                    <a:bodyPr wrap="square">
                      <a:spAutoFit/>
                    </a:bodyPr>
                    <a:lstStyle/>
                    <a:p>
                      <a:r>
                        <a:rPr lang="en-US" sz="1200" dirty="0"/>
                        <a:t>…….</a:t>
                      </a:r>
                    </a:p>
                  </p:txBody>
                </p:sp>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80BB5746-15E6-48F0-B1AF-3DA1625FDC0C}"/>
                            </a:ext>
                          </a:extLst>
                        </p:cNvPr>
                        <p:cNvSpPr txBox="1"/>
                        <p:nvPr/>
                      </p:nvSpPr>
                      <p:spPr>
                        <a:xfrm>
                          <a:off x="8059305" y="4284884"/>
                          <a:ext cx="720045" cy="2852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𝑚</m:t>
                                    </m:r>
                                    <m:r>
                                      <a:rPr lang="en-US" sz="1200" b="0" i="1" smtClean="0">
                                        <a:latin typeface="Cambria Math" panose="02040503050406030204" pitchFamily="18" charset="0"/>
                                      </a:rPr>
                                      <m:t>−1,</m:t>
                                    </m:r>
                                    <m:r>
                                      <a:rPr lang="en-US" sz="1200" b="0" i="1" smtClean="0">
                                        <a:latin typeface="Cambria Math" panose="02040503050406030204" pitchFamily="18" charset="0"/>
                                      </a:rPr>
                                      <m:t>𝑛</m:t>
                                    </m:r>
                                    <m:r>
                                      <a:rPr lang="en-US" sz="1200" b="0" i="1" smtClean="0">
                                        <a:latin typeface="Cambria Math" panose="02040503050406030204" pitchFamily="18" charset="0"/>
                                      </a:rPr>
                                      <m:t>−1</m:t>
                                    </m:r>
                                  </m:sub>
                                </m:sSub>
                              </m:oMath>
                            </m:oMathPara>
                          </a14:m>
                          <a:endParaRPr lang="en-US" sz="1200" dirty="0"/>
                        </a:p>
                      </p:txBody>
                    </p:sp>
                  </mc:Choice>
                  <mc:Fallback xmlns="">
                    <p:sp>
                      <p:nvSpPr>
                        <p:cNvPr id="242" name="TextBox 241">
                          <a:extLst>
                            <a:ext uri="{FF2B5EF4-FFF2-40B4-BE49-F238E27FC236}">
                              <a16:creationId xmlns:a16="http://schemas.microsoft.com/office/drawing/2014/main" id="{80BB5746-15E6-48F0-B1AF-3DA1625FDC0C}"/>
                            </a:ext>
                          </a:extLst>
                        </p:cNvPr>
                        <p:cNvSpPr txBox="1">
                          <a:spLocks noRot="1" noChangeAspect="1" noMove="1" noResize="1" noEditPoints="1" noAdjustHandles="1" noChangeArrowheads="1" noChangeShapeType="1" noTextEdit="1"/>
                        </p:cNvSpPr>
                        <p:nvPr/>
                      </p:nvSpPr>
                      <p:spPr>
                        <a:xfrm>
                          <a:off x="8059305" y="4284884"/>
                          <a:ext cx="720045" cy="285206"/>
                        </a:xfrm>
                        <a:prstGeom prst="rect">
                          <a:avLst/>
                        </a:prstGeom>
                        <a:blipFill>
                          <a:blip r:embed="rId21"/>
                          <a:stretch>
                            <a:fillRect/>
                          </a:stretch>
                        </a:blipFill>
                      </p:spPr>
                      <p:txBody>
                        <a:bodyPr/>
                        <a:lstStyle/>
                        <a:p>
                          <a:r>
                            <a:rPr lang="en-US">
                              <a:noFill/>
                            </a:rPr>
                            <a:t> </a:t>
                          </a:r>
                        </a:p>
                      </p:txBody>
                    </p:sp>
                  </mc:Fallback>
                </mc:AlternateContent>
                <p:cxnSp>
                  <p:nvCxnSpPr>
                    <p:cNvPr id="249" name="Straight Connector 193">
                      <a:extLst>
                        <a:ext uri="{FF2B5EF4-FFF2-40B4-BE49-F238E27FC236}">
                          <a16:creationId xmlns:a16="http://schemas.microsoft.com/office/drawing/2014/main" id="{F44A8C16-CF43-481F-B209-31BE3B21BB91}"/>
                        </a:ext>
                      </a:extLst>
                    </p:cNvPr>
                    <p:cNvCxnSpPr>
                      <a:cxnSpLocks/>
                    </p:cNvCxnSpPr>
                    <p:nvPr/>
                  </p:nvCxnSpPr>
                  <p:spPr>
                    <a:xfrm>
                      <a:off x="6777879" y="4326227"/>
                      <a:ext cx="2026351"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193">
                      <a:extLst>
                        <a:ext uri="{FF2B5EF4-FFF2-40B4-BE49-F238E27FC236}">
                          <a16:creationId xmlns:a16="http://schemas.microsoft.com/office/drawing/2014/main" id="{715BDD4A-957B-418C-A7FE-F33D61F74CE4}"/>
                        </a:ext>
                      </a:extLst>
                    </p:cNvPr>
                    <p:cNvCxnSpPr>
                      <a:cxnSpLocks/>
                    </p:cNvCxnSpPr>
                    <p:nvPr/>
                  </p:nvCxnSpPr>
                  <p:spPr>
                    <a:xfrm>
                      <a:off x="6771744" y="3902563"/>
                      <a:ext cx="2026351"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193">
                      <a:extLst>
                        <a:ext uri="{FF2B5EF4-FFF2-40B4-BE49-F238E27FC236}">
                          <a16:creationId xmlns:a16="http://schemas.microsoft.com/office/drawing/2014/main" id="{F03CCB8A-C2B0-4D01-AB31-16F2AAD093F2}"/>
                        </a:ext>
                      </a:extLst>
                    </p:cNvPr>
                    <p:cNvCxnSpPr>
                      <a:cxnSpLocks/>
                    </p:cNvCxnSpPr>
                    <p:nvPr/>
                  </p:nvCxnSpPr>
                  <p:spPr>
                    <a:xfrm>
                      <a:off x="6771743" y="3604512"/>
                      <a:ext cx="2026351"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193">
                      <a:extLst>
                        <a:ext uri="{FF2B5EF4-FFF2-40B4-BE49-F238E27FC236}">
                          <a16:creationId xmlns:a16="http://schemas.microsoft.com/office/drawing/2014/main" id="{69029140-3FF4-403C-9BFA-C22A14E5C999}"/>
                        </a:ext>
                      </a:extLst>
                    </p:cNvPr>
                    <p:cNvCxnSpPr>
                      <a:cxnSpLocks/>
                    </p:cNvCxnSpPr>
                    <p:nvPr/>
                  </p:nvCxnSpPr>
                  <p:spPr>
                    <a:xfrm>
                      <a:off x="6771742" y="3306461"/>
                      <a:ext cx="2026351"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193">
                      <a:extLst>
                        <a:ext uri="{FF2B5EF4-FFF2-40B4-BE49-F238E27FC236}">
                          <a16:creationId xmlns:a16="http://schemas.microsoft.com/office/drawing/2014/main" id="{5C0BDB8A-3068-4848-93CD-96AE11ABC4B8}"/>
                        </a:ext>
                      </a:extLst>
                    </p:cNvPr>
                    <p:cNvCxnSpPr>
                      <a:cxnSpLocks/>
                    </p:cNvCxnSpPr>
                    <p:nvPr/>
                  </p:nvCxnSpPr>
                  <p:spPr>
                    <a:xfrm>
                      <a:off x="7288277" y="2892332"/>
                      <a:ext cx="0" cy="171748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193">
                      <a:extLst>
                        <a:ext uri="{FF2B5EF4-FFF2-40B4-BE49-F238E27FC236}">
                          <a16:creationId xmlns:a16="http://schemas.microsoft.com/office/drawing/2014/main" id="{28925794-4474-4EDB-9B22-778D705CCDDE}"/>
                        </a:ext>
                      </a:extLst>
                    </p:cNvPr>
                    <p:cNvCxnSpPr>
                      <a:cxnSpLocks/>
                    </p:cNvCxnSpPr>
                    <p:nvPr/>
                  </p:nvCxnSpPr>
                  <p:spPr>
                    <a:xfrm>
                      <a:off x="7779229" y="2881800"/>
                      <a:ext cx="0" cy="1738544"/>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193">
                      <a:extLst>
                        <a:ext uri="{FF2B5EF4-FFF2-40B4-BE49-F238E27FC236}">
                          <a16:creationId xmlns:a16="http://schemas.microsoft.com/office/drawing/2014/main" id="{1B584C29-F3FB-4D2C-BBE3-426B80402A03}"/>
                        </a:ext>
                      </a:extLst>
                    </p:cNvPr>
                    <p:cNvCxnSpPr>
                      <a:cxnSpLocks/>
                    </p:cNvCxnSpPr>
                    <p:nvPr/>
                  </p:nvCxnSpPr>
                  <p:spPr>
                    <a:xfrm>
                      <a:off x="8080836" y="2899760"/>
                      <a:ext cx="0" cy="1710052"/>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64" name="Rectangle 44">
                      <a:extLst>
                        <a:ext uri="{FF2B5EF4-FFF2-40B4-BE49-F238E27FC236}">
                          <a16:creationId xmlns:a16="http://schemas.microsoft.com/office/drawing/2014/main" id="{9A4BB82F-E3EA-498F-AAD2-E70BAFBC9BDF}"/>
                        </a:ext>
                      </a:extLst>
                    </p:cNvPr>
                    <p:cNvSpPr/>
                    <p:nvPr/>
                  </p:nvSpPr>
                  <p:spPr>
                    <a:xfrm>
                      <a:off x="6789909" y="2899760"/>
                      <a:ext cx="1993821" cy="1703209"/>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8" name="Группа 37">
                  <a:extLst>
                    <a:ext uri="{FF2B5EF4-FFF2-40B4-BE49-F238E27FC236}">
                      <a16:creationId xmlns:a16="http://schemas.microsoft.com/office/drawing/2014/main" id="{23853447-7662-4666-91CA-BB591E5C0FA4}"/>
                    </a:ext>
                  </a:extLst>
                </p:cNvPr>
                <p:cNvGrpSpPr/>
                <p:nvPr/>
              </p:nvGrpSpPr>
              <p:grpSpPr>
                <a:xfrm>
                  <a:off x="5581673" y="1872940"/>
                  <a:ext cx="1447490" cy="2251195"/>
                  <a:chOff x="5581673" y="1872940"/>
                  <a:chExt cx="1447490" cy="2251195"/>
                </a:xfrm>
              </p:grpSpPr>
              <p:grpSp>
                <p:nvGrpSpPr>
                  <p:cNvPr id="157" name="Group 156">
                    <a:extLst>
                      <a:ext uri="{FF2B5EF4-FFF2-40B4-BE49-F238E27FC236}">
                        <a16:creationId xmlns:a16="http://schemas.microsoft.com/office/drawing/2014/main" id="{B3DF137B-F836-46AF-8ECD-DC0D01A072CB}"/>
                      </a:ext>
                    </a:extLst>
                  </p:cNvPr>
                  <p:cNvGrpSpPr/>
                  <p:nvPr/>
                </p:nvGrpSpPr>
                <p:grpSpPr>
                  <a:xfrm>
                    <a:off x="5581673" y="1917715"/>
                    <a:ext cx="810124" cy="2206420"/>
                    <a:chOff x="2955515" y="1421399"/>
                    <a:chExt cx="810124" cy="2206420"/>
                  </a:xfrm>
                </p:grpSpPr>
                <p:sp>
                  <p:nvSpPr>
                    <p:cNvPr id="158" name="TextBox 157">
                      <a:extLst>
                        <a:ext uri="{FF2B5EF4-FFF2-40B4-BE49-F238E27FC236}">
                          <a16:creationId xmlns:a16="http://schemas.microsoft.com/office/drawing/2014/main" id="{EC22C68E-1936-4268-A49A-FB1C5A55BF07}"/>
                        </a:ext>
                      </a:extLst>
                    </p:cNvPr>
                    <p:cNvSpPr txBox="1"/>
                    <p:nvPr/>
                  </p:nvSpPr>
                  <p:spPr>
                    <a:xfrm>
                      <a:off x="3016728" y="1421399"/>
                      <a:ext cx="228375" cy="276999"/>
                    </a:xfrm>
                    <a:prstGeom prst="rect">
                      <a:avLst/>
                    </a:prstGeom>
                    <a:noFill/>
                  </p:spPr>
                  <p:txBody>
                    <a:bodyPr wrap="square">
                      <a:spAutoFit/>
                    </a:bodyPr>
                    <a:lstStyle/>
                    <a:p>
                      <a:r>
                        <a:rPr lang="en-US" sz="1200" dirty="0"/>
                        <a:t>0</a:t>
                      </a:r>
                    </a:p>
                  </p:txBody>
                </p:sp>
                <p:grpSp>
                  <p:nvGrpSpPr>
                    <p:cNvPr id="159" name="Group 158">
                      <a:extLst>
                        <a:ext uri="{FF2B5EF4-FFF2-40B4-BE49-F238E27FC236}">
                          <a16:creationId xmlns:a16="http://schemas.microsoft.com/office/drawing/2014/main" id="{B4B0CD53-CB3B-4868-904A-B700E1098BFD}"/>
                        </a:ext>
                      </a:extLst>
                    </p:cNvPr>
                    <p:cNvGrpSpPr/>
                    <p:nvPr/>
                  </p:nvGrpSpPr>
                  <p:grpSpPr>
                    <a:xfrm>
                      <a:off x="3302318" y="1643208"/>
                      <a:ext cx="463321" cy="1738544"/>
                      <a:chOff x="3302318" y="1643208"/>
                      <a:chExt cx="463321" cy="1738544"/>
                    </a:xfrm>
                  </p:grpSpPr>
                  <p:sp>
                    <p:nvSpPr>
                      <p:cNvPr id="161" name="Rectangle 160">
                        <a:extLst>
                          <a:ext uri="{FF2B5EF4-FFF2-40B4-BE49-F238E27FC236}">
                            <a16:creationId xmlns:a16="http://schemas.microsoft.com/office/drawing/2014/main" id="{FB15BB0A-D000-499E-8A96-A267EF17F0DE}"/>
                          </a:ext>
                        </a:extLst>
                      </p:cNvPr>
                      <p:cNvSpPr/>
                      <p:nvPr/>
                    </p:nvSpPr>
                    <p:spPr>
                      <a:xfrm>
                        <a:off x="3326349" y="1643208"/>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9C9889CD-1020-47D4-B1AE-FBFA8059A7E0}"/>
                          </a:ext>
                        </a:extLst>
                      </p:cNvPr>
                      <p:cNvSpPr/>
                      <p:nvPr/>
                    </p:nvSpPr>
                    <p:spPr>
                      <a:xfrm>
                        <a:off x="3326351" y="1651521"/>
                        <a:ext cx="385893" cy="173023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7089C40E-EFFD-46D0-89EF-CCA483E8458A}"/>
                          </a:ext>
                        </a:extLst>
                      </p:cNvPr>
                      <p:cNvSpPr/>
                      <p:nvPr/>
                    </p:nvSpPr>
                    <p:spPr>
                      <a:xfrm>
                        <a:off x="3326348" y="1989254"/>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3D77FC2B-6932-4745-800A-7F57BA35CE8D}"/>
                          </a:ext>
                        </a:extLst>
                      </p:cNvPr>
                      <p:cNvSpPr/>
                      <p:nvPr/>
                    </p:nvSpPr>
                    <p:spPr>
                      <a:xfrm>
                        <a:off x="3326345" y="2335300"/>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41B55CA0-D772-48EB-B22D-526C75B11E7F}"/>
                          </a:ext>
                        </a:extLst>
                      </p:cNvPr>
                      <p:cNvSpPr/>
                      <p:nvPr/>
                    </p:nvSpPr>
                    <p:spPr>
                      <a:xfrm>
                        <a:off x="3326342" y="2681346"/>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D2729565-2E8D-44D4-BB05-9F447B898F32}"/>
                          </a:ext>
                        </a:extLst>
                      </p:cNvPr>
                      <p:cNvSpPr/>
                      <p:nvPr/>
                    </p:nvSpPr>
                    <p:spPr>
                      <a:xfrm>
                        <a:off x="3326339" y="3027392"/>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TextBox 166">
                        <a:extLst>
                          <a:ext uri="{FF2B5EF4-FFF2-40B4-BE49-F238E27FC236}">
                            <a16:creationId xmlns:a16="http://schemas.microsoft.com/office/drawing/2014/main" id="{AE2DC3C8-E3BC-4950-87C4-4166E10B9B1D}"/>
                          </a:ext>
                        </a:extLst>
                      </p:cNvPr>
                      <p:cNvSpPr txBox="1"/>
                      <p:nvPr/>
                    </p:nvSpPr>
                    <p:spPr>
                      <a:xfrm rot="5400000">
                        <a:off x="3442803" y="2693353"/>
                        <a:ext cx="228375" cy="276999"/>
                      </a:xfrm>
                      <a:prstGeom prst="rect">
                        <a:avLst/>
                      </a:prstGeom>
                      <a:noFill/>
                    </p:spPr>
                    <p:txBody>
                      <a:bodyPr wrap="square">
                        <a:spAutoFit/>
                      </a:bodyPr>
                      <a:lstStyle/>
                      <a:p>
                        <a:r>
                          <a:rPr lang="en-US" sz="1200" dirty="0"/>
                          <a:t>…</a:t>
                        </a:r>
                      </a:p>
                    </p:txBody>
                  </p:sp>
                  <p:sp>
                    <p:nvSpPr>
                      <p:cNvPr id="168" name="TextBox 167">
                        <a:extLst>
                          <a:ext uri="{FF2B5EF4-FFF2-40B4-BE49-F238E27FC236}">
                            <a16:creationId xmlns:a16="http://schemas.microsoft.com/office/drawing/2014/main" id="{04A971AB-CF45-4047-9854-8E2C648D82CD}"/>
                          </a:ext>
                        </a:extLst>
                      </p:cNvPr>
                      <p:cNvSpPr txBox="1"/>
                      <p:nvPr/>
                    </p:nvSpPr>
                    <p:spPr>
                      <a:xfrm>
                        <a:off x="3311211" y="1687180"/>
                        <a:ext cx="454428" cy="276999"/>
                      </a:xfrm>
                      <a:prstGeom prst="rect">
                        <a:avLst/>
                      </a:prstGeom>
                      <a:noFill/>
                    </p:spPr>
                    <p:txBody>
                      <a:bodyPr wrap="square">
                        <a:spAutoFit/>
                      </a:bodyPr>
                      <a:lstStyle/>
                      <a:p>
                        <a:r>
                          <a:rPr lang="en-US" sz="1200" dirty="0"/>
                          <a:t>S(0)</a:t>
                        </a:r>
                      </a:p>
                    </p:txBody>
                  </p:sp>
                  <p:sp>
                    <p:nvSpPr>
                      <p:cNvPr id="169" name="TextBox 168">
                        <a:extLst>
                          <a:ext uri="{FF2B5EF4-FFF2-40B4-BE49-F238E27FC236}">
                            <a16:creationId xmlns:a16="http://schemas.microsoft.com/office/drawing/2014/main" id="{0CD0B379-A7BB-4D6E-A899-52CA4F996D5C}"/>
                          </a:ext>
                        </a:extLst>
                      </p:cNvPr>
                      <p:cNvSpPr txBox="1"/>
                      <p:nvPr/>
                    </p:nvSpPr>
                    <p:spPr>
                      <a:xfrm>
                        <a:off x="3302318" y="2028655"/>
                        <a:ext cx="454428" cy="276999"/>
                      </a:xfrm>
                      <a:prstGeom prst="rect">
                        <a:avLst/>
                      </a:prstGeom>
                      <a:noFill/>
                    </p:spPr>
                    <p:txBody>
                      <a:bodyPr wrap="square">
                        <a:spAutoFit/>
                      </a:bodyPr>
                      <a:lstStyle/>
                      <a:p>
                        <a:r>
                          <a:rPr lang="en-US" sz="1200" dirty="0"/>
                          <a:t>S(0)</a:t>
                        </a:r>
                      </a:p>
                    </p:txBody>
                  </p:sp>
                  <p:sp>
                    <p:nvSpPr>
                      <p:cNvPr id="170" name="TextBox 169">
                        <a:extLst>
                          <a:ext uri="{FF2B5EF4-FFF2-40B4-BE49-F238E27FC236}">
                            <a16:creationId xmlns:a16="http://schemas.microsoft.com/office/drawing/2014/main" id="{9BBCE0B8-3C3F-4559-ACC4-05F6844BF535}"/>
                          </a:ext>
                        </a:extLst>
                      </p:cNvPr>
                      <p:cNvSpPr txBox="1"/>
                      <p:nvPr/>
                    </p:nvSpPr>
                    <p:spPr>
                      <a:xfrm>
                        <a:off x="3302318" y="2378136"/>
                        <a:ext cx="454428" cy="276999"/>
                      </a:xfrm>
                      <a:prstGeom prst="rect">
                        <a:avLst/>
                      </a:prstGeom>
                      <a:noFill/>
                    </p:spPr>
                    <p:txBody>
                      <a:bodyPr wrap="square">
                        <a:spAutoFit/>
                      </a:bodyPr>
                      <a:lstStyle/>
                      <a:p>
                        <a:r>
                          <a:rPr lang="en-US" sz="1200" dirty="0"/>
                          <a:t>S(1)</a:t>
                        </a:r>
                      </a:p>
                    </p:txBody>
                  </p:sp>
                  <p:sp>
                    <p:nvSpPr>
                      <p:cNvPr id="171" name="TextBox 170">
                        <a:extLst>
                          <a:ext uri="{FF2B5EF4-FFF2-40B4-BE49-F238E27FC236}">
                            <a16:creationId xmlns:a16="http://schemas.microsoft.com/office/drawing/2014/main" id="{3A1B201A-899D-456D-94B0-4C2A38DED5B6}"/>
                          </a:ext>
                        </a:extLst>
                      </p:cNvPr>
                      <p:cNvSpPr txBox="1"/>
                      <p:nvPr/>
                    </p:nvSpPr>
                    <p:spPr>
                      <a:xfrm>
                        <a:off x="3311211" y="3059966"/>
                        <a:ext cx="454428" cy="276999"/>
                      </a:xfrm>
                      <a:prstGeom prst="rect">
                        <a:avLst/>
                      </a:prstGeom>
                      <a:noFill/>
                    </p:spPr>
                    <p:txBody>
                      <a:bodyPr wrap="square">
                        <a:spAutoFit/>
                      </a:bodyPr>
                      <a:lstStyle/>
                      <a:p>
                        <a:r>
                          <a:rPr lang="en-US" sz="1200" dirty="0"/>
                          <a:t>S(0)</a:t>
                        </a:r>
                      </a:p>
                    </p:txBody>
                  </p:sp>
                </p:grpSp>
                <p:sp>
                  <p:nvSpPr>
                    <p:cNvPr id="160" name="TextBox 159">
                      <a:extLst>
                        <a:ext uri="{FF2B5EF4-FFF2-40B4-BE49-F238E27FC236}">
                          <a16:creationId xmlns:a16="http://schemas.microsoft.com/office/drawing/2014/main" id="{7375304D-E999-4A34-B87E-E09280638465}"/>
                        </a:ext>
                      </a:extLst>
                    </p:cNvPr>
                    <p:cNvSpPr txBox="1"/>
                    <p:nvPr/>
                  </p:nvSpPr>
                  <p:spPr>
                    <a:xfrm>
                      <a:off x="2955515" y="3350820"/>
                      <a:ext cx="688237" cy="276999"/>
                    </a:xfrm>
                    <a:prstGeom prst="rect">
                      <a:avLst/>
                    </a:prstGeom>
                    <a:noFill/>
                  </p:spPr>
                  <p:txBody>
                    <a:bodyPr wrap="square">
                      <a:spAutoFit/>
                    </a:bodyPr>
                    <a:lstStyle/>
                    <a:p>
                      <a:r>
                        <a:rPr lang="en-US" sz="1200" dirty="0"/>
                        <a:t>m-1</a:t>
                      </a:r>
                    </a:p>
                  </p:txBody>
                </p:sp>
              </p:grpSp>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EC5A2A1A-CFBF-4CE0-9236-679FD562969A}"/>
                          </a:ext>
                        </a:extLst>
                      </p:cNvPr>
                      <p:cNvSpPr txBox="1"/>
                      <p:nvPr/>
                    </p:nvSpPr>
                    <p:spPr>
                      <a:xfrm>
                        <a:off x="6299066" y="1872940"/>
                        <a:ext cx="730097" cy="2912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200" i="1" dirty="0" smtClean="0">
                                      <a:latin typeface="Cambria Math" panose="02040503050406030204" pitchFamily="18" charset="0"/>
                                    </a:rPr>
                                  </m:ctrlPr>
                                </m:sSubSupPr>
                                <m:e>
                                  <m:r>
                                    <a:rPr lang="en-US" sz="1200" b="0" i="1" dirty="0" smtClean="0">
                                      <a:latin typeface="Cambria Math" panose="02040503050406030204" pitchFamily="18" charset="0"/>
                                    </a:rPr>
                                    <m:t>𝑅</m:t>
                                  </m:r>
                                </m:e>
                                <m:sub>
                                  <m:r>
                                    <a:rPr lang="en-US" sz="1200" b="0" i="1" dirty="0" smtClean="0">
                                      <a:latin typeface="Cambria Math" panose="02040503050406030204" pitchFamily="18" charset="0"/>
                                    </a:rPr>
                                    <m:t>𝑞</m:t>
                                  </m:r>
                                </m:sub>
                                <m:sup>
                                  <m:r>
                                    <a:rPr lang="en-US" sz="1200" b="0" i="1" dirty="0" smtClean="0">
                                      <a:latin typeface="Cambria Math" panose="02040503050406030204" pitchFamily="18" charset="0"/>
                                    </a:rPr>
                                    <m:t>𝑛</m:t>
                                  </m:r>
                                </m:sup>
                              </m:sSubSup>
                              <m:r>
                                <a:rPr lang="en-US" sz="1200" i="1" dirty="0" smtClean="0">
                                  <a:latin typeface="Cambria Math" panose="02040503050406030204" pitchFamily="18" charset="0"/>
                                  <a:ea typeface="Cambria Math" panose="02040503050406030204" pitchFamily="18" charset="0"/>
                                </a:rPr>
                                <m:t>×</m:t>
                              </m:r>
                              <m:sSubSup>
                                <m:sSubSupPr>
                                  <m:ctrlPr>
                                    <a:rPr lang="en-US" sz="1200" i="1" dirty="0" smtClean="0">
                                      <a:latin typeface="Cambria Math" panose="02040503050406030204" pitchFamily="18" charset="0"/>
                                      <a:ea typeface="Cambria Math" panose="02040503050406030204" pitchFamily="18" charset="0"/>
                                    </a:rPr>
                                  </m:ctrlPr>
                                </m:sSubSupPr>
                                <m:e>
                                  <m:r>
                                    <a:rPr lang="en-US" sz="1200" b="0" i="1" dirty="0" smtClean="0">
                                      <a:latin typeface="Cambria Math" panose="02040503050406030204" pitchFamily="18" charset="0"/>
                                      <a:ea typeface="Cambria Math" panose="02040503050406030204" pitchFamily="18" charset="0"/>
                                    </a:rPr>
                                    <m:t>𝑅</m:t>
                                  </m:r>
                                </m:e>
                                <m:sub>
                                  <m:r>
                                    <a:rPr lang="en-US" sz="1200" b="0" i="1" dirty="0" smtClean="0">
                                      <a:latin typeface="Cambria Math" panose="02040503050406030204" pitchFamily="18" charset="0"/>
                                      <a:ea typeface="Cambria Math" panose="02040503050406030204" pitchFamily="18" charset="0"/>
                                    </a:rPr>
                                    <m:t>𝑞</m:t>
                                  </m:r>
                                </m:sub>
                                <m:sup>
                                  <m:r>
                                    <a:rPr lang="en-US" sz="1200" b="0" i="1" dirty="0" smtClean="0">
                                      <a:latin typeface="Cambria Math" panose="02040503050406030204" pitchFamily="18" charset="0"/>
                                      <a:ea typeface="Cambria Math" panose="02040503050406030204" pitchFamily="18" charset="0"/>
                                    </a:rPr>
                                    <m:t>𝑛</m:t>
                                  </m:r>
                                </m:sup>
                              </m:sSubSup>
                            </m:oMath>
                          </m:oMathPara>
                        </a14:m>
                        <a:endParaRPr lang="en-US" sz="1200" dirty="0"/>
                      </a:p>
                    </p:txBody>
                  </p:sp>
                </mc:Choice>
                <mc:Fallback xmlns="">
                  <p:sp>
                    <p:nvSpPr>
                      <p:cNvPr id="294" name="TextBox 293">
                        <a:extLst>
                          <a:ext uri="{FF2B5EF4-FFF2-40B4-BE49-F238E27FC236}">
                            <a16:creationId xmlns:a16="http://schemas.microsoft.com/office/drawing/2014/main" id="{EC5A2A1A-CFBF-4CE0-9236-679FD562969A}"/>
                          </a:ext>
                        </a:extLst>
                      </p:cNvPr>
                      <p:cNvSpPr txBox="1">
                        <a:spLocks noRot="1" noChangeAspect="1" noMove="1" noResize="1" noEditPoints="1" noAdjustHandles="1" noChangeArrowheads="1" noChangeShapeType="1" noTextEdit="1"/>
                      </p:cNvSpPr>
                      <p:nvPr/>
                    </p:nvSpPr>
                    <p:spPr>
                      <a:xfrm>
                        <a:off x="6299066" y="1872940"/>
                        <a:ext cx="730097" cy="291298"/>
                      </a:xfrm>
                      <a:prstGeom prst="rect">
                        <a:avLst/>
                      </a:prstGeom>
                      <a:blipFill>
                        <a:blip r:embed="rId27"/>
                        <a:stretch>
                          <a:fillRect/>
                        </a:stretch>
                      </a:blipFill>
                    </p:spPr>
                    <p:txBody>
                      <a:bodyPr/>
                      <a:lstStyle/>
                      <a:p>
                        <a:r>
                          <a:rPr lang="en-US">
                            <a:noFill/>
                          </a:rPr>
                          <a:t> </a:t>
                        </a:r>
                      </a:p>
                    </p:txBody>
                  </p:sp>
                </mc:Fallback>
              </mc:AlternateContent>
            </p:grpSp>
          </p:grpSp>
        </p:grpSp>
      </p:grpSp>
      <p:grpSp>
        <p:nvGrpSpPr>
          <p:cNvPr id="65" name="Группа 64">
            <a:extLst>
              <a:ext uri="{FF2B5EF4-FFF2-40B4-BE49-F238E27FC236}">
                <a16:creationId xmlns:a16="http://schemas.microsoft.com/office/drawing/2014/main" id="{DC60FC56-2D82-4495-AE80-C9F426F02DA2}"/>
              </a:ext>
            </a:extLst>
          </p:cNvPr>
          <p:cNvGrpSpPr/>
          <p:nvPr/>
        </p:nvGrpSpPr>
        <p:grpSpPr>
          <a:xfrm>
            <a:off x="10710168" y="5662434"/>
            <a:ext cx="1220615" cy="1099733"/>
            <a:chOff x="10710168" y="5662434"/>
            <a:chExt cx="1220615" cy="1099733"/>
          </a:xfrm>
        </p:grpSpPr>
        <p:grpSp>
          <p:nvGrpSpPr>
            <p:cNvPr id="86" name="Группа 85">
              <a:extLst>
                <a:ext uri="{FF2B5EF4-FFF2-40B4-BE49-F238E27FC236}">
                  <a16:creationId xmlns:a16="http://schemas.microsoft.com/office/drawing/2014/main" id="{0DB51730-CDE4-413C-BCE5-0CD2AEE8CBEF}"/>
                </a:ext>
              </a:extLst>
            </p:cNvPr>
            <p:cNvGrpSpPr/>
            <p:nvPr/>
          </p:nvGrpSpPr>
          <p:grpSpPr>
            <a:xfrm>
              <a:off x="10816940" y="5989772"/>
              <a:ext cx="1113843" cy="327783"/>
              <a:chOff x="194215" y="5640582"/>
              <a:chExt cx="1113843" cy="327783"/>
            </a:xfrm>
          </p:grpSpPr>
          <p:sp>
            <p:nvSpPr>
              <p:cNvPr id="66" name="Прямоугольник 65">
                <a:extLst>
                  <a:ext uri="{FF2B5EF4-FFF2-40B4-BE49-F238E27FC236}">
                    <a16:creationId xmlns:a16="http://schemas.microsoft.com/office/drawing/2014/main" id="{60D29864-A53D-4373-A946-F809ADD037AA}"/>
                  </a:ext>
                </a:extLst>
              </p:cNvPr>
              <p:cNvSpPr/>
              <p:nvPr/>
            </p:nvSpPr>
            <p:spPr>
              <a:xfrm>
                <a:off x="194215" y="5640582"/>
                <a:ext cx="338531" cy="318579"/>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TextBox 243">
                <a:extLst>
                  <a:ext uri="{FF2B5EF4-FFF2-40B4-BE49-F238E27FC236}">
                    <a16:creationId xmlns:a16="http://schemas.microsoft.com/office/drawing/2014/main" id="{E9452338-B910-4D33-A723-6DDABB6B0557}"/>
                  </a:ext>
                </a:extLst>
              </p:cNvPr>
              <p:cNvSpPr txBox="1"/>
              <p:nvPr/>
            </p:nvSpPr>
            <p:spPr>
              <a:xfrm>
                <a:off x="548736" y="5732403"/>
                <a:ext cx="759322" cy="235962"/>
              </a:xfrm>
              <a:prstGeom prst="rect">
                <a:avLst/>
              </a:prstGeom>
              <a:noFill/>
            </p:spPr>
            <p:txBody>
              <a:bodyPr wrap="square">
                <a:spAutoFit/>
              </a:bodyPr>
              <a:lstStyle/>
              <a:p>
                <a:r>
                  <a:rPr lang="en-US" sz="1400" baseline="30000" dirty="0"/>
                  <a:t>decrypted</a:t>
                </a:r>
              </a:p>
            </p:txBody>
          </p:sp>
        </p:grpSp>
        <p:grpSp>
          <p:nvGrpSpPr>
            <p:cNvPr id="87" name="Группа 86">
              <a:extLst>
                <a:ext uri="{FF2B5EF4-FFF2-40B4-BE49-F238E27FC236}">
                  <a16:creationId xmlns:a16="http://schemas.microsoft.com/office/drawing/2014/main" id="{5F7C4CBA-B459-4E8D-8A09-5F4FF502DB3A}"/>
                </a:ext>
              </a:extLst>
            </p:cNvPr>
            <p:cNvGrpSpPr/>
            <p:nvPr/>
          </p:nvGrpSpPr>
          <p:grpSpPr>
            <a:xfrm>
              <a:off x="10813299" y="6443588"/>
              <a:ext cx="1117484" cy="318579"/>
              <a:chOff x="190574" y="6094398"/>
              <a:chExt cx="1117484" cy="318579"/>
            </a:xfrm>
          </p:grpSpPr>
          <p:sp>
            <p:nvSpPr>
              <p:cNvPr id="243" name="Прямоугольник 242">
                <a:extLst>
                  <a:ext uri="{FF2B5EF4-FFF2-40B4-BE49-F238E27FC236}">
                    <a16:creationId xmlns:a16="http://schemas.microsoft.com/office/drawing/2014/main" id="{2A55E4F8-52F6-4DCF-B30E-262795D1C3A6}"/>
                  </a:ext>
                </a:extLst>
              </p:cNvPr>
              <p:cNvSpPr/>
              <p:nvPr/>
            </p:nvSpPr>
            <p:spPr>
              <a:xfrm>
                <a:off x="190574" y="6094398"/>
                <a:ext cx="338531" cy="318579"/>
              </a:xfrm>
              <a:prstGeom prst="rect">
                <a:avLst/>
              </a:prstGeom>
              <a:no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5" name="TextBox 244">
                <a:extLst>
                  <a:ext uri="{FF2B5EF4-FFF2-40B4-BE49-F238E27FC236}">
                    <a16:creationId xmlns:a16="http://schemas.microsoft.com/office/drawing/2014/main" id="{7386E0A8-D31E-4385-85E8-849EEF0618F1}"/>
                  </a:ext>
                </a:extLst>
              </p:cNvPr>
              <p:cNvSpPr txBox="1"/>
              <p:nvPr/>
            </p:nvSpPr>
            <p:spPr>
              <a:xfrm>
                <a:off x="548736" y="6177015"/>
                <a:ext cx="759322" cy="235962"/>
              </a:xfrm>
              <a:prstGeom prst="rect">
                <a:avLst/>
              </a:prstGeom>
              <a:noFill/>
            </p:spPr>
            <p:txBody>
              <a:bodyPr wrap="square">
                <a:spAutoFit/>
              </a:bodyPr>
              <a:lstStyle/>
              <a:p>
                <a:r>
                  <a:rPr lang="en-US" sz="1400" baseline="30000" dirty="0"/>
                  <a:t>encrypted</a:t>
                </a:r>
              </a:p>
            </p:txBody>
          </p:sp>
        </p:grpSp>
        <p:sp>
          <p:nvSpPr>
            <p:cNvPr id="175" name="TextBox 174">
              <a:extLst>
                <a:ext uri="{FF2B5EF4-FFF2-40B4-BE49-F238E27FC236}">
                  <a16:creationId xmlns:a16="http://schemas.microsoft.com/office/drawing/2014/main" id="{9CF85FB5-4CD4-4362-8739-32A93F162942}"/>
                </a:ext>
              </a:extLst>
            </p:cNvPr>
            <p:cNvSpPr txBox="1"/>
            <p:nvPr/>
          </p:nvSpPr>
          <p:spPr>
            <a:xfrm>
              <a:off x="10710168" y="5662434"/>
              <a:ext cx="751361" cy="307777"/>
            </a:xfrm>
            <a:prstGeom prst="rect">
              <a:avLst/>
            </a:prstGeom>
            <a:noFill/>
          </p:spPr>
          <p:txBody>
            <a:bodyPr wrap="square">
              <a:spAutoFit/>
            </a:bodyPr>
            <a:lstStyle/>
            <a:p>
              <a:r>
                <a:rPr lang="en-US" sz="1400" b="1" dirty="0"/>
                <a:t>State:</a:t>
              </a:r>
              <a:endParaRPr lang="en-US" sz="1400" b="1" baseline="30000" dirty="0"/>
            </a:p>
          </p:txBody>
        </p:sp>
      </p:grpSp>
      <p:grpSp>
        <p:nvGrpSpPr>
          <p:cNvPr id="17" name="Группа 16">
            <a:extLst>
              <a:ext uri="{FF2B5EF4-FFF2-40B4-BE49-F238E27FC236}">
                <a16:creationId xmlns:a16="http://schemas.microsoft.com/office/drawing/2014/main" id="{A256A70A-9686-4957-8E49-5D7DFB498F99}"/>
              </a:ext>
            </a:extLst>
          </p:cNvPr>
          <p:cNvGrpSpPr/>
          <p:nvPr/>
        </p:nvGrpSpPr>
        <p:grpSpPr>
          <a:xfrm>
            <a:off x="4742520" y="5667489"/>
            <a:ext cx="2129992" cy="822694"/>
            <a:chOff x="403483" y="5667489"/>
            <a:chExt cx="2129992" cy="822694"/>
          </a:xfrm>
        </p:grpSpPr>
        <p:sp>
          <p:nvSpPr>
            <p:cNvPr id="199" name="TextBox 198">
              <a:extLst>
                <a:ext uri="{FF2B5EF4-FFF2-40B4-BE49-F238E27FC236}">
                  <a16:creationId xmlns:a16="http://schemas.microsoft.com/office/drawing/2014/main" id="{1A5E2052-EA25-40EE-B31C-A188BF7B122D}"/>
                </a:ext>
              </a:extLst>
            </p:cNvPr>
            <p:cNvSpPr txBox="1"/>
            <p:nvPr/>
          </p:nvSpPr>
          <p:spPr>
            <a:xfrm>
              <a:off x="403483" y="5667489"/>
              <a:ext cx="2129992" cy="307777"/>
            </a:xfrm>
            <a:prstGeom prst="rect">
              <a:avLst/>
            </a:prstGeom>
            <a:noFill/>
          </p:spPr>
          <p:txBody>
            <a:bodyPr wrap="square">
              <a:spAutoFit/>
            </a:bodyPr>
            <a:lstStyle/>
            <a:p>
              <a:r>
                <a:rPr lang="en-US" sz="1400" b="1" dirty="0"/>
                <a:t>All operations performed:</a:t>
              </a:r>
              <a:endParaRPr lang="en-US" sz="1400" b="1" baseline="30000" dirty="0"/>
            </a:p>
          </p:txBody>
        </p:sp>
        <mc:AlternateContent xmlns:mc="http://schemas.openxmlformats.org/markup-compatibility/2006" xmlns:a14="http://schemas.microsoft.com/office/drawing/2010/main">
          <mc:Choice Requires="a14">
            <p:sp>
              <p:nvSpPr>
                <p:cNvPr id="200" name="TextBox 199">
                  <a:extLst>
                    <a:ext uri="{FF2B5EF4-FFF2-40B4-BE49-F238E27FC236}">
                      <a16:creationId xmlns:a16="http://schemas.microsoft.com/office/drawing/2014/main" id="{E3F65C95-A135-4754-9FAE-94455A0D9EAB}"/>
                    </a:ext>
                  </a:extLst>
                </p:cNvPr>
                <p:cNvSpPr txBox="1"/>
                <p:nvPr/>
              </p:nvSpPr>
              <p:spPr>
                <a:xfrm>
                  <a:off x="403483" y="5966963"/>
                  <a:ext cx="1971637" cy="523220"/>
                </a:xfrm>
                <a:prstGeom prst="rect">
                  <a:avLst/>
                </a:prstGeom>
                <a:noFill/>
              </p:spPr>
              <p:txBody>
                <a:bodyPr wrap="square">
                  <a:spAutoFit/>
                </a:bodyPr>
                <a:lstStyle/>
                <a:p>
                  <a:pPr marL="342900" indent="-342900">
                    <a:buAutoNum type="arabicPeriod"/>
                  </a:pPr>
                  <a:r>
                    <a:rPr lang="en-US" sz="1400" i="1" dirty="0"/>
                    <a:t>mod q</a:t>
                  </a:r>
                </a:p>
                <a:p>
                  <a:pPr marL="342900" indent="-342900">
                    <a:buAutoNum type="arabicPeriod"/>
                  </a:pPr>
                  <a14:m>
                    <m:oMath xmlns:m="http://schemas.openxmlformats.org/officeDocument/2006/math">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𝑥</m:t>
                          </m:r>
                        </m:e>
                        <m:sup>
                          <m:r>
                            <a:rPr lang="en-US" sz="1400" b="0" i="1" smtClean="0">
                              <a:latin typeface="Cambria Math" panose="02040503050406030204" pitchFamily="18" charset="0"/>
                            </a:rPr>
                            <m:t>𝑛</m:t>
                          </m:r>
                        </m:sup>
                      </m:sSup>
                      <m:r>
                        <a:rPr lang="en-US" sz="1400" b="0" i="1" smtClean="0">
                          <a:latin typeface="Cambria Math" panose="02040503050406030204" pitchFamily="18" charset="0"/>
                        </a:rPr>
                        <m:t>+1</m:t>
                      </m:r>
                    </m:oMath>
                  </a14:m>
                  <a:endParaRPr lang="en-US" sz="1400" b="0" i="1" dirty="0"/>
                </a:p>
              </p:txBody>
            </p:sp>
          </mc:Choice>
          <mc:Fallback xmlns="">
            <p:sp>
              <p:nvSpPr>
                <p:cNvPr id="200" name="TextBox 199">
                  <a:extLst>
                    <a:ext uri="{FF2B5EF4-FFF2-40B4-BE49-F238E27FC236}">
                      <a16:creationId xmlns:a16="http://schemas.microsoft.com/office/drawing/2014/main" id="{E3F65C95-A135-4754-9FAE-94455A0D9EAB}"/>
                    </a:ext>
                  </a:extLst>
                </p:cNvPr>
                <p:cNvSpPr txBox="1">
                  <a:spLocks noRot="1" noChangeAspect="1" noMove="1" noResize="1" noEditPoints="1" noAdjustHandles="1" noChangeArrowheads="1" noChangeShapeType="1" noTextEdit="1"/>
                </p:cNvSpPr>
                <p:nvPr/>
              </p:nvSpPr>
              <p:spPr>
                <a:xfrm>
                  <a:off x="403483" y="5966963"/>
                  <a:ext cx="1971637" cy="523220"/>
                </a:xfrm>
                <a:prstGeom prst="rect">
                  <a:avLst/>
                </a:prstGeom>
                <a:blipFill>
                  <a:blip r:embed="rId28"/>
                  <a:stretch>
                    <a:fillRect l="-1238" t="-3488" b="-8140"/>
                  </a:stretch>
                </a:blipFill>
              </p:spPr>
              <p:txBody>
                <a:bodyPr/>
                <a:lstStyle/>
                <a:p>
                  <a:r>
                    <a:rPr lang="en-US">
                      <a:noFill/>
                    </a:rPr>
                    <a:t> </a:t>
                  </a:r>
                </a:p>
              </p:txBody>
            </p:sp>
          </mc:Fallback>
        </mc:AlternateContent>
      </p:grpSp>
      <p:grpSp>
        <p:nvGrpSpPr>
          <p:cNvPr id="73" name="Группа 72">
            <a:extLst>
              <a:ext uri="{FF2B5EF4-FFF2-40B4-BE49-F238E27FC236}">
                <a16:creationId xmlns:a16="http://schemas.microsoft.com/office/drawing/2014/main" id="{AD2B2588-AEFD-4962-B5F4-4175CB808724}"/>
              </a:ext>
            </a:extLst>
          </p:cNvPr>
          <p:cNvGrpSpPr/>
          <p:nvPr/>
        </p:nvGrpSpPr>
        <p:grpSpPr>
          <a:xfrm>
            <a:off x="8992376" y="3380903"/>
            <a:ext cx="3029086" cy="1924248"/>
            <a:chOff x="8992376" y="3380903"/>
            <a:chExt cx="3029086" cy="1924248"/>
          </a:xfrm>
        </p:grpSpPr>
        <p:grpSp>
          <p:nvGrpSpPr>
            <p:cNvPr id="72" name="Группа 71">
              <a:extLst>
                <a:ext uri="{FF2B5EF4-FFF2-40B4-BE49-F238E27FC236}">
                  <a16:creationId xmlns:a16="http://schemas.microsoft.com/office/drawing/2014/main" id="{F909AE3A-A145-4CBF-AE1C-C167E382D959}"/>
                </a:ext>
              </a:extLst>
            </p:cNvPr>
            <p:cNvGrpSpPr/>
            <p:nvPr/>
          </p:nvGrpSpPr>
          <p:grpSpPr>
            <a:xfrm>
              <a:off x="10110479" y="3380903"/>
              <a:ext cx="1910983" cy="1301920"/>
              <a:chOff x="10110479" y="3380903"/>
              <a:chExt cx="1910983" cy="1301920"/>
            </a:xfrm>
          </p:grpSpPr>
          <p:grpSp>
            <p:nvGrpSpPr>
              <p:cNvPr id="127" name="Группа 126">
                <a:extLst>
                  <a:ext uri="{FF2B5EF4-FFF2-40B4-BE49-F238E27FC236}">
                    <a16:creationId xmlns:a16="http://schemas.microsoft.com/office/drawing/2014/main" id="{7729C487-FC85-4ABD-914B-A57EAF51C668}"/>
                  </a:ext>
                </a:extLst>
              </p:cNvPr>
              <p:cNvGrpSpPr/>
              <p:nvPr/>
            </p:nvGrpSpPr>
            <p:grpSpPr>
              <a:xfrm>
                <a:off x="10110479" y="3699339"/>
                <a:ext cx="932168" cy="403578"/>
                <a:chOff x="9214612" y="4346103"/>
                <a:chExt cx="920882" cy="403578"/>
              </a:xfrm>
            </p:grpSpPr>
            <p:cxnSp>
              <p:nvCxnSpPr>
                <p:cNvPr id="194" name="Straight Connector 193">
                  <a:extLst>
                    <a:ext uri="{FF2B5EF4-FFF2-40B4-BE49-F238E27FC236}">
                      <a16:creationId xmlns:a16="http://schemas.microsoft.com/office/drawing/2014/main" id="{B389684B-9858-4674-8408-1B835721AB4C}"/>
                    </a:ext>
                  </a:extLst>
                </p:cNvPr>
                <p:cNvCxnSpPr>
                  <a:cxnSpLocks/>
                </p:cNvCxnSpPr>
                <p:nvPr/>
              </p:nvCxnSpPr>
              <p:spPr>
                <a:xfrm>
                  <a:off x="9214612" y="4749681"/>
                  <a:ext cx="920882"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EB19101C-19CA-4D8F-9D3B-6CA4E35F7364}"/>
                        </a:ext>
                      </a:extLst>
                    </p:cNvPr>
                    <p:cNvSpPr txBox="1"/>
                    <p:nvPr/>
                  </p:nvSpPr>
                  <p:spPr>
                    <a:xfrm>
                      <a:off x="9762667" y="4346103"/>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98" name="TextBox 197">
                      <a:extLst>
                        <a:ext uri="{FF2B5EF4-FFF2-40B4-BE49-F238E27FC236}">
                          <a16:creationId xmlns:a16="http://schemas.microsoft.com/office/drawing/2014/main" id="{EB19101C-19CA-4D8F-9D3B-6CA4E35F7364}"/>
                        </a:ext>
                      </a:extLst>
                    </p:cNvPr>
                    <p:cNvSpPr txBox="1">
                      <a:spLocks noRot="1" noChangeAspect="1" noMove="1" noResize="1" noEditPoints="1" noAdjustHandles="1" noChangeArrowheads="1" noChangeShapeType="1" noTextEdit="1"/>
                    </p:cNvSpPr>
                    <p:nvPr/>
                  </p:nvSpPr>
                  <p:spPr>
                    <a:xfrm>
                      <a:off x="9762667" y="4346103"/>
                      <a:ext cx="226023" cy="276999"/>
                    </a:xfrm>
                    <a:prstGeom prst="rect">
                      <a:avLst/>
                    </a:prstGeom>
                    <a:blipFill>
                      <a:blip r:embed="rId29"/>
                      <a:stretch>
                        <a:fillRect l="-21622" r="-21622" b="-666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54A71119-D177-418C-BC2C-6AE08F4BEB7C}"/>
                      </a:ext>
                    </a:extLst>
                  </p:cNvPr>
                  <p:cNvSpPr txBox="1"/>
                  <p:nvPr/>
                </p:nvSpPr>
                <p:spPr>
                  <a:xfrm>
                    <a:off x="10650910" y="3380903"/>
                    <a:ext cx="1370552" cy="657231"/>
                  </a:xfrm>
                  <a:prstGeom prst="rect">
                    <a:avLst/>
                  </a:prstGeom>
                  <a:noFill/>
                </p:spPr>
                <p:txBody>
                  <a:bodyPr wrap="square">
                    <a:spAutoFit/>
                  </a:bodyPr>
                  <a:lstStyle/>
                  <a:p>
                    <a:r>
                      <a:rPr lang="en-US" sz="1200" b="1" dirty="0"/>
                      <a:t>5.</a:t>
                    </a:r>
                    <a:r>
                      <a:rPr lang="en-US" sz="1200" i="1" dirty="0"/>
                      <a:t>FV.SH.Add(</a:t>
                    </a:r>
                  </a:p>
                  <a:p>
                    <a:pPr lvl="1"/>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𝑃</m:t>
                            </m:r>
                          </m:e>
                          <m:sub>
                            <m:r>
                              <a:rPr lang="en-US" sz="1200" b="0" i="1" smtClean="0">
                                <a:latin typeface="Cambria Math" panose="02040503050406030204" pitchFamily="18" charset="0"/>
                              </a:rPr>
                              <m:t>𝑖</m:t>
                            </m:r>
                          </m:sub>
                        </m:sSub>
                      </m:oMath>
                    </a14:m>
                    <a:r>
                      <a:rPr lang="en-US" sz="1200" i="1" dirty="0"/>
                      <a:t>,</a:t>
                    </a:r>
                    <a:endParaRPr lang="en-US" sz="1200" b="0" i="1" dirty="0">
                      <a:latin typeface="Cambria Math" panose="02040503050406030204" pitchFamily="18" charset="0"/>
                    </a:endParaRPr>
                  </a:p>
                  <a:p>
                    <a:pPr lvl="1"/>
                    <a14:m>
                      <m:oMath xmlns:m="http://schemas.openxmlformats.org/officeDocument/2006/math">
                        <m:r>
                          <a:rPr lang="en-US" sz="1200" b="0" i="1" smtClean="0">
                            <a:latin typeface="Cambria Math" panose="02040503050406030204" pitchFamily="18" charset="0"/>
                          </a:rPr>
                          <m:t> </m:t>
                        </m:r>
                        <m:sSubSup>
                          <m:sSubSupPr>
                            <m:ctrlPr>
                              <a:rPr lang="en-US" sz="1200" i="1" smtClean="0">
                                <a:latin typeface="Cambria Math" panose="02040503050406030204" pitchFamily="18" charset="0"/>
                              </a:rPr>
                            </m:ctrlPr>
                          </m:sSubSupPr>
                          <m:e>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b="0" i="1" smtClean="0">
                                    <a:latin typeface="Cambria Math" panose="02040503050406030204" pitchFamily="18" charset="0"/>
                                  </a:rPr>
                                  <m:t>𝑃</m:t>
                                </m:r>
                              </m:e>
                              <m:sub>
                                <m:r>
                                  <a:rPr lang="en-US" sz="1200" b="0" i="1">
                                    <a:latin typeface="Cambria Math" panose="02040503050406030204" pitchFamily="18" charset="0"/>
                                  </a:rPr>
                                  <m:t>𝑖</m:t>
                                </m:r>
                              </m:sub>
                            </m:sSub>
                            <m:r>
                              <a:rPr lang="en-US" sz="1200" b="0" i="1" smtClean="0">
                                <a:latin typeface="Cambria Math" panose="02040503050406030204" pitchFamily="18" charset="0"/>
                              </a:rPr>
                              <m:t>}</m:t>
                            </m:r>
                          </m:e>
                          <m:sub>
                            <m:r>
                              <a:rPr lang="en-US" sz="1200" b="0" i="1" smtClean="0">
                                <a:latin typeface="Cambria Math" panose="02040503050406030204" pitchFamily="18" charset="0"/>
                              </a:rPr>
                              <m:t>𝑖</m:t>
                            </m:r>
                            <m:r>
                              <a:rPr lang="en-US" sz="1200" b="0" i="1" smtClean="0">
                                <a:latin typeface="Cambria Math" panose="02040503050406030204" pitchFamily="18" charset="0"/>
                              </a:rPr>
                              <m:t>=0</m:t>
                            </m:r>
                          </m:sub>
                          <m:sup>
                            <m:r>
                              <a:rPr lang="en-US" sz="1200" b="0" i="1" smtClean="0">
                                <a:latin typeface="Cambria Math" panose="02040503050406030204" pitchFamily="18" charset="0"/>
                              </a:rPr>
                              <m:t>𝑚</m:t>
                            </m:r>
                            <m:r>
                              <a:rPr lang="en-US" sz="1200" b="0" i="1" smtClean="0">
                                <a:latin typeface="Cambria Math" panose="02040503050406030204" pitchFamily="18" charset="0"/>
                              </a:rPr>
                              <m:t>−1</m:t>
                            </m:r>
                          </m:sup>
                        </m:sSubSup>
                      </m:oMath>
                    </a14:m>
                    <a:r>
                      <a:rPr lang="en-US" sz="1200" i="1" dirty="0"/>
                      <a:t>) </a:t>
                    </a:r>
                    <a:endParaRPr lang="en-US" sz="1200" i="1" baseline="30000" dirty="0"/>
                  </a:p>
                </p:txBody>
              </p:sp>
            </mc:Choice>
            <mc:Fallback xmlns="">
              <p:sp>
                <p:nvSpPr>
                  <p:cNvPr id="204" name="TextBox 203">
                    <a:extLst>
                      <a:ext uri="{FF2B5EF4-FFF2-40B4-BE49-F238E27FC236}">
                        <a16:creationId xmlns:a16="http://schemas.microsoft.com/office/drawing/2014/main" id="{54A71119-D177-418C-BC2C-6AE08F4BEB7C}"/>
                      </a:ext>
                    </a:extLst>
                  </p:cNvPr>
                  <p:cNvSpPr txBox="1">
                    <a:spLocks noRot="1" noChangeAspect="1" noMove="1" noResize="1" noEditPoints="1" noAdjustHandles="1" noChangeArrowheads="1" noChangeShapeType="1" noTextEdit="1"/>
                  </p:cNvSpPr>
                  <p:nvPr/>
                </p:nvSpPr>
                <p:spPr>
                  <a:xfrm>
                    <a:off x="10650910" y="3380903"/>
                    <a:ext cx="1370552" cy="657231"/>
                  </a:xfrm>
                  <a:prstGeom prst="rect">
                    <a:avLst/>
                  </a:prstGeom>
                  <a:blipFill>
                    <a:blip r:embed="rId30"/>
                    <a:stretch>
                      <a:fillRect t="-935" b="-7477"/>
                    </a:stretch>
                  </a:blipFill>
                </p:spPr>
                <p:txBody>
                  <a:bodyPr/>
                  <a:lstStyle/>
                  <a:p>
                    <a:r>
                      <a:rPr lang="en-US">
                        <a:noFill/>
                      </a:rPr>
                      <a:t> </a:t>
                    </a:r>
                  </a:p>
                </p:txBody>
              </p:sp>
            </mc:Fallback>
          </mc:AlternateContent>
          <p:grpSp>
            <p:nvGrpSpPr>
              <p:cNvPr id="303" name="Группа 302">
                <a:extLst>
                  <a:ext uri="{FF2B5EF4-FFF2-40B4-BE49-F238E27FC236}">
                    <a16:creationId xmlns:a16="http://schemas.microsoft.com/office/drawing/2014/main" id="{7B9FBA07-EA1C-47E6-8809-28D908C9E917}"/>
                  </a:ext>
                </a:extLst>
              </p:cNvPr>
              <p:cNvGrpSpPr/>
              <p:nvPr/>
            </p:nvGrpSpPr>
            <p:grpSpPr>
              <a:xfrm>
                <a:off x="10129083" y="4336777"/>
                <a:ext cx="621566" cy="346046"/>
                <a:chOff x="9685034" y="4901110"/>
                <a:chExt cx="621566" cy="346046"/>
              </a:xfrm>
            </p:grpSpPr>
            <p:sp>
              <p:nvSpPr>
                <p:cNvPr id="201" name="Rectangle 200">
                  <a:extLst>
                    <a:ext uri="{FF2B5EF4-FFF2-40B4-BE49-F238E27FC236}">
                      <a16:creationId xmlns:a16="http://schemas.microsoft.com/office/drawing/2014/main" id="{6345FA21-881C-42B7-8569-26A69C55BCF0}"/>
                    </a:ext>
                  </a:extLst>
                </p:cNvPr>
                <p:cNvSpPr/>
                <p:nvPr/>
              </p:nvSpPr>
              <p:spPr>
                <a:xfrm>
                  <a:off x="9710719" y="4901110"/>
                  <a:ext cx="390622"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6" name="TextBox 245">
                      <a:extLst>
                        <a:ext uri="{FF2B5EF4-FFF2-40B4-BE49-F238E27FC236}">
                          <a16:creationId xmlns:a16="http://schemas.microsoft.com/office/drawing/2014/main" id="{01429E27-670C-451B-8949-F23E040F2F61}"/>
                        </a:ext>
                      </a:extLst>
                    </p:cNvPr>
                    <p:cNvSpPr txBox="1"/>
                    <p:nvPr/>
                  </p:nvSpPr>
                  <p:spPr>
                    <a:xfrm>
                      <a:off x="9685034" y="4935633"/>
                      <a:ext cx="621566" cy="276999"/>
                    </a:xfrm>
                    <a:prstGeom prst="rect">
                      <a:avLst/>
                    </a:prstGeom>
                    <a:noFill/>
                  </p:spPr>
                  <p:txBody>
                    <a:bodyPr wrap="square">
                      <a:spAutoFit/>
                    </a:bodyPr>
                    <a:lstStyle/>
                    <a:p>
                      <a:r>
                        <a:rPr lang="en-US" sz="1200" i="1" dirty="0"/>
                        <a:t>C(</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2</m:t>
                              </m:r>
                            </m:sub>
                          </m:sSub>
                        </m:oMath>
                      </a14:m>
                      <a:r>
                        <a:rPr lang="en-US" sz="1200" i="1" dirty="0"/>
                        <a:t>)</a:t>
                      </a:r>
                    </a:p>
                  </p:txBody>
                </p:sp>
              </mc:Choice>
              <mc:Fallback xmlns="">
                <p:sp>
                  <p:nvSpPr>
                    <p:cNvPr id="246" name="TextBox 245">
                      <a:extLst>
                        <a:ext uri="{FF2B5EF4-FFF2-40B4-BE49-F238E27FC236}">
                          <a16:creationId xmlns:a16="http://schemas.microsoft.com/office/drawing/2014/main" id="{01429E27-670C-451B-8949-F23E040F2F61}"/>
                        </a:ext>
                      </a:extLst>
                    </p:cNvPr>
                    <p:cNvSpPr txBox="1">
                      <a:spLocks noRot="1" noChangeAspect="1" noMove="1" noResize="1" noEditPoints="1" noAdjustHandles="1" noChangeArrowheads="1" noChangeShapeType="1" noTextEdit="1"/>
                    </p:cNvSpPr>
                    <p:nvPr/>
                  </p:nvSpPr>
                  <p:spPr>
                    <a:xfrm>
                      <a:off x="9685034" y="4935633"/>
                      <a:ext cx="621566" cy="276999"/>
                    </a:xfrm>
                    <a:prstGeom prst="rect">
                      <a:avLst/>
                    </a:prstGeom>
                    <a:blipFill>
                      <a:blip r:embed="rId31"/>
                      <a:stretch>
                        <a:fillRect l="-980" b="-15217"/>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FA3FE96-FBFF-482F-B43E-40B27BE3479A}"/>
                    </a:ext>
                  </a:extLst>
                </p:cNvPr>
                <p:cNvSpPr txBox="1"/>
                <p:nvPr/>
              </p:nvSpPr>
              <p:spPr>
                <a:xfrm>
                  <a:off x="8992376" y="4829508"/>
                  <a:ext cx="3029086" cy="4756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100" b="0" i="1" dirty="0" smtClean="0">
                            <a:solidFill>
                              <a:schemeClr val="bg1">
                                <a:lumMod val="65000"/>
                              </a:schemeClr>
                            </a:solidFill>
                            <a:latin typeface="Cambria Math" panose="02040503050406030204" pitchFamily="18" charset="0"/>
                          </a:rPr>
                          <m:t>𝐶</m:t>
                        </m:r>
                        <m:r>
                          <a:rPr lang="en-US" sz="1100" b="0" i="1" dirty="0" smtClean="0">
                            <a:solidFill>
                              <a:schemeClr val="bg1">
                                <a:lumMod val="65000"/>
                              </a:schemeClr>
                            </a:solidFill>
                            <a:latin typeface="Cambria Math" panose="02040503050406030204" pitchFamily="18" charset="0"/>
                          </a:rPr>
                          <m:t>=</m:t>
                        </m:r>
                        <m:nary>
                          <m:naryPr>
                            <m:chr m:val="∑"/>
                            <m:ctrlPr>
                              <a:rPr lang="en-US" sz="1100" b="0" i="1" dirty="0" smtClean="0">
                                <a:solidFill>
                                  <a:schemeClr val="bg1">
                                    <a:lumMod val="65000"/>
                                  </a:schemeClr>
                                </a:solidFill>
                                <a:latin typeface="Cambria Math" panose="02040503050406030204" pitchFamily="18" charset="0"/>
                              </a:rPr>
                            </m:ctrlPr>
                          </m:naryPr>
                          <m:sub>
                            <m:r>
                              <m:rPr>
                                <m:brk m:alnAt="23"/>
                              </m:rPr>
                              <a:rPr lang="en-US" sz="1100" b="0" i="1" dirty="0" smtClean="0">
                                <a:solidFill>
                                  <a:schemeClr val="bg1">
                                    <a:lumMod val="65000"/>
                                  </a:schemeClr>
                                </a:solidFill>
                                <a:latin typeface="Cambria Math" panose="02040503050406030204" pitchFamily="18" charset="0"/>
                              </a:rPr>
                              <m:t>𝑖</m:t>
                            </m:r>
                            <m:r>
                              <a:rPr lang="en-US" sz="1100" b="0" i="1" dirty="0" smtClean="0">
                                <a:solidFill>
                                  <a:schemeClr val="bg1">
                                    <a:lumMod val="65000"/>
                                  </a:schemeClr>
                                </a:solidFill>
                                <a:latin typeface="Cambria Math" panose="02040503050406030204" pitchFamily="18" charset="0"/>
                              </a:rPr>
                              <m:t>=0</m:t>
                            </m:r>
                          </m:sub>
                          <m:sup>
                            <m:r>
                              <a:rPr lang="en-US" sz="1100" b="0" i="1" dirty="0" smtClean="0">
                                <a:solidFill>
                                  <a:schemeClr val="bg1">
                                    <a:lumMod val="65000"/>
                                  </a:schemeClr>
                                </a:solidFill>
                                <a:latin typeface="Cambria Math" panose="02040503050406030204" pitchFamily="18" charset="0"/>
                              </a:rPr>
                              <m:t>𝑚</m:t>
                            </m:r>
                            <m:r>
                              <a:rPr lang="en-US" sz="1100" b="0" i="1" dirty="0" smtClean="0">
                                <a:solidFill>
                                  <a:schemeClr val="bg1">
                                    <a:lumMod val="65000"/>
                                  </a:schemeClr>
                                </a:solidFill>
                                <a:latin typeface="Cambria Math" panose="02040503050406030204" pitchFamily="18" charset="0"/>
                              </a:rPr>
                              <m:t>−1</m:t>
                            </m:r>
                          </m:sup>
                          <m:e>
                            <m:sSub>
                              <m:sSubPr>
                                <m:ctrlPr>
                                  <a:rPr lang="en-US" sz="1100" b="0" i="1" dirty="0" smtClean="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𝑃</m:t>
                                </m:r>
                              </m:e>
                              <m:sub>
                                <m:r>
                                  <a:rPr lang="en-US" sz="1100" b="0" i="1" dirty="0" smtClean="0">
                                    <a:solidFill>
                                      <a:schemeClr val="bg1">
                                        <a:lumMod val="65000"/>
                                      </a:schemeClr>
                                    </a:solidFill>
                                    <a:latin typeface="Cambria Math" panose="02040503050406030204" pitchFamily="18" charset="0"/>
                                  </a:rPr>
                                  <m:t>𝑖</m:t>
                                </m:r>
                              </m:sub>
                            </m:sSub>
                          </m:e>
                        </m:nary>
                        <m:r>
                          <a:rPr lang="en-US" sz="1100" b="0" i="1" dirty="0" smtClean="0">
                            <a:solidFill>
                              <a:schemeClr val="bg1">
                                <a:lumMod val="65000"/>
                              </a:schemeClr>
                            </a:solidFill>
                            <a:latin typeface="Cambria Math" panose="02040503050406030204" pitchFamily="18" charset="0"/>
                          </a:rPr>
                          <m:t>=</m:t>
                        </m:r>
                        <m:d>
                          <m:dPr>
                            <m:ctrlPr>
                              <a:rPr lang="en-US" sz="1100" b="0" i="1" dirty="0" smtClean="0">
                                <a:solidFill>
                                  <a:schemeClr val="bg1">
                                    <a:lumMod val="65000"/>
                                  </a:schemeClr>
                                </a:solidFill>
                                <a:latin typeface="Cambria Math" panose="02040503050406030204" pitchFamily="18" charset="0"/>
                              </a:rPr>
                            </m:ctrlPr>
                          </m:dPr>
                          <m:e>
                            <m:nary>
                              <m:naryPr>
                                <m:chr m:val="∑"/>
                                <m:supHide m:val="on"/>
                                <m:ctrlPr>
                                  <a:rPr lang="en-US" sz="1100" b="0" i="1" dirty="0" smtClean="0">
                                    <a:solidFill>
                                      <a:schemeClr val="bg1">
                                        <a:lumMod val="65000"/>
                                      </a:schemeClr>
                                    </a:solidFill>
                                    <a:latin typeface="Cambria Math" panose="02040503050406030204" pitchFamily="18" charset="0"/>
                                  </a:rPr>
                                </m:ctrlPr>
                              </m:naryPr>
                              <m:sub>
                                <m:r>
                                  <m:rPr>
                                    <m:brk m:alnAt="7"/>
                                  </m:rPr>
                                  <a:rPr lang="en-US" sz="1100" b="0" i="1" dirty="0" smtClean="0">
                                    <a:solidFill>
                                      <a:schemeClr val="bg1">
                                        <a:lumMod val="65000"/>
                                      </a:schemeClr>
                                    </a:solidFill>
                                    <a:latin typeface="Cambria Math" panose="02040503050406030204" pitchFamily="18" charset="0"/>
                                  </a:rPr>
                                  <m:t>𝑖</m:t>
                                </m:r>
                              </m:sub>
                              <m:sup/>
                              <m:e>
                                <m:sSub>
                                  <m:sSubPr>
                                    <m:ctrlPr>
                                      <a:rPr lang="en-US" sz="1100" b="0" i="1" dirty="0" smtClean="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𝑐</m:t>
                                    </m:r>
                                  </m:e>
                                  <m:sub>
                                    <m:r>
                                      <a:rPr lang="en-US" sz="1100" b="0" i="1" dirty="0" smtClean="0">
                                        <a:solidFill>
                                          <a:schemeClr val="bg1">
                                            <a:lumMod val="65000"/>
                                          </a:schemeClr>
                                        </a:solidFill>
                                        <a:latin typeface="Cambria Math" panose="02040503050406030204" pitchFamily="18" charset="0"/>
                                      </a:rPr>
                                      <m:t>0</m:t>
                                    </m:r>
                                  </m:sub>
                                </m:sSub>
                                <m:sSub>
                                  <m:sSubPr>
                                    <m:ctrlPr>
                                      <a:rPr lang="en-US" sz="1100" b="0" i="1" dirty="0" smtClean="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𝑟</m:t>
                                    </m:r>
                                  </m:e>
                                  <m:sub>
                                    <m:r>
                                      <a:rPr lang="en-US" sz="1100" b="0" i="1" dirty="0" smtClean="0">
                                        <a:solidFill>
                                          <a:schemeClr val="bg1">
                                            <a:lumMod val="65000"/>
                                          </a:schemeClr>
                                        </a:solidFill>
                                        <a:latin typeface="Cambria Math" panose="02040503050406030204" pitchFamily="18" charset="0"/>
                                      </a:rPr>
                                      <m:t>𝑖</m:t>
                                    </m:r>
                                  </m:sub>
                                </m:sSub>
                              </m:e>
                            </m:nary>
                            <m:nary>
                              <m:naryPr>
                                <m:chr m:val="∑"/>
                                <m:supHide m:val="on"/>
                                <m:ctrlPr>
                                  <a:rPr lang="en-US" sz="1100" b="0" i="1" dirty="0" smtClean="0">
                                    <a:solidFill>
                                      <a:schemeClr val="bg1">
                                        <a:lumMod val="65000"/>
                                      </a:schemeClr>
                                    </a:solidFill>
                                    <a:latin typeface="Cambria Math" panose="02040503050406030204" pitchFamily="18" charset="0"/>
                                  </a:rPr>
                                </m:ctrlPr>
                              </m:naryPr>
                              <m:sub>
                                <m:r>
                                  <m:rPr>
                                    <m:brk m:alnAt="7"/>
                                  </m:rPr>
                                  <a:rPr lang="en-US" sz="1100" b="0" i="1" dirty="0" smtClean="0">
                                    <a:solidFill>
                                      <a:schemeClr val="bg1">
                                        <a:lumMod val="65000"/>
                                      </a:schemeClr>
                                    </a:solidFill>
                                    <a:latin typeface="Cambria Math" panose="02040503050406030204" pitchFamily="18" charset="0"/>
                                  </a:rPr>
                                  <m:t>𝑖</m:t>
                                </m:r>
                              </m:sub>
                              <m:sup/>
                              <m:e>
                                <m:sSub>
                                  <m:sSubPr>
                                    <m:ctrlPr>
                                      <a:rPr lang="en-US" sz="1100" b="0" i="1" dirty="0" smtClean="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𝑐</m:t>
                                    </m:r>
                                  </m:e>
                                  <m:sub>
                                    <m:r>
                                      <a:rPr lang="en-US" sz="1100" b="0" i="1" dirty="0" smtClean="0">
                                        <a:solidFill>
                                          <a:schemeClr val="bg1">
                                            <a:lumMod val="65000"/>
                                          </a:schemeClr>
                                        </a:solidFill>
                                        <a:latin typeface="Cambria Math" panose="02040503050406030204" pitchFamily="18" charset="0"/>
                                      </a:rPr>
                                      <m:t>1</m:t>
                                    </m:r>
                                  </m:sub>
                                </m:sSub>
                                <m:sSub>
                                  <m:sSubPr>
                                    <m:ctrlPr>
                                      <a:rPr lang="en-US" sz="1100" b="0" i="1" dirty="0" smtClean="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𝑟</m:t>
                                    </m:r>
                                  </m:e>
                                  <m:sub>
                                    <m:r>
                                      <a:rPr lang="en-US" sz="1100" b="0" i="1" dirty="0" smtClean="0">
                                        <a:solidFill>
                                          <a:schemeClr val="bg1">
                                            <a:lumMod val="65000"/>
                                          </a:schemeClr>
                                        </a:solidFill>
                                        <a:latin typeface="Cambria Math" panose="02040503050406030204" pitchFamily="18" charset="0"/>
                                      </a:rPr>
                                      <m:t>𝑖</m:t>
                                    </m:r>
                                  </m:sub>
                                </m:sSub>
                              </m:e>
                            </m:nary>
                          </m:e>
                        </m:d>
                        <m:r>
                          <a:rPr lang="en-US" sz="1100" b="0" i="1" dirty="0" smtClean="0">
                            <a:solidFill>
                              <a:schemeClr val="bg1">
                                <a:lumMod val="65000"/>
                              </a:schemeClr>
                            </a:solidFill>
                            <a:latin typeface="Cambria Math" panose="02040503050406030204" pitchFamily="18" charset="0"/>
                            <a:ea typeface="Cambria Math" panose="02040503050406030204" pitchFamily="18" charset="0"/>
                          </a:rPr>
                          <m:t>=</m:t>
                        </m:r>
                        <m:d>
                          <m:dPr>
                            <m:ctrlPr>
                              <a:rPr lang="en-US" sz="1100" b="0" i="1" dirty="0" smtClean="0">
                                <a:solidFill>
                                  <a:schemeClr val="bg1">
                                    <a:lumMod val="65000"/>
                                  </a:schemeClr>
                                </a:solidFill>
                                <a:latin typeface="Cambria Math" panose="02040503050406030204" pitchFamily="18" charset="0"/>
                                <a:ea typeface="Cambria Math" panose="02040503050406030204" pitchFamily="18" charset="0"/>
                              </a:rPr>
                            </m:ctrlPr>
                          </m:dPr>
                          <m:e>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r>
                                  <a:rPr lang="en-US" sz="1100" i="1" dirty="0">
                                    <a:solidFill>
                                      <a:schemeClr val="bg1">
                                        <a:lumMod val="65000"/>
                                      </a:schemeClr>
                                    </a:solidFill>
                                    <a:latin typeface="Cambria Math" panose="02040503050406030204" pitchFamily="18" charset="0"/>
                                    <a:ea typeface="Cambria Math" panose="02040503050406030204" pitchFamily="18" charset="0"/>
                                  </a:rPr>
                                  <m:t>𝐶</m:t>
                                </m:r>
                              </m:e>
                              <m:sub>
                                <m:r>
                                  <a:rPr lang="en-US" sz="1100" i="1" dirty="0">
                                    <a:solidFill>
                                      <a:schemeClr val="bg1">
                                        <a:lumMod val="65000"/>
                                      </a:schemeClr>
                                    </a:solidFill>
                                    <a:latin typeface="Cambria Math" panose="02040503050406030204" pitchFamily="18" charset="0"/>
                                    <a:ea typeface="Cambria Math" panose="02040503050406030204" pitchFamily="18" charset="0"/>
                                  </a:rPr>
                                  <m:t>0</m:t>
                                </m:r>
                              </m:sub>
                            </m:sSub>
                            <m:r>
                              <a:rPr lang="en-US" sz="1100" i="1" dirty="0">
                                <a:solidFill>
                                  <a:schemeClr val="bg1">
                                    <a:lumMod val="65000"/>
                                  </a:schemeClr>
                                </a:solidFill>
                                <a:latin typeface="Cambria Math" panose="02040503050406030204" pitchFamily="18" charset="0"/>
                                <a:ea typeface="Cambria Math" panose="02040503050406030204" pitchFamily="18" charset="0"/>
                              </a:rPr>
                              <m:t>,</m:t>
                            </m:r>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r>
                                  <a:rPr lang="en-US" sz="1100" i="1" dirty="0">
                                    <a:solidFill>
                                      <a:schemeClr val="bg1">
                                        <a:lumMod val="65000"/>
                                      </a:schemeClr>
                                    </a:solidFill>
                                    <a:latin typeface="Cambria Math" panose="02040503050406030204" pitchFamily="18" charset="0"/>
                                    <a:ea typeface="Cambria Math" panose="02040503050406030204" pitchFamily="18" charset="0"/>
                                  </a:rPr>
                                  <m:t>𝐶</m:t>
                                </m:r>
                              </m:e>
                              <m:sub>
                                <m:r>
                                  <a:rPr lang="en-US" sz="1100" i="1" dirty="0">
                                    <a:solidFill>
                                      <a:schemeClr val="bg1">
                                        <a:lumMod val="65000"/>
                                      </a:schemeClr>
                                    </a:solidFill>
                                    <a:latin typeface="Cambria Math" panose="02040503050406030204" pitchFamily="18" charset="0"/>
                                    <a:ea typeface="Cambria Math" panose="02040503050406030204" pitchFamily="18" charset="0"/>
                                  </a:rPr>
                                  <m:t>1</m:t>
                                </m:r>
                              </m:sub>
                            </m:sSub>
                          </m:e>
                        </m:d>
                      </m:oMath>
                    </m:oMathPara>
                  </a14:m>
                  <a:endParaRPr lang="en-US" sz="1100" dirty="0">
                    <a:solidFill>
                      <a:schemeClr val="bg1">
                        <a:lumMod val="65000"/>
                      </a:schemeClr>
                    </a:solidFill>
                  </a:endParaRPr>
                </a:p>
              </p:txBody>
            </p:sp>
          </mc:Choice>
          <mc:Fallback xmlns="">
            <p:sp>
              <p:nvSpPr>
                <p:cNvPr id="18" name="TextBox 17">
                  <a:extLst>
                    <a:ext uri="{FF2B5EF4-FFF2-40B4-BE49-F238E27FC236}">
                      <a16:creationId xmlns:a16="http://schemas.microsoft.com/office/drawing/2014/main" id="{3FA3FE96-FBFF-482F-B43E-40B27BE3479A}"/>
                    </a:ext>
                  </a:extLst>
                </p:cNvPr>
                <p:cNvSpPr txBox="1">
                  <a:spLocks noRot="1" noChangeAspect="1" noMove="1" noResize="1" noEditPoints="1" noAdjustHandles="1" noChangeArrowheads="1" noChangeShapeType="1" noTextEdit="1"/>
                </p:cNvSpPr>
                <p:nvPr/>
              </p:nvSpPr>
              <p:spPr>
                <a:xfrm>
                  <a:off x="8992376" y="4829508"/>
                  <a:ext cx="3029086" cy="475643"/>
                </a:xfrm>
                <a:prstGeom prst="rect">
                  <a:avLst/>
                </a:prstGeom>
                <a:blipFill>
                  <a:blip r:embed="rId32"/>
                  <a:stretch>
                    <a:fillRect t="-116667" b="-179487"/>
                  </a:stretch>
                </a:blipFill>
              </p:spPr>
              <p:txBody>
                <a:bodyPr/>
                <a:lstStyle/>
                <a:p>
                  <a:r>
                    <a:rPr lang="en-US">
                      <a:noFill/>
                    </a:rPr>
                    <a:t> </a:t>
                  </a:r>
                </a:p>
              </p:txBody>
            </p:sp>
          </mc:Fallback>
        </mc:AlternateContent>
      </p:grpSp>
      <p:grpSp>
        <p:nvGrpSpPr>
          <p:cNvPr id="75" name="Группа 74">
            <a:extLst>
              <a:ext uri="{FF2B5EF4-FFF2-40B4-BE49-F238E27FC236}">
                <a16:creationId xmlns:a16="http://schemas.microsoft.com/office/drawing/2014/main" id="{E55CFE4E-7B5D-4463-9CB4-44B1A3BB0BEC}"/>
              </a:ext>
            </a:extLst>
          </p:cNvPr>
          <p:cNvGrpSpPr/>
          <p:nvPr/>
        </p:nvGrpSpPr>
        <p:grpSpPr>
          <a:xfrm>
            <a:off x="310509" y="4113297"/>
            <a:ext cx="6343995" cy="2553742"/>
            <a:chOff x="310509" y="4113297"/>
            <a:chExt cx="6343995" cy="2553742"/>
          </a:xfrm>
        </p:grpSpPr>
        <p:grpSp>
          <p:nvGrpSpPr>
            <p:cNvPr id="29" name="Группа 28">
              <a:extLst>
                <a:ext uri="{FF2B5EF4-FFF2-40B4-BE49-F238E27FC236}">
                  <a16:creationId xmlns:a16="http://schemas.microsoft.com/office/drawing/2014/main" id="{4EB23366-5A55-486E-9A01-A45FFA97F346}"/>
                </a:ext>
              </a:extLst>
            </p:cNvPr>
            <p:cNvGrpSpPr/>
            <p:nvPr/>
          </p:nvGrpSpPr>
          <p:grpSpPr>
            <a:xfrm>
              <a:off x="4656595" y="4113297"/>
              <a:ext cx="1997909" cy="986013"/>
              <a:chOff x="2127006" y="4113297"/>
              <a:chExt cx="1997909" cy="986013"/>
            </a:xfrm>
          </p:grpSpPr>
          <mc:AlternateContent xmlns:mc="http://schemas.openxmlformats.org/markup-compatibility/2006" xmlns:a14="http://schemas.microsoft.com/office/drawing/2010/main">
            <mc:Choice Requires="a14">
              <p:sp>
                <p:nvSpPr>
                  <p:cNvPr id="272" name="TextBox 271">
                    <a:extLst>
                      <a:ext uri="{FF2B5EF4-FFF2-40B4-BE49-F238E27FC236}">
                        <a16:creationId xmlns:a16="http://schemas.microsoft.com/office/drawing/2014/main" id="{26174EDC-0663-4821-A69C-EF73B6DEF4A2}"/>
                      </a:ext>
                    </a:extLst>
                  </p:cNvPr>
                  <p:cNvSpPr txBox="1"/>
                  <p:nvPr/>
                </p:nvSpPr>
                <p:spPr>
                  <a:xfrm>
                    <a:off x="2196516" y="4822311"/>
                    <a:ext cx="1589784" cy="276999"/>
                  </a:xfrm>
                  <a:prstGeom prst="rect">
                    <a:avLst/>
                  </a:prstGeom>
                  <a:noFill/>
                </p:spPr>
                <p:txBody>
                  <a:bodyPr wrap="square">
                    <a:spAutoFit/>
                  </a:bodyPr>
                  <a:lstStyle/>
                  <a:p>
                    <a:r>
                      <a:rPr lang="en-US" sz="1200" b="1" dirty="0"/>
                      <a:t>7. </a:t>
                    </a:r>
                    <a:r>
                      <a:rPr lang="en-US" sz="1200" i="1" dirty="0" err="1"/>
                      <a:t>FV.SH.Dec</a:t>
                    </a:r>
                    <a:r>
                      <a:rPr lang="en-US" sz="1200" i="1" dirty="0"/>
                      <a:t>(</a:t>
                    </a:r>
                    <a:r>
                      <a:rPr lang="en-US" sz="1200" i="1" dirty="0" err="1"/>
                      <a:t>sk</a:t>
                    </a:r>
                    <a:r>
                      <a:rPr lang="en-US" sz="1200" i="1" dirty="0"/>
                      <a:t>, C(</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2</m:t>
                            </m:r>
                          </m:sub>
                        </m:sSub>
                      </m:oMath>
                    </a14:m>
                    <a:r>
                      <a:rPr lang="en-US" sz="1200" i="1" dirty="0"/>
                      <a:t>) </a:t>
                    </a:r>
                    <a:endParaRPr lang="en-US" sz="1200" i="1" baseline="30000" dirty="0"/>
                  </a:p>
                </p:txBody>
              </p:sp>
            </mc:Choice>
            <mc:Fallback xmlns="">
              <p:sp>
                <p:nvSpPr>
                  <p:cNvPr id="272" name="TextBox 271">
                    <a:extLst>
                      <a:ext uri="{FF2B5EF4-FFF2-40B4-BE49-F238E27FC236}">
                        <a16:creationId xmlns:a16="http://schemas.microsoft.com/office/drawing/2014/main" id="{26174EDC-0663-4821-A69C-EF73B6DEF4A2}"/>
                      </a:ext>
                    </a:extLst>
                  </p:cNvPr>
                  <p:cNvSpPr txBox="1">
                    <a:spLocks noRot="1" noChangeAspect="1" noMove="1" noResize="1" noEditPoints="1" noAdjustHandles="1" noChangeArrowheads="1" noChangeShapeType="1" noTextEdit="1"/>
                  </p:cNvSpPr>
                  <p:nvPr/>
                </p:nvSpPr>
                <p:spPr>
                  <a:xfrm>
                    <a:off x="2196516" y="4822311"/>
                    <a:ext cx="1589784" cy="276999"/>
                  </a:xfrm>
                  <a:prstGeom prst="rect">
                    <a:avLst/>
                  </a:prstGeom>
                  <a:blipFill>
                    <a:blip r:embed="rId33"/>
                    <a:stretch>
                      <a:fillRect b="-15217"/>
                    </a:stretch>
                  </a:blipFill>
                </p:spPr>
                <p:txBody>
                  <a:bodyPr/>
                  <a:lstStyle/>
                  <a:p>
                    <a:r>
                      <a:rPr lang="en-US">
                        <a:noFill/>
                      </a:rPr>
                      <a:t> </a:t>
                    </a:r>
                  </a:p>
                </p:txBody>
              </p:sp>
            </mc:Fallback>
          </mc:AlternateContent>
          <p:grpSp>
            <p:nvGrpSpPr>
              <p:cNvPr id="28" name="Группа 27">
                <a:extLst>
                  <a:ext uri="{FF2B5EF4-FFF2-40B4-BE49-F238E27FC236}">
                    <a16:creationId xmlns:a16="http://schemas.microsoft.com/office/drawing/2014/main" id="{BA708984-E5B3-4CC4-8EAB-BA4189ADB849}"/>
                  </a:ext>
                </a:extLst>
              </p:cNvPr>
              <p:cNvGrpSpPr/>
              <p:nvPr/>
            </p:nvGrpSpPr>
            <p:grpSpPr>
              <a:xfrm>
                <a:off x="2127006" y="4113297"/>
                <a:ext cx="1997909" cy="579017"/>
                <a:chOff x="2127006" y="4113297"/>
                <a:chExt cx="1997909" cy="579017"/>
              </a:xfrm>
            </p:grpSpPr>
            <p:cxnSp>
              <p:nvCxnSpPr>
                <p:cNvPr id="216" name="Straight Arrow Connector 215">
                  <a:extLst>
                    <a:ext uri="{FF2B5EF4-FFF2-40B4-BE49-F238E27FC236}">
                      <a16:creationId xmlns:a16="http://schemas.microsoft.com/office/drawing/2014/main" id="{48E7B809-4327-4A4D-B8D7-D1885194AF05}"/>
                    </a:ext>
                  </a:extLst>
                </p:cNvPr>
                <p:cNvCxnSpPr>
                  <a:cxnSpLocks/>
                </p:cNvCxnSpPr>
                <p:nvPr/>
              </p:nvCxnSpPr>
              <p:spPr>
                <a:xfrm flipH="1">
                  <a:off x="2610494" y="4516418"/>
                  <a:ext cx="34502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21" name="Группа 20">
                  <a:extLst>
                    <a:ext uri="{FF2B5EF4-FFF2-40B4-BE49-F238E27FC236}">
                      <a16:creationId xmlns:a16="http://schemas.microsoft.com/office/drawing/2014/main" id="{31758D7D-F3DC-4E15-975D-8B04932DACD6}"/>
                    </a:ext>
                  </a:extLst>
                </p:cNvPr>
                <p:cNvGrpSpPr/>
                <p:nvPr/>
              </p:nvGrpSpPr>
              <p:grpSpPr>
                <a:xfrm>
                  <a:off x="2127006" y="4113297"/>
                  <a:ext cx="747695" cy="579017"/>
                  <a:chOff x="2127006" y="4113297"/>
                  <a:chExt cx="747695" cy="579017"/>
                </a:xfrm>
              </p:grpSpPr>
              <p:grpSp>
                <p:nvGrpSpPr>
                  <p:cNvPr id="219" name="Group 218">
                    <a:extLst>
                      <a:ext uri="{FF2B5EF4-FFF2-40B4-BE49-F238E27FC236}">
                        <a16:creationId xmlns:a16="http://schemas.microsoft.com/office/drawing/2014/main" id="{DD974D20-5BC4-476D-BE1D-0F102DDDF4C1}"/>
                      </a:ext>
                    </a:extLst>
                  </p:cNvPr>
                  <p:cNvGrpSpPr/>
                  <p:nvPr/>
                </p:nvGrpSpPr>
                <p:grpSpPr>
                  <a:xfrm>
                    <a:off x="2127006" y="4346268"/>
                    <a:ext cx="454428" cy="346046"/>
                    <a:chOff x="9525127" y="4397938"/>
                    <a:chExt cx="454428" cy="346046"/>
                  </a:xfrm>
                </p:grpSpPr>
                <mc:AlternateContent xmlns:mc="http://schemas.openxmlformats.org/markup-compatibility/2006" xmlns:a14="http://schemas.microsoft.com/office/drawing/2010/main">
                  <mc:Choice Requires="a14">
                    <p:sp>
                      <p:nvSpPr>
                        <p:cNvPr id="220" name="TextBox 219">
                          <a:extLst>
                            <a:ext uri="{FF2B5EF4-FFF2-40B4-BE49-F238E27FC236}">
                              <a16:creationId xmlns:a16="http://schemas.microsoft.com/office/drawing/2014/main" id="{BFC38061-12A0-4A61-BAE1-D46F0CCC9BE7}"/>
                            </a:ext>
                          </a:extLst>
                        </p:cNvPr>
                        <p:cNvSpPr txBox="1"/>
                        <p:nvPr/>
                      </p:nvSpPr>
                      <p:spPr>
                        <a:xfrm>
                          <a:off x="9525127" y="4425405"/>
                          <a:ext cx="45442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2</m:t>
                                    </m:r>
                                  </m:sub>
                                </m:sSub>
                              </m:oMath>
                            </m:oMathPara>
                          </a14:m>
                          <a:endParaRPr lang="en-US" sz="1200" dirty="0"/>
                        </a:p>
                      </p:txBody>
                    </p:sp>
                  </mc:Choice>
                  <mc:Fallback xmlns="">
                    <p:sp>
                      <p:nvSpPr>
                        <p:cNvPr id="220" name="TextBox 219">
                          <a:extLst>
                            <a:ext uri="{FF2B5EF4-FFF2-40B4-BE49-F238E27FC236}">
                              <a16:creationId xmlns:a16="http://schemas.microsoft.com/office/drawing/2014/main" id="{BFC38061-12A0-4A61-BAE1-D46F0CCC9BE7}"/>
                            </a:ext>
                          </a:extLst>
                        </p:cNvPr>
                        <p:cNvSpPr txBox="1">
                          <a:spLocks noRot="1" noChangeAspect="1" noMove="1" noResize="1" noEditPoints="1" noAdjustHandles="1" noChangeArrowheads="1" noChangeShapeType="1" noTextEdit="1"/>
                        </p:cNvSpPr>
                        <p:nvPr/>
                      </p:nvSpPr>
                      <p:spPr>
                        <a:xfrm>
                          <a:off x="9525127" y="4425405"/>
                          <a:ext cx="454428" cy="276999"/>
                        </a:xfrm>
                        <a:prstGeom prst="rect">
                          <a:avLst/>
                        </a:prstGeom>
                        <a:blipFill>
                          <a:blip r:embed="rId34"/>
                          <a:stretch>
                            <a:fillRect/>
                          </a:stretch>
                        </a:blipFill>
                      </p:spPr>
                      <p:txBody>
                        <a:bodyPr/>
                        <a:lstStyle/>
                        <a:p>
                          <a:r>
                            <a:rPr lang="en-US">
                              <a:noFill/>
                            </a:rPr>
                            <a:t> </a:t>
                          </a:r>
                        </a:p>
                      </p:txBody>
                    </p:sp>
                  </mc:Fallback>
                </mc:AlternateContent>
                <p:sp>
                  <p:nvSpPr>
                    <p:cNvPr id="221" name="Rectangle 220">
                      <a:extLst>
                        <a:ext uri="{FF2B5EF4-FFF2-40B4-BE49-F238E27FC236}">
                          <a16:creationId xmlns:a16="http://schemas.microsoft.com/office/drawing/2014/main" id="{B014AC15-5BB2-4BA1-9D3F-B1EAC4E9C61B}"/>
                        </a:ext>
                      </a:extLst>
                    </p:cNvPr>
                    <p:cNvSpPr/>
                    <p:nvPr/>
                  </p:nvSpPr>
                  <p:spPr>
                    <a:xfrm>
                      <a:off x="9541117" y="4397938"/>
                      <a:ext cx="385893" cy="346046"/>
                    </a:xfrm>
                    <a:prstGeom prst="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B87FDA56-473D-4AF9-8909-7ACB8632028B}"/>
                          </a:ext>
                        </a:extLst>
                      </p:cNvPr>
                      <p:cNvSpPr txBox="1"/>
                      <p:nvPr/>
                    </p:nvSpPr>
                    <p:spPr>
                      <a:xfrm>
                        <a:off x="2483739" y="4113297"/>
                        <a:ext cx="390962" cy="2818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200" i="1" dirty="0" smtClean="0">
                                      <a:latin typeface="Cambria Math" panose="02040503050406030204" pitchFamily="18" charset="0"/>
                                    </a:rPr>
                                  </m:ctrlPr>
                                </m:sSubSupPr>
                                <m:e>
                                  <m:r>
                                    <a:rPr lang="en-US" sz="1200" b="0" i="1" dirty="0" smtClean="0">
                                      <a:latin typeface="Cambria Math" panose="02040503050406030204" pitchFamily="18" charset="0"/>
                                    </a:rPr>
                                    <m:t>𝑅</m:t>
                                  </m:r>
                                </m:e>
                                <m:sub>
                                  <m:r>
                                    <a:rPr lang="en-US" sz="1200" b="0" i="1" dirty="0" smtClean="0">
                                      <a:latin typeface="Cambria Math" panose="02040503050406030204" pitchFamily="18" charset="0"/>
                                    </a:rPr>
                                    <m:t>𝑡</m:t>
                                  </m:r>
                                </m:sub>
                                <m:sup>
                                  <m:r>
                                    <a:rPr lang="en-US" sz="1200" b="0" i="1" dirty="0" smtClean="0">
                                      <a:latin typeface="Cambria Math" panose="02040503050406030204" pitchFamily="18" charset="0"/>
                                    </a:rPr>
                                    <m:t>𝑛</m:t>
                                  </m:r>
                                </m:sup>
                              </m:sSubSup>
                            </m:oMath>
                          </m:oMathPara>
                        </a14:m>
                        <a:endParaRPr lang="en-US" sz="1200" dirty="0"/>
                      </a:p>
                    </p:txBody>
                  </p:sp>
                </mc:Choice>
                <mc:Fallback xmlns="">
                  <p:sp>
                    <p:nvSpPr>
                      <p:cNvPr id="180" name="TextBox 179">
                        <a:extLst>
                          <a:ext uri="{FF2B5EF4-FFF2-40B4-BE49-F238E27FC236}">
                            <a16:creationId xmlns:a16="http://schemas.microsoft.com/office/drawing/2014/main" id="{B87FDA56-473D-4AF9-8909-7ACB8632028B}"/>
                          </a:ext>
                        </a:extLst>
                      </p:cNvPr>
                      <p:cNvSpPr txBox="1">
                        <a:spLocks noRot="1" noChangeAspect="1" noMove="1" noResize="1" noEditPoints="1" noAdjustHandles="1" noChangeArrowheads="1" noChangeShapeType="1" noTextEdit="1"/>
                      </p:cNvSpPr>
                      <p:nvPr/>
                    </p:nvSpPr>
                    <p:spPr>
                      <a:xfrm>
                        <a:off x="2483739" y="4113297"/>
                        <a:ext cx="390962" cy="281872"/>
                      </a:xfrm>
                      <a:prstGeom prst="rect">
                        <a:avLst/>
                      </a:prstGeom>
                      <a:blipFill>
                        <a:blip r:embed="rId35"/>
                        <a:stretch>
                          <a:fillRect/>
                        </a:stretch>
                      </a:blipFill>
                    </p:spPr>
                    <p:txBody>
                      <a:bodyPr/>
                      <a:lstStyle/>
                      <a:p>
                        <a:r>
                          <a:rPr lang="en-US">
                            <a:noFill/>
                          </a:rPr>
                          <a:t> </a:t>
                        </a:r>
                      </a:p>
                    </p:txBody>
                  </p:sp>
                </mc:Fallback>
              </mc:AlternateContent>
            </p:grpSp>
            <p:grpSp>
              <p:nvGrpSpPr>
                <p:cNvPr id="27" name="Группа 26">
                  <a:extLst>
                    <a:ext uri="{FF2B5EF4-FFF2-40B4-BE49-F238E27FC236}">
                      <a16:creationId xmlns:a16="http://schemas.microsoft.com/office/drawing/2014/main" id="{8E2FBE22-D939-41BF-BA05-A9460D860FFC}"/>
                    </a:ext>
                  </a:extLst>
                </p:cNvPr>
                <p:cNvGrpSpPr/>
                <p:nvPr/>
              </p:nvGrpSpPr>
              <p:grpSpPr>
                <a:xfrm>
                  <a:off x="2986315" y="4122609"/>
                  <a:ext cx="1138600" cy="566832"/>
                  <a:chOff x="2986315" y="4122609"/>
                  <a:chExt cx="1138600" cy="566832"/>
                </a:xfrm>
              </p:grpSpPr>
              <p:grpSp>
                <p:nvGrpSpPr>
                  <p:cNvPr id="26" name="Группа 25">
                    <a:extLst>
                      <a:ext uri="{FF2B5EF4-FFF2-40B4-BE49-F238E27FC236}">
                        <a16:creationId xmlns:a16="http://schemas.microsoft.com/office/drawing/2014/main" id="{07652CDC-ADBB-4A0E-930A-148D39F67D47}"/>
                      </a:ext>
                    </a:extLst>
                  </p:cNvPr>
                  <p:cNvGrpSpPr/>
                  <p:nvPr/>
                </p:nvGrpSpPr>
                <p:grpSpPr>
                  <a:xfrm>
                    <a:off x="2986315" y="4343395"/>
                    <a:ext cx="614041" cy="346046"/>
                    <a:chOff x="2986315" y="4343395"/>
                    <a:chExt cx="614041" cy="346046"/>
                  </a:xfrm>
                </p:grpSpPr>
                <p:sp>
                  <p:nvSpPr>
                    <p:cNvPr id="213" name="Rectangle 212">
                      <a:extLst>
                        <a:ext uri="{FF2B5EF4-FFF2-40B4-BE49-F238E27FC236}">
                          <a16:creationId xmlns:a16="http://schemas.microsoft.com/office/drawing/2014/main" id="{239A56C7-78ED-4033-B906-91AD967B36AC}"/>
                        </a:ext>
                      </a:extLst>
                    </p:cNvPr>
                    <p:cNvSpPr/>
                    <p:nvPr/>
                  </p:nvSpPr>
                  <p:spPr>
                    <a:xfrm>
                      <a:off x="3026777" y="4343395"/>
                      <a:ext cx="385893" cy="34604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2C0966F1-0366-433F-8E1A-5514114D29A8}"/>
                            </a:ext>
                          </a:extLst>
                        </p:cNvPr>
                        <p:cNvSpPr txBox="1"/>
                        <p:nvPr/>
                      </p:nvSpPr>
                      <p:spPr>
                        <a:xfrm>
                          <a:off x="2986315" y="4370807"/>
                          <a:ext cx="614041" cy="276999"/>
                        </a:xfrm>
                        <a:prstGeom prst="rect">
                          <a:avLst/>
                        </a:prstGeom>
                        <a:noFill/>
                      </p:spPr>
                      <p:txBody>
                        <a:bodyPr wrap="square">
                          <a:spAutoFit/>
                        </a:bodyPr>
                        <a:lstStyle/>
                        <a:p>
                          <a:r>
                            <a:rPr lang="en-US" sz="1200" i="1" dirty="0"/>
                            <a:t>C(</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2</m:t>
                                  </m:r>
                                </m:sub>
                              </m:sSub>
                            </m:oMath>
                          </a14:m>
                          <a:r>
                            <a:rPr lang="en-US" sz="1200" i="1" dirty="0"/>
                            <a:t>)</a:t>
                          </a:r>
                        </a:p>
                      </p:txBody>
                    </p:sp>
                  </mc:Choice>
                  <mc:Fallback xmlns="">
                    <p:sp>
                      <p:nvSpPr>
                        <p:cNvPr id="248" name="TextBox 247">
                          <a:extLst>
                            <a:ext uri="{FF2B5EF4-FFF2-40B4-BE49-F238E27FC236}">
                              <a16:creationId xmlns:a16="http://schemas.microsoft.com/office/drawing/2014/main" id="{2C0966F1-0366-433F-8E1A-5514114D29A8}"/>
                            </a:ext>
                          </a:extLst>
                        </p:cNvPr>
                        <p:cNvSpPr txBox="1">
                          <a:spLocks noRot="1" noChangeAspect="1" noMove="1" noResize="1" noEditPoints="1" noAdjustHandles="1" noChangeArrowheads="1" noChangeShapeType="1" noTextEdit="1"/>
                        </p:cNvSpPr>
                        <p:nvPr/>
                      </p:nvSpPr>
                      <p:spPr>
                        <a:xfrm>
                          <a:off x="2986315" y="4370807"/>
                          <a:ext cx="614041" cy="276999"/>
                        </a:xfrm>
                        <a:prstGeom prst="rect">
                          <a:avLst/>
                        </a:prstGeom>
                        <a:blipFill>
                          <a:blip r:embed="rId36"/>
                          <a:stretch>
                            <a:fillRect l="-990" t="-2222" b="-1777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2C1AFCE3-0AE5-489E-85BD-12F0890DE55C}"/>
                          </a:ext>
                        </a:extLst>
                      </p:cNvPr>
                      <p:cNvSpPr txBox="1"/>
                      <p:nvPr/>
                    </p:nvSpPr>
                    <p:spPr>
                      <a:xfrm>
                        <a:off x="3394818" y="4122609"/>
                        <a:ext cx="730097" cy="2912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200" i="1" dirty="0" smtClean="0">
                                      <a:latin typeface="Cambria Math" panose="02040503050406030204" pitchFamily="18" charset="0"/>
                                    </a:rPr>
                                  </m:ctrlPr>
                                </m:sSubSupPr>
                                <m:e>
                                  <m:r>
                                    <a:rPr lang="en-US" sz="1200" b="0" i="1" dirty="0" smtClean="0">
                                      <a:latin typeface="Cambria Math" panose="02040503050406030204" pitchFamily="18" charset="0"/>
                                    </a:rPr>
                                    <m:t>𝑅</m:t>
                                  </m:r>
                                </m:e>
                                <m:sub>
                                  <m:r>
                                    <a:rPr lang="en-US" sz="1200" b="0" i="1" dirty="0" smtClean="0">
                                      <a:latin typeface="Cambria Math" panose="02040503050406030204" pitchFamily="18" charset="0"/>
                                    </a:rPr>
                                    <m:t>𝑞</m:t>
                                  </m:r>
                                </m:sub>
                                <m:sup>
                                  <m:r>
                                    <a:rPr lang="en-US" sz="1200" b="0" i="1" dirty="0" smtClean="0">
                                      <a:latin typeface="Cambria Math" panose="02040503050406030204" pitchFamily="18" charset="0"/>
                                    </a:rPr>
                                    <m:t>𝑛</m:t>
                                  </m:r>
                                </m:sup>
                              </m:sSubSup>
                              <m:r>
                                <a:rPr lang="en-US" sz="1200" i="1" dirty="0" smtClean="0">
                                  <a:latin typeface="Cambria Math" panose="02040503050406030204" pitchFamily="18" charset="0"/>
                                  <a:ea typeface="Cambria Math" panose="02040503050406030204" pitchFamily="18" charset="0"/>
                                </a:rPr>
                                <m:t>×</m:t>
                              </m:r>
                              <m:sSubSup>
                                <m:sSubSupPr>
                                  <m:ctrlPr>
                                    <a:rPr lang="en-US" sz="1200" i="1" dirty="0" smtClean="0">
                                      <a:latin typeface="Cambria Math" panose="02040503050406030204" pitchFamily="18" charset="0"/>
                                      <a:ea typeface="Cambria Math" panose="02040503050406030204" pitchFamily="18" charset="0"/>
                                    </a:rPr>
                                  </m:ctrlPr>
                                </m:sSubSupPr>
                                <m:e>
                                  <m:r>
                                    <a:rPr lang="en-US" sz="1200" b="0" i="1" dirty="0" smtClean="0">
                                      <a:latin typeface="Cambria Math" panose="02040503050406030204" pitchFamily="18" charset="0"/>
                                      <a:ea typeface="Cambria Math" panose="02040503050406030204" pitchFamily="18" charset="0"/>
                                    </a:rPr>
                                    <m:t>𝑅</m:t>
                                  </m:r>
                                </m:e>
                                <m:sub>
                                  <m:r>
                                    <a:rPr lang="en-US" sz="1200" b="0" i="1" dirty="0" smtClean="0">
                                      <a:latin typeface="Cambria Math" panose="02040503050406030204" pitchFamily="18" charset="0"/>
                                      <a:ea typeface="Cambria Math" panose="02040503050406030204" pitchFamily="18" charset="0"/>
                                    </a:rPr>
                                    <m:t>𝑞</m:t>
                                  </m:r>
                                </m:sub>
                                <m:sup>
                                  <m:r>
                                    <a:rPr lang="en-US" sz="1200" b="0" i="1" dirty="0" smtClean="0">
                                      <a:latin typeface="Cambria Math" panose="02040503050406030204" pitchFamily="18" charset="0"/>
                                      <a:ea typeface="Cambria Math" panose="02040503050406030204" pitchFamily="18" charset="0"/>
                                    </a:rPr>
                                    <m:t>𝑛</m:t>
                                  </m:r>
                                </m:sup>
                              </m:sSubSup>
                            </m:oMath>
                          </m:oMathPara>
                        </a14:m>
                        <a:endParaRPr lang="en-US" sz="1200" dirty="0"/>
                      </a:p>
                    </p:txBody>
                  </p:sp>
                </mc:Choice>
                <mc:Fallback xmlns="">
                  <p:sp>
                    <p:nvSpPr>
                      <p:cNvPr id="197" name="TextBox 196">
                        <a:extLst>
                          <a:ext uri="{FF2B5EF4-FFF2-40B4-BE49-F238E27FC236}">
                            <a16:creationId xmlns:a16="http://schemas.microsoft.com/office/drawing/2014/main" id="{2C1AFCE3-0AE5-489E-85BD-12F0890DE55C}"/>
                          </a:ext>
                        </a:extLst>
                      </p:cNvPr>
                      <p:cNvSpPr txBox="1">
                        <a:spLocks noRot="1" noChangeAspect="1" noMove="1" noResize="1" noEditPoints="1" noAdjustHandles="1" noChangeArrowheads="1" noChangeShapeType="1" noTextEdit="1"/>
                      </p:cNvSpPr>
                      <p:nvPr/>
                    </p:nvSpPr>
                    <p:spPr>
                      <a:xfrm>
                        <a:off x="3394818" y="4122609"/>
                        <a:ext cx="730097" cy="291298"/>
                      </a:xfrm>
                      <a:prstGeom prst="rect">
                        <a:avLst/>
                      </a:prstGeom>
                      <a:blipFill>
                        <a:blip r:embed="rId27"/>
                        <a:stretch>
                          <a:fillRect/>
                        </a:stretch>
                      </a:blipFill>
                    </p:spPr>
                    <p:txBody>
                      <a:bodyPr/>
                      <a:lstStyle/>
                      <a:p>
                        <a:r>
                          <a:rPr lang="en-US">
                            <a:noFill/>
                          </a:rPr>
                          <a:t> </a:t>
                        </a:r>
                      </a:p>
                    </p:txBody>
                  </p:sp>
                </mc:Fallback>
              </mc:AlternateContent>
            </p:grpSp>
          </p:grpSp>
        </p:grpSp>
        <mc:AlternateContent xmlns:mc="http://schemas.openxmlformats.org/markup-compatibility/2006" xmlns:a14="http://schemas.microsoft.com/office/drawing/2010/main">
          <mc:Choice Requires="a14">
            <p:sp>
              <p:nvSpPr>
                <p:cNvPr id="202" name="TextBox 201">
                  <a:extLst>
                    <a:ext uri="{FF2B5EF4-FFF2-40B4-BE49-F238E27FC236}">
                      <a16:creationId xmlns:a16="http://schemas.microsoft.com/office/drawing/2014/main" id="{59B75F9E-F4DA-4EB2-BF03-30F4E4408C13}"/>
                    </a:ext>
                  </a:extLst>
                </p:cNvPr>
                <p:cNvSpPr txBox="1"/>
                <p:nvPr/>
              </p:nvSpPr>
              <p:spPr>
                <a:xfrm>
                  <a:off x="310509" y="4525299"/>
                  <a:ext cx="4239047" cy="2141740"/>
                </a:xfrm>
                <a:prstGeom prst="rect">
                  <a:avLst/>
                </a:prstGeom>
                <a:noFill/>
              </p:spPr>
              <p:txBody>
                <a:bodyPr wrap="square" lIns="0" tIns="0" rIns="0" bIns="0" rtlCol="0">
                  <a:spAutoFit/>
                </a:bodyPr>
                <a:lstStyle/>
                <a:p>
                  <a:r>
                    <a:rPr lang="en-US" sz="1100" b="0" i="1" dirty="0">
                      <a:solidFill>
                        <a:schemeClr val="bg1">
                          <a:lumMod val="65000"/>
                        </a:schemeClr>
                      </a:solidFill>
                      <a:latin typeface="Cambria Math" panose="02040503050406030204" pitchFamily="18" charset="0"/>
                      <a:ea typeface="Cambria Math" panose="02040503050406030204" pitchFamily="18" charset="0"/>
                    </a:rPr>
                    <a:t>Evaluate at secret s:</a:t>
                  </a:r>
                </a:p>
                <a:p>
                  <a:pPr/>
                  <a14:m>
                    <m:oMathPara xmlns:m="http://schemas.openxmlformats.org/officeDocument/2006/math">
                      <m:oMathParaPr>
                        <m:jc m:val="centerGroup"/>
                      </m:oMathParaPr>
                      <m:oMath xmlns:m="http://schemas.openxmlformats.org/officeDocument/2006/math">
                        <m:sSub>
                          <m:sSubPr>
                            <m:ctrlPr>
                              <a:rPr lang="en-US" sz="1100" b="0" i="1" dirty="0" smtClean="0">
                                <a:solidFill>
                                  <a:schemeClr val="bg1">
                                    <a:lumMod val="65000"/>
                                  </a:schemeClr>
                                </a:solidFill>
                                <a:latin typeface="Cambria Math" panose="02040503050406030204" pitchFamily="18" charset="0"/>
                                <a:ea typeface="Cambria Math" panose="02040503050406030204" pitchFamily="18" charset="0"/>
                              </a:rPr>
                            </m:ctrlPr>
                          </m:sSubPr>
                          <m:e>
                            <m:d>
                              <m:dPr>
                                <m:begChr m:val="["/>
                                <m:endChr m:val="]"/>
                                <m:ctrlPr>
                                  <a:rPr lang="en-US" sz="1100" i="1" dirty="0">
                                    <a:solidFill>
                                      <a:schemeClr val="bg1">
                                        <a:lumMod val="65000"/>
                                      </a:schemeClr>
                                    </a:solidFill>
                                    <a:latin typeface="Cambria Math" panose="02040503050406030204" pitchFamily="18" charset="0"/>
                                    <a:ea typeface="Cambria Math" panose="02040503050406030204" pitchFamily="18" charset="0"/>
                                  </a:rPr>
                                </m:ctrlPr>
                              </m:dPr>
                              <m:e>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r>
                                      <a:rPr lang="en-US" sz="1100" i="1" dirty="0">
                                        <a:solidFill>
                                          <a:schemeClr val="bg1">
                                            <a:lumMod val="65000"/>
                                          </a:schemeClr>
                                        </a:solidFill>
                                        <a:latin typeface="Cambria Math" panose="02040503050406030204" pitchFamily="18" charset="0"/>
                                        <a:ea typeface="Cambria Math" panose="02040503050406030204" pitchFamily="18" charset="0"/>
                                      </a:rPr>
                                      <m:t>𝐶</m:t>
                                    </m:r>
                                  </m:e>
                                  <m:sub>
                                    <m:r>
                                      <a:rPr lang="en-US" sz="1100" i="1" dirty="0">
                                        <a:solidFill>
                                          <a:schemeClr val="bg1">
                                            <a:lumMod val="65000"/>
                                          </a:schemeClr>
                                        </a:solidFill>
                                        <a:latin typeface="Cambria Math" panose="02040503050406030204" pitchFamily="18" charset="0"/>
                                        <a:ea typeface="Cambria Math" panose="02040503050406030204" pitchFamily="18" charset="0"/>
                                      </a:rPr>
                                      <m:t>0</m:t>
                                    </m:r>
                                  </m:sub>
                                </m:sSub>
                                <m:r>
                                  <a:rPr lang="en-US" sz="1100" b="0" i="1" dirty="0" smtClean="0">
                                    <a:solidFill>
                                      <a:schemeClr val="bg1">
                                        <a:lumMod val="65000"/>
                                      </a:schemeClr>
                                    </a:solidFill>
                                    <a:latin typeface="Cambria Math" panose="02040503050406030204" pitchFamily="18" charset="0"/>
                                    <a:ea typeface="Cambria Math" panose="02040503050406030204" pitchFamily="18" charset="0"/>
                                  </a:rPr>
                                  <m:t>+</m:t>
                                </m:r>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r>
                                      <a:rPr lang="en-US" sz="1100" i="1" dirty="0">
                                        <a:solidFill>
                                          <a:schemeClr val="bg1">
                                            <a:lumMod val="65000"/>
                                          </a:schemeClr>
                                        </a:solidFill>
                                        <a:latin typeface="Cambria Math" panose="02040503050406030204" pitchFamily="18" charset="0"/>
                                        <a:ea typeface="Cambria Math" panose="02040503050406030204" pitchFamily="18" charset="0"/>
                                      </a:rPr>
                                      <m:t>𝐶</m:t>
                                    </m:r>
                                  </m:e>
                                  <m:sub>
                                    <m:r>
                                      <a:rPr lang="en-US" sz="1100" i="1" dirty="0">
                                        <a:solidFill>
                                          <a:schemeClr val="bg1">
                                            <a:lumMod val="65000"/>
                                          </a:schemeClr>
                                        </a:solidFill>
                                        <a:latin typeface="Cambria Math" panose="02040503050406030204" pitchFamily="18" charset="0"/>
                                        <a:ea typeface="Cambria Math" panose="02040503050406030204" pitchFamily="18" charset="0"/>
                                      </a:rPr>
                                      <m:t>1</m:t>
                                    </m:r>
                                    <m:r>
                                      <a:rPr lang="en-US" sz="1100" b="0" i="1" dirty="0" smtClean="0">
                                        <a:solidFill>
                                          <a:schemeClr val="bg1">
                                            <a:lumMod val="65000"/>
                                          </a:schemeClr>
                                        </a:solidFill>
                                        <a:latin typeface="Cambria Math" panose="02040503050406030204" pitchFamily="18" charset="0"/>
                                        <a:ea typeface="Cambria Math" panose="02040503050406030204" pitchFamily="18" charset="0"/>
                                      </a:rPr>
                                      <m:t> </m:t>
                                    </m:r>
                                  </m:sub>
                                </m:sSub>
                                <m:r>
                                  <m:rPr>
                                    <m:nor/>
                                  </m:rPr>
                                  <a:rPr lang="en-US" sz="1100">
                                    <a:solidFill>
                                      <a:schemeClr val="bg1">
                                        <a:lumMod val="65000"/>
                                      </a:schemeClr>
                                    </a:solidFill>
                                  </a:rPr>
                                  <m:t>⋅</m:t>
                                </m:r>
                                <m:r>
                                  <a:rPr lang="en-US" sz="1100" b="0" i="1" smtClean="0">
                                    <a:solidFill>
                                      <a:schemeClr val="bg1">
                                        <a:lumMod val="65000"/>
                                      </a:schemeClr>
                                    </a:solidFill>
                                    <a:latin typeface="Cambria Math" panose="02040503050406030204" pitchFamily="18" charset="0"/>
                                  </a:rPr>
                                  <m:t> </m:t>
                                </m:r>
                                <m:r>
                                  <a:rPr lang="en-US" sz="1100" i="1">
                                    <a:solidFill>
                                      <a:schemeClr val="bg1">
                                        <a:lumMod val="65000"/>
                                      </a:schemeClr>
                                    </a:solidFill>
                                    <a:latin typeface="Cambria Math" panose="02040503050406030204" pitchFamily="18" charset="0"/>
                                  </a:rPr>
                                  <m:t>𝑠</m:t>
                                </m:r>
                              </m:e>
                            </m:d>
                          </m:e>
                          <m:sub>
                            <m:r>
                              <a:rPr lang="en-US" sz="1100" b="0" i="1" dirty="0" smtClean="0">
                                <a:solidFill>
                                  <a:schemeClr val="bg1">
                                    <a:lumMod val="65000"/>
                                  </a:schemeClr>
                                </a:solidFill>
                                <a:latin typeface="Cambria Math" panose="02040503050406030204" pitchFamily="18" charset="0"/>
                                <a:ea typeface="Cambria Math" panose="02040503050406030204" pitchFamily="18" charset="0"/>
                              </a:rPr>
                              <m:t>𝑞</m:t>
                            </m:r>
                          </m:sub>
                        </m:sSub>
                        <m:r>
                          <a:rPr lang="en-US" sz="1100" b="0" i="1" dirty="0" smtClean="0">
                            <a:solidFill>
                              <a:schemeClr val="bg1">
                                <a:lumMod val="65000"/>
                              </a:schemeClr>
                            </a:solidFill>
                            <a:latin typeface="Cambria Math" panose="02040503050406030204" pitchFamily="18" charset="0"/>
                            <a:ea typeface="Cambria Math" panose="02040503050406030204" pitchFamily="18" charset="0"/>
                          </a:rPr>
                          <m:t>=</m:t>
                        </m:r>
                        <m:nary>
                          <m:naryPr>
                            <m:chr m:val="∑"/>
                            <m:ctrlPr>
                              <a:rPr lang="en-US" sz="1100" i="1" dirty="0">
                                <a:solidFill>
                                  <a:schemeClr val="bg1">
                                    <a:lumMod val="65000"/>
                                  </a:schemeClr>
                                </a:solidFill>
                                <a:latin typeface="Cambria Math" panose="02040503050406030204" pitchFamily="18" charset="0"/>
                              </a:rPr>
                            </m:ctrlPr>
                          </m:naryPr>
                          <m:sub>
                            <m:r>
                              <m:rPr>
                                <m:brk m:alnAt="23"/>
                              </m:rPr>
                              <a:rPr lang="en-US" sz="1100" i="1" dirty="0">
                                <a:solidFill>
                                  <a:schemeClr val="bg1">
                                    <a:lumMod val="65000"/>
                                  </a:schemeClr>
                                </a:solidFill>
                                <a:latin typeface="Cambria Math" panose="02040503050406030204" pitchFamily="18" charset="0"/>
                              </a:rPr>
                              <m:t>𝑖</m:t>
                            </m:r>
                            <m:r>
                              <a:rPr lang="en-US" sz="1100" i="1" dirty="0">
                                <a:solidFill>
                                  <a:schemeClr val="bg1">
                                    <a:lumMod val="65000"/>
                                  </a:schemeClr>
                                </a:solidFill>
                                <a:latin typeface="Cambria Math" panose="02040503050406030204" pitchFamily="18" charset="0"/>
                              </a:rPr>
                              <m:t>=0</m:t>
                            </m:r>
                          </m:sub>
                          <m:sup>
                            <m:r>
                              <a:rPr lang="en-US" sz="1100" i="1" dirty="0">
                                <a:solidFill>
                                  <a:schemeClr val="bg1">
                                    <a:lumMod val="65000"/>
                                  </a:schemeClr>
                                </a:solidFill>
                                <a:latin typeface="Cambria Math" panose="02040503050406030204" pitchFamily="18" charset="0"/>
                              </a:rPr>
                              <m:t>𝑚</m:t>
                            </m:r>
                            <m:r>
                              <a:rPr lang="en-US" sz="1100" i="1" dirty="0">
                                <a:solidFill>
                                  <a:schemeClr val="bg1">
                                    <a:lumMod val="65000"/>
                                  </a:schemeClr>
                                </a:solidFill>
                                <a:latin typeface="Cambria Math" panose="02040503050406030204" pitchFamily="18" charset="0"/>
                              </a:rPr>
                              <m:t>−1</m:t>
                            </m:r>
                          </m:sup>
                          <m:e>
                            <m:sSub>
                              <m:sSubPr>
                                <m:ctrlPr>
                                  <a:rPr lang="en-US" sz="1100" i="1" dirty="0" smtClean="0">
                                    <a:solidFill>
                                      <a:schemeClr val="bg1">
                                        <a:lumMod val="65000"/>
                                      </a:schemeClr>
                                    </a:solidFill>
                                    <a:latin typeface="Cambria Math" panose="02040503050406030204" pitchFamily="18" charset="0"/>
                                  </a:rPr>
                                </m:ctrlPr>
                              </m:sSubPr>
                              <m:e>
                                <m:d>
                                  <m:dPr>
                                    <m:begChr m:val="["/>
                                    <m:endChr m:val="]"/>
                                    <m:ctrlPr>
                                      <a:rPr lang="en-US" sz="1100" i="1" dirty="0">
                                        <a:solidFill>
                                          <a:schemeClr val="bg1">
                                            <a:lumMod val="65000"/>
                                          </a:schemeClr>
                                        </a:solidFill>
                                        <a:latin typeface="Cambria Math" panose="02040503050406030204" pitchFamily="18" charset="0"/>
                                        <a:ea typeface="Cambria Math" panose="02040503050406030204" pitchFamily="18" charset="0"/>
                                      </a:rPr>
                                    </m:ctrlPr>
                                  </m:dPr>
                                  <m:e>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𝑐</m:t>
                                        </m:r>
                                      </m:e>
                                      <m:sub>
                                        <m:r>
                                          <a:rPr lang="en-US" sz="1100" i="1" dirty="0">
                                            <a:solidFill>
                                              <a:schemeClr val="bg1">
                                                <a:lumMod val="65000"/>
                                              </a:schemeClr>
                                            </a:solidFill>
                                            <a:latin typeface="Cambria Math" panose="02040503050406030204" pitchFamily="18" charset="0"/>
                                          </a:rPr>
                                          <m:t>0</m:t>
                                        </m:r>
                                      </m:sub>
                                    </m:sSub>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𝑟</m:t>
                                        </m:r>
                                      </m:e>
                                      <m:sub>
                                        <m:r>
                                          <a:rPr lang="en-US" sz="1100" i="1" dirty="0">
                                            <a:solidFill>
                                              <a:schemeClr val="bg1">
                                                <a:lumMod val="65000"/>
                                              </a:schemeClr>
                                            </a:solidFill>
                                            <a:latin typeface="Cambria Math" panose="02040503050406030204" pitchFamily="18" charset="0"/>
                                          </a:rPr>
                                          <m:t>𝑖</m:t>
                                        </m:r>
                                      </m:sub>
                                    </m:sSub>
                                    <m:r>
                                      <a:rPr lang="en-US" sz="1100" i="1" dirty="0">
                                        <a:solidFill>
                                          <a:schemeClr val="bg1">
                                            <a:lumMod val="65000"/>
                                          </a:schemeClr>
                                        </a:solidFill>
                                        <a:latin typeface="Cambria Math" panose="02040503050406030204" pitchFamily="18" charset="0"/>
                                      </a:rPr>
                                      <m:t>,</m:t>
                                    </m:r>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𝑐</m:t>
                                        </m:r>
                                      </m:e>
                                      <m:sub>
                                        <m:r>
                                          <a:rPr lang="en-US" sz="1100" i="1" dirty="0">
                                            <a:solidFill>
                                              <a:schemeClr val="bg1">
                                                <a:lumMod val="65000"/>
                                              </a:schemeClr>
                                            </a:solidFill>
                                            <a:latin typeface="Cambria Math" panose="02040503050406030204" pitchFamily="18" charset="0"/>
                                          </a:rPr>
                                          <m:t>1</m:t>
                                        </m:r>
                                      </m:sub>
                                    </m:sSub>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𝑟</m:t>
                                        </m:r>
                                      </m:e>
                                      <m:sub>
                                        <m:r>
                                          <a:rPr lang="en-US" sz="1100" i="1" dirty="0">
                                            <a:solidFill>
                                              <a:schemeClr val="bg1">
                                                <a:lumMod val="65000"/>
                                              </a:schemeClr>
                                            </a:solidFill>
                                            <a:latin typeface="Cambria Math" panose="02040503050406030204" pitchFamily="18" charset="0"/>
                                          </a:rPr>
                                          <m:t>𝑖</m:t>
                                        </m:r>
                                      </m:sub>
                                    </m:sSub>
                                    <m:r>
                                      <m:rPr>
                                        <m:nor/>
                                      </m:rPr>
                                      <a:rPr lang="en-US" sz="1100" dirty="0">
                                        <a:solidFill>
                                          <a:schemeClr val="bg1">
                                            <a:lumMod val="65000"/>
                                          </a:schemeClr>
                                        </a:solidFill>
                                        <a:latin typeface="Cambria Math" panose="02040503050406030204" pitchFamily="18" charset="0"/>
                                      </a:rPr>
                                      <m:t> </m:t>
                                    </m:r>
                                    <m:r>
                                      <m:rPr>
                                        <m:nor/>
                                      </m:rPr>
                                      <a:rPr lang="en-US" sz="1100">
                                        <a:solidFill>
                                          <a:schemeClr val="bg1">
                                            <a:lumMod val="65000"/>
                                          </a:schemeClr>
                                        </a:solidFill>
                                      </a:rPr>
                                      <m:t>⋅</m:t>
                                    </m:r>
                                    <m:r>
                                      <a:rPr lang="en-US" sz="1100" i="1">
                                        <a:solidFill>
                                          <a:schemeClr val="bg1">
                                            <a:lumMod val="65000"/>
                                          </a:schemeClr>
                                        </a:solidFill>
                                        <a:latin typeface="Cambria Math" panose="02040503050406030204" pitchFamily="18" charset="0"/>
                                      </a:rPr>
                                      <m:t> </m:t>
                                    </m:r>
                                    <m:r>
                                      <a:rPr lang="en-US" sz="1100" i="1">
                                        <a:solidFill>
                                          <a:schemeClr val="bg1">
                                            <a:lumMod val="65000"/>
                                          </a:schemeClr>
                                        </a:solidFill>
                                        <a:latin typeface="Cambria Math" panose="02040503050406030204" pitchFamily="18" charset="0"/>
                                      </a:rPr>
                                      <m:t>𝑠</m:t>
                                    </m:r>
                                  </m:e>
                                </m:d>
                              </m:e>
                              <m:sub>
                                <m:r>
                                  <a:rPr lang="en-US" sz="1100" b="0" i="1" dirty="0" smtClean="0">
                                    <a:solidFill>
                                      <a:schemeClr val="bg1">
                                        <a:lumMod val="65000"/>
                                      </a:schemeClr>
                                    </a:solidFill>
                                    <a:latin typeface="Cambria Math" panose="02040503050406030204" pitchFamily="18" charset="0"/>
                                  </a:rPr>
                                  <m:t>𝑞</m:t>
                                </m:r>
                              </m:sub>
                            </m:sSub>
                          </m:e>
                        </m:nary>
                        <m:r>
                          <a:rPr lang="en-US" sz="1100" i="1" dirty="0">
                            <a:solidFill>
                              <a:schemeClr val="bg1">
                                <a:lumMod val="65000"/>
                              </a:schemeClr>
                            </a:solidFill>
                            <a:latin typeface="Cambria Math" panose="02040503050406030204" pitchFamily="18" charset="0"/>
                            <a:ea typeface="Cambria Math" panose="02040503050406030204" pitchFamily="18" charset="0"/>
                          </a:rPr>
                          <m:t>=</m:t>
                        </m:r>
                        <m:nary>
                          <m:naryPr>
                            <m:chr m:val="∑"/>
                            <m:ctrlPr>
                              <a:rPr lang="en-US" sz="1100" i="1" dirty="0">
                                <a:solidFill>
                                  <a:schemeClr val="bg1">
                                    <a:lumMod val="65000"/>
                                  </a:schemeClr>
                                </a:solidFill>
                                <a:latin typeface="Cambria Math" panose="02040503050406030204" pitchFamily="18" charset="0"/>
                              </a:rPr>
                            </m:ctrlPr>
                          </m:naryPr>
                          <m:sub>
                            <m:r>
                              <m:rPr>
                                <m:brk m:alnAt="23"/>
                              </m:rPr>
                              <a:rPr lang="en-US" sz="1100" i="1" dirty="0">
                                <a:solidFill>
                                  <a:schemeClr val="bg1">
                                    <a:lumMod val="65000"/>
                                  </a:schemeClr>
                                </a:solidFill>
                                <a:latin typeface="Cambria Math" panose="02040503050406030204" pitchFamily="18" charset="0"/>
                              </a:rPr>
                              <m:t>𝑖</m:t>
                            </m:r>
                            <m:r>
                              <a:rPr lang="en-US" sz="1100" i="1" dirty="0">
                                <a:solidFill>
                                  <a:schemeClr val="bg1">
                                    <a:lumMod val="65000"/>
                                  </a:schemeClr>
                                </a:solidFill>
                                <a:latin typeface="Cambria Math" panose="02040503050406030204" pitchFamily="18" charset="0"/>
                              </a:rPr>
                              <m:t>=0</m:t>
                            </m:r>
                          </m:sub>
                          <m:sup>
                            <m:r>
                              <a:rPr lang="en-US" sz="1100" i="1" dirty="0">
                                <a:solidFill>
                                  <a:schemeClr val="bg1">
                                    <a:lumMod val="65000"/>
                                  </a:schemeClr>
                                </a:solidFill>
                                <a:latin typeface="Cambria Math" panose="02040503050406030204" pitchFamily="18" charset="0"/>
                              </a:rPr>
                              <m:t>𝑚</m:t>
                            </m:r>
                            <m:r>
                              <a:rPr lang="en-US" sz="1100" i="1" dirty="0">
                                <a:solidFill>
                                  <a:schemeClr val="bg1">
                                    <a:lumMod val="65000"/>
                                  </a:schemeClr>
                                </a:solidFill>
                                <a:latin typeface="Cambria Math" panose="02040503050406030204" pitchFamily="18" charset="0"/>
                              </a:rPr>
                              <m:t>−1</m:t>
                            </m:r>
                          </m:sup>
                          <m:e>
                            <m:sSub>
                              <m:sSubPr>
                                <m:ctrlPr>
                                  <a:rPr lang="en-US" sz="1100" i="1" dirty="0">
                                    <a:solidFill>
                                      <a:schemeClr val="bg1">
                                        <a:lumMod val="65000"/>
                                      </a:schemeClr>
                                    </a:solidFill>
                                    <a:latin typeface="Cambria Math" panose="02040503050406030204" pitchFamily="18" charset="0"/>
                                  </a:rPr>
                                </m:ctrlPr>
                              </m:sSubPr>
                              <m:e>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𝑟</m:t>
                                    </m:r>
                                  </m:e>
                                  <m:sub>
                                    <m:r>
                                      <a:rPr lang="en-US" sz="1100" i="1" dirty="0">
                                        <a:solidFill>
                                          <a:schemeClr val="bg1">
                                            <a:lumMod val="65000"/>
                                          </a:schemeClr>
                                        </a:solidFill>
                                        <a:latin typeface="Cambria Math" panose="02040503050406030204" pitchFamily="18" charset="0"/>
                                      </a:rPr>
                                      <m:t>𝑖</m:t>
                                    </m:r>
                                  </m:sub>
                                </m:sSub>
                                <m:d>
                                  <m:dPr>
                                    <m:begChr m:val="["/>
                                    <m:endChr m:val="]"/>
                                    <m:ctrlPr>
                                      <a:rPr lang="en-US" sz="1100" i="1" dirty="0">
                                        <a:solidFill>
                                          <a:schemeClr val="bg1">
                                            <a:lumMod val="65000"/>
                                          </a:schemeClr>
                                        </a:solidFill>
                                        <a:latin typeface="Cambria Math" panose="02040503050406030204" pitchFamily="18" charset="0"/>
                                        <a:ea typeface="Cambria Math" panose="02040503050406030204" pitchFamily="18" charset="0"/>
                                      </a:rPr>
                                    </m:ctrlPr>
                                  </m:dPr>
                                  <m:e>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𝑐</m:t>
                                        </m:r>
                                      </m:e>
                                      <m:sub>
                                        <m:r>
                                          <a:rPr lang="en-US" sz="1100" i="1" dirty="0">
                                            <a:solidFill>
                                              <a:schemeClr val="bg1">
                                                <a:lumMod val="65000"/>
                                              </a:schemeClr>
                                            </a:solidFill>
                                            <a:latin typeface="Cambria Math" panose="02040503050406030204" pitchFamily="18" charset="0"/>
                                          </a:rPr>
                                          <m:t>0</m:t>
                                        </m:r>
                                        <m:r>
                                          <a:rPr lang="en-US" sz="1100" b="0" i="1" dirty="0" smtClean="0">
                                            <a:solidFill>
                                              <a:schemeClr val="bg1">
                                                <a:lumMod val="65000"/>
                                              </a:schemeClr>
                                            </a:solidFill>
                                            <a:latin typeface="Cambria Math" panose="02040503050406030204" pitchFamily="18" charset="0"/>
                                          </a:rPr>
                                          <m:t>,</m:t>
                                        </m:r>
                                        <m:r>
                                          <a:rPr lang="en-US" sz="1100" b="0" i="1" dirty="0" smtClean="0">
                                            <a:solidFill>
                                              <a:schemeClr val="bg1">
                                                <a:lumMod val="65000"/>
                                              </a:schemeClr>
                                            </a:solidFill>
                                            <a:latin typeface="Cambria Math" panose="02040503050406030204" pitchFamily="18" charset="0"/>
                                          </a:rPr>
                                          <m:t>𝑖</m:t>
                                        </m:r>
                                      </m:sub>
                                    </m:sSub>
                                    <m:r>
                                      <a:rPr lang="en-US" sz="1100" i="1" dirty="0">
                                        <a:solidFill>
                                          <a:schemeClr val="bg1">
                                            <a:lumMod val="65000"/>
                                          </a:schemeClr>
                                        </a:solidFill>
                                        <a:latin typeface="Cambria Math" panose="02040503050406030204" pitchFamily="18" charset="0"/>
                                      </a:rPr>
                                      <m:t>,</m:t>
                                    </m:r>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𝑐</m:t>
                                        </m:r>
                                      </m:e>
                                      <m:sub>
                                        <m:r>
                                          <a:rPr lang="en-US" sz="1100" i="1" dirty="0">
                                            <a:solidFill>
                                              <a:schemeClr val="bg1">
                                                <a:lumMod val="65000"/>
                                              </a:schemeClr>
                                            </a:solidFill>
                                            <a:latin typeface="Cambria Math" panose="02040503050406030204" pitchFamily="18" charset="0"/>
                                          </a:rPr>
                                          <m:t>1</m:t>
                                        </m:r>
                                        <m:r>
                                          <a:rPr lang="en-US" sz="1100" b="0" i="1" dirty="0" smtClean="0">
                                            <a:solidFill>
                                              <a:schemeClr val="bg1">
                                                <a:lumMod val="65000"/>
                                              </a:schemeClr>
                                            </a:solidFill>
                                            <a:latin typeface="Cambria Math" panose="02040503050406030204" pitchFamily="18" charset="0"/>
                                          </a:rPr>
                                          <m:t>,</m:t>
                                        </m:r>
                                        <m:r>
                                          <a:rPr lang="en-US" sz="1100" b="0" i="1" dirty="0" smtClean="0">
                                            <a:solidFill>
                                              <a:schemeClr val="bg1">
                                                <a:lumMod val="65000"/>
                                              </a:schemeClr>
                                            </a:solidFill>
                                            <a:latin typeface="Cambria Math" panose="02040503050406030204" pitchFamily="18" charset="0"/>
                                          </a:rPr>
                                          <m:t>𝑖</m:t>
                                        </m:r>
                                      </m:sub>
                                    </m:sSub>
                                    <m:r>
                                      <a:rPr lang="en-US" sz="1100" b="0" i="1" dirty="0" smtClean="0">
                                        <a:solidFill>
                                          <a:schemeClr val="bg1">
                                            <a:lumMod val="65000"/>
                                          </a:schemeClr>
                                        </a:solidFill>
                                        <a:latin typeface="Cambria Math" panose="02040503050406030204" pitchFamily="18" charset="0"/>
                                      </a:rPr>
                                      <m:t>𝑠</m:t>
                                    </m:r>
                                  </m:e>
                                </m:d>
                              </m:e>
                              <m:sub>
                                <m:r>
                                  <a:rPr lang="en-US" sz="1100" i="1" dirty="0">
                                    <a:solidFill>
                                      <a:schemeClr val="bg1">
                                        <a:lumMod val="65000"/>
                                      </a:schemeClr>
                                    </a:solidFill>
                                    <a:latin typeface="Cambria Math" panose="02040503050406030204" pitchFamily="18" charset="0"/>
                                  </a:rPr>
                                  <m:t>𝑞</m:t>
                                </m:r>
                              </m:sub>
                            </m:sSub>
                          </m:e>
                        </m:nary>
                      </m:oMath>
                    </m:oMathPara>
                  </a14:m>
                  <a:endParaRPr lang="en-US" sz="1100" dirty="0">
                    <a:solidFill>
                      <a:schemeClr val="bg1">
                        <a:lumMod val="65000"/>
                      </a:schemeClr>
                    </a:solidFill>
                  </a:endParaRPr>
                </a:p>
                <a:p>
                  <a:r>
                    <a:rPr lang="en-US" sz="1100" dirty="0">
                      <a:solidFill>
                        <a:schemeClr val="bg1">
                          <a:lumMod val="65000"/>
                        </a:schemeClr>
                      </a:solidFill>
                    </a:rPr>
                    <a:t>Use the per-selector </a:t>
                  </a:r>
                  <a14:m>
                    <m:oMath xmlns:m="http://schemas.openxmlformats.org/officeDocument/2006/math">
                      <m:sSub>
                        <m:sSubPr>
                          <m:ctrlPr>
                            <a:rPr lang="en-US" sz="1100" i="1" smtClean="0">
                              <a:solidFill>
                                <a:schemeClr val="bg1">
                                  <a:lumMod val="65000"/>
                                </a:schemeClr>
                              </a:solidFill>
                              <a:latin typeface="Cambria Math" panose="02040503050406030204" pitchFamily="18" charset="0"/>
                            </a:rPr>
                          </m:ctrlPr>
                        </m:sSubPr>
                        <m:e>
                          <m:r>
                            <a:rPr lang="en-US" sz="1100" b="0" i="1" smtClean="0">
                              <a:solidFill>
                                <a:schemeClr val="bg1">
                                  <a:lumMod val="65000"/>
                                </a:schemeClr>
                              </a:solidFill>
                              <a:latin typeface="Cambria Math" panose="02040503050406030204" pitchFamily="18" charset="0"/>
                            </a:rPr>
                            <m:t>𝑠𝑒𝑙</m:t>
                          </m:r>
                        </m:e>
                        <m:sub>
                          <m:r>
                            <a:rPr lang="en-US" sz="1100" b="0" i="1" smtClean="0">
                              <a:solidFill>
                                <a:schemeClr val="bg1">
                                  <a:lumMod val="65000"/>
                                </a:schemeClr>
                              </a:solidFill>
                              <a:latin typeface="Cambria Math" panose="02040503050406030204" pitchFamily="18" charset="0"/>
                            </a:rPr>
                            <m:t>𝑖</m:t>
                          </m:r>
                        </m:sub>
                      </m:sSub>
                      <m:r>
                        <a:rPr lang="en-US" sz="1100" i="1" smtClean="0">
                          <a:solidFill>
                            <a:schemeClr val="bg1">
                              <a:lumMod val="65000"/>
                            </a:schemeClr>
                          </a:solidFill>
                          <a:latin typeface="Cambria Math" panose="02040503050406030204" pitchFamily="18" charset="0"/>
                          <a:ea typeface="Cambria Math" panose="02040503050406030204" pitchFamily="18" charset="0"/>
                        </a:rPr>
                        <m:t>∈</m:t>
                      </m:r>
                      <m:d>
                        <m:dPr>
                          <m:begChr m:val="{"/>
                          <m:endChr m:val="}"/>
                          <m:ctrlPr>
                            <a:rPr lang="en-US" sz="1100" b="0" i="1" smtClean="0">
                              <a:solidFill>
                                <a:schemeClr val="bg1">
                                  <a:lumMod val="65000"/>
                                </a:schemeClr>
                              </a:solidFill>
                              <a:latin typeface="Cambria Math" panose="02040503050406030204" pitchFamily="18" charset="0"/>
                              <a:ea typeface="Cambria Math" panose="02040503050406030204" pitchFamily="18" charset="0"/>
                            </a:rPr>
                          </m:ctrlPr>
                        </m:dPr>
                        <m:e>
                          <m:r>
                            <a:rPr lang="en-US" sz="1100" b="0" i="1" smtClean="0">
                              <a:solidFill>
                                <a:schemeClr val="bg1">
                                  <a:lumMod val="65000"/>
                                </a:schemeClr>
                              </a:solidFill>
                              <a:latin typeface="Cambria Math" panose="02040503050406030204" pitchFamily="18" charset="0"/>
                              <a:ea typeface="Cambria Math" panose="02040503050406030204" pitchFamily="18" charset="0"/>
                            </a:rPr>
                            <m:t>0,1</m:t>
                          </m:r>
                        </m:e>
                      </m:d>
                    </m:oMath>
                  </a14:m>
                  <a:r>
                    <a:rPr lang="en-US" sz="1100" dirty="0">
                      <a:solidFill>
                        <a:schemeClr val="bg1">
                          <a:lumMod val="65000"/>
                        </a:schemeClr>
                      </a:solidFill>
                    </a:rPr>
                    <a:t> expansion </a:t>
                  </a:r>
                  <a14:m>
                    <m:oMath xmlns:m="http://schemas.openxmlformats.org/officeDocument/2006/math">
                      <m:sSub>
                        <m:sSubPr>
                          <m:ctrlPr>
                            <a:rPr lang="en-US" sz="1100" i="1" dirty="0">
                              <a:solidFill>
                                <a:schemeClr val="bg1">
                                  <a:lumMod val="65000"/>
                                </a:schemeClr>
                              </a:solidFill>
                              <a:latin typeface="Cambria Math" panose="02040503050406030204" pitchFamily="18" charset="0"/>
                            </a:rPr>
                          </m:ctrlPr>
                        </m:sSubPr>
                        <m:e>
                          <m:d>
                            <m:dPr>
                              <m:begChr m:val="["/>
                              <m:endChr m:val="]"/>
                              <m:ctrlPr>
                                <a:rPr lang="en-US" sz="1100" i="1" dirty="0">
                                  <a:solidFill>
                                    <a:schemeClr val="bg1">
                                      <a:lumMod val="65000"/>
                                    </a:schemeClr>
                                  </a:solidFill>
                                  <a:latin typeface="Cambria Math" panose="02040503050406030204" pitchFamily="18" charset="0"/>
                                  <a:ea typeface="Cambria Math" panose="02040503050406030204" pitchFamily="18" charset="0"/>
                                </a:rPr>
                              </m:ctrlPr>
                            </m:dPr>
                            <m:e>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𝑐</m:t>
                                  </m:r>
                                </m:e>
                                <m:sub>
                                  <m:r>
                                    <a:rPr lang="en-US" sz="1100" i="1" dirty="0">
                                      <a:solidFill>
                                        <a:schemeClr val="bg1">
                                          <a:lumMod val="65000"/>
                                        </a:schemeClr>
                                      </a:solidFill>
                                      <a:latin typeface="Cambria Math" panose="02040503050406030204" pitchFamily="18" charset="0"/>
                                    </a:rPr>
                                    <m:t>0,</m:t>
                                  </m:r>
                                  <m:r>
                                    <a:rPr lang="en-US" sz="1100" i="1" dirty="0">
                                      <a:solidFill>
                                        <a:schemeClr val="bg1">
                                          <a:lumMod val="65000"/>
                                        </a:schemeClr>
                                      </a:solidFill>
                                      <a:latin typeface="Cambria Math" panose="02040503050406030204" pitchFamily="18" charset="0"/>
                                    </a:rPr>
                                    <m:t>𝑖</m:t>
                                  </m:r>
                                </m:sub>
                              </m:sSub>
                              <m:r>
                                <a:rPr lang="en-US" sz="1100" i="1" dirty="0">
                                  <a:solidFill>
                                    <a:schemeClr val="bg1">
                                      <a:lumMod val="65000"/>
                                    </a:schemeClr>
                                  </a:solidFill>
                                  <a:latin typeface="Cambria Math" panose="02040503050406030204" pitchFamily="18" charset="0"/>
                                </a:rPr>
                                <m:t>,</m:t>
                              </m:r>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𝑐</m:t>
                                  </m:r>
                                </m:e>
                                <m:sub>
                                  <m:r>
                                    <a:rPr lang="en-US" sz="1100" i="1" dirty="0">
                                      <a:solidFill>
                                        <a:schemeClr val="bg1">
                                          <a:lumMod val="65000"/>
                                        </a:schemeClr>
                                      </a:solidFill>
                                      <a:latin typeface="Cambria Math" panose="02040503050406030204" pitchFamily="18" charset="0"/>
                                    </a:rPr>
                                    <m:t>1,</m:t>
                                  </m:r>
                                  <m:r>
                                    <a:rPr lang="en-US" sz="1100" i="1" dirty="0">
                                      <a:solidFill>
                                        <a:schemeClr val="bg1">
                                          <a:lumMod val="65000"/>
                                        </a:schemeClr>
                                      </a:solidFill>
                                      <a:latin typeface="Cambria Math" panose="02040503050406030204" pitchFamily="18" charset="0"/>
                                    </a:rPr>
                                    <m:t>𝑖</m:t>
                                  </m:r>
                                </m:sub>
                              </m:sSub>
                              <m:r>
                                <a:rPr lang="en-US" sz="1100" i="1" dirty="0">
                                  <a:solidFill>
                                    <a:schemeClr val="bg1">
                                      <a:lumMod val="65000"/>
                                    </a:schemeClr>
                                  </a:solidFill>
                                  <a:latin typeface="Cambria Math" panose="02040503050406030204" pitchFamily="18" charset="0"/>
                                </a:rPr>
                                <m:t>𝑠</m:t>
                              </m:r>
                            </m:e>
                          </m:d>
                        </m:e>
                        <m:sub>
                          <m:r>
                            <a:rPr lang="en-US" sz="1100" i="1" dirty="0">
                              <a:solidFill>
                                <a:schemeClr val="bg1">
                                  <a:lumMod val="65000"/>
                                </a:schemeClr>
                              </a:solidFill>
                              <a:latin typeface="Cambria Math" panose="02040503050406030204" pitchFamily="18" charset="0"/>
                            </a:rPr>
                            <m:t>𝑞</m:t>
                          </m:r>
                        </m:sub>
                      </m:sSub>
                      <m:r>
                        <a:rPr lang="en-US" sz="1100" b="0" i="1" dirty="0" smtClean="0">
                          <a:solidFill>
                            <a:schemeClr val="bg1">
                              <a:lumMod val="65000"/>
                            </a:schemeClr>
                          </a:solidFill>
                          <a:latin typeface="Cambria Math" panose="02040503050406030204" pitchFamily="18" charset="0"/>
                        </a:rPr>
                        <m:t>=</m:t>
                      </m:r>
                      <m:r>
                        <m:rPr>
                          <m:nor/>
                        </m:rPr>
                        <a:rPr lang="en-US" sz="1100" dirty="0">
                          <a:solidFill>
                            <a:schemeClr val="bg1">
                              <a:lumMod val="65000"/>
                            </a:schemeClr>
                          </a:solidFill>
                        </a:rPr>
                        <m:t>∆</m:t>
                      </m:r>
                      <m:sSub>
                        <m:sSubPr>
                          <m:ctrlPr>
                            <a:rPr lang="en-US" sz="1100" i="1">
                              <a:solidFill>
                                <a:schemeClr val="bg1">
                                  <a:lumMod val="65000"/>
                                </a:schemeClr>
                              </a:solidFill>
                              <a:latin typeface="Cambria Math" panose="02040503050406030204" pitchFamily="18" charset="0"/>
                            </a:rPr>
                          </m:ctrlPr>
                        </m:sSubPr>
                        <m:e>
                          <m:r>
                            <m:rPr>
                              <m:nor/>
                            </m:rPr>
                            <a:rPr lang="en-US" sz="1100">
                              <a:solidFill>
                                <a:schemeClr val="bg1">
                                  <a:lumMod val="65000"/>
                                </a:schemeClr>
                              </a:solidFill>
                            </a:rPr>
                            <m:t>⋅</m:t>
                          </m:r>
                          <m:r>
                            <m:rPr>
                              <m:nor/>
                            </m:rPr>
                            <a:rPr lang="en-US" sz="1100" b="0" i="0" smtClean="0">
                              <a:solidFill>
                                <a:schemeClr val="bg1">
                                  <a:lumMod val="65000"/>
                                </a:schemeClr>
                              </a:solidFill>
                            </a:rPr>
                            <m:t> </m:t>
                          </m:r>
                          <m:r>
                            <a:rPr lang="en-US" sz="1100" i="1">
                              <a:solidFill>
                                <a:schemeClr val="bg1">
                                  <a:lumMod val="65000"/>
                                </a:schemeClr>
                              </a:solidFill>
                              <a:latin typeface="Cambria Math" panose="02040503050406030204" pitchFamily="18" charset="0"/>
                            </a:rPr>
                            <m:t>𝑠𝑒𝑙</m:t>
                          </m:r>
                        </m:e>
                        <m:sub>
                          <m:r>
                            <a:rPr lang="en-US" sz="1100" i="1">
                              <a:solidFill>
                                <a:schemeClr val="bg1">
                                  <a:lumMod val="65000"/>
                                </a:schemeClr>
                              </a:solidFill>
                              <a:latin typeface="Cambria Math" panose="02040503050406030204" pitchFamily="18" charset="0"/>
                            </a:rPr>
                            <m:t>𝑖</m:t>
                          </m:r>
                        </m:sub>
                      </m:sSub>
                      <m:r>
                        <a:rPr lang="en-US" sz="1100" b="0" i="1" smtClean="0">
                          <a:solidFill>
                            <a:schemeClr val="bg1">
                              <a:lumMod val="65000"/>
                            </a:schemeClr>
                          </a:solidFill>
                          <a:latin typeface="Cambria Math" panose="02040503050406030204" pitchFamily="18" charset="0"/>
                        </a:rPr>
                        <m:t>+</m:t>
                      </m:r>
                      <m:sSub>
                        <m:sSubPr>
                          <m:ctrlPr>
                            <a:rPr lang="en-US" sz="1100" b="0" i="1" smtClean="0">
                              <a:solidFill>
                                <a:schemeClr val="bg1">
                                  <a:lumMod val="65000"/>
                                </a:schemeClr>
                              </a:solidFill>
                              <a:latin typeface="Cambria Math" panose="02040503050406030204" pitchFamily="18" charset="0"/>
                            </a:rPr>
                          </m:ctrlPr>
                        </m:sSubPr>
                        <m:e>
                          <m:r>
                            <a:rPr lang="en-US" sz="1100" b="0" i="1" smtClean="0">
                              <a:solidFill>
                                <a:schemeClr val="bg1">
                                  <a:lumMod val="65000"/>
                                </a:schemeClr>
                              </a:solidFill>
                              <a:latin typeface="Cambria Math" panose="02040503050406030204" pitchFamily="18" charset="0"/>
                            </a:rPr>
                            <m:t>𝑣</m:t>
                          </m:r>
                        </m:e>
                        <m:sub>
                          <m:r>
                            <a:rPr lang="en-US" sz="1100" b="0" i="1" smtClean="0">
                              <a:solidFill>
                                <a:schemeClr val="bg1">
                                  <a:lumMod val="65000"/>
                                </a:schemeClr>
                              </a:solidFill>
                              <a:latin typeface="Cambria Math" panose="02040503050406030204" pitchFamily="18" charset="0"/>
                            </a:rPr>
                            <m:t>𝑖</m:t>
                          </m:r>
                        </m:sub>
                      </m:sSub>
                    </m:oMath>
                  </a14:m>
                  <a:r>
                    <a:rPr lang="en-US" sz="1100" dirty="0">
                      <a:solidFill>
                        <a:schemeClr val="bg1">
                          <a:lumMod val="65000"/>
                        </a:schemeClr>
                      </a:solidFill>
                    </a:rPr>
                    <a:t>:</a:t>
                  </a:r>
                </a:p>
                <a:p>
                  <a:pPr/>
                  <a14:m>
                    <m:oMathPara xmlns:m="http://schemas.openxmlformats.org/officeDocument/2006/math">
                      <m:oMathParaPr>
                        <m:jc m:val="centerGroup"/>
                      </m:oMathParaPr>
                      <m:oMath xmlns:m="http://schemas.openxmlformats.org/officeDocument/2006/math">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d>
                              <m:dPr>
                                <m:begChr m:val="["/>
                                <m:endChr m:val="]"/>
                                <m:ctrlPr>
                                  <a:rPr lang="en-US" sz="1100" i="1" dirty="0">
                                    <a:solidFill>
                                      <a:schemeClr val="bg1">
                                        <a:lumMod val="65000"/>
                                      </a:schemeClr>
                                    </a:solidFill>
                                    <a:latin typeface="Cambria Math" panose="02040503050406030204" pitchFamily="18" charset="0"/>
                                    <a:ea typeface="Cambria Math" panose="02040503050406030204" pitchFamily="18" charset="0"/>
                                  </a:rPr>
                                </m:ctrlPr>
                              </m:dPr>
                              <m:e>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r>
                                      <a:rPr lang="en-US" sz="1100" i="1" dirty="0">
                                        <a:solidFill>
                                          <a:schemeClr val="bg1">
                                            <a:lumMod val="65000"/>
                                          </a:schemeClr>
                                        </a:solidFill>
                                        <a:latin typeface="Cambria Math" panose="02040503050406030204" pitchFamily="18" charset="0"/>
                                        <a:ea typeface="Cambria Math" panose="02040503050406030204" pitchFamily="18" charset="0"/>
                                      </a:rPr>
                                      <m:t>𝐶</m:t>
                                    </m:r>
                                  </m:e>
                                  <m:sub>
                                    <m:r>
                                      <a:rPr lang="en-US" sz="1100" i="1" dirty="0">
                                        <a:solidFill>
                                          <a:schemeClr val="bg1">
                                            <a:lumMod val="65000"/>
                                          </a:schemeClr>
                                        </a:solidFill>
                                        <a:latin typeface="Cambria Math" panose="02040503050406030204" pitchFamily="18" charset="0"/>
                                        <a:ea typeface="Cambria Math" panose="02040503050406030204" pitchFamily="18" charset="0"/>
                                      </a:rPr>
                                      <m:t>0</m:t>
                                    </m:r>
                                  </m:sub>
                                </m:sSub>
                                <m:r>
                                  <a:rPr lang="en-US" sz="1100" i="1" dirty="0">
                                    <a:solidFill>
                                      <a:schemeClr val="bg1">
                                        <a:lumMod val="65000"/>
                                      </a:schemeClr>
                                    </a:solidFill>
                                    <a:latin typeface="Cambria Math" panose="02040503050406030204" pitchFamily="18" charset="0"/>
                                    <a:ea typeface="Cambria Math" panose="02040503050406030204" pitchFamily="18" charset="0"/>
                                  </a:rPr>
                                  <m:t>+</m:t>
                                </m:r>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r>
                                      <a:rPr lang="en-US" sz="1100" i="1" dirty="0">
                                        <a:solidFill>
                                          <a:schemeClr val="bg1">
                                            <a:lumMod val="65000"/>
                                          </a:schemeClr>
                                        </a:solidFill>
                                        <a:latin typeface="Cambria Math" panose="02040503050406030204" pitchFamily="18" charset="0"/>
                                        <a:ea typeface="Cambria Math" panose="02040503050406030204" pitchFamily="18" charset="0"/>
                                      </a:rPr>
                                      <m:t>𝐶</m:t>
                                    </m:r>
                                  </m:e>
                                  <m:sub>
                                    <m:r>
                                      <a:rPr lang="en-US" sz="1100" i="1" dirty="0">
                                        <a:solidFill>
                                          <a:schemeClr val="bg1">
                                            <a:lumMod val="65000"/>
                                          </a:schemeClr>
                                        </a:solidFill>
                                        <a:latin typeface="Cambria Math" panose="02040503050406030204" pitchFamily="18" charset="0"/>
                                        <a:ea typeface="Cambria Math" panose="02040503050406030204" pitchFamily="18" charset="0"/>
                                      </a:rPr>
                                      <m:t>1 </m:t>
                                    </m:r>
                                  </m:sub>
                                </m:sSub>
                                <m:r>
                                  <m:rPr>
                                    <m:nor/>
                                  </m:rPr>
                                  <a:rPr lang="en-US" sz="1100">
                                    <a:solidFill>
                                      <a:schemeClr val="bg1">
                                        <a:lumMod val="65000"/>
                                      </a:schemeClr>
                                    </a:solidFill>
                                  </a:rPr>
                                  <m:t>⋅</m:t>
                                </m:r>
                                <m:r>
                                  <a:rPr lang="en-US" sz="1100" i="1">
                                    <a:solidFill>
                                      <a:schemeClr val="bg1">
                                        <a:lumMod val="65000"/>
                                      </a:schemeClr>
                                    </a:solidFill>
                                    <a:latin typeface="Cambria Math" panose="02040503050406030204" pitchFamily="18" charset="0"/>
                                  </a:rPr>
                                  <m:t> </m:t>
                                </m:r>
                                <m:r>
                                  <a:rPr lang="en-US" sz="1100" i="1">
                                    <a:solidFill>
                                      <a:schemeClr val="bg1">
                                        <a:lumMod val="65000"/>
                                      </a:schemeClr>
                                    </a:solidFill>
                                    <a:latin typeface="Cambria Math" panose="02040503050406030204" pitchFamily="18" charset="0"/>
                                  </a:rPr>
                                  <m:t>𝑠</m:t>
                                </m:r>
                              </m:e>
                            </m:d>
                          </m:e>
                          <m:sub>
                            <m:r>
                              <a:rPr lang="en-US" sz="1100" i="1" dirty="0">
                                <a:solidFill>
                                  <a:schemeClr val="bg1">
                                    <a:lumMod val="65000"/>
                                  </a:schemeClr>
                                </a:solidFill>
                                <a:latin typeface="Cambria Math" panose="02040503050406030204" pitchFamily="18" charset="0"/>
                                <a:ea typeface="Cambria Math" panose="02040503050406030204" pitchFamily="18" charset="0"/>
                              </a:rPr>
                              <m:t>𝑞</m:t>
                            </m:r>
                          </m:sub>
                        </m:sSub>
                        <m:r>
                          <a:rPr lang="en-US" sz="1100" b="0" i="1" dirty="0" smtClean="0">
                            <a:solidFill>
                              <a:schemeClr val="bg1">
                                <a:lumMod val="65000"/>
                              </a:schemeClr>
                            </a:solidFill>
                            <a:latin typeface="Cambria Math" panose="02040503050406030204" pitchFamily="18" charset="0"/>
                            <a:ea typeface="Cambria Math" panose="02040503050406030204" pitchFamily="18" charset="0"/>
                          </a:rPr>
                          <m:t>=</m:t>
                        </m:r>
                        <m:nary>
                          <m:naryPr>
                            <m:chr m:val="∑"/>
                            <m:ctrlPr>
                              <a:rPr lang="en-US" sz="1100" i="1" dirty="0" smtClean="0">
                                <a:solidFill>
                                  <a:schemeClr val="bg1">
                                    <a:lumMod val="65000"/>
                                  </a:schemeClr>
                                </a:solidFill>
                                <a:latin typeface="Cambria Math" panose="02040503050406030204" pitchFamily="18" charset="0"/>
                              </a:rPr>
                            </m:ctrlPr>
                          </m:naryPr>
                          <m:sub>
                            <m:r>
                              <m:rPr>
                                <m:brk m:alnAt="23"/>
                              </m:rPr>
                              <a:rPr lang="en-US" sz="1100" i="1" dirty="0">
                                <a:solidFill>
                                  <a:schemeClr val="bg1">
                                    <a:lumMod val="65000"/>
                                  </a:schemeClr>
                                </a:solidFill>
                                <a:latin typeface="Cambria Math" panose="02040503050406030204" pitchFamily="18" charset="0"/>
                              </a:rPr>
                              <m:t>𝑖</m:t>
                            </m:r>
                            <m:r>
                              <a:rPr lang="en-US" sz="1100" i="1" dirty="0">
                                <a:solidFill>
                                  <a:schemeClr val="bg1">
                                    <a:lumMod val="65000"/>
                                  </a:schemeClr>
                                </a:solidFill>
                                <a:latin typeface="Cambria Math" panose="02040503050406030204" pitchFamily="18" charset="0"/>
                              </a:rPr>
                              <m:t>=0</m:t>
                            </m:r>
                          </m:sub>
                          <m:sup>
                            <m:r>
                              <a:rPr lang="en-US" sz="1100" i="1" dirty="0">
                                <a:solidFill>
                                  <a:schemeClr val="bg1">
                                    <a:lumMod val="65000"/>
                                  </a:schemeClr>
                                </a:solidFill>
                                <a:latin typeface="Cambria Math" panose="02040503050406030204" pitchFamily="18" charset="0"/>
                              </a:rPr>
                              <m:t>𝑚</m:t>
                            </m:r>
                            <m:r>
                              <a:rPr lang="en-US" sz="1100" i="1" dirty="0">
                                <a:solidFill>
                                  <a:schemeClr val="bg1">
                                    <a:lumMod val="65000"/>
                                  </a:schemeClr>
                                </a:solidFill>
                                <a:latin typeface="Cambria Math" panose="02040503050406030204" pitchFamily="18" charset="0"/>
                              </a:rPr>
                              <m:t>−1</m:t>
                            </m:r>
                          </m:sup>
                          <m:e>
                            <m:sSub>
                              <m:sSubPr>
                                <m:ctrlPr>
                                  <a:rPr lang="en-US" sz="1100" i="1" dirty="0" smtClean="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𝑟</m:t>
                                </m:r>
                              </m:e>
                              <m:sub>
                                <m:r>
                                  <a:rPr lang="en-US" sz="1100" b="0" i="1" dirty="0" smtClean="0">
                                    <a:solidFill>
                                      <a:schemeClr val="bg1">
                                        <a:lumMod val="65000"/>
                                      </a:schemeClr>
                                    </a:solidFill>
                                    <a:latin typeface="Cambria Math" panose="02040503050406030204" pitchFamily="18" charset="0"/>
                                  </a:rPr>
                                  <m:t>𝑖</m:t>
                                </m:r>
                              </m:sub>
                            </m:sSub>
                            <m:d>
                              <m:dPr>
                                <m:ctrlPr>
                                  <a:rPr lang="en-US" sz="1100" i="1" dirty="0" smtClean="0">
                                    <a:solidFill>
                                      <a:schemeClr val="bg1">
                                        <a:lumMod val="65000"/>
                                      </a:schemeClr>
                                    </a:solidFill>
                                    <a:latin typeface="Cambria Math" panose="02040503050406030204" pitchFamily="18" charset="0"/>
                                  </a:rPr>
                                </m:ctrlPr>
                              </m:dPr>
                              <m:e>
                                <m:r>
                                  <m:rPr>
                                    <m:nor/>
                                  </m:rPr>
                                  <a:rPr lang="en-US" sz="1100" dirty="0" smtClean="0">
                                    <a:solidFill>
                                      <a:schemeClr val="bg1">
                                        <a:lumMod val="65000"/>
                                      </a:schemeClr>
                                    </a:solidFill>
                                  </a:rPr>
                                  <m:t>∆</m:t>
                                </m:r>
                                <m:r>
                                  <m:rPr>
                                    <m:nor/>
                                  </m:rPr>
                                  <a:rPr lang="en-US" sz="1100" smtClean="0">
                                    <a:solidFill>
                                      <a:schemeClr val="bg1">
                                        <a:lumMod val="65000"/>
                                      </a:schemeClr>
                                    </a:solidFill>
                                  </a:rPr>
                                  <m:t>⋅</m:t>
                                </m:r>
                                <m:sSub>
                                  <m:sSubPr>
                                    <m:ctrlPr>
                                      <a:rPr lang="en-US" sz="1100" i="1">
                                        <a:solidFill>
                                          <a:schemeClr val="bg1">
                                            <a:lumMod val="65000"/>
                                          </a:schemeClr>
                                        </a:solidFill>
                                        <a:latin typeface="Cambria Math" panose="02040503050406030204" pitchFamily="18" charset="0"/>
                                      </a:rPr>
                                    </m:ctrlPr>
                                  </m:sSubPr>
                                  <m:e>
                                    <m:r>
                                      <a:rPr lang="en-US" sz="1100" i="1">
                                        <a:solidFill>
                                          <a:schemeClr val="bg1">
                                            <a:lumMod val="65000"/>
                                          </a:schemeClr>
                                        </a:solidFill>
                                        <a:latin typeface="Cambria Math" panose="02040503050406030204" pitchFamily="18" charset="0"/>
                                      </a:rPr>
                                      <m:t>𝑠𝑒𝑙</m:t>
                                    </m:r>
                                  </m:e>
                                  <m:sub>
                                    <m:r>
                                      <a:rPr lang="en-US" sz="1100" i="1">
                                        <a:solidFill>
                                          <a:schemeClr val="bg1">
                                            <a:lumMod val="65000"/>
                                          </a:schemeClr>
                                        </a:solidFill>
                                        <a:latin typeface="Cambria Math" panose="02040503050406030204" pitchFamily="18" charset="0"/>
                                      </a:rPr>
                                      <m:t>𝑖</m:t>
                                    </m:r>
                                  </m:sub>
                                </m:sSub>
                                <m:r>
                                  <a:rPr lang="en-US" sz="1100" i="1">
                                    <a:solidFill>
                                      <a:schemeClr val="bg1">
                                        <a:lumMod val="65000"/>
                                      </a:schemeClr>
                                    </a:solidFill>
                                    <a:latin typeface="Cambria Math" panose="02040503050406030204" pitchFamily="18" charset="0"/>
                                  </a:rPr>
                                  <m:t>+</m:t>
                                </m:r>
                                <m:sSub>
                                  <m:sSubPr>
                                    <m:ctrlPr>
                                      <a:rPr lang="en-US" sz="1100" i="1">
                                        <a:solidFill>
                                          <a:schemeClr val="bg1">
                                            <a:lumMod val="65000"/>
                                          </a:schemeClr>
                                        </a:solidFill>
                                        <a:latin typeface="Cambria Math" panose="02040503050406030204" pitchFamily="18" charset="0"/>
                                      </a:rPr>
                                    </m:ctrlPr>
                                  </m:sSubPr>
                                  <m:e>
                                    <m:r>
                                      <a:rPr lang="en-US" sz="1100" i="1">
                                        <a:solidFill>
                                          <a:schemeClr val="bg1">
                                            <a:lumMod val="65000"/>
                                          </a:schemeClr>
                                        </a:solidFill>
                                        <a:latin typeface="Cambria Math" panose="02040503050406030204" pitchFamily="18" charset="0"/>
                                      </a:rPr>
                                      <m:t>𝑣</m:t>
                                    </m:r>
                                  </m:e>
                                  <m:sub>
                                    <m:r>
                                      <a:rPr lang="en-US" sz="1100" i="1">
                                        <a:solidFill>
                                          <a:schemeClr val="bg1">
                                            <a:lumMod val="65000"/>
                                          </a:schemeClr>
                                        </a:solidFill>
                                        <a:latin typeface="Cambria Math" panose="02040503050406030204" pitchFamily="18" charset="0"/>
                                      </a:rPr>
                                      <m:t>𝑖</m:t>
                                    </m:r>
                                  </m:sub>
                                </m:sSub>
                              </m:e>
                            </m:d>
                            <m:r>
                              <a:rPr lang="en-US" sz="1100" b="0" i="1" dirty="0" smtClean="0">
                                <a:solidFill>
                                  <a:schemeClr val="bg1">
                                    <a:lumMod val="65000"/>
                                  </a:schemeClr>
                                </a:solidFill>
                                <a:latin typeface="Cambria Math" panose="02040503050406030204" pitchFamily="18" charset="0"/>
                              </a:rPr>
                              <m:t>=</m:t>
                            </m:r>
                          </m:e>
                        </m:nary>
                        <m:r>
                          <m:rPr>
                            <m:nor/>
                          </m:rPr>
                          <a:rPr lang="en-US" sz="1100" dirty="0">
                            <a:solidFill>
                              <a:schemeClr val="bg1">
                                <a:lumMod val="65000"/>
                              </a:schemeClr>
                            </a:solidFill>
                          </a:rPr>
                          <m:t>∆</m:t>
                        </m:r>
                        <m:r>
                          <m:rPr>
                            <m:nor/>
                          </m:rPr>
                          <a:rPr lang="en-US" sz="1100" b="0" i="0" dirty="0" smtClean="0">
                            <a:solidFill>
                              <a:schemeClr val="bg1">
                                <a:lumMod val="65000"/>
                              </a:schemeClr>
                            </a:solidFill>
                          </a:rPr>
                          <m:t> </m:t>
                        </m:r>
                        <m:r>
                          <m:rPr>
                            <m:nor/>
                          </m:rPr>
                          <a:rPr lang="en-US" sz="1100">
                            <a:solidFill>
                              <a:schemeClr val="bg1">
                                <a:lumMod val="65000"/>
                              </a:schemeClr>
                            </a:solidFill>
                          </a:rPr>
                          <m:t>⋅</m:t>
                        </m:r>
                        <m:nary>
                          <m:naryPr>
                            <m:chr m:val="∑"/>
                            <m:supHide m:val="on"/>
                            <m:ctrlPr>
                              <a:rPr lang="en-US" sz="1100" i="1" dirty="0">
                                <a:solidFill>
                                  <a:schemeClr val="bg1">
                                    <a:lumMod val="65000"/>
                                  </a:schemeClr>
                                </a:solidFill>
                                <a:latin typeface="Cambria Math" panose="02040503050406030204" pitchFamily="18" charset="0"/>
                              </a:rPr>
                            </m:ctrlPr>
                          </m:naryPr>
                          <m:sub>
                            <m:r>
                              <m:rPr>
                                <m:brk m:alnAt="7"/>
                              </m:rPr>
                              <a:rPr lang="en-US" sz="1100" i="1" dirty="0">
                                <a:solidFill>
                                  <a:schemeClr val="bg1">
                                    <a:lumMod val="65000"/>
                                  </a:schemeClr>
                                </a:solidFill>
                                <a:latin typeface="Cambria Math" panose="02040503050406030204" pitchFamily="18" charset="0"/>
                              </a:rPr>
                              <m:t>𝑖</m:t>
                            </m:r>
                          </m:sub>
                          <m:sup/>
                          <m:e>
                            <m:sSub>
                              <m:sSubPr>
                                <m:ctrlPr>
                                  <a:rPr lang="en-US" sz="1100" i="1" dirty="0" smtClean="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𝑟</m:t>
                                </m:r>
                              </m:e>
                              <m:sub>
                                <m:r>
                                  <a:rPr lang="en-US" sz="1100" b="0" i="1" dirty="0" smtClean="0">
                                    <a:solidFill>
                                      <a:schemeClr val="bg1">
                                        <a:lumMod val="65000"/>
                                      </a:schemeClr>
                                    </a:solidFill>
                                    <a:latin typeface="Cambria Math" panose="02040503050406030204" pitchFamily="18" charset="0"/>
                                  </a:rPr>
                                  <m:t>𝑖</m:t>
                                </m:r>
                              </m:sub>
                            </m:sSub>
                            <m:sSub>
                              <m:sSubPr>
                                <m:ctrlPr>
                                  <a:rPr lang="en-US" sz="1100" i="1" dirty="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𝑠𝑒𝑙</m:t>
                                </m:r>
                              </m:e>
                              <m:sub>
                                <m:r>
                                  <a:rPr lang="en-US" sz="1100" i="1" dirty="0">
                                    <a:solidFill>
                                      <a:schemeClr val="bg1">
                                        <a:lumMod val="65000"/>
                                      </a:schemeClr>
                                    </a:solidFill>
                                    <a:latin typeface="Cambria Math" panose="02040503050406030204" pitchFamily="18" charset="0"/>
                                  </a:rPr>
                                  <m:t>𝑖</m:t>
                                </m:r>
                              </m:sub>
                            </m:sSub>
                            <m:r>
                              <a:rPr lang="en-US" sz="1100" b="0" i="1" dirty="0" smtClean="0">
                                <a:solidFill>
                                  <a:schemeClr val="bg1">
                                    <a:lumMod val="65000"/>
                                  </a:schemeClr>
                                </a:solidFill>
                                <a:latin typeface="Cambria Math" panose="02040503050406030204" pitchFamily="18" charset="0"/>
                              </a:rPr>
                              <m:t>+</m:t>
                            </m:r>
                          </m:e>
                        </m:nary>
                        <m:nary>
                          <m:naryPr>
                            <m:chr m:val="∑"/>
                            <m:supHide m:val="on"/>
                            <m:ctrlPr>
                              <a:rPr lang="en-US" sz="1100" i="1" dirty="0">
                                <a:solidFill>
                                  <a:schemeClr val="bg1">
                                    <a:lumMod val="65000"/>
                                  </a:schemeClr>
                                </a:solidFill>
                                <a:latin typeface="Cambria Math" panose="02040503050406030204" pitchFamily="18" charset="0"/>
                              </a:rPr>
                            </m:ctrlPr>
                          </m:naryPr>
                          <m:sub>
                            <m:r>
                              <m:rPr>
                                <m:brk m:alnAt="7"/>
                              </m:rPr>
                              <a:rPr lang="en-US" sz="1100" i="1" dirty="0">
                                <a:solidFill>
                                  <a:schemeClr val="bg1">
                                    <a:lumMod val="65000"/>
                                  </a:schemeClr>
                                </a:solidFill>
                                <a:latin typeface="Cambria Math" panose="02040503050406030204" pitchFamily="18" charset="0"/>
                              </a:rPr>
                              <m:t>𝑖</m:t>
                            </m:r>
                          </m:sub>
                          <m:sup/>
                          <m:e>
                            <m:sSub>
                              <m:sSubPr>
                                <m:ctrlPr>
                                  <a:rPr lang="en-US" sz="1100" i="1" dirty="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𝑟</m:t>
                                </m:r>
                              </m:e>
                              <m:sub>
                                <m:r>
                                  <a:rPr lang="en-US" sz="1100" i="1" dirty="0">
                                    <a:solidFill>
                                      <a:schemeClr val="bg1">
                                        <a:lumMod val="65000"/>
                                      </a:schemeClr>
                                    </a:solidFill>
                                    <a:latin typeface="Cambria Math" panose="02040503050406030204" pitchFamily="18" charset="0"/>
                                  </a:rPr>
                                  <m:t>𝑖</m:t>
                                </m:r>
                              </m:sub>
                            </m:sSub>
                            <m:sSub>
                              <m:sSubPr>
                                <m:ctrlPr>
                                  <a:rPr lang="en-US" sz="1100" i="1" dirty="0">
                                    <a:solidFill>
                                      <a:schemeClr val="bg1">
                                        <a:lumMod val="65000"/>
                                      </a:schemeClr>
                                    </a:solidFill>
                                    <a:latin typeface="Cambria Math" panose="02040503050406030204" pitchFamily="18" charset="0"/>
                                  </a:rPr>
                                </m:ctrlPr>
                              </m:sSubPr>
                              <m:e>
                                <m:r>
                                  <a:rPr lang="en-US" sz="1100" b="0" i="1" dirty="0" smtClean="0">
                                    <a:solidFill>
                                      <a:schemeClr val="bg1">
                                        <a:lumMod val="65000"/>
                                      </a:schemeClr>
                                    </a:solidFill>
                                    <a:latin typeface="Cambria Math" panose="02040503050406030204" pitchFamily="18" charset="0"/>
                                  </a:rPr>
                                  <m:t>𝑣</m:t>
                                </m:r>
                              </m:e>
                              <m:sub>
                                <m:r>
                                  <a:rPr lang="en-US" sz="1100" i="1" dirty="0">
                                    <a:solidFill>
                                      <a:schemeClr val="bg1">
                                        <a:lumMod val="65000"/>
                                      </a:schemeClr>
                                    </a:solidFill>
                                    <a:latin typeface="Cambria Math" panose="02040503050406030204" pitchFamily="18" charset="0"/>
                                  </a:rPr>
                                  <m:t>𝑖</m:t>
                                </m:r>
                              </m:sub>
                            </m:sSub>
                          </m:e>
                        </m:nary>
                      </m:oMath>
                    </m:oMathPara>
                  </a14:m>
                  <a:endParaRPr lang="en-US" sz="1100" dirty="0">
                    <a:solidFill>
                      <a:schemeClr val="bg1">
                        <a:lumMod val="65000"/>
                      </a:schemeClr>
                    </a:solidFill>
                  </a:endParaRPr>
                </a:p>
                <a:p>
                  <a:r>
                    <a:rPr lang="en-US" sz="1100" dirty="0">
                      <a:solidFill>
                        <a:schemeClr val="bg1">
                          <a:lumMod val="65000"/>
                        </a:schemeClr>
                      </a:solidFill>
                    </a:rPr>
                    <a:t>Final decryption:</a:t>
                  </a:r>
                </a:p>
                <a:p>
                  <a:pPr/>
                  <a14:m>
                    <m:oMathPara xmlns:m="http://schemas.openxmlformats.org/officeDocument/2006/math">
                      <m:oMathParaPr>
                        <m:jc m:val="centerGroup"/>
                      </m:oMathParaPr>
                      <m:oMath xmlns:m="http://schemas.openxmlformats.org/officeDocument/2006/math">
                        <m:r>
                          <a:rPr lang="en-US" sz="1100" b="0" i="1" smtClean="0">
                            <a:solidFill>
                              <a:schemeClr val="bg1">
                                <a:lumMod val="65000"/>
                              </a:schemeClr>
                            </a:solidFill>
                            <a:latin typeface="Cambria Math" panose="02040503050406030204" pitchFamily="18" charset="0"/>
                          </a:rPr>
                          <m:t>𝐷𝑒𝑐</m:t>
                        </m:r>
                        <m:d>
                          <m:dPr>
                            <m:ctrlPr>
                              <a:rPr lang="en-US" sz="1100" b="0" i="1" smtClean="0">
                                <a:solidFill>
                                  <a:schemeClr val="bg1">
                                    <a:lumMod val="65000"/>
                                  </a:schemeClr>
                                </a:solidFill>
                                <a:latin typeface="Cambria Math" panose="02040503050406030204" pitchFamily="18" charset="0"/>
                              </a:rPr>
                            </m:ctrlPr>
                          </m:dPr>
                          <m:e>
                            <m:r>
                              <a:rPr lang="en-US" sz="1100" b="0" i="1" smtClean="0">
                                <a:solidFill>
                                  <a:schemeClr val="bg1">
                                    <a:lumMod val="65000"/>
                                  </a:schemeClr>
                                </a:solidFill>
                                <a:latin typeface="Cambria Math" panose="02040503050406030204" pitchFamily="18" charset="0"/>
                              </a:rPr>
                              <m:t>𝑠𝑘</m:t>
                            </m:r>
                            <m:r>
                              <a:rPr lang="en-US" sz="1100" b="0" i="1" smtClean="0">
                                <a:solidFill>
                                  <a:schemeClr val="bg1">
                                    <a:lumMod val="65000"/>
                                  </a:schemeClr>
                                </a:solidFill>
                                <a:latin typeface="Cambria Math" panose="02040503050406030204" pitchFamily="18" charset="0"/>
                              </a:rPr>
                              <m:t>,</m:t>
                            </m:r>
                            <m:r>
                              <a:rPr lang="en-US" sz="1100" b="0" i="1" smtClean="0">
                                <a:solidFill>
                                  <a:schemeClr val="bg1">
                                    <a:lumMod val="65000"/>
                                  </a:schemeClr>
                                </a:solidFill>
                                <a:latin typeface="Cambria Math" panose="02040503050406030204" pitchFamily="18" charset="0"/>
                              </a:rPr>
                              <m:t>𝐶</m:t>
                            </m:r>
                          </m:e>
                        </m:d>
                        <m:r>
                          <a:rPr lang="en-US" sz="1100" b="0" i="1" smtClean="0">
                            <a:solidFill>
                              <a:schemeClr val="bg1">
                                <a:lumMod val="65000"/>
                              </a:schemeClr>
                            </a:solidFill>
                            <a:latin typeface="Cambria Math" panose="02040503050406030204" pitchFamily="18" charset="0"/>
                          </a:rPr>
                          <m:t>=</m:t>
                        </m:r>
                        <m:r>
                          <a:rPr lang="en-US" sz="1100" b="0" i="1" smtClean="0">
                            <a:solidFill>
                              <a:schemeClr val="bg1">
                                <a:lumMod val="65000"/>
                              </a:schemeClr>
                            </a:solidFill>
                            <a:latin typeface="Cambria Math" panose="02040503050406030204" pitchFamily="18" charset="0"/>
                          </a:rPr>
                          <m:t>𝐿</m:t>
                        </m:r>
                        <m:d>
                          <m:dPr>
                            <m:ctrlPr>
                              <a:rPr lang="en-US" sz="1100" b="0" i="1" smtClean="0">
                                <a:solidFill>
                                  <a:schemeClr val="bg1">
                                    <a:lumMod val="65000"/>
                                  </a:schemeClr>
                                </a:solidFill>
                                <a:latin typeface="Cambria Math" panose="02040503050406030204" pitchFamily="18" charset="0"/>
                              </a:rPr>
                            </m:ctrlPr>
                          </m:dPr>
                          <m:e>
                            <m:f>
                              <m:fPr>
                                <m:ctrlPr>
                                  <a:rPr lang="en-US" sz="1100" b="0" i="1" smtClean="0">
                                    <a:solidFill>
                                      <a:schemeClr val="bg1">
                                        <a:lumMod val="65000"/>
                                      </a:schemeClr>
                                    </a:solidFill>
                                    <a:latin typeface="Cambria Math" panose="02040503050406030204" pitchFamily="18" charset="0"/>
                                  </a:rPr>
                                </m:ctrlPr>
                              </m:fPr>
                              <m:num>
                                <m:r>
                                  <a:rPr lang="en-US" sz="1100" b="0" i="1" smtClean="0">
                                    <a:solidFill>
                                      <a:schemeClr val="bg1">
                                        <a:lumMod val="65000"/>
                                      </a:schemeClr>
                                    </a:solidFill>
                                    <a:latin typeface="Cambria Math" panose="02040503050406030204" pitchFamily="18" charset="0"/>
                                  </a:rPr>
                                  <m:t>1</m:t>
                                </m:r>
                              </m:num>
                              <m:den>
                                <m:r>
                                  <m:rPr>
                                    <m:nor/>
                                  </m:rPr>
                                  <a:rPr lang="en-US" sz="1100" dirty="0">
                                    <a:solidFill>
                                      <a:schemeClr val="bg1">
                                        <a:lumMod val="65000"/>
                                      </a:schemeClr>
                                    </a:solidFill>
                                  </a:rPr>
                                  <m:t>∆</m:t>
                                </m:r>
                              </m:den>
                            </m:f>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d>
                                  <m:dPr>
                                    <m:begChr m:val="["/>
                                    <m:endChr m:val="]"/>
                                    <m:ctrlPr>
                                      <a:rPr lang="en-US" sz="1100" i="1" dirty="0">
                                        <a:solidFill>
                                          <a:schemeClr val="bg1">
                                            <a:lumMod val="65000"/>
                                          </a:schemeClr>
                                        </a:solidFill>
                                        <a:latin typeface="Cambria Math" panose="02040503050406030204" pitchFamily="18" charset="0"/>
                                        <a:ea typeface="Cambria Math" panose="02040503050406030204" pitchFamily="18" charset="0"/>
                                      </a:rPr>
                                    </m:ctrlPr>
                                  </m:dPr>
                                  <m:e>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r>
                                          <a:rPr lang="en-US" sz="1100" i="1" dirty="0">
                                            <a:solidFill>
                                              <a:schemeClr val="bg1">
                                                <a:lumMod val="65000"/>
                                              </a:schemeClr>
                                            </a:solidFill>
                                            <a:latin typeface="Cambria Math" panose="02040503050406030204" pitchFamily="18" charset="0"/>
                                            <a:ea typeface="Cambria Math" panose="02040503050406030204" pitchFamily="18" charset="0"/>
                                          </a:rPr>
                                          <m:t>𝐶</m:t>
                                        </m:r>
                                      </m:e>
                                      <m:sub>
                                        <m:r>
                                          <a:rPr lang="en-US" sz="1100" i="1" dirty="0">
                                            <a:solidFill>
                                              <a:schemeClr val="bg1">
                                                <a:lumMod val="65000"/>
                                              </a:schemeClr>
                                            </a:solidFill>
                                            <a:latin typeface="Cambria Math" panose="02040503050406030204" pitchFamily="18" charset="0"/>
                                            <a:ea typeface="Cambria Math" panose="02040503050406030204" pitchFamily="18" charset="0"/>
                                          </a:rPr>
                                          <m:t>0</m:t>
                                        </m:r>
                                      </m:sub>
                                    </m:sSub>
                                    <m:r>
                                      <a:rPr lang="en-US" sz="1100" i="1" dirty="0">
                                        <a:solidFill>
                                          <a:schemeClr val="bg1">
                                            <a:lumMod val="65000"/>
                                          </a:schemeClr>
                                        </a:solidFill>
                                        <a:latin typeface="Cambria Math" panose="02040503050406030204" pitchFamily="18" charset="0"/>
                                        <a:ea typeface="Cambria Math" panose="02040503050406030204" pitchFamily="18" charset="0"/>
                                      </a:rPr>
                                      <m:t>+</m:t>
                                    </m:r>
                                    <m:sSub>
                                      <m:sSubPr>
                                        <m:ctrlPr>
                                          <a:rPr lang="en-US" sz="1100" i="1" dirty="0">
                                            <a:solidFill>
                                              <a:schemeClr val="bg1">
                                                <a:lumMod val="65000"/>
                                              </a:schemeClr>
                                            </a:solidFill>
                                            <a:latin typeface="Cambria Math" panose="02040503050406030204" pitchFamily="18" charset="0"/>
                                            <a:ea typeface="Cambria Math" panose="02040503050406030204" pitchFamily="18" charset="0"/>
                                          </a:rPr>
                                        </m:ctrlPr>
                                      </m:sSubPr>
                                      <m:e>
                                        <m:r>
                                          <a:rPr lang="en-US" sz="1100" i="1" dirty="0">
                                            <a:solidFill>
                                              <a:schemeClr val="bg1">
                                                <a:lumMod val="65000"/>
                                              </a:schemeClr>
                                            </a:solidFill>
                                            <a:latin typeface="Cambria Math" panose="02040503050406030204" pitchFamily="18" charset="0"/>
                                            <a:ea typeface="Cambria Math" panose="02040503050406030204" pitchFamily="18" charset="0"/>
                                          </a:rPr>
                                          <m:t>𝐶</m:t>
                                        </m:r>
                                      </m:e>
                                      <m:sub>
                                        <m:r>
                                          <a:rPr lang="en-US" sz="1100" i="1" dirty="0">
                                            <a:solidFill>
                                              <a:schemeClr val="bg1">
                                                <a:lumMod val="65000"/>
                                              </a:schemeClr>
                                            </a:solidFill>
                                            <a:latin typeface="Cambria Math" panose="02040503050406030204" pitchFamily="18" charset="0"/>
                                            <a:ea typeface="Cambria Math" panose="02040503050406030204" pitchFamily="18" charset="0"/>
                                          </a:rPr>
                                          <m:t>1 </m:t>
                                        </m:r>
                                      </m:sub>
                                    </m:sSub>
                                    <m:r>
                                      <m:rPr>
                                        <m:nor/>
                                      </m:rPr>
                                      <a:rPr lang="en-US" sz="1100">
                                        <a:solidFill>
                                          <a:schemeClr val="bg1">
                                            <a:lumMod val="65000"/>
                                          </a:schemeClr>
                                        </a:solidFill>
                                      </a:rPr>
                                      <m:t>⋅</m:t>
                                    </m:r>
                                    <m:r>
                                      <a:rPr lang="en-US" sz="1100" i="1">
                                        <a:solidFill>
                                          <a:schemeClr val="bg1">
                                            <a:lumMod val="65000"/>
                                          </a:schemeClr>
                                        </a:solidFill>
                                        <a:latin typeface="Cambria Math" panose="02040503050406030204" pitchFamily="18" charset="0"/>
                                      </a:rPr>
                                      <m:t> </m:t>
                                    </m:r>
                                    <m:r>
                                      <a:rPr lang="en-US" sz="1100" i="1">
                                        <a:solidFill>
                                          <a:schemeClr val="bg1">
                                            <a:lumMod val="65000"/>
                                          </a:schemeClr>
                                        </a:solidFill>
                                        <a:latin typeface="Cambria Math" panose="02040503050406030204" pitchFamily="18" charset="0"/>
                                      </a:rPr>
                                      <m:t>𝑠</m:t>
                                    </m:r>
                                  </m:e>
                                </m:d>
                              </m:e>
                              <m:sub>
                                <m:r>
                                  <a:rPr lang="en-US" sz="1100" i="1" dirty="0">
                                    <a:solidFill>
                                      <a:schemeClr val="bg1">
                                        <a:lumMod val="65000"/>
                                      </a:schemeClr>
                                    </a:solidFill>
                                    <a:latin typeface="Cambria Math" panose="02040503050406030204" pitchFamily="18" charset="0"/>
                                    <a:ea typeface="Cambria Math" panose="02040503050406030204" pitchFamily="18" charset="0"/>
                                  </a:rPr>
                                  <m:t>𝑞</m:t>
                                </m:r>
                              </m:sub>
                            </m:sSub>
                          </m:e>
                        </m:d>
                        <m:r>
                          <a:rPr lang="en-US" sz="1100" b="0" i="1" smtClean="0">
                            <a:solidFill>
                              <a:schemeClr val="bg1">
                                <a:lumMod val="65000"/>
                              </a:schemeClr>
                            </a:solidFill>
                            <a:latin typeface="Cambria Math" panose="02040503050406030204" pitchFamily="18" charset="0"/>
                          </a:rPr>
                          <m:t>=</m:t>
                        </m:r>
                        <m:r>
                          <a:rPr lang="en-US" sz="1100" b="0" i="1" smtClean="0">
                            <a:solidFill>
                              <a:schemeClr val="bg1">
                                <a:lumMod val="65000"/>
                              </a:schemeClr>
                            </a:solidFill>
                            <a:latin typeface="Cambria Math" panose="02040503050406030204" pitchFamily="18" charset="0"/>
                          </a:rPr>
                          <m:t>𝐿</m:t>
                        </m:r>
                        <m:d>
                          <m:dPr>
                            <m:ctrlPr>
                              <a:rPr lang="en-US" sz="1100" b="0" i="1" smtClean="0">
                                <a:solidFill>
                                  <a:schemeClr val="bg1">
                                    <a:lumMod val="65000"/>
                                  </a:schemeClr>
                                </a:solidFill>
                                <a:latin typeface="Cambria Math" panose="02040503050406030204" pitchFamily="18" charset="0"/>
                              </a:rPr>
                            </m:ctrlPr>
                          </m:dPr>
                          <m:e>
                            <m:nary>
                              <m:naryPr>
                                <m:chr m:val="∑"/>
                                <m:supHide m:val="on"/>
                                <m:ctrlPr>
                                  <a:rPr lang="en-US" sz="1100" i="1" dirty="0">
                                    <a:solidFill>
                                      <a:schemeClr val="bg1">
                                        <a:lumMod val="65000"/>
                                      </a:schemeClr>
                                    </a:solidFill>
                                    <a:latin typeface="Cambria Math" panose="02040503050406030204" pitchFamily="18" charset="0"/>
                                  </a:rPr>
                                </m:ctrlPr>
                              </m:naryPr>
                              <m:sub>
                                <m:r>
                                  <m:rPr>
                                    <m:brk m:alnAt="7"/>
                                  </m:rPr>
                                  <a:rPr lang="en-US" sz="1100" i="1" dirty="0">
                                    <a:solidFill>
                                      <a:schemeClr val="bg1">
                                        <a:lumMod val="65000"/>
                                      </a:schemeClr>
                                    </a:solidFill>
                                    <a:latin typeface="Cambria Math" panose="02040503050406030204" pitchFamily="18" charset="0"/>
                                  </a:rPr>
                                  <m:t>𝑖</m:t>
                                </m:r>
                              </m:sub>
                              <m:sup/>
                              <m:e>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𝑟</m:t>
                                    </m:r>
                                  </m:e>
                                  <m:sub>
                                    <m:r>
                                      <a:rPr lang="en-US" sz="1100" i="1" dirty="0">
                                        <a:solidFill>
                                          <a:schemeClr val="bg1">
                                            <a:lumMod val="65000"/>
                                          </a:schemeClr>
                                        </a:solidFill>
                                        <a:latin typeface="Cambria Math" panose="02040503050406030204" pitchFamily="18" charset="0"/>
                                      </a:rPr>
                                      <m:t>𝑖</m:t>
                                    </m:r>
                                  </m:sub>
                                </m:sSub>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𝑠𝑒𝑙</m:t>
                                    </m:r>
                                  </m:e>
                                  <m:sub>
                                    <m:r>
                                      <a:rPr lang="en-US" sz="1100" i="1" dirty="0">
                                        <a:solidFill>
                                          <a:schemeClr val="bg1">
                                            <a:lumMod val="65000"/>
                                          </a:schemeClr>
                                        </a:solidFill>
                                        <a:latin typeface="Cambria Math" panose="02040503050406030204" pitchFamily="18" charset="0"/>
                                      </a:rPr>
                                      <m:t>𝑖</m:t>
                                    </m:r>
                                  </m:sub>
                                </m:sSub>
                                <m:r>
                                  <a:rPr lang="en-US" sz="1100" i="1" dirty="0">
                                    <a:solidFill>
                                      <a:schemeClr val="bg1">
                                        <a:lumMod val="65000"/>
                                      </a:schemeClr>
                                    </a:solidFill>
                                    <a:latin typeface="Cambria Math" panose="02040503050406030204" pitchFamily="18" charset="0"/>
                                  </a:rPr>
                                  <m:t>+</m:t>
                                </m:r>
                              </m:e>
                            </m:nary>
                            <m:nary>
                              <m:naryPr>
                                <m:chr m:val="∑"/>
                                <m:supHide m:val="on"/>
                                <m:ctrlPr>
                                  <a:rPr lang="en-US" sz="1100" i="1" dirty="0">
                                    <a:solidFill>
                                      <a:schemeClr val="bg1">
                                        <a:lumMod val="65000"/>
                                      </a:schemeClr>
                                    </a:solidFill>
                                    <a:latin typeface="Cambria Math" panose="02040503050406030204" pitchFamily="18" charset="0"/>
                                  </a:rPr>
                                </m:ctrlPr>
                              </m:naryPr>
                              <m:sub>
                                <m:r>
                                  <m:rPr>
                                    <m:brk m:alnAt="7"/>
                                  </m:rPr>
                                  <a:rPr lang="en-US" sz="1100" i="1" dirty="0">
                                    <a:solidFill>
                                      <a:schemeClr val="bg1">
                                        <a:lumMod val="65000"/>
                                      </a:schemeClr>
                                    </a:solidFill>
                                    <a:latin typeface="Cambria Math" panose="02040503050406030204" pitchFamily="18" charset="0"/>
                                  </a:rPr>
                                  <m:t>𝑖</m:t>
                                </m:r>
                              </m:sub>
                              <m:sup/>
                              <m:e>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𝑟</m:t>
                                    </m:r>
                                  </m:e>
                                  <m:sub>
                                    <m:r>
                                      <a:rPr lang="en-US" sz="1100" i="1" dirty="0">
                                        <a:solidFill>
                                          <a:schemeClr val="bg1">
                                            <a:lumMod val="65000"/>
                                          </a:schemeClr>
                                        </a:solidFill>
                                        <a:latin typeface="Cambria Math" panose="02040503050406030204" pitchFamily="18" charset="0"/>
                                      </a:rPr>
                                      <m:t>𝑖</m:t>
                                    </m:r>
                                  </m:sub>
                                </m:sSub>
                                <m:sSub>
                                  <m:sSubPr>
                                    <m:ctrlPr>
                                      <a:rPr lang="en-US" sz="1100" i="1" dirty="0">
                                        <a:solidFill>
                                          <a:schemeClr val="bg1">
                                            <a:lumMod val="65000"/>
                                          </a:schemeClr>
                                        </a:solidFill>
                                        <a:latin typeface="Cambria Math" panose="02040503050406030204" pitchFamily="18" charset="0"/>
                                      </a:rPr>
                                    </m:ctrlPr>
                                  </m:sSubPr>
                                  <m:e>
                                    <m:r>
                                      <a:rPr lang="en-US" sz="1100" i="1" dirty="0">
                                        <a:solidFill>
                                          <a:schemeClr val="bg1">
                                            <a:lumMod val="65000"/>
                                          </a:schemeClr>
                                        </a:solidFill>
                                        <a:latin typeface="Cambria Math" panose="02040503050406030204" pitchFamily="18" charset="0"/>
                                      </a:rPr>
                                      <m:t>𝑣</m:t>
                                    </m:r>
                                  </m:e>
                                  <m:sub>
                                    <m:r>
                                      <a:rPr lang="en-US" sz="1100" i="1" dirty="0">
                                        <a:solidFill>
                                          <a:schemeClr val="bg1">
                                            <a:lumMod val="65000"/>
                                          </a:schemeClr>
                                        </a:solidFill>
                                        <a:latin typeface="Cambria Math" panose="02040503050406030204" pitchFamily="18" charset="0"/>
                                      </a:rPr>
                                      <m:t>𝑖</m:t>
                                    </m:r>
                                  </m:sub>
                                </m:sSub>
                              </m:e>
                            </m:nary>
                          </m:e>
                        </m:d>
                      </m:oMath>
                    </m:oMathPara>
                  </a14:m>
                  <a:endParaRPr lang="en-US" sz="1100" dirty="0">
                    <a:solidFill>
                      <a:schemeClr val="bg1">
                        <a:lumMod val="65000"/>
                      </a:schemeClr>
                    </a:solidFill>
                  </a:endParaRPr>
                </a:p>
                <a:p>
                  <a:endParaRPr lang="en-US" sz="1100" dirty="0">
                    <a:solidFill>
                      <a:schemeClr val="bg1">
                        <a:lumMod val="65000"/>
                      </a:schemeClr>
                    </a:solidFill>
                  </a:endParaRPr>
                </a:p>
              </p:txBody>
            </p:sp>
          </mc:Choice>
          <mc:Fallback xmlns="">
            <p:sp>
              <p:nvSpPr>
                <p:cNvPr id="202" name="TextBox 201">
                  <a:extLst>
                    <a:ext uri="{FF2B5EF4-FFF2-40B4-BE49-F238E27FC236}">
                      <a16:creationId xmlns:a16="http://schemas.microsoft.com/office/drawing/2014/main" id="{59B75F9E-F4DA-4EB2-BF03-30F4E4408C13}"/>
                    </a:ext>
                  </a:extLst>
                </p:cNvPr>
                <p:cNvSpPr txBox="1">
                  <a:spLocks noRot="1" noChangeAspect="1" noMove="1" noResize="1" noEditPoints="1" noAdjustHandles="1" noChangeArrowheads="1" noChangeShapeType="1" noTextEdit="1"/>
                </p:cNvSpPr>
                <p:nvPr/>
              </p:nvSpPr>
              <p:spPr>
                <a:xfrm>
                  <a:off x="310509" y="4525299"/>
                  <a:ext cx="4239047" cy="2141740"/>
                </a:xfrm>
                <a:prstGeom prst="rect">
                  <a:avLst/>
                </a:prstGeom>
                <a:blipFill>
                  <a:blip r:embed="rId37"/>
                  <a:stretch>
                    <a:fillRect l="-2158" t="-18182" r="-10791" b="-30966"/>
                  </a:stretch>
                </a:blipFill>
              </p:spPr>
              <p:txBody>
                <a:bodyPr/>
                <a:lstStyle/>
                <a:p>
                  <a:r>
                    <a:rPr lang="en-US">
                      <a:noFill/>
                    </a:rPr>
                    <a:t> </a:t>
                  </a:r>
                </a:p>
              </p:txBody>
            </p:sp>
          </mc:Fallback>
        </mc:AlternateContent>
      </p:grpSp>
      <p:grpSp>
        <p:nvGrpSpPr>
          <p:cNvPr id="193" name="Группа 192">
            <a:extLst>
              <a:ext uri="{FF2B5EF4-FFF2-40B4-BE49-F238E27FC236}">
                <a16:creationId xmlns:a16="http://schemas.microsoft.com/office/drawing/2014/main" id="{1FB5D734-BAA9-4C65-95A9-B64D62406A76}"/>
              </a:ext>
            </a:extLst>
          </p:cNvPr>
          <p:cNvGrpSpPr/>
          <p:nvPr/>
        </p:nvGrpSpPr>
        <p:grpSpPr>
          <a:xfrm>
            <a:off x="7986069" y="185221"/>
            <a:ext cx="3107463" cy="393857"/>
            <a:chOff x="-605250" y="6176100"/>
            <a:chExt cx="3107463" cy="393857"/>
          </a:xfrm>
        </p:grpSpPr>
        <p:grpSp>
          <p:nvGrpSpPr>
            <p:cNvPr id="206" name="Группа 205">
              <a:extLst>
                <a:ext uri="{FF2B5EF4-FFF2-40B4-BE49-F238E27FC236}">
                  <a16:creationId xmlns:a16="http://schemas.microsoft.com/office/drawing/2014/main" id="{43D3F4F0-1218-46E9-B36D-27ED8A669C8B}"/>
                </a:ext>
              </a:extLst>
            </p:cNvPr>
            <p:cNvGrpSpPr/>
            <p:nvPr/>
          </p:nvGrpSpPr>
          <p:grpSpPr>
            <a:xfrm>
              <a:off x="738228" y="6176100"/>
              <a:ext cx="1763985" cy="393857"/>
              <a:chOff x="652697" y="3147944"/>
              <a:chExt cx="2361388" cy="527243"/>
            </a:xfrm>
          </p:grpSpPr>
          <p:pic>
            <p:nvPicPr>
              <p:cNvPr id="212" name="Рисунок 211">
                <a:extLst>
                  <a:ext uri="{FF2B5EF4-FFF2-40B4-BE49-F238E27FC236}">
                    <a16:creationId xmlns:a16="http://schemas.microsoft.com/office/drawing/2014/main" id="{8D4BCC44-74DE-4ECE-B77E-1D09A27158A5}"/>
                  </a:ext>
                </a:extLst>
              </p:cNvPr>
              <p:cNvPicPr>
                <a:picLocks noChangeAspect="1"/>
              </p:cNvPicPr>
              <p:nvPr/>
            </p:nvPicPr>
            <p:blipFill>
              <a:blip r:embed="rId38"/>
              <a:stretch>
                <a:fillRect/>
              </a:stretch>
            </p:blipFill>
            <p:spPr>
              <a:xfrm>
                <a:off x="652697" y="3151312"/>
                <a:ext cx="1076325" cy="523875"/>
              </a:xfrm>
              <a:prstGeom prst="rect">
                <a:avLst/>
              </a:prstGeom>
            </p:spPr>
          </p:pic>
          <p:pic>
            <p:nvPicPr>
              <p:cNvPr id="214" name="Рисунок 213">
                <a:extLst>
                  <a:ext uri="{FF2B5EF4-FFF2-40B4-BE49-F238E27FC236}">
                    <a16:creationId xmlns:a16="http://schemas.microsoft.com/office/drawing/2014/main" id="{E4392733-0EC7-4D9C-8DFF-A0D709451BBD}"/>
                  </a:ext>
                </a:extLst>
              </p:cNvPr>
              <p:cNvPicPr>
                <a:picLocks noChangeAspect="1"/>
              </p:cNvPicPr>
              <p:nvPr/>
            </p:nvPicPr>
            <p:blipFill>
              <a:blip r:embed="rId39"/>
              <a:stretch>
                <a:fillRect/>
              </a:stretch>
            </p:blipFill>
            <p:spPr>
              <a:xfrm>
                <a:off x="2098440" y="3147944"/>
                <a:ext cx="915645" cy="522003"/>
              </a:xfrm>
              <a:prstGeom prst="rect">
                <a:avLst/>
              </a:prstGeom>
            </p:spPr>
          </p:pic>
          <p:pic>
            <p:nvPicPr>
              <p:cNvPr id="215" name="Рисунок 214">
                <a:extLst>
                  <a:ext uri="{FF2B5EF4-FFF2-40B4-BE49-F238E27FC236}">
                    <a16:creationId xmlns:a16="http://schemas.microsoft.com/office/drawing/2014/main" id="{E838601B-FAA7-4333-B92C-50A28D79D0A8}"/>
                  </a:ext>
                </a:extLst>
              </p:cNvPr>
              <p:cNvPicPr>
                <a:picLocks noChangeAspect="1"/>
              </p:cNvPicPr>
              <p:nvPr/>
            </p:nvPicPr>
            <p:blipFill>
              <a:blip r:embed="rId40"/>
              <a:stretch>
                <a:fillRect/>
              </a:stretch>
            </p:blipFill>
            <p:spPr>
              <a:xfrm>
                <a:off x="1729023" y="3151312"/>
                <a:ext cx="369418" cy="522003"/>
              </a:xfrm>
              <a:prstGeom prst="rect">
                <a:avLst/>
              </a:prstGeom>
            </p:spPr>
          </p:pic>
        </p:grpSp>
        <p:sp>
          <p:nvSpPr>
            <p:cNvPr id="211" name="TextBox 210">
              <a:extLst>
                <a:ext uri="{FF2B5EF4-FFF2-40B4-BE49-F238E27FC236}">
                  <a16:creationId xmlns:a16="http://schemas.microsoft.com/office/drawing/2014/main" id="{A2EEB1D2-E4A1-4B7F-9A0D-18C9961F5B22}"/>
                </a:ext>
              </a:extLst>
            </p:cNvPr>
            <p:cNvSpPr txBox="1"/>
            <p:nvPr/>
          </p:nvSpPr>
          <p:spPr>
            <a:xfrm>
              <a:off x="-605250" y="6206269"/>
              <a:ext cx="1423333" cy="307777"/>
            </a:xfrm>
            <a:prstGeom prst="rect">
              <a:avLst/>
            </a:prstGeom>
            <a:noFill/>
          </p:spPr>
          <p:txBody>
            <a:bodyPr wrap="square">
              <a:spAutoFit/>
            </a:bodyPr>
            <a:lstStyle/>
            <a:p>
              <a:r>
                <a:rPr lang="en-US" sz="1400" dirty="0" err="1"/>
                <a:t>FV.SH.Mul</a:t>
              </a:r>
              <a:r>
                <a:rPr lang="en-US" sz="1400" dirty="0"/>
                <a:t>(</a:t>
              </a:r>
              <a:r>
                <a:rPr lang="en-US" sz="1400" dirty="0" err="1"/>
                <a:t>ct</a:t>
              </a:r>
              <a:r>
                <a:rPr lang="en-US" sz="1400" dirty="0"/>
                <a:t>, </a:t>
              </a:r>
              <a:r>
                <a:rPr lang="en-US" sz="1400" dirty="0" err="1"/>
                <a:t>pt</a:t>
              </a:r>
              <a:r>
                <a:rPr lang="en-US" sz="1400" dirty="0"/>
                <a:t>) </a:t>
              </a:r>
              <a:endParaRPr lang="en-US" sz="1400" baseline="30000" dirty="0"/>
            </a:p>
          </p:txBody>
        </p:sp>
      </p:grpSp>
      <p:grpSp>
        <p:nvGrpSpPr>
          <p:cNvPr id="217" name="Группа 216">
            <a:extLst>
              <a:ext uri="{FF2B5EF4-FFF2-40B4-BE49-F238E27FC236}">
                <a16:creationId xmlns:a16="http://schemas.microsoft.com/office/drawing/2014/main" id="{ED702032-E11B-44C9-BC09-ADAE3263D0B0}"/>
              </a:ext>
            </a:extLst>
          </p:cNvPr>
          <p:cNvGrpSpPr/>
          <p:nvPr/>
        </p:nvGrpSpPr>
        <p:grpSpPr>
          <a:xfrm>
            <a:off x="4003160" y="187268"/>
            <a:ext cx="3949175" cy="387405"/>
            <a:chOff x="-542991" y="5217920"/>
            <a:chExt cx="3949175" cy="387405"/>
          </a:xfrm>
        </p:grpSpPr>
        <p:pic>
          <p:nvPicPr>
            <p:cNvPr id="218" name="Рисунок 217">
              <a:extLst>
                <a:ext uri="{FF2B5EF4-FFF2-40B4-BE49-F238E27FC236}">
                  <a16:creationId xmlns:a16="http://schemas.microsoft.com/office/drawing/2014/main" id="{BC06F4B1-7B43-4447-A94C-A4802ADF879A}"/>
                </a:ext>
              </a:extLst>
            </p:cNvPr>
            <p:cNvPicPr>
              <a:picLocks noChangeAspect="1"/>
            </p:cNvPicPr>
            <p:nvPr/>
          </p:nvPicPr>
          <p:blipFill>
            <a:blip r:embed="rId41"/>
            <a:stretch>
              <a:fillRect/>
            </a:stretch>
          </p:blipFill>
          <p:spPr>
            <a:xfrm>
              <a:off x="924369" y="5217920"/>
              <a:ext cx="2481815" cy="387405"/>
            </a:xfrm>
            <a:prstGeom prst="rect">
              <a:avLst/>
            </a:prstGeom>
          </p:spPr>
        </p:pic>
        <p:sp>
          <p:nvSpPr>
            <p:cNvPr id="222" name="TextBox 221">
              <a:extLst>
                <a:ext uri="{FF2B5EF4-FFF2-40B4-BE49-F238E27FC236}">
                  <a16:creationId xmlns:a16="http://schemas.microsoft.com/office/drawing/2014/main" id="{224D9C7B-79CD-4E9A-82CB-06740A03E06E}"/>
                </a:ext>
              </a:extLst>
            </p:cNvPr>
            <p:cNvSpPr txBox="1"/>
            <p:nvPr/>
          </p:nvSpPr>
          <p:spPr>
            <a:xfrm>
              <a:off x="-542991" y="5270396"/>
              <a:ext cx="1639868" cy="307777"/>
            </a:xfrm>
            <a:prstGeom prst="rect">
              <a:avLst/>
            </a:prstGeom>
            <a:noFill/>
          </p:spPr>
          <p:txBody>
            <a:bodyPr wrap="square">
              <a:spAutoFit/>
            </a:bodyPr>
            <a:lstStyle/>
            <a:p>
              <a:r>
                <a:rPr lang="en-US" sz="1400" dirty="0" err="1"/>
                <a:t>FV.SH.Add</a:t>
              </a:r>
              <a:r>
                <a:rPr lang="en-US" sz="1400" dirty="0"/>
                <a:t>(ct1,ct2)</a:t>
              </a:r>
              <a:endParaRPr lang="en-US" sz="1400" baseline="30000" dirty="0"/>
            </a:p>
          </p:txBody>
        </p:sp>
      </p:grpSp>
    </p:spTree>
    <p:extLst>
      <p:ext uri="{BB962C8B-B14F-4D97-AF65-F5344CB8AC3E}">
        <p14:creationId xmlns:p14="http://schemas.microsoft.com/office/powerpoint/2010/main" val="262332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3"/>
                                        </p:tgtEl>
                                        <p:attrNameLst>
                                          <p:attrName>style.visibility</p:attrName>
                                        </p:attrNameLst>
                                      </p:cBhvr>
                                      <p:to>
                                        <p:strVal val="visible"/>
                                      </p:to>
                                    </p:set>
                                    <p:animEffect transition="in" filter="fade">
                                      <p:cBhvr>
                                        <p:cTn id="17" dur="500"/>
                                        <p:tgtEl>
                                          <p:spTgt spid="17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fade">
                                      <p:cBhvr>
                                        <p:cTn id="22" dur="5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fade">
                                      <p:cBhvr>
                                        <p:cTn id="27" dur="500"/>
                                        <p:tgtEl>
                                          <p:spTgt spid="7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fade">
                                      <p:cBhvr>
                                        <p:cTn id="32" dur="500"/>
                                        <p:tgtEl>
                                          <p:spTgt spid="7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5"/>
                                        </p:tgtEl>
                                        <p:attrNameLst>
                                          <p:attrName>style.visibility</p:attrName>
                                        </p:attrNameLst>
                                      </p:cBhvr>
                                      <p:to>
                                        <p:strVal val="visible"/>
                                      </p:to>
                                    </p:set>
                                    <p:animEffect transition="in" filter="fade">
                                      <p:cBhvr>
                                        <p:cTn id="37"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7852026"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Security / optimal parameters</a:t>
            </a:r>
            <a:endParaRPr lang="zh-CN" altLang="en-US" sz="2000" i="1"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p:pic>
        <p:nvPicPr>
          <p:cNvPr id="9" name="Picture 8">
            <a:extLst>
              <a:ext uri="{FF2B5EF4-FFF2-40B4-BE49-F238E27FC236}">
                <a16:creationId xmlns:a16="http://schemas.microsoft.com/office/drawing/2014/main" id="{2093F9B7-FB71-4216-ACF5-0F66DC58073A}"/>
              </a:ext>
            </a:extLst>
          </p:cNvPr>
          <p:cNvPicPr>
            <a:picLocks noChangeAspect="1"/>
          </p:cNvPicPr>
          <p:nvPr/>
        </p:nvPicPr>
        <p:blipFill>
          <a:blip r:embed="rId4"/>
          <a:stretch>
            <a:fillRect/>
          </a:stretch>
        </p:blipFill>
        <p:spPr>
          <a:xfrm>
            <a:off x="4097758" y="973545"/>
            <a:ext cx="7361090" cy="3961605"/>
          </a:xfrm>
          <a:prstGeom prst="rect">
            <a:avLst/>
          </a:prstGeom>
        </p:spPr>
      </p:pic>
      <p:pic>
        <p:nvPicPr>
          <p:cNvPr id="6" name="Picture 5">
            <a:extLst>
              <a:ext uri="{FF2B5EF4-FFF2-40B4-BE49-F238E27FC236}">
                <a16:creationId xmlns:a16="http://schemas.microsoft.com/office/drawing/2014/main" id="{5A54D560-83C9-48DC-A753-085564B3490F}"/>
              </a:ext>
            </a:extLst>
          </p:cNvPr>
          <p:cNvPicPr>
            <a:picLocks noChangeAspect="1"/>
          </p:cNvPicPr>
          <p:nvPr/>
        </p:nvPicPr>
        <p:blipFill>
          <a:blip r:embed="rId5"/>
          <a:stretch>
            <a:fillRect/>
          </a:stretch>
        </p:blipFill>
        <p:spPr>
          <a:xfrm>
            <a:off x="8139380" y="5497199"/>
            <a:ext cx="3055620" cy="1049917"/>
          </a:xfrm>
          <a:prstGeom prst="rect">
            <a:avLst/>
          </a:prstGeom>
        </p:spPr>
      </p:pic>
      <p:sp>
        <p:nvSpPr>
          <p:cNvPr id="20" name="TextBox 19">
            <a:extLst>
              <a:ext uri="{FF2B5EF4-FFF2-40B4-BE49-F238E27FC236}">
                <a16:creationId xmlns:a16="http://schemas.microsoft.com/office/drawing/2014/main" id="{DF059003-8005-470C-9151-C39B980E2B0B}"/>
              </a:ext>
            </a:extLst>
          </p:cNvPr>
          <p:cNvSpPr txBox="1"/>
          <p:nvPr/>
        </p:nvSpPr>
        <p:spPr>
          <a:xfrm>
            <a:off x="281957" y="6270117"/>
            <a:ext cx="3248025" cy="276999"/>
          </a:xfrm>
          <a:prstGeom prst="rect">
            <a:avLst/>
          </a:prstGeom>
          <a:noFill/>
        </p:spPr>
        <p:txBody>
          <a:bodyPr wrap="square">
            <a:spAutoFit/>
          </a:bodyPr>
          <a:lstStyle/>
          <a:p>
            <a:r>
              <a:rPr lang="en-US" sz="1200" dirty="0">
                <a:hlinkClick r:id="rId6"/>
              </a:rPr>
              <a:t>https://www.youtube.com/watch?v=SEBdYXxijSo</a:t>
            </a:r>
            <a:r>
              <a:rPr lang="en-US" sz="1200" dirty="0"/>
              <a:t> </a:t>
            </a:r>
          </a:p>
        </p:txBody>
      </p:sp>
      <p:grpSp>
        <p:nvGrpSpPr>
          <p:cNvPr id="2" name="Группа 1">
            <a:extLst>
              <a:ext uri="{FF2B5EF4-FFF2-40B4-BE49-F238E27FC236}">
                <a16:creationId xmlns:a16="http://schemas.microsoft.com/office/drawing/2014/main" id="{B7B49BD9-CF42-4744-944A-47EF25BB464B}"/>
              </a:ext>
            </a:extLst>
          </p:cNvPr>
          <p:cNvGrpSpPr/>
          <p:nvPr/>
        </p:nvGrpSpPr>
        <p:grpSpPr>
          <a:xfrm>
            <a:off x="549659" y="1190399"/>
            <a:ext cx="3548099" cy="2123658"/>
            <a:chOff x="549659" y="4597167"/>
            <a:chExt cx="3548099" cy="2123658"/>
          </a:xfrm>
        </p:grpSpPr>
        <p:sp>
          <p:nvSpPr>
            <p:cNvPr id="17" name="TextBox 16">
              <a:extLst>
                <a:ext uri="{FF2B5EF4-FFF2-40B4-BE49-F238E27FC236}">
                  <a16:creationId xmlns:a16="http://schemas.microsoft.com/office/drawing/2014/main" id="{808DF451-8784-4819-920F-D4D59E69EA8C}"/>
                </a:ext>
              </a:extLst>
            </p:cNvPr>
            <p:cNvSpPr txBox="1"/>
            <p:nvPr/>
          </p:nvSpPr>
          <p:spPr>
            <a:xfrm>
              <a:off x="549659" y="4597167"/>
              <a:ext cx="3548099" cy="369332"/>
            </a:xfrm>
            <a:prstGeom prst="rect">
              <a:avLst/>
            </a:prstGeom>
            <a:noFill/>
          </p:spPr>
          <p:txBody>
            <a:bodyPr wrap="square">
              <a:spAutoFit/>
            </a:bodyPr>
            <a:lstStyle/>
            <a:p>
              <a:r>
                <a:rPr lang="en-US" b="1" dirty="0"/>
                <a:t>Security parameters</a:t>
              </a:r>
              <a:endParaRPr lang="en-US" b="1" baseline="30000" dirty="0"/>
            </a:p>
          </p:txBody>
        </p:sp>
        <p:sp>
          <p:nvSpPr>
            <p:cNvPr id="19" name="TextBox 18">
              <a:extLst>
                <a:ext uri="{FF2B5EF4-FFF2-40B4-BE49-F238E27FC236}">
                  <a16:creationId xmlns:a16="http://schemas.microsoft.com/office/drawing/2014/main" id="{635263DD-ED99-4521-8E83-FA526CB50E78}"/>
                </a:ext>
              </a:extLst>
            </p:cNvPr>
            <p:cNvSpPr txBox="1"/>
            <p:nvPr/>
          </p:nvSpPr>
          <p:spPr>
            <a:xfrm>
              <a:off x="549660" y="4966499"/>
              <a:ext cx="3447574" cy="1754326"/>
            </a:xfrm>
            <a:prstGeom prst="rect">
              <a:avLst/>
            </a:prstGeom>
            <a:noFill/>
          </p:spPr>
          <p:txBody>
            <a:bodyPr wrap="square">
              <a:spAutoFit/>
            </a:bodyPr>
            <a:lstStyle/>
            <a:p>
              <a:r>
                <a:rPr lang="en-US" sz="1200" dirty="0"/>
                <a:t>- </a:t>
              </a:r>
              <a:r>
                <a:rPr lang="en-US" sz="1200" b="1" dirty="0"/>
                <a:t>n</a:t>
              </a:r>
              <a:r>
                <a:rPr lang="en-US" sz="1200" dirty="0"/>
                <a:t> is the ring dimension (degree of the cyclotomic polynomial). It controls hardness of Ring-LWE. Larger n → higher security but slower operations.</a:t>
              </a:r>
              <a:br>
                <a:rPr lang="en-US" sz="1200" dirty="0"/>
              </a:br>
              <a:r>
                <a:rPr lang="en-US" sz="1200" dirty="0"/>
                <a:t>- </a:t>
              </a:r>
              <a:r>
                <a:rPr lang="en-US" sz="1200" b="1" dirty="0"/>
                <a:t>q</a:t>
              </a:r>
              <a:r>
                <a:rPr lang="en-US" sz="1200" dirty="0"/>
                <a:t> is the ciphertext modulus. It bounds the size of coefficients during homomorphic evaluation.</a:t>
              </a:r>
              <a:br>
                <a:rPr lang="en-US" sz="1200" dirty="0"/>
              </a:br>
              <a:r>
                <a:rPr lang="en-US" sz="1200" dirty="0"/>
                <a:t>- </a:t>
              </a:r>
              <a:r>
                <a:rPr lang="en-US" sz="1200" b="1" dirty="0"/>
                <a:t>log q </a:t>
              </a:r>
              <a:r>
                <a:rPr lang="en-US" sz="1200" dirty="0"/>
                <a:t>is the bit-length of q (each coefficient takes log q bits / size of the modulus).</a:t>
              </a:r>
              <a:br>
                <a:rPr lang="en-US" sz="1200" dirty="0"/>
              </a:br>
              <a:r>
                <a:rPr lang="en-US" sz="1200" dirty="0"/>
                <a:t>- </a:t>
              </a:r>
              <a:r>
                <a:rPr lang="en-US" sz="1200" b="1" dirty="0"/>
                <a:t>t</a:t>
              </a:r>
              <a:r>
                <a:rPr lang="en-US" sz="1200" dirty="0"/>
                <a:t> is the plaintext modulus. Does not meaningfully affect security, but correctness and encoding.</a:t>
              </a:r>
            </a:p>
          </p:txBody>
        </p:sp>
      </p:grpSp>
      <p:grpSp>
        <p:nvGrpSpPr>
          <p:cNvPr id="18" name="Группа 17">
            <a:extLst>
              <a:ext uri="{FF2B5EF4-FFF2-40B4-BE49-F238E27FC236}">
                <a16:creationId xmlns:a16="http://schemas.microsoft.com/office/drawing/2014/main" id="{E14B41BE-1982-4AF4-9A83-743A01397C5E}"/>
              </a:ext>
            </a:extLst>
          </p:cNvPr>
          <p:cNvGrpSpPr/>
          <p:nvPr/>
        </p:nvGrpSpPr>
        <p:grpSpPr>
          <a:xfrm>
            <a:off x="549659" y="3517972"/>
            <a:ext cx="3548099" cy="1792542"/>
            <a:chOff x="4097758" y="4597167"/>
            <a:chExt cx="3548099" cy="1792542"/>
          </a:xfrm>
        </p:grpSpPr>
        <p:sp>
          <p:nvSpPr>
            <p:cNvPr id="23" name="TextBox 22">
              <a:extLst>
                <a:ext uri="{FF2B5EF4-FFF2-40B4-BE49-F238E27FC236}">
                  <a16:creationId xmlns:a16="http://schemas.microsoft.com/office/drawing/2014/main" id="{8E3A9BEA-E7CC-4125-89D1-EFDC5BB5EB9E}"/>
                </a:ext>
              </a:extLst>
            </p:cNvPr>
            <p:cNvSpPr txBox="1"/>
            <p:nvPr/>
          </p:nvSpPr>
          <p:spPr>
            <a:xfrm>
              <a:off x="4097758" y="4597167"/>
              <a:ext cx="3548099" cy="369332"/>
            </a:xfrm>
            <a:prstGeom prst="rect">
              <a:avLst/>
            </a:prstGeom>
            <a:noFill/>
          </p:spPr>
          <p:txBody>
            <a:bodyPr wrap="square">
              <a:spAutoFit/>
            </a:bodyPr>
            <a:lstStyle/>
            <a:p>
              <a:r>
                <a:rPr lang="en-US" b="1" dirty="0"/>
                <a:t>Depth (multiplicative depth)</a:t>
              </a:r>
              <a:endParaRPr lang="en-US" b="1" baseline="3000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DB4AAC2-6C94-46CC-A8C8-331689378167}"/>
                    </a:ext>
                  </a:extLst>
                </p:cNvPr>
                <p:cNvSpPr txBox="1"/>
                <p:nvPr/>
              </p:nvSpPr>
              <p:spPr>
                <a:xfrm>
                  <a:off x="4097758" y="4966499"/>
                  <a:ext cx="3447576" cy="1423210"/>
                </a:xfrm>
                <a:prstGeom prst="rect">
                  <a:avLst/>
                </a:prstGeom>
                <a:noFill/>
              </p:spPr>
              <p:txBody>
                <a:bodyPr wrap="square">
                  <a:spAutoFit/>
                </a:bodyPr>
                <a:lstStyle/>
                <a:p>
                  <a:r>
                    <a:rPr lang="en-US" sz="1200" b="1" dirty="0"/>
                    <a:t>Depth</a:t>
                  </a:r>
                  <a:r>
                    <a:rPr lang="en-US" sz="1200" dirty="0"/>
                    <a:t> is the number of </a:t>
                  </a:r>
                  <a:r>
                    <a:rPr lang="en-US" sz="1200" b="1" dirty="0"/>
                    <a:t>ciphertext–ciphertext multiplications</a:t>
                  </a:r>
                  <a:r>
                    <a:rPr lang="en-US" sz="1200" dirty="0"/>
                    <a:t> the circuit requires.</a:t>
                  </a:r>
                </a:p>
                <a:p>
                  <a:br>
                    <a:rPr lang="en-US" sz="1200" dirty="0"/>
                  </a:br>
                  <a:r>
                    <a:rPr lang="en-US" sz="1200" dirty="0"/>
                    <a:t>Each multiplication consumes part of the </a:t>
                  </a:r>
                  <a:r>
                    <a:rPr lang="en-US" sz="1200" b="1" dirty="0"/>
                    <a:t>noise budget</a:t>
                  </a:r>
                  <a:r>
                    <a:rPr lang="en-US" sz="1200" dirty="0"/>
                    <a:t> (</a:t>
                  </a:r>
                  <a14:m>
                    <m:oMath xmlns:m="http://schemas.openxmlformats.org/officeDocument/2006/math">
                      <m:f>
                        <m:fPr>
                          <m:ctrlPr>
                            <a:rPr lang="en-US" sz="1000" i="1" smtClean="0">
                              <a:latin typeface="Cambria Math" panose="02040503050406030204" pitchFamily="18" charset="0"/>
                            </a:rPr>
                          </m:ctrlPr>
                        </m:fPr>
                        <m:num>
                          <m:r>
                            <a:rPr lang="en-US" sz="1000" b="0" i="1" smtClean="0">
                              <a:latin typeface="Cambria Math" panose="02040503050406030204" pitchFamily="18" charset="0"/>
                            </a:rPr>
                            <m:t>𝑞</m:t>
                          </m:r>
                        </m:num>
                        <m:den>
                          <m:r>
                            <a:rPr lang="en-US" sz="1000" b="0" i="1" smtClean="0">
                              <a:latin typeface="Cambria Math" panose="02040503050406030204" pitchFamily="18" charset="0"/>
                            </a:rPr>
                            <m:t>2</m:t>
                          </m:r>
                          <m:r>
                            <a:rPr lang="en-US" sz="1000" b="0" i="1" smtClean="0">
                              <a:latin typeface="Cambria Math" panose="02040503050406030204" pitchFamily="18" charset="0"/>
                            </a:rPr>
                            <m:t>𝑡</m:t>
                          </m:r>
                        </m:den>
                      </m:f>
                      <m:r>
                        <a:rPr lang="en-US" sz="1000" b="0" i="1" smtClean="0">
                          <a:latin typeface="Cambria Math" panose="02040503050406030204" pitchFamily="18" charset="0"/>
                        </a:rPr>
                        <m:t>=</m:t>
                      </m:r>
                      <m:f>
                        <m:fPr>
                          <m:ctrlPr>
                            <a:rPr lang="en-US" sz="1000" b="0" i="1" smtClean="0">
                              <a:latin typeface="Cambria Math" panose="02040503050406030204" pitchFamily="18" charset="0"/>
                            </a:rPr>
                          </m:ctrlPr>
                        </m:fPr>
                        <m:num>
                          <m:r>
                            <m:rPr>
                              <m:sty m:val="p"/>
                            </m:rPr>
                            <a:rPr lang="el-GR" sz="1000" i="1" dirty="0">
                              <a:latin typeface="Cambria Math" panose="02040503050406030204" pitchFamily="18" charset="0"/>
                            </a:rPr>
                            <m:t>Δ</m:t>
                          </m:r>
                        </m:num>
                        <m:den>
                          <m:r>
                            <a:rPr lang="en-US" sz="1000" b="0" i="1" smtClean="0">
                              <a:latin typeface="Cambria Math" panose="02040503050406030204" pitchFamily="18" charset="0"/>
                            </a:rPr>
                            <m:t>2</m:t>
                          </m:r>
                        </m:den>
                      </m:f>
                    </m:oMath>
                  </a14:m>
                  <a:r>
                    <a:rPr lang="en-US" sz="1200" dirty="0"/>
                    <a:t>) and forces a modulus-switch; therefore, the maximum supported depth is roughly the number of mod-switch levels available in {{qi​}.</a:t>
                  </a:r>
                </a:p>
              </p:txBody>
            </p:sp>
          </mc:Choice>
          <mc:Fallback xmlns="">
            <p:sp>
              <p:nvSpPr>
                <p:cNvPr id="22" name="TextBox 21">
                  <a:extLst>
                    <a:ext uri="{FF2B5EF4-FFF2-40B4-BE49-F238E27FC236}">
                      <a16:creationId xmlns:a16="http://schemas.microsoft.com/office/drawing/2014/main" id="{1C2BC68C-F166-4B43-A94E-A5971E2E424A}"/>
                    </a:ext>
                  </a:extLst>
                </p:cNvPr>
                <p:cNvSpPr txBox="1">
                  <a:spLocks noRot="1" noChangeAspect="1" noMove="1" noResize="1" noEditPoints="1" noAdjustHandles="1" noChangeArrowheads="1" noChangeShapeType="1" noTextEdit="1"/>
                </p:cNvSpPr>
                <p:nvPr/>
              </p:nvSpPr>
              <p:spPr>
                <a:xfrm>
                  <a:off x="4097758" y="4966499"/>
                  <a:ext cx="3447576" cy="1423210"/>
                </a:xfrm>
                <a:prstGeom prst="rect">
                  <a:avLst/>
                </a:prstGeom>
                <a:blipFill>
                  <a:blip r:embed="rId7"/>
                  <a:stretch>
                    <a:fillRect t="-429" b="-3004"/>
                  </a:stretch>
                </a:blipFill>
              </p:spPr>
              <p:txBody>
                <a:bodyPr/>
                <a:lstStyle/>
                <a:p>
                  <a:r>
                    <a:rPr lang="en-US">
                      <a:noFill/>
                    </a:rPr>
                    <a:t> </a:t>
                  </a:r>
                </a:p>
              </p:txBody>
            </p:sp>
          </mc:Fallback>
        </mc:AlternateContent>
      </p:grpSp>
    </p:spTree>
    <p:extLst>
      <p:ext uri="{BB962C8B-B14F-4D97-AF65-F5344CB8AC3E}">
        <p14:creationId xmlns:p14="http://schemas.microsoft.com/office/powerpoint/2010/main" val="2415991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66DD1C0B-BD95-41F4-A0A3-F30CB998453D}"/>
              </a:ext>
            </a:extLst>
          </p:cNvPr>
          <p:cNvSpPr txBox="1"/>
          <p:nvPr/>
        </p:nvSpPr>
        <p:spPr>
          <a:xfrm>
            <a:off x="838200" y="1690688"/>
            <a:ext cx="9589316" cy="3293209"/>
          </a:xfrm>
          <a:prstGeom prst="rect">
            <a:avLst/>
          </a:prstGeom>
          <a:noFill/>
        </p:spPr>
        <p:txBody>
          <a:bodyPr wrap="square">
            <a:spAutoFit/>
          </a:bodyPr>
          <a:lstStyle/>
          <a:p>
            <a:pPr marL="342900" indent="-342900" algn="just">
              <a:buFont typeface="+mj-lt"/>
              <a:buAutoNum type="arabicPeriod"/>
            </a:pPr>
            <a:r>
              <a:rPr lang="en-US" sz="1600" dirty="0">
                <a:solidFill>
                  <a:schemeClr val="bg1">
                    <a:lumMod val="65000"/>
                  </a:schemeClr>
                </a:solidFill>
              </a:rPr>
              <a:t>Contents (current slide)</a:t>
            </a:r>
          </a:p>
          <a:p>
            <a:pPr marL="342900" indent="-342900" algn="just">
              <a:buFont typeface="+mj-lt"/>
              <a:buAutoNum type="arabicPeriod"/>
            </a:pPr>
            <a:r>
              <a:rPr lang="en-US" sz="1600" dirty="0">
                <a:solidFill>
                  <a:schemeClr val="bg1">
                    <a:lumMod val="65000"/>
                  </a:schemeClr>
                </a:solidFill>
              </a:rPr>
              <a:t>PIR Schemes Taxonomy</a:t>
            </a:r>
          </a:p>
          <a:p>
            <a:pPr marL="342900" indent="-342900" algn="just">
              <a:buFont typeface="+mj-lt"/>
              <a:buAutoNum type="arabicPeriod"/>
            </a:pPr>
            <a:r>
              <a:rPr lang="en-US" sz="1600" dirty="0">
                <a:solidFill>
                  <a:schemeClr val="bg1">
                    <a:lumMod val="65000"/>
                  </a:schemeClr>
                </a:solidFill>
              </a:rPr>
              <a:t>PIANO (PRF-based PPIR)</a:t>
            </a:r>
          </a:p>
          <a:p>
            <a:pPr marL="342900" indent="-342900" algn="just">
              <a:buFont typeface="+mj-lt"/>
              <a:buAutoNum type="arabicPeriod"/>
            </a:pPr>
            <a:r>
              <a:rPr lang="en-US" sz="1600" dirty="0">
                <a:solidFill>
                  <a:schemeClr val="bg1">
                    <a:lumMod val="65000"/>
                  </a:schemeClr>
                </a:solidFill>
              </a:rPr>
              <a:t>BFV-based PIR (learning example)</a:t>
            </a:r>
          </a:p>
          <a:p>
            <a:pPr marL="800100" lvl="1" indent="-342900" algn="just">
              <a:buFont typeface="+mj-lt"/>
              <a:buAutoNum type="arabicPeriod"/>
            </a:pPr>
            <a:r>
              <a:rPr lang="en-US" sz="1600" dirty="0">
                <a:solidFill>
                  <a:schemeClr val="bg1">
                    <a:lumMod val="65000"/>
                  </a:schemeClr>
                </a:solidFill>
              </a:rPr>
              <a:t>Basic LWE/RLWE CS</a:t>
            </a:r>
          </a:p>
          <a:p>
            <a:pPr marL="800100" lvl="1" indent="-342900" algn="just">
              <a:buFont typeface="+mj-lt"/>
              <a:buAutoNum type="arabicPeriod"/>
            </a:pPr>
            <a:r>
              <a:rPr lang="en-US" sz="1600" dirty="0">
                <a:solidFill>
                  <a:schemeClr val="bg1">
                    <a:lumMod val="65000"/>
                  </a:schemeClr>
                </a:solidFill>
              </a:rPr>
              <a:t>BFV.SHE scheme from RLWE CS</a:t>
            </a:r>
          </a:p>
          <a:p>
            <a:pPr marL="800100" lvl="1" indent="-342900" algn="just">
              <a:buFont typeface="+mj-lt"/>
              <a:buAutoNum type="arabicPeriod"/>
            </a:pPr>
            <a:r>
              <a:rPr lang="en-US" sz="1600" dirty="0">
                <a:solidFill>
                  <a:schemeClr val="bg1">
                    <a:lumMod val="65000"/>
                  </a:schemeClr>
                </a:solidFill>
              </a:rPr>
              <a:t>CPIR from BFV.SHE scheme</a:t>
            </a:r>
          </a:p>
          <a:p>
            <a:pPr marL="342900" indent="-342900" algn="just">
              <a:buFont typeface="+mj-lt"/>
              <a:buAutoNum type="arabicPeriod"/>
            </a:pPr>
            <a:r>
              <a:rPr lang="en-US" sz="1600" dirty="0"/>
              <a:t>Preprocessing PIR Taxonomy</a:t>
            </a:r>
          </a:p>
          <a:p>
            <a:pPr marL="342900" indent="-342900" algn="just">
              <a:buFont typeface="+mj-lt"/>
              <a:buAutoNum type="arabicPeriod"/>
            </a:pPr>
            <a:r>
              <a:rPr lang="en-US" sz="1600" b="1" dirty="0" err="1"/>
              <a:t>FrodoPIR</a:t>
            </a:r>
            <a:r>
              <a:rPr lang="en-US" sz="1600" b="1" dirty="0"/>
              <a:t> -&gt; </a:t>
            </a:r>
            <a:r>
              <a:rPr lang="en-US" sz="1600" b="1" dirty="0" err="1"/>
              <a:t>SimplePIR</a:t>
            </a:r>
            <a:r>
              <a:rPr lang="en-US" sz="1600" dirty="0"/>
              <a:t> </a:t>
            </a:r>
            <a:r>
              <a:rPr lang="en-US" sz="1600" i="1" dirty="0">
                <a:solidFill>
                  <a:schemeClr val="bg1">
                    <a:lumMod val="65000"/>
                  </a:schemeClr>
                </a:solidFill>
              </a:rPr>
              <a:t>(LWE-based PPIR) </a:t>
            </a:r>
          </a:p>
          <a:p>
            <a:pPr marL="342900" indent="-342900" algn="just">
              <a:buFont typeface="+mj-lt"/>
              <a:buAutoNum type="arabicPeriod"/>
            </a:pPr>
            <a:r>
              <a:rPr lang="en-US" sz="1600" dirty="0"/>
              <a:t>Hypercube-based PIR (d-dimensional database structure)</a:t>
            </a:r>
            <a:endParaRPr lang="en-US" sz="1600" dirty="0">
              <a:hlinkClick r:id="rId3">
                <a:extLst>
                  <a:ext uri="{A12FA001-AC4F-418D-AE19-62706E023703}">
                    <ahyp:hlinkClr xmlns:ahyp="http://schemas.microsoft.com/office/drawing/2018/hyperlinkcolor" val="tx"/>
                  </a:ext>
                </a:extLst>
              </a:hlinkClick>
            </a:endParaRPr>
          </a:p>
          <a:p>
            <a:pPr marL="342900" indent="-342900" algn="just">
              <a:buFont typeface="+mj-lt"/>
              <a:buAutoNum type="arabicPeriod"/>
            </a:pPr>
            <a:r>
              <a:rPr lang="en-US" sz="1600" b="1" dirty="0">
                <a:hlinkClick r:id="rId3"/>
              </a:rPr>
              <a:t>XPIR</a:t>
            </a:r>
            <a:r>
              <a:rPr lang="en-US" sz="1600" b="1" dirty="0"/>
              <a:t> </a:t>
            </a:r>
            <a:r>
              <a:rPr lang="en-US" sz="1600" i="1" dirty="0">
                <a:solidFill>
                  <a:schemeClr val="bg1">
                    <a:lumMod val="65000"/>
                  </a:schemeClr>
                </a:solidFill>
              </a:rPr>
              <a:t>(</a:t>
            </a:r>
            <a:r>
              <a:rPr lang="en-US" sz="1600" i="1" dirty="0" err="1">
                <a:solidFill>
                  <a:schemeClr val="bg1">
                    <a:lumMod val="65000"/>
                  </a:schemeClr>
                </a:solidFill>
              </a:rPr>
              <a:t>PoPETs</a:t>
            </a:r>
            <a:r>
              <a:rPr lang="en-US" sz="1600" i="1" dirty="0">
                <a:solidFill>
                  <a:schemeClr val="bg1">
                    <a:lumMod val="65000"/>
                  </a:schemeClr>
                </a:solidFill>
              </a:rPr>
              <a:t> ’16) </a:t>
            </a:r>
            <a:r>
              <a:rPr lang="en-US" sz="1600" dirty="0"/>
              <a:t>-&gt; </a:t>
            </a:r>
            <a:r>
              <a:rPr lang="en-US" sz="1600" b="1" dirty="0" err="1">
                <a:hlinkClick r:id="rId4"/>
              </a:rPr>
              <a:t>SealPIR</a:t>
            </a:r>
            <a:r>
              <a:rPr lang="en-US" sz="1600" b="1" dirty="0"/>
              <a:t> </a:t>
            </a:r>
            <a:r>
              <a:rPr lang="en-US" sz="1600" i="1" dirty="0">
                <a:solidFill>
                  <a:schemeClr val="bg1">
                    <a:lumMod val="65000"/>
                  </a:schemeClr>
                </a:solidFill>
              </a:rPr>
              <a:t>(IEEE S&amp;P ‘18) </a:t>
            </a:r>
            <a:r>
              <a:rPr lang="en-US" sz="1600" dirty="0"/>
              <a:t>-&gt; </a:t>
            </a:r>
            <a:r>
              <a:rPr lang="en-US" sz="1600" b="1" dirty="0" err="1">
                <a:hlinkClick r:id="rId5"/>
              </a:rPr>
              <a:t>OnionPIR</a:t>
            </a:r>
            <a:r>
              <a:rPr lang="en-US" sz="1600" b="1" dirty="0"/>
              <a:t> </a:t>
            </a:r>
            <a:r>
              <a:rPr lang="en-US" sz="1600" i="1" dirty="0">
                <a:solidFill>
                  <a:schemeClr val="bg1">
                    <a:lumMod val="65000"/>
                  </a:schemeClr>
                </a:solidFill>
              </a:rPr>
              <a:t>(CCS ‘21) (RLWE-based Hypercube CPIR)</a:t>
            </a:r>
            <a:endParaRPr lang="en-US" sz="1600" b="1" dirty="0"/>
          </a:p>
          <a:p>
            <a:pPr marL="342900" indent="-342900" algn="just">
              <a:buFont typeface="+mj-lt"/>
              <a:buAutoNum type="arabicPeriod"/>
            </a:pPr>
            <a:r>
              <a:rPr lang="en-US" sz="1600" b="1" dirty="0" err="1"/>
              <a:t>HintlessPIR</a:t>
            </a:r>
            <a:r>
              <a:rPr lang="en-US" sz="1600" b="1" dirty="0"/>
              <a:t> -&gt; YPIR -&gt; InsPIRe </a:t>
            </a:r>
            <a:r>
              <a:rPr lang="en-US" sz="1600" i="1" dirty="0">
                <a:solidFill>
                  <a:schemeClr val="bg1">
                    <a:lumMod val="65000"/>
                  </a:schemeClr>
                </a:solidFill>
              </a:rPr>
              <a:t>(RLWE-based Silent PPIR)</a:t>
            </a:r>
            <a:endParaRPr lang="en-US" sz="1600" i="1" dirty="0"/>
          </a:p>
          <a:p>
            <a:pPr marL="342900" indent="-342900" algn="just">
              <a:buFont typeface="+mj-lt"/>
              <a:buAutoNum type="arabicPeriod"/>
            </a:pPr>
            <a:r>
              <a:rPr lang="en-US" sz="1600" dirty="0"/>
              <a:t>…..</a:t>
            </a:r>
          </a:p>
        </p:txBody>
      </p:sp>
      <p:sp>
        <p:nvSpPr>
          <p:cNvPr id="7" name="文本框 9">
            <a:extLst>
              <a:ext uri="{FF2B5EF4-FFF2-40B4-BE49-F238E27FC236}">
                <a16:creationId xmlns:a16="http://schemas.microsoft.com/office/drawing/2014/main" id="{00FA6250-5667-46DE-981B-DE3AA359010D}"/>
              </a:ext>
            </a:extLst>
          </p:cNvPr>
          <p:cNvSpPr txBox="1"/>
          <p:nvPr/>
        </p:nvSpPr>
        <p:spPr>
          <a:xfrm>
            <a:off x="1299595" y="183700"/>
            <a:ext cx="4174732" cy="430164"/>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Contents</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8" name="组合 22">
            <a:extLst>
              <a:ext uri="{FF2B5EF4-FFF2-40B4-BE49-F238E27FC236}">
                <a16:creationId xmlns:a16="http://schemas.microsoft.com/office/drawing/2014/main" id="{753562DE-BBEB-435F-9548-051CE1E6701D}"/>
              </a:ext>
            </a:extLst>
          </p:cNvPr>
          <p:cNvGrpSpPr/>
          <p:nvPr/>
        </p:nvGrpSpPr>
        <p:grpSpPr>
          <a:xfrm>
            <a:off x="11236541" y="460205"/>
            <a:ext cx="258653" cy="233204"/>
            <a:chOff x="3720691" y="2824413"/>
            <a:chExt cx="1341120" cy="1209172"/>
          </a:xfrm>
        </p:grpSpPr>
        <p:sp>
          <p:nvSpPr>
            <p:cNvPr id="10" name="Freeform 5">
              <a:extLst>
                <a:ext uri="{FF2B5EF4-FFF2-40B4-BE49-F238E27FC236}">
                  <a16:creationId xmlns:a16="http://schemas.microsoft.com/office/drawing/2014/main" id="{B647DE18-6820-4D8B-A0A0-E7FC55EAC5DB}"/>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1" name="Freeform 5">
              <a:extLst>
                <a:ext uri="{FF2B5EF4-FFF2-40B4-BE49-F238E27FC236}">
                  <a16:creationId xmlns:a16="http://schemas.microsoft.com/office/drawing/2014/main" id="{364A9732-E766-4A23-B779-CFE365E02C07}"/>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grpSp>
        <p:nvGrpSpPr>
          <p:cNvPr id="14" name="组合 47">
            <a:extLst>
              <a:ext uri="{FF2B5EF4-FFF2-40B4-BE49-F238E27FC236}">
                <a16:creationId xmlns:a16="http://schemas.microsoft.com/office/drawing/2014/main" id="{2AA47792-6E63-49B6-94B0-882EE7BD444D}"/>
              </a:ext>
            </a:extLst>
          </p:cNvPr>
          <p:cNvGrpSpPr/>
          <p:nvPr/>
        </p:nvGrpSpPr>
        <p:grpSpPr>
          <a:xfrm>
            <a:off x="10640968" y="1516795"/>
            <a:ext cx="278312" cy="184463"/>
            <a:chOff x="9482595" y="2565731"/>
            <a:chExt cx="278384" cy="184511"/>
          </a:xfrm>
        </p:grpSpPr>
        <p:sp>
          <p:nvSpPr>
            <p:cNvPr id="15" name="椭圆 48">
              <a:extLst>
                <a:ext uri="{FF2B5EF4-FFF2-40B4-BE49-F238E27FC236}">
                  <a16:creationId xmlns:a16="http://schemas.microsoft.com/office/drawing/2014/main" id="{CED0810E-0E08-46CA-9853-00481C9D4D48}"/>
                </a:ext>
              </a:extLst>
            </p:cNvPr>
            <p:cNvSpPr/>
            <p:nvPr/>
          </p:nvSpPr>
          <p:spPr>
            <a:xfrm>
              <a:off x="9482595" y="2565731"/>
              <a:ext cx="71376" cy="713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6" name="椭圆 49">
              <a:extLst>
                <a:ext uri="{FF2B5EF4-FFF2-40B4-BE49-F238E27FC236}">
                  <a16:creationId xmlns:a16="http://schemas.microsoft.com/office/drawing/2014/main" id="{D4F5AD11-23A8-45C5-9543-E4BFD937F50B}"/>
                </a:ext>
              </a:extLst>
            </p:cNvPr>
            <p:cNvSpPr/>
            <p:nvPr/>
          </p:nvSpPr>
          <p:spPr>
            <a:xfrm>
              <a:off x="9625979" y="2615242"/>
              <a:ext cx="135000" cy="135000"/>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grpSp>
      <p:sp>
        <p:nvSpPr>
          <p:cNvPr id="17" name="矩形 2">
            <a:extLst>
              <a:ext uri="{FF2B5EF4-FFF2-40B4-BE49-F238E27FC236}">
                <a16:creationId xmlns:a16="http://schemas.microsoft.com/office/drawing/2014/main" id="{21755ECA-F305-4951-B838-415C63138EF6}"/>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8" name="图片 3" descr="重庆邮电大学标准校徽 (1)">
            <a:extLst>
              <a:ext uri="{FF2B5EF4-FFF2-40B4-BE49-F238E27FC236}">
                <a16:creationId xmlns:a16="http://schemas.microsoft.com/office/drawing/2014/main" id="{FFDF112F-7591-47BF-BBFB-378A9CD8DCBB}"/>
              </a:ext>
            </a:extLst>
          </p:cNvPr>
          <p:cNvPicPr>
            <a:picLocks noChangeAspect="1"/>
          </p:cNvPicPr>
          <p:nvPr/>
        </p:nvPicPr>
        <p:blipFill>
          <a:blip r:embed="rId6"/>
          <a:stretch>
            <a:fillRect/>
          </a:stretch>
        </p:blipFill>
        <p:spPr>
          <a:xfrm>
            <a:off x="549659" y="190896"/>
            <a:ext cx="612897" cy="612897"/>
          </a:xfrm>
          <a:prstGeom prst="rect">
            <a:avLst/>
          </a:prstGeom>
        </p:spPr>
      </p:pic>
    </p:spTree>
    <p:extLst>
      <p:ext uri="{BB962C8B-B14F-4D97-AF65-F5344CB8AC3E}">
        <p14:creationId xmlns:p14="http://schemas.microsoft.com/office/powerpoint/2010/main" val="16562205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9">
            <a:extLst>
              <a:ext uri="{FF2B5EF4-FFF2-40B4-BE49-F238E27FC236}">
                <a16:creationId xmlns:a16="http://schemas.microsoft.com/office/drawing/2014/main" id="{00FA6250-5667-46DE-981B-DE3AA359010D}"/>
              </a:ext>
            </a:extLst>
          </p:cNvPr>
          <p:cNvSpPr txBox="1"/>
          <p:nvPr/>
        </p:nvSpPr>
        <p:spPr>
          <a:xfrm>
            <a:off x="1299595" y="183700"/>
            <a:ext cx="5241882"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Taxonomy of Preprocessing 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8" name="组合 22">
            <a:extLst>
              <a:ext uri="{FF2B5EF4-FFF2-40B4-BE49-F238E27FC236}">
                <a16:creationId xmlns:a16="http://schemas.microsoft.com/office/drawing/2014/main" id="{753562DE-BBEB-435F-9548-051CE1E6701D}"/>
              </a:ext>
            </a:extLst>
          </p:cNvPr>
          <p:cNvGrpSpPr/>
          <p:nvPr/>
        </p:nvGrpSpPr>
        <p:grpSpPr>
          <a:xfrm>
            <a:off x="11236541" y="460205"/>
            <a:ext cx="258653" cy="233204"/>
            <a:chOff x="3720691" y="2824413"/>
            <a:chExt cx="1341120" cy="1209172"/>
          </a:xfrm>
        </p:grpSpPr>
        <p:sp>
          <p:nvSpPr>
            <p:cNvPr id="10" name="Freeform 5">
              <a:extLst>
                <a:ext uri="{FF2B5EF4-FFF2-40B4-BE49-F238E27FC236}">
                  <a16:creationId xmlns:a16="http://schemas.microsoft.com/office/drawing/2014/main" id="{B647DE18-6820-4D8B-A0A0-E7FC55EAC5DB}"/>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1" name="Freeform 5">
              <a:extLst>
                <a:ext uri="{FF2B5EF4-FFF2-40B4-BE49-F238E27FC236}">
                  <a16:creationId xmlns:a16="http://schemas.microsoft.com/office/drawing/2014/main" id="{364A9732-E766-4A23-B779-CFE365E02C07}"/>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grpSp>
        <p:nvGrpSpPr>
          <p:cNvPr id="14" name="组合 47">
            <a:extLst>
              <a:ext uri="{FF2B5EF4-FFF2-40B4-BE49-F238E27FC236}">
                <a16:creationId xmlns:a16="http://schemas.microsoft.com/office/drawing/2014/main" id="{2AA47792-6E63-49B6-94B0-882EE7BD444D}"/>
              </a:ext>
            </a:extLst>
          </p:cNvPr>
          <p:cNvGrpSpPr/>
          <p:nvPr/>
        </p:nvGrpSpPr>
        <p:grpSpPr>
          <a:xfrm>
            <a:off x="10640968" y="1516795"/>
            <a:ext cx="278312" cy="184463"/>
            <a:chOff x="9482595" y="2565731"/>
            <a:chExt cx="278384" cy="184511"/>
          </a:xfrm>
        </p:grpSpPr>
        <p:sp>
          <p:nvSpPr>
            <p:cNvPr id="15" name="椭圆 48">
              <a:extLst>
                <a:ext uri="{FF2B5EF4-FFF2-40B4-BE49-F238E27FC236}">
                  <a16:creationId xmlns:a16="http://schemas.microsoft.com/office/drawing/2014/main" id="{CED0810E-0E08-46CA-9853-00481C9D4D48}"/>
                </a:ext>
              </a:extLst>
            </p:cNvPr>
            <p:cNvSpPr/>
            <p:nvPr/>
          </p:nvSpPr>
          <p:spPr>
            <a:xfrm>
              <a:off x="9482595" y="2565731"/>
              <a:ext cx="71376" cy="71376"/>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sp>
          <p:nvSpPr>
            <p:cNvPr id="16" name="椭圆 49">
              <a:extLst>
                <a:ext uri="{FF2B5EF4-FFF2-40B4-BE49-F238E27FC236}">
                  <a16:creationId xmlns:a16="http://schemas.microsoft.com/office/drawing/2014/main" id="{D4F5AD11-23A8-45C5-9543-E4BFD937F50B}"/>
                </a:ext>
              </a:extLst>
            </p:cNvPr>
            <p:cNvSpPr/>
            <p:nvPr/>
          </p:nvSpPr>
          <p:spPr>
            <a:xfrm>
              <a:off x="9625979" y="2615242"/>
              <a:ext cx="135000" cy="135000"/>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endParaRPr>
            </a:p>
          </p:txBody>
        </p:sp>
      </p:grpSp>
      <p:sp>
        <p:nvSpPr>
          <p:cNvPr id="17" name="矩形 2">
            <a:extLst>
              <a:ext uri="{FF2B5EF4-FFF2-40B4-BE49-F238E27FC236}">
                <a16:creationId xmlns:a16="http://schemas.microsoft.com/office/drawing/2014/main" id="{21755ECA-F305-4951-B838-415C63138EF6}"/>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8" name="图片 3" descr="重庆邮电大学标准校徽 (1)">
            <a:extLst>
              <a:ext uri="{FF2B5EF4-FFF2-40B4-BE49-F238E27FC236}">
                <a16:creationId xmlns:a16="http://schemas.microsoft.com/office/drawing/2014/main" id="{FFDF112F-7591-47BF-BBFB-378A9CD8DCBB}"/>
              </a:ext>
            </a:extLst>
          </p:cNvPr>
          <p:cNvPicPr>
            <a:picLocks noChangeAspect="1"/>
          </p:cNvPicPr>
          <p:nvPr/>
        </p:nvPicPr>
        <p:blipFill>
          <a:blip r:embed="rId3"/>
          <a:stretch>
            <a:fillRect/>
          </a:stretch>
        </p:blipFill>
        <p:spPr>
          <a:xfrm>
            <a:off x="549659" y="190896"/>
            <a:ext cx="612897" cy="612897"/>
          </a:xfrm>
          <a:prstGeom prst="rect">
            <a:avLst/>
          </a:prstGeom>
        </p:spPr>
      </p:pic>
      <p:graphicFrame>
        <p:nvGraphicFramePr>
          <p:cNvPr id="12" name="Таблица 26">
            <a:extLst>
              <a:ext uri="{FF2B5EF4-FFF2-40B4-BE49-F238E27FC236}">
                <a16:creationId xmlns:a16="http://schemas.microsoft.com/office/drawing/2014/main" id="{BE352593-C481-4159-A78E-6A872B94B459}"/>
              </a:ext>
            </a:extLst>
          </p:cNvPr>
          <p:cNvGraphicFramePr>
            <a:graphicFrameLocks noGrp="1"/>
          </p:cNvGraphicFramePr>
          <p:nvPr>
            <p:extLst>
              <p:ext uri="{D42A27DB-BD31-4B8C-83A1-F6EECF244321}">
                <p14:modId xmlns:p14="http://schemas.microsoft.com/office/powerpoint/2010/main" val="2522701575"/>
              </p:ext>
            </p:extLst>
          </p:nvPr>
        </p:nvGraphicFramePr>
        <p:xfrm>
          <a:off x="452972" y="895034"/>
          <a:ext cx="11286056" cy="5861424"/>
        </p:xfrm>
        <a:graphic>
          <a:graphicData uri="http://schemas.openxmlformats.org/drawingml/2006/table">
            <a:tbl>
              <a:tblPr/>
              <a:tblGrid>
                <a:gridCol w="2821514">
                  <a:extLst>
                    <a:ext uri="{9D8B030D-6E8A-4147-A177-3AD203B41FA5}">
                      <a16:colId xmlns:a16="http://schemas.microsoft.com/office/drawing/2014/main" val="1367483894"/>
                    </a:ext>
                  </a:extLst>
                </a:gridCol>
                <a:gridCol w="2821514">
                  <a:extLst>
                    <a:ext uri="{9D8B030D-6E8A-4147-A177-3AD203B41FA5}">
                      <a16:colId xmlns:a16="http://schemas.microsoft.com/office/drawing/2014/main" val="2041462668"/>
                    </a:ext>
                  </a:extLst>
                </a:gridCol>
                <a:gridCol w="2821514">
                  <a:extLst>
                    <a:ext uri="{9D8B030D-6E8A-4147-A177-3AD203B41FA5}">
                      <a16:colId xmlns:a16="http://schemas.microsoft.com/office/drawing/2014/main" val="4169282995"/>
                    </a:ext>
                  </a:extLst>
                </a:gridCol>
                <a:gridCol w="2821514">
                  <a:extLst>
                    <a:ext uri="{9D8B030D-6E8A-4147-A177-3AD203B41FA5}">
                      <a16:colId xmlns:a16="http://schemas.microsoft.com/office/drawing/2014/main" val="3642437413"/>
                    </a:ext>
                  </a:extLst>
                </a:gridCol>
              </a:tblGrid>
              <a:tr h="195566">
                <a:tc>
                  <a:txBody>
                    <a:bodyPr/>
                    <a:lstStyle/>
                    <a:p>
                      <a:r>
                        <a:rPr lang="en-US" sz="1200" b="1" dirty="0"/>
                        <a:t>Category</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t>Scheme</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a:t>Year</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Journal / Venue</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4028799"/>
                  </a:ext>
                </a:extLst>
              </a:tr>
              <a:tr h="195566">
                <a:tc rowSpan="6">
                  <a:txBody>
                    <a:bodyPr/>
                    <a:lstStyle/>
                    <a:p>
                      <a:r>
                        <a:rPr lang="en-US" sz="1200" b="1" dirty="0"/>
                        <a:t>Server-stored Client Specific Keys</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sz="1200" dirty="0">
                          <a:hlinkClick r:id="rId4"/>
                        </a:rPr>
                        <a:t>PIR with compressed queries</a:t>
                      </a:r>
                      <a:endParaRPr lang="da-DK"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2018</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3916285"/>
                  </a:ext>
                </a:extLst>
              </a:tr>
              <a:tr h="342240">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hlinkClick r:id="rId5"/>
                        </a:rPr>
                        <a:t>Comm-comp trade-offs in PIR</a:t>
                      </a:r>
                      <a:endParaRPr lang="pt-BR"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2021</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USENIX Security</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3423292"/>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6"/>
                        </a:rPr>
                        <a:t>Addra (</a:t>
                      </a:r>
                      <a:r>
                        <a:rPr lang="en-US" sz="1200" dirty="0" err="1">
                          <a:hlinkClick r:id="rId6"/>
                        </a:rPr>
                        <a:t>FastPIR</a:t>
                      </a:r>
                      <a:r>
                        <a:rPr lang="en-US" sz="1200" dirty="0">
                          <a:hlinkClick r:id="rId6"/>
                        </a:rPr>
                        <a:t>)</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2021</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USENIX OSDI</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3050290"/>
                  </a:ext>
                </a:extLst>
              </a:tr>
              <a:tr h="342240">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hlinkClick r:id="rId7"/>
                        </a:rPr>
                        <a:t>OnionPIR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2021</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ACM CCS</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1409680"/>
                  </a:ext>
                </a:extLst>
              </a:tr>
              <a:tr h="342240">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8"/>
                        </a:rPr>
                        <a:t>SPIRAL</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2022</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8067650"/>
                  </a:ext>
                </a:extLst>
              </a:tr>
              <a:tr h="342240">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9"/>
                        </a:rPr>
                        <a:t>Respire</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ACM CCS</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2551247"/>
                  </a:ext>
                </a:extLst>
              </a:tr>
              <a:tr h="342240">
                <a:tc rowSpan="6">
                  <a:txBody>
                    <a:bodyPr/>
                    <a:lstStyle/>
                    <a:p>
                      <a:r>
                        <a:rPr lang="en-US" sz="1200" b="1" dirty="0"/>
                        <a:t>Client-stored database hints </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hlinkClick r:id="rId10"/>
                        </a:rPr>
                        <a:t>cPIR</a:t>
                      </a:r>
                      <a:r>
                        <a:rPr lang="en-US" sz="1200" dirty="0">
                          <a:hlinkClick r:id="rId10"/>
                        </a:rPr>
                        <a:t> w. amortized time</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2022</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EUROCRYPT</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3006448"/>
                  </a:ext>
                </a:extLst>
              </a:tr>
              <a:tr h="342240">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hlinkClick r:id="rId11"/>
                        </a:rPr>
                        <a:t>SimplePIR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2023</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USENIX Security</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29498"/>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hlinkClick r:id="rId12"/>
                        </a:rPr>
                        <a:t>FrodoPIR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2023</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err="1"/>
                        <a:t>PoPETS</a:t>
                      </a:r>
                      <a:endParaRPr lang="en-US" sz="1200" i="1"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43405"/>
                  </a:ext>
                </a:extLst>
              </a:tr>
              <a:tr h="195566">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hlinkClick r:id="rId13"/>
                        </a:rPr>
                        <a:t>ThorPIR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ACM CCS</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6558099"/>
                  </a:ext>
                </a:extLst>
              </a:tr>
              <a:tr h="195566">
                <a:tc vMerge="1">
                  <a:txBody>
                    <a:bodyPr/>
                    <a:lstStyle/>
                    <a:p>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14"/>
                        </a:rPr>
                        <a:t>Simple and practical </a:t>
                      </a:r>
                      <a:r>
                        <a:rPr lang="en-US" sz="1200" dirty="0" err="1">
                          <a:hlinkClick r:id="rId14"/>
                        </a:rPr>
                        <a:t>a.s.</a:t>
                      </a:r>
                      <a:r>
                        <a:rPr lang="en-US" sz="1200" dirty="0">
                          <a:hlinkClick r:id="rId14"/>
                        </a:rPr>
                        <a:t> 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ACM CCS</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7005272"/>
                  </a:ext>
                </a:extLst>
              </a:tr>
              <a:tr h="195566">
                <a:tc vMerge="1">
                  <a:txBody>
                    <a:bodyPr/>
                    <a:lstStyle/>
                    <a:p>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15"/>
                        </a:rPr>
                        <a:t>Piano</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4231082"/>
                  </a:ext>
                </a:extLst>
              </a:tr>
              <a:tr h="195566">
                <a:tc rowSpan="8">
                  <a:txBody>
                    <a:bodyPr/>
                    <a:lstStyle/>
                    <a:p>
                      <a:r>
                        <a:rPr lang="en-US" sz="1200" b="1" dirty="0"/>
                        <a:t>Server-side preprocessing without offline communication (Silent 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16"/>
                        </a:rPr>
                        <a:t>Private web search with tiptoe</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2023</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SOSP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3191630"/>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17"/>
                        </a:rPr>
                        <a:t>DEPIR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2023</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ACM STC</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449974"/>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hlinkClick r:id="rId18"/>
                        </a:rPr>
                        <a:t>HintlessPIR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CRYPTO</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1840516"/>
                  </a:ext>
                </a:extLst>
              </a:tr>
              <a:tr h="195566">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19"/>
                        </a:rPr>
                        <a:t>YPIR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USENIX Security</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8649025"/>
                  </a:ext>
                </a:extLst>
              </a:tr>
              <a:tr h="195566">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hlinkClick r:id="rId20"/>
                        </a:rPr>
                        <a:t>KsPIR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ACM SIGSAC</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5771959"/>
                  </a:ext>
                </a:extLst>
              </a:tr>
              <a:tr h="342240">
                <a:tc vMerge="1">
                  <a:txBody>
                    <a:bodyPr/>
                    <a:lstStyle/>
                    <a:p>
                      <a:endParaRPr lang="en-US" sz="160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err="1">
                          <a:hlinkClick r:id="rId21"/>
                        </a:rPr>
                        <a:t>Whispr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t>2024</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200" dirty="0"/>
                        <a:t>Cryptology </a:t>
                      </a:r>
                      <a:r>
                        <a:rPr lang="en-US" sz="1200" dirty="0" err="1"/>
                        <a:t>ePrint</a:t>
                      </a:r>
                      <a:r>
                        <a:rPr lang="en-US" sz="1200" dirty="0"/>
                        <a:t> Archive</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588443"/>
                  </a:ext>
                </a:extLst>
              </a:tr>
              <a:tr h="342240">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22"/>
                        </a:rPr>
                        <a:t>Peer2PIR</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2025</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7269753"/>
                  </a:ext>
                </a:extLst>
              </a:tr>
              <a:tr h="342240">
                <a:tc vMerge="1">
                  <a:txBody>
                    <a:bodyPr/>
                    <a:lstStyle/>
                    <a:p>
                      <a:endParaRPr lang="en-US" sz="16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hlinkClick r:id="rId17"/>
                        </a:rPr>
                        <a:t>InsPIRe</a:t>
                      </a:r>
                      <a:endParaRPr lang="en-US" sz="1200" dirty="0"/>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2026</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i="1" dirty="0"/>
                        <a:t>IEEE S&amp;P</a:t>
                      </a:r>
                    </a:p>
                  </a:txBody>
                  <a:tcPr marL="48891" marR="48891" marT="24446" marB="244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1734920"/>
                  </a:ext>
                </a:extLst>
              </a:tr>
            </a:tbl>
          </a:graphicData>
        </a:graphic>
      </p:graphicFrame>
    </p:spTree>
    <p:extLst>
      <p:ext uri="{BB962C8B-B14F-4D97-AF65-F5344CB8AC3E}">
        <p14:creationId xmlns:p14="http://schemas.microsoft.com/office/powerpoint/2010/main" val="2574576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03</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425082" y="3761990"/>
            <a:ext cx="3341835" cy="853375"/>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LWE-based PPIR</a:t>
            </a:r>
          </a:p>
          <a:p>
            <a:pPr>
              <a:lnSpc>
                <a:spcPct val="130000"/>
              </a:lnSpc>
            </a:pP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基于</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LWE</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的预处理</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711787"/>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33</a:t>
            </a:fld>
            <a:endParaRPr lang="en-US"/>
          </a:p>
        </p:txBody>
      </p:sp>
    </p:spTree>
    <p:extLst>
      <p:ext uri="{BB962C8B-B14F-4D97-AF65-F5344CB8AC3E}">
        <p14:creationId xmlns:p14="http://schemas.microsoft.com/office/powerpoint/2010/main" val="157861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3.1</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872498" y="3784210"/>
            <a:ext cx="2539445" cy="452496"/>
          </a:xfrm>
          <a:prstGeom prst="rect">
            <a:avLst/>
          </a:prstGeom>
          <a:noFill/>
        </p:spPr>
        <p:txBody>
          <a:bodyPr wrap="square" rtlCol="0" anchor="t">
            <a:spAutoFit/>
          </a:bodyPr>
          <a:lstStyle/>
          <a:p>
            <a:pPr>
              <a:lnSpc>
                <a:spcPct val="130000"/>
              </a:lnSpc>
            </a:pPr>
            <a:r>
              <a:rPr lang="en-US" altLang="zh-CN" sz="2000" spc="406" dirty="0" err="1">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hlinkClick r:id="rId3"/>
              </a:rPr>
              <a:t>FrodoPIR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34</a:t>
            </a:fld>
            <a:endParaRPr lang="en-US"/>
          </a:p>
        </p:txBody>
      </p:sp>
      <p:sp>
        <p:nvSpPr>
          <p:cNvPr id="6" name="TextBox 5">
            <a:extLst>
              <a:ext uri="{FF2B5EF4-FFF2-40B4-BE49-F238E27FC236}">
                <a16:creationId xmlns:a16="http://schemas.microsoft.com/office/drawing/2014/main" id="{8361B3E9-FA2B-461A-A933-2F6B8BD34F2C}"/>
              </a:ext>
            </a:extLst>
          </p:cNvPr>
          <p:cNvSpPr txBox="1"/>
          <p:nvPr/>
        </p:nvSpPr>
        <p:spPr>
          <a:xfrm>
            <a:off x="185855" y="580011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LWE-based</a:t>
            </a:r>
          </a:p>
        </p:txBody>
      </p:sp>
      <p:sp>
        <p:nvSpPr>
          <p:cNvPr id="7" name="TextBox 6">
            <a:extLst>
              <a:ext uri="{FF2B5EF4-FFF2-40B4-BE49-F238E27FC236}">
                <a16:creationId xmlns:a16="http://schemas.microsoft.com/office/drawing/2014/main" id="{152DC0C1-0B7D-4D6C-8E12-EBF40E4D029C}"/>
              </a:ext>
            </a:extLst>
          </p:cNvPr>
          <p:cNvSpPr txBox="1"/>
          <p:nvPr/>
        </p:nvSpPr>
        <p:spPr>
          <a:xfrm>
            <a:off x="185855" y="6263401"/>
            <a:ext cx="4394534"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Client-Stored Database Hints</a:t>
            </a:r>
          </a:p>
        </p:txBody>
      </p:sp>
    </p:spTree>
    <p:extLst>
      <p:ext uri="{BB962C8B-B14F-4D97-AF65-F5344CB8AC3E}">
        <p14:creationId xmlns:p14="http://schemas.microsoft.com/office/powerpoint/2010/main" val="11717552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22">
            <a:extLst>
              <a:ext uri="{FF2B5EF4-FFF2-40B4-BE49-F238E27FC236}">
                <a16:creationId xmlns:a16="http://schemas.microsoft.com/office/drawing/2014/main" id="{36894D00-87FE-4D31-BA5A-50490172C574}"/>
              </a:ext>
            </a:extLst>
          </p:cNvPr>
          <p:cNvGrpSpPr/>
          <p:nvPr/>
        </p:nvGrpSpPr>
        <p:grpSpPr>
          <a:xfrm>
            <a:off x="3242514" y="5006104"/>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pic>
        <p:nvPicPr>
          <p:cNvPr id="47" name="Picture 46">
            <a:extLst>
              <a:ext uri="{FF2B5EF4-FFF2-40B4-BE49-F238E27FC236}">
                <a16:creationId xmlns:a16="http://schemas.microsoft.com/office/drawing/2014/main" id="{9E18ACC8-9246-43E1-9D8E-A88DA960E6C0}"/>
              </a:ext>
            </a:extLst>
          </p:cNvPr>
          <p:cNvPicPr>
            <a:picLocks noChangeAspect="1"/>
          </p:cNvPicPr>
          <p:nvPr/>
        </p:nvPicPr>
        <p:blipFill>
          <a:blip r:embed="rId3"/>
          <a:stretch>
            <a:fillRect/>
          </a:stretch>
        </p:blipFill>
        <p:spPr>
          <a:xfrm>
            <a:off x="291880" y="2018947"/>
            <a:ext cx="3815321" cy="2548266"/>
          </a:xfrm>
          <a:prstGeom prst="rect">
            <a:avLst/>
          </a:prstGeom>
        </p:spPr>
      </p:pic>
      <p:grpSp>
        <p:nvGrpSpPr>
          <p:cNvPr id="52" name="Group 51">
            <a:extLst>
              <a:ext uri="{FF2B5EF4-FFF2-40B4-BE49-F238E27FC236}">
                <a16:creationId xmlns:a16="http://schemas.microsoft.com/office/drawing/2014/main" id="{B8799788-906E-4EE6-B149-08EF8C975F16}"/>
              </a:ext>
            </a:extLst>
          </p:cNvPr>
          <p:cNvGrpSpPr/>
          <p:nvPr/>
        </p:nvGrpSpPr>
        <p:grpSpPr>
          <a:xfrm>
            <a:off x="291880" y="4729599"/>
            <a:ext cx="3815322" cy="2024942"/>
            <a:chOff x="5183003" y="1245047"/>
            <a:chExt cx="5076825" cy="2694471"/>
          </a:xfrm>
        </p:grpSpPr>
        <p:pic>
          <p:nvPicPr>
            <p:cNvPr id="49" name="Picture 48">
              <a:extLst>
                <a:ext uri="{FF2B5EF4-FFF2-40B4-BE49-F238E27FC236}">
                  <a16:creationId xmlns:a16="http://schemas.microsoft.com/office/drawing/2014/main" id="{96CF12F9-8499-46EE-A3A9-28A6668FB770}"/>
                </a:ext>
              </a:extLst>
            </p:cNvPr>
            <p:cNvPicPr>
              <a:picLocks noChangeAspect="1"/>
            </p:cNvPicPr>
            <p:nvPr/>
          </p:nvPicPr>
          <p:blipFill>
            <a:blip r:embed="rId4"/>
            <a:stretch>
              <a:fillRect/>
            </a:stretch>
          </p:blipFill>
          <p:spPr>
            <a:xfrm>
              <a:off x="5183003" y="1245047"/>
              <a:ext cx="5076825" cy="1743075"/>
            </a:xfrm>
            <a:prstGeom prst="rect">
              <a:avLst/>
            </a:prstGeom>
          </p:spPr>
        </p:pic>
        <p:pic>
          <p:nvPicPr>
            <p:cNvPr id="51" name="Picture 50">
              <a:extLst>
                <a:ext uri="{FF2B5EF4-FFF2-40B4-BE49-F238E27FC236}">
                  <a16:creationId xmlns:a16="http://schemas.microsoft.com/office/drawing/2014/main" id="{EA595A48-B521-4F81-A496-186192420840}"/>
                </a:ext>
              </a:extLst>
            </p:cNvPr>
            <p:cNvPicPr>
              <a:picLocks noChangeAspect="1"/>
            </p:cNvPicPr>
            <p:nvPr/>
          </p:nvPicPr>
          <p:blipFill>
            <a:blip r:embed="rId5"/>
            <a:stretch>
              <a:fillRect/>
            </a:stretch>
          </p:blipFill>
          <p:spPr>
            <a:xfrm>
              <a:off x="5183003" y="2918481"/>
              <a:ext cx="5076825" cy="1021037"/>
            </a:xfrm>
            <a:prstGeom prst="rect">
              <a:avLst/>
            </a:prstGeom>
          </p:spPr>
        </p:pic>
      </p:grpSp>
      <p:cxnSp>
        <p:nvCxnSpPr>
          <p:cNvPr id="34" name="Straight Connector 33">
            <a:extLst>
              <a:ext uri="{FF2B5EF4-FFF2-40B4-BE49-F238E27FC236}">
                <a16:creationId xmlns:a16="http://schemas.microsoft.com/office/drawing/2014/main" id="{AA68E6D4-BA5D-41B9-9E26-891B40AD71F2}"/>
              </a:ext>
            </a:extLst>
          </p:cNvPr>
          <p:cNvCxnSpPr>
            <a:cxnSpLocks/>
          </p:cNvCxnSpPr>
          <p:nvPr/>
        </p:nvCxnSpPr>
        <p:spPr>
          <a:xfrm>
            <a:off x="981920" y="2808550"/>
            <a:ext cx="52607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3D54F9F-4458-4400-A178-BCEF28D312DA}"/>
              </a:ext>
            </a:extLst>
          </p:cNvPr>
          <p:cNvCxnSpPr>
            <a:cxnSpLocks/>
          </p:cNvCxnSpPr>
          <p:nvPr/>
        </p:nvCxnSpPr>
        <p:spPr>
          <a:xfrm>
            <a:off x="1366417" y="3108995"/>
            <a:ext cx="61183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BC37E15-7991-4D1F-BB7D-2060CF3724F3}"/>
              </a:ext>
            </a:extLst>
          </p:cNvPr>
          <p:cNvCxnSpPr>
            <a:cxnSpLocks/>
          </p:cNvCxnSpPr>
          <p:nvPr/>
        </p:nvCxnSpPr>
        <p:spPr>
          <a:xfrm>
            <a:off x="1348999" y="4006996"/>
            <a:ext cx="61183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EC8214A-990F-455A-9A95-F5EC86ECB936}"/>
              </a:ext>
            </a:extLst>
          </p:cNvPr>
          <p:cNvSpPr txBox="1"/>
          <p:nvPr/>
        </p:nvSpPr>
        <p:spPr>
          <a:xfrm>
            <a:off x="291880" y="1605533"/>
            <a:ext cx="2184832" cy="369332"/>
          </a:xfrm>
          <a:prstGeom prst="rect">
            <a:avLst/>
          </a:prstGeom>
          <a:noFill/>
        </p:spPr>
        <p:txBody>
          <a:bodyPr wrap="square">
            <a:spAutoFit/>
          </a:bodyPr>
          <a:lstStyle/>
          <a:p>
            <a:pPr algn="just"/>
            <a:r>
              <a:rPr lang="en-US" b="1" dirty="0" err="1"/>
              <a:t>FrodoPIR</a:t>
            </a:r>
            <a:r>
              <a:rPr lang="en-US" b="1" dirty="0"/>
              <a:t> Scheme</a:t>
            </a:r>
          </a:p>
        </p:txBody>
      </p:sp>
      <p:cxnSp>
        <p:nvCxnSpPr>
          <p:cNvPr id="53" name="Straight Connector 52">
            <a:extLst>
              <a:ext uri="{FF2B5EF4-FFF2-40B4-BE49-F238E27FC236}">
                <a16:creationId xmlns:a16="http://schemas.microsoft.com/office/drawing/2014/main" id="{BEAA6C8B-542A-464F-8770-F093277DEDAF}"/>
              </a:ext>
            </a:extLst>
          </p:cNvPr>
          <p:cNvCxnSpPr>
            <a:cxnSpLocks/>
          </p:cNvCxnSpPr>
          <p:nvPr/>
        </p:nvCxnSpPr>
        <p:spPr>
          <a:xfrm>
            <a:off x="1474306" y="5161655"/>
            <a:ext cx="61183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E6483C4-F7EB-43B3-859A-6C0D2E2AAF90}"/>
              </a:ext>
            </a:extLst>
          </p:cNvPr>
          <p:cNvCxnSpPr>
            <a:cxnSpLocks/>
          </p:cNvCxnSpPr>
          <p:nvPr/>
        </p:nvCxnSpPr>
        <p:spPr>
          <a:xfrm>
            <a:off x="1147735" y="6254580"/>
            <a:ext cx="61183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2883151-1BBF-45C7-AE3D-7EAE4EB4F098}"/>
              </a:ext>
            </a:extLst>
          </p:cNvPr>
          <p:cNvCxnSpPr>
            <a:cxnSpLocks/>
          </p:cNvCxnSpPr>
          <p:nvPr/>
        </p:nvCxnSpPr>
        <p:spPr>
          <a:xfrm>
            <a:off x="1395929" y="6546317"/>
            <a:ext cx="61183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pic>
        <p:nvPicPr>
          <p:cNvPr id="68" name="Picture 4">
            <a:extLst>
              <a:ext uri="{FF2B5EF4-FFF2-40B4-BE49-F238E27FC236}">
                <a16:creationId xmlns:a16="http://schemas.microsoft.com/office/drawing/2014/main" id="{9E84475E-70AF-41C4-8B94-0B2B24FBD45D}"/>
              </a:ext>
            </a:extLst>
          </p:cNvPr>
          <p:cNvPicPr>
            <a:picLocks noChangeAspect="1"/>
          </p:cNvPicPr>
          <p:nvPr/>
        </p:nvPicPr>
        <p:blipFill>
          <a:blip r:embed="rId6"/>
          <a:stretch>
            <a:fillRect/>
          </a:stretch>
        </p:blipFill>
        <p:spPr>
          <a:xfrm>
            <a:off x="55194" y="281084"/>
            <a:ext cx="2144347" cy="1324449"/>
          </a:xfrm>
          <a:prstGeom prst="rect">
            <a:avLst/>
          </a:prstGeom>
        </p:spPr>
      </p:pic>
      <p:pic>
        <p:nvPicPr>
          <p:cNvPr id="69" name="Picture 6">
            <a:extLst>
              <a:ext uri="{FF2B5EF4-FFF2-40B4-BE49-F238E27FC236}">
                <a16:creationId xmlns:a16="http://schemas.microsoft.com/office/drawing/2014/main" id="{62F7D619-3D57-4FFE-9783-46F8CC23E711}"/>
              </a:ext>
            </a:extLst>
          </p:cNvPr>
          <p:cNvPicPr>
            <a:picLocks noChangeAspect="1"/>
          </p:cNvPicPr>
          <p:nvPr/>
        </p:nvPicPr>
        <p:blipFill>
          <a:blip r:embed="rId7"/>
          <a:stretch>
            <a:fillRect/>
          </a:stretch>
        </p:blipFill>
        <p:spPr>
          <a:xfrm>
            <a:off x="2289760" y="300467"/>
            <a:ext cx="2087011" cy="1267113"/>
          </a:xfrm>
          <a:prstGeom prst="rect">
            <a:avLst/>
          </a:prstGeom>
        </p:spPr>
      </p:pic>
      <p:pic>
        <p:nvPicPr>
          <p:cNvPr id="71" name="Picture 10">
            <a:extLst>
              <a:ext uri="{FF2B5EF4-FFF2-40B4-BE49-F238E27FC236}">
                <a16:creationId xmlns:a16="http://schemas.microsoft.com/office/drawing/2014/main" id="{293F8438-C35D-48B0-8619-1E0531224A49}"/>
              </a:ext>
            </a:extLst>
          </p:cNvPr>
          <p:cNvPicPr>
            <a:picLocks noChangeAspect="1"/>
          </p:cNvPicPr>
          <p:nvPr/>
        </p:nvPicPr>
        <p:blipFill>
          <a:blip r:embed="rId8"/>
          <a:stretch>
            <a:fillRect/>
          </a:stretch>
        </p:blipFill>
        <p:spPr>
          <a:xfrm>
            <a:off x="4474182" y="281084"/>
            <a:ext cx="2316354" cy="997637"/>
          </a:xfrm>
          <a:prstGeom prst="rect">
            <a:avLst/>
          </a:prstGeom>
        </p:spPr>
      </p:pic>
      <p:pic>
        <p:nvPicPr>
          <p:cNvPr id="72" name="Picture 16">
            <a:extLst>
              <a:ext uri="{FF2B5EF4-FFF2-40B4-BE49-F238E27FC236}">
                <a16:creationId xmlns:a16="http://schemas.microsoft.com/office/drawing/2014/main" id="{CABA7BB1-105F-4645-A81F-50F59121FFC2}"/>
              </a:ext>
            </a:extLst>
          </p:cNvPr>
          <p:cNvPicPr>
            <a:picLocks noChangeAspect="1"/>
          </p:cNvPicPr>
          <p:nvPr/>
        </p:nvPicPr>
        <p:blipFill>
          <a:blip r:embed="rId9"/>
          <a:stretch>
            <a:fillRect/>
          </a:stretch>
        </p:blipFill>
        <p:spPr>
          <a:xfrm>
            <a:off x="6887947" y="258149"/>
            <a:ext cx="1955140" cy="1043506"/>
          </a:xfrm>
          <a:prstGeom prst="rect">
            <a:avLst/>
          </a:prstGeom>
        </p:spPr>
      </p:pic>
      <p:grpSp>
        <p:nvGrpSpPr>
          <p:cNvPr id="3" name="Группа 2">
            <a:extLst>
              <a:ext uri="{FF2B5EF4-FFF2-40B4-BE49-F238E27FC236}">
                <a16:creationId xmlns:a16="http://schemas.microsoft.com/office/drawing/2014/main" id="{3F471367-9D17-43D7-AF99-F310BD2E492D}"/>
              </a:ext>
            </a:extLst>
          </p:cNvPr>
          <p:cNvGrpSpPr/>
          <p:nvPr/>
        </p:nvGrpSpPr>
        <p:grpSpPr>
          <a:xfrm>
            <a:off x="8956371" y="62249"/>
            <a:ext cx="3014719" cy="1208244"/>
            <a:chOff x="8956371" y="62249"/>
            <a:chExt cx="3014719" cy="1208244"/>
          </a:xfrm>
        </p:grpSpPr>
        <p:pic>
          <p:nvPicPr>
            <p:cNvPr id="73" name="Picture 18">
              <a:extLst>
                <a:ext uri="{FF2B5EF4-FFF2-40B4-BE49-F238E27FC236}">
                  <a16:creationId xmlns:a16="http://schemas.microsoft.com/office/drawing/2014/main" id="{58EA31A0-2F9C-43A8-8AA2-B3800312E3CE}"/>
                </a:ext>
              </a:extLst>
            </p:cNvPr>
            <p:cNvPicPr>
              <a:picLocks noChangeAspect="1"/>
            </p:cNvPicPr>
            <p:nvPr/>
          </p:nvPicPr>
          <p:blipFill>
            <a:blip r:embed="rId10"/>
            <a:stretch>
              <a:fillRect/>
            </a:stretch>
          </p:blipFill>
          <p:spPr>
            <a:xfrm>
              <a:off x="9055109" y="62249"/>
              <a:ext cx="2356490" cy="871500"/>
            </a:xfrm>
            <a:prstGeom prst="rect">
              <a:avLst/>
            </a:prstGeom>
          </p:spPr>
        </p:pic>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A1902CFE-D040-462B-ABF7-C61B578F7B4F}"/>
                    </a:ext>
                  </a:extLst>
                </p:cNvPr>
                <p:cNvSpPr txBox="1"/>
                <p:nvPr/>
              </p:nvSpPr>
              <p:spPr>
                <a:xfrm>
                  <a:off x="8956371" y="993494"/>
                  <a:ext cx="3014719"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m:t>
                        </m:r>
                        <m:d>
                          <m:dPr>
                            <m:begChr m:val="["/>
                            <m:ctrlPr>
                              <a:rPr lang="en-US" sz="1200" b="1" i="1" smtClean="0">
                                <a:latin typeface="Cambria Math" panose="02040503050406030204" pitchFamily="18" charset="0"/>
                              </a:rPr>
                            </m:ctrlPr>
                          </m:dPr>
                          <m:e>
                            <m:d>
                              <m:dPr>
                                <m:ctrlPr>
                                  <a:rPr lang="en-US" sz="1200" b="1" i="1" smtClean="0">
                                    <a:latin typeface="Cambria Math" panose="02040503050406030204" pitchFamily="18" charset="0"/>
                                  </a:rPr>
                                </m:ctrlPr>
                              </m:dPr>
                              <m:e>
                                <m:r>
                                  <a:rPr lang="en-US" sz="1200" b="1" i="1" smtClean="0">
                                    <a:latin typeface="Cambria Math" panose="02040503050406030204" pitchFamily="18" charset="0"/>
                                  </a:rPr>
                                  <m:t>(</m:t>
                                </m:r>
                                <m:d>
                                  <m:dPr>
                                    <m:ctrlPr>
                                      <a:rPr lang="en-US" sz="1200" b="1" i="1" smtClean="0">
                                        <a:latin typeface="Cambria Math" panose="02040503050406030204" pitchFamily="18" charset="0"/>
                                      </a:rPr>
                                    </m:ctrlPr>
                                  </m:dPr>
                                  <m:e>
                                    <m:r>
                                      <a:rPr lang="en-US" sz="1200" b="1" i="1" smtClean="0">
                                        <a:latin typeface="Cambria Math" panose="02040503050406030204" pitchFamily="18" charset="0"/>
                                      </a:rPr>
                                      <m:t>𝒔𝑨</m:t>
                                    </m:r>
                                    <m:r>
                                      <a:rPr lang="en-US" sz="1200" b="1" i="1" smtClean="0">
                                        <a:latin typeface="Cambria Math" panose="02040503050406030204" pitchFamily="18" charset="0"/>
                                      </a:rPr>
                                      <m:t>+</m:t>
                                    </m:r>
                                    <m:r>
                                      <a:rPr lang="en-US" sz="1200" b="1" i="1" smtClean="0">
                                        <a:latin typeface="Cambria Math" panose="02040503050406030204" pitchFamily="18" charset="0"/>
                                      </a:rPr>
                                      <m:t>𝒆</m:t>
                                    </m:r>
                                  </m:e>
                                </m:d>
                                <m:r>
                                  <a:rPr lang="en-US" sz="1200" b="1" i="1" smtClean="0">
                                    <a:latin typeface="Cambria Math" panose="02040503050406030204" pitchFamily="18" charset="0"/>
                                  </a:rPr>
                                  <m:t>+</m:t>
                                </m:r>
                                <m:r>
                                  <a:rPr lang="en-US" sz="1200" b="1" i="1" smtClean="0">
                                    <a:latin typeface="Cambria Math" panose="02040503050406030204" pitchFamily="18" charset="0"/>
                                  </a:rPr>
                                  <m:t>𝒙</m:t>
                                </m:r>
                                <m:d>
                                  <m:dPr>
                                    <m:begChr m:val="["/>
                                    <m:endChr m:val="]"/>
                                    <m:ctrlPr>
                                      <a:rPr lang="en-US" sz="1200" b="1" i="1" smtClean="0">
                                        <a:latin typeface="Cambria Math" panose="02040503050406030204" pitchFamily="18" charset="0"/>
                                      </a:rPr>
                                    </m:ctrlPr>
                                  </m:dPr>
                                  <m:e>
                                    <m:r>
                                      <a:rPr lang="en-US" sz="1200" b="1" i="1" smtClean="0">
                                        <a:latin typeface="Cambria Math" panose="02040503050406030204" pitchFamily="18" charset="0"/>
                                      </a:rPr>
                                      <m:t>𝒊</m:t>
                                    </m:r>
                                  </m:e>
                                </m:d>
                              </m:e>
                            </m:d>
                            <m:r>
                              <a:rPr lang="en-US" sz="1200" b="1" i="1" smtClean="0">
                                <a:latin typeface="Cambria Math" panose="02040503050406030204" pitchFamily="18" charset="0"/>
                              </a:rPr>
                              <m:t>𝑫𝑩</m:t>
                            </m:r>
                          </m:e>
                        </m:d>
                        <m:r>
                          <a:rPr lang="en-US" sz="1200" b="1" i="1" smtClean="0">
                            <a:latin typeface="Cambria Math" panose="02040503050406030204" pitchFamily="18" charset="0"/>
                          </a:rPr>
                          <m:t>−</m:t>
                        </m:r>
                        <m:r>
                          <a:rPr lang="en-US" sz="1200" b="1" i="1" smtClean="0">
                            <a:latin typeface="Cambria Math" panose="02040503050406030204" pitchFamily="18" charset="0"/>
                          </a:rPr>
                          <m:t>𝒔𝑴</m:t>
                        </m:r>
                        <m:r>
                          <a:rPr lang="en-US" sz="1200" b="1" i="1" smtClean="0">
                            <a:latin typeface="Cambria Math" panose="02040503050406030204" pitchFamily="18" charset="0"/>
                          </a:rPr>
                          <m:t>]=</m:t>
                        </m:r>
                        <m:r>
                          <a:rPr lang="en-US" sz="1200" b="1" i="1" smtClean="0">
                            <a:latin typeface="Cambria Math" panose="02040503050406030204" pitchFamily="18" charset="0"/>
                          </a:rPr>
                          <m:t>𝑫𝑩</m:t>
                        </m:r>
                        <m:r>
                          <a:rPr lang="en-US" sz="1200" b="1" i="1" smtClean="0">
                            <a:latin typeface="Cambria Math" panose="02040503050406030204" pitchFamily="18" charset="0"/>
                          </a:rPr>
                          <m:t>[</m:t>
                        </m:r>
                        <m:r>
                          <a:rPr lang="en-US" sz="1200" b="1" i="1" smtClean="0">
                            <a:latin typeface="Cambria Math" panose="02040503050406030204" pitchFamily="18" charset="0"/>
                          </a:rPr>
                          <m:t>𝒊</m:t>
                        </m:r>
                        <m:r>
                          <a:rPr lang="en-US" sz="1200" b="1" i="1" smtClean="0">
                            <a:latin typeface="Cambria Math" panose="02040503050406030204" pitchFamily="18" charset="0"/>
                          </a:rPr>
                          <m:t>]</m:t>
                        </m:r>
                      </m:oMath>
                    </m:oMathPara>
                  </a14:m>
                  <a:endParaRPr lang="en-US" sz="1200" b="1" dirty="0"/>
                </a:p>
              </p:txBody>
            </p:sp>
          </mc:Choice>
          <mc:Fallback xmlns="">
            <p:sp>
              <p:nvSpPr>
                <p:cNvPr id="77" name="TextBox 76">
                  <a:extLst>
                    <a:ext uri="{FF2B5EF4-FFF2-40B4-BE49-F238E27FC236}">
                      <a16:creationId xmlns:a16="http://schemas.microsoft.com/office/drawing/2014/main" id="{A1902CFE-D040-462B-ABF7-C61B578F7B4F}"/>
                    </a:ext>
                  </a:extLst>
                </p:cNvPr>
                <p:cNvSpPr txBox="1">
                  <a:spLocks noRot="1" noChangeAspect="1" noMove="1" noResize="1" noEditPoints="1" noAdjustHandles="1" noChangeArrowheads="1" noChangeShapeType="1" noTextEdit="1"/>
                </p:cNvSpPr>
                <p:nvPr/>
              </p:nvSpPr>
              <p:spPr>
                <a:xfrm>
                  <a:off x="8956371" y="993494"/>
                  <a:ext cx="3014719" cy="276999"/>
                </a:xfrm>
                <a:prstGeom prst="rect">
                  <a:avLst/>
                </a:prstGeom>
                <a:blipFill>
                  <a:blip r:embed="rId11"/>
                  <a:stretch>
                    <a:fillRect b="-8889"/>
                  </a:stretch>
                </a:blipFill>
              </p:spPr>
              <p:txBody>
                <a:bodyPr/>
                <a:lstStyle/>
                <a:p>
                  <a:r>
                    <a:rPr lang="en-US">
                      <a:noFill/>
                    </a:rPr>
                    <a:t> </a:t>
                  </a:r>
                </a:p>
              </p:txBody>
            </p:sp>
          </mc:Fallback>
        </mc:AlternateContent>
      </p:grpSp>
      <p:sp>
        <p:nvSpPr>
          <p:cNvPr id="91" name="TextBox 90">
            <a:extLst>
              <a:ext uri="{FF2B5EF4-FFF2-40B4-BE49-F238E27FC236}">
                <a16:creationId xmlns:a16="http://schemas.microsoft.com/office/drawing/2014/main" id="{6341F541-916D-4F2A-A498-101FF2C44284}"/>
              </a:ext>
            </a:extLst>
          </p:cNvPr>
          <p:cNvSpPr txBox="1"/>
          <p:nvPr/>
        </p:nvSpPr>
        <p:spPr>
          <a:xfrm>
            <a:off x="4262375" y="1391613"/>
            <a:ext cx="5697822" cy="369332"/>
          </a:xfrm>
          <a:prstGeom prst="rect">
            <a:avLst/>
          </a:prstGeom>
          <a:noFill/>
        </p:spPr>
        <p:txBody>
          <a:bodyPr wrap="square">
            <a:spAutoFit/>
          </a:bodyPr>
          <a:lstStyle/>
          <a:p>
            <a:pPr algn="just"/>
            <a:r>
              <a:rPr lang="en-US" b="1" dirty="0" err="1"/>
              <a:t>FrodoPIR</a:t>
            </a:r>
            <a:r>
              <a:rPr lang="en-US" b="1" dirty="0"/>
              <a:t> complexities breakdown:</a:t>
            </a:r>
          </a:p>
        </p:txBody>
      </p:sp>
      <p:grpSp>
        <p:nvGrpSpPr>
          <p:cNvPr id="92" name="Group 5">
            <a:extLst>
              <a:ext uri="{FF2B5EF4-FFF2-40B4-BE49-F238E27FC236}">
                <a16:creationId xmlns:a16="http://schemas.microsoft.com/office/drawing/2014/main" id="{6178B369-3A48-4B8C-96C9-C3D4B01A6210}"/>
              </a:ext>
            </a:extLst>
          </p:cNvPr>
          <p:cNvGrpSpPr/>
          <p:nvPr/>
        </p:nvGrpSpPr>
        <p:grpSpPr>
          <a:xfrm>
            <a:off x="4264220" y="1757857"/>
            <a:ext cx="6780045" cy="520807"/>
            <a:chOff x="6359306" y="3621341"/>
            <a:chExt cx="6780045" cy="520807"/>
          </a:xfrm>
        </p:grpSpPr>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D43070D6-B675-4983-AA06-E7487D729CC5}"/>
                    </a:ext>
                  </a:extLst>
                </p:cNvPr>
                <p:cNvSpPr txBox="1"/>
                <p:nvPr/>
              </p:nvSpPr>
              <p:spPr>
                <a:xfrm>
                  <a:off x="6385377" y="3621341"/>
                  <a:ext cx="5142572" cy="279051"/>
                </a:xfrm>
                <a:prstGeom prst="rect">
                  <a:avLst/>
                </a:prstGeom>
                <a:noFill/>
              </p:spPr>
              <p:txBody>
                <a:bodyPr wrap="square">
                  <a:spAutoFit/>
                </a:bodyPr>
                <a:lstStyle/>
                <a:p>
                  <a:pPr algn="just"/>
                  <a:r>
                    <a:rPr lang="en-US" sz="1200" i="1" dirty="0">
                      <a:latin typeface="Google Sans Text"/>
                    </a:rPr>
                    <a:t>FPIR.spreproc (</a:t>
                  </a:r>
                  <a:r>
                    <a:rPr lang="en-US" sz="1200" i="1" dirty="0"/>
                    <a:t>Offline server work) (performed 1 time for </a:t>
                  </a:r>
                  <a14:m>
                    <m:oMath xmlns:m="http://schemas.openxmlformats.org/officeDocument/2006/math">
                      <m:r>
                        <a:rPr lang="en-US" sz="1200" b="0" i="1" smtClean="0">
                          <a:latin typeface="Cambria Math" panose="02040503050406030204" pitchFamily="18" charset="0"/>
                        </a:rPr>
                        <m:t>𝑐</m:t>
                      </m:r>
                      <m:r>
                        <a:rPr lang="en-US" sz="1200" b="0" i="1" smtClean="0">
                          <a:latin typeface="Cambria Math" panose="02040503050406030204" pitchFamily="18" charset="0"/>
                        </a:rPr>
                        <m:t>=</m:t>
                      </m:r>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𝑚</m:t>
                          </m:r>
                        </m:e>
                      </m:rad>
                    </m:oMath>
                  </a14:m>
                  <a:r>
                    <a:rPr lang="en-US" sz="1200" i="1" dirty="0"/>
                    <a:t> queries): </a:t>
                  </a:r>
                </a:p>
              </p:txBody>
            </p:sp>
          </mc:Choice>
          <mc:Fallback xmlns="">
            <p:sp>
              <p:nvSpPr>
                <p:cNvPr id="93" name="TextBox 92">
                  <a:extLst>
                    <a:ext uri="{FF2B5EF4-FFF2-40B4-BE49-F238E27FC236}">
                      <a16:creationId xmlns:a16="http://schemas.microsoft.com/office/drawing/2014/main" id="{D43070D6-B675-4983-AA06-E7487D729CC5}"/>
                    </a:ext>
                  </a:extLst>
                </p:cNvPr>
                <p:cNvSpPr txBox="1">
                  <a:spLocks noRot="1" noChangeAspect="1" noMove="1" noResize="1" noEditPoints="1" noAdjustHandles="1" noChangeArrowheads="1" noChangeShapeType="1" noTextEdit="1"/>
                </p:cNvSpPr>
                <p:nvPr/>
              </p:nvSpPr>
              <p:spPr>
                <a:xfrm>
                  <a:off x="6385377" y="3621341"/>
                  <a:ext cx="5142572" cy="279051"/>
                </a:xfrm>
                <a:prstGeom prst="rect">
                  <a:avLst/>
                </a:prstGeom>
                <a:blipFill>
                  <a:blip r:embed="rId12"/>
                  <a:stretch>
                    <a:fillRect l="-119"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B65E3D6-912F-4114-8065-527AD1446626}"/>
                    </a:ext>
                  </a:extLst>
                </p:cNvPr>
                <p:cNvSpPr txBox="1"/>
                <p:nvPr/>
              </p:nvSpPr>
              <p:spPr>
                <a:xfrm>
                  <a:off x="6359306" y="3867521"/>
                  <a:ext cx="6780045" cy="274627"/>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r>
                        <a:rPr lang="en-US" sz="1100" b="0" i="1" smtClean="0">
                          <a:latin typeface="Cambria Math" panose="02040503050406030204" pitchFamily="18" charset="0"/>
                        </a:rPr>
                        <m:t>𝑀</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sup>
                      </m:sSubSup>
                      <m:r>
                        <a:rPr lang="en-US" sz="1100" b="0" i="1" smtClean="0">
                          <a:latin typeface="Cambria Math" panose="02040503050406030204" pitchFamily="18" charset="0"/>
                        </a:rPr>
                        <m:t>=</m:t>
                      </m:r>
                      <m:r>
                        <a:rPr lang="en-US" sz="1100" b="0" i="1" smtClean="0">
                          <a:latin typeface="Cambria Math" panose="02040503050406030204" pitchFamily="18" charset="0"/>
                        </a:rPr>
                        <m:t>𝐴</m:t>
                      </m:r>
                      <m:r>
                        <a:rPr lang="en-US" sz="1100" b="0" i="1" smtClean="0">
                          <a:latin typeface="Cambria Math" panose="02040503050406030204" pitchFamily="18" charset="0"/>
                          <a:ea typeface="Cambria Math" panose="02040503050406030204" pitchFamily="18" charset="0"/>
                        </a:rPr>
                        <m:t>∈</m:t>
                      </m:r>
                      <m:sSubSup>
                        <m:sSubSupPr>
                          <m:ctrlPr>
                            <a:rPr lang="en-US" sz="1100" b="0" i="1" smtClean="0">
                              <a:latin typeface="Cambria Math" panose="02040503050406030204" pitchFamily="18" charset="0"/>
                              <a:ea typeface="Cambria Math" panose="02040503050406030204" pitchFamily="18" charset="0"/>
                            </a:rPr>
                          </m:ctrlPr>
                        </m:sSubSupPr>
                        <m:e>
                          <m:r>
                            <a:rPr lang="en-US" sz="1100" b="0" i="1" smtClean="0">
                              <a:latin typeface="Cambria Math" panose="02040503050406030204" pitchFamily="18" charset="0"/>
                              <a:ea typeface="Cambria Math" panose="02040503050406030204" pitchFamily="18" charset="0"/>
                            </a:rPr>
                            <m:t>𝑍</m:t>
                          </m:r>
                        </m:e>
                        <m:sub>
                          <m:r>
                            <a:rPr lang="en-US" sz="1100" b="0" i="1" smtClean="0">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𝑚</m:t>
                          </m:r>
                        </m:sup>
                      </m:sSubSup>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𝐷</m:t>
                      </m:r>
                      <m:r>
                        <a:rPr lang="en-US" sz="1100" i="1">
                          <a:latin typeface="Cambria Math" panose="02040503050406030204" pitchFamily="18" charset="0"/>
                          <a:ea typeface="Cambria Math" panose="02040503050406030204" pitchFamily="18" charset="0"/>
                        </a:rPr>
                        <m:t>∈</m:t>
                      </m:r>
                      <m:sSubSup>
                        <m:sSubSupPr>
                          <m:ctrlPr>
                            <a:rPr lang="en-US" sz="1100" i="1" smtClean="0">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ea typeface="Cambria Math" panose="02040503050406030204" pitchFamily="18" charset="0"/>
                            </a:rPr>
                            <m:t>𝑚</m:t>
                          </m:r>
                          <m:r>
                            <a:rPr lang="en-US" sz="110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sup>
                      </m:sSubSup>
                      <m:r>
                        <a:rPr lang="en-US" sz="1100" i="1">
                          <a:latin typeface="Cambria Math" panose="02040503050406030204" pitchFamily="18" charset="0"/>
                        </a:rPr>
                        <m:t>=</m:t>
                      </m:r>
                    </m:oMath>
                  </a14:m>
                  <a:r>
                    <a:rPr lang="en-US" sz="1100" dirty="0"/>
                    <a:t> </a:t>
                  </a:r>
                  <a14:m>
                    <m:oMath xmlns:m="http://schemas.openxmlformats.org/officeDocument/2006/math">
                      <m:r>
                        <a:rPr lang="en-US" sz="1100" i="1">
                          <a:latin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𝑚</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𝑛𝑁</m:t>
                      </m:r>
                      <m:r>
                        <a:rPr lang="en-US" sz="1100" b="0" i="1" smtClean="0">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94" name="TextBox 93">
                  <a:extLst>
                    <a:ext uri="{FF2B5EF4-FFF2-40B4-BE49-F238E27FC236}">
                      <a16:creationId xmlns:a16="http://schemas.microsoft.com/office/drawing/2014/main" id="{7B65E3D6-912F-4114-8065-527AD1446626}"/>
                    </a:ext>
                  </a:extLst>
                </p:cNvPr>
                <p:cNvSpPr txBox="1">
                  <a:spLocks noRot="1" noChangeAspect="1" noMove="1" noResize="1" noEditPoints="1" noAdjustHandles="1" noChangeArrowheads="1" noChangeShapeType="1" noTextEdit="1"/>
                </p:cNvSpPr>
                <p:nvPr/>
              </p:nvSpPr>
              <p:spPr>
                <a:xfrm>
                  <a:off x="6359306" y="3867521"/>
                  <a:ext cx="6780045" cy="274627"/>
                </a:xfrm>
                <a:prstGeom prst="rect">
                  <a:avLst/>
                </a:prstGeom>
                <a:blipFill>
                  <a:blip r:embed="rId13"/>
                  <a:stretch>
                    <a:fillRect/>
                  </a:stretch>
                </a:blipFill>
              </p:spPr>
              <p:txBody>
                <a:bodyPr/>
                <a:lstStyle/>
                <a:p>
                  <a:r>
                    <a:rPr lang="en-US">
                      <a:noFill/>
                    </a:rPr>
                    <a:t> </a:t>
                  </a:r>
                </a:p>
              </p:txBody>
            </p:sp>
          </mc:Fallback>
        </mc:AlternateContent>
      </p:grpSp>
      <p:grpSp>
        <p:nvGrpSpPr>
          <p:cNvPr id="95" name="Group 6">
            <a:extLst>
              <a:ext uri="{FF2B5EF4-FFF2-40B4-BE49-F238E27FC236}">
                <a16:creationId xmlns:a16="http://schemas.microsoft.com/office/drawing/2014/main" id="{6747D20B-96A2-40B0-83EC-75DFCA957D0C}"/>
              </a:ext>
            </a:extLst>
          </p:cNvPr>
          <p:cNvGrpSpPr/>
          <p:nvPr/>
        </p:nvGrpSpPr>
        <p:grpSpPr>
          <a:xfrm>
            <a:off x="4262376" y="2334981"/>
            <a:ext cx="6781889" cy="557804"/>
            <a:chOff x="6357462" y="4207779"/>
            <a:chExt cx="6781889" cy="557804"/>
          </a:xfrm>
        </p:grpSpPr>
        <p:sp>
          <p:nvSpPr>
            <p:cNvPr id="96" name="TextBox 95">
              <a:extLst>
                <a:ext uri="{FF2B5EF4-FFF2-40B4-BE49-F238E27FC236}">
                  <a16:creationId xmlns:a16="http://schemas.microsoft.com/office/drawing/2014/main" id="{EDF1096D-A17B-41DC-B381-2E36DE8F96A2}"/>
                </a:ext>
              </a:extLst>
            </p:cNvPr>
            <p:cNvSpPr txBox="1"/>
            <p:nvPr/>
          </p:nvSpPr>
          <p:spPr>
            <a:xfrm>
              <a:off x="6385377" y="4207779"/>
              <a:ext cx="3332039" cy="276999"/>
            </a:xfrm>
            <a:prstGeom prst="rect">
              <a:avLst/>
            </a:prstGeom>
            <a:noFill/>
          </p:spPr>
          <p:txBody>
            <a:bodyPr wrap="square">
              <a:spAutoFit/>
            </a:bodyPr>
            <a:lstStyle/>
            <a:p>
              <a:pPr algn="just"/>
              <a:r>
                <a:rPr lang="en-US" sz="1200" i="1" dirty="0" err="1">
                  <a:latin typeface="Google Sans Text"/>
                </a:rPr>
                <a:t>FPIR.respond</a:t>
              </a:r>
              <a:r>
                <a:rPr lang="en-US" sz="1200" i="1" dirty="0">
                  <a:latin typeface="Google Sans Text"/>
                </a:rPr>
                <a:t> (</a:t>
              </a:r>
              <a:r>
                <a:rPr lang="en-US" sz="1200" i="1" dirty="0"/>
                <a:t>Online server work):</a:t>
              </a:r>
              <a:endParaRPr lang="en-US" sz="1200" dirty="0">
                <a:effectLst/>
                <a:latin typeface="Google Sans Text"/>
              </a:endParaRP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7796E3B-4889-4616-BB9B-CF7172B34BAF}"/>
                    </a:ext>
                  </a:extLst>
                </p:cNvPr>
                <p:cNvSpPr txBox="1"/>
                <p:nvPr/>
              </p:nvSpPr>
              <p:spPr>
                <a:xfrm>
                  <a:off x="6357462" y="4479479"/>
                  <a:ext cx="6781889" cy="286104"/>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acc>
                        <m:accPr>
                          <m:chr m:val="̃"/>
                          <m:ctrlPr>
                            <a:rPr lang="en-US" sz="1100" i="1" smtClean="0">
                              <a:latin typeface="Cambria Math" panose="02040503050406030204" pitchFamily="18" charset="0"/>
                              <a:ea typeface="Cambria Math" panose="02040503050406030204" pitchFamily="18" charset="0"/>
                            </a:rPr>
                          </m:ctrlPr>
                        </m:accPr>
                        <m:e>
                          <m:r>
                            <a:rPr lang="en-US" sz="1100" b="0" i="1" smtClean="0">
                              <a:latin typeface="Cambria Math" panose="02040503050406030204" pitchFamily="18" charset="0"/>
                              <a:ea typeface="Cambria Math" panose="02040503050406030204" pitchFamily="18" charset="0"/>
                            </a:rPr>
                            <m:t>𝑐</m:t>
                          </m:r>
                        </m:e>
                      </m:acc>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acc>
                        <m:accPr>
                          <m:chr m:val="̃"/>
                          <m:ctrlPr>
                            <a:rPr lang="en-US" sz="1100" i="1">
                              <a:latin typeface="Cambria Math" panose="02040503050406030204" pitchFamily="18" charset="0"/>
                              <a:ea typeface="Cambria Math" panose="02040503050406030204" pitchFamily="18" charset="0"/>
                            </a:rPr>
                          </m:ctrlPr>
                        </m:accPr>
                        <m:e>
                          <m:r>
                            <a:rPr lang="en-US" sz="1100" i="1">
                              <a:latin typeface="Cambria Math" panose="02040503050406030204" pitchFamily="18" charset="0"/>
                              <a:ea typeface="Cambria Math" panose="02040503050406030204" pitchFamily="18" charset="0"/>
                            </a:rPr>
                            <m:t>𝑏</m:t>
                          </m:r>
                        </m:e>
                      </m:acc>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𝐷</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sup>
                      </m:sSubSup>
                      <m:r>
                        <a:rPr lang="en-US" sz="1100" i="1">
                          <a:latin typeface="Cambria Math" panose="02040503050406030204" pitchFamily="18" charset="0"/>
                        </a:rPr>
                        <m:t>=</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𝑁</m:t>
                      </m:r>
                      <m:r>
                        <a:rPr lang="en-US" sz="1100" i="1">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97" name="TextBox 96">
                  <a:extLst>
                    <a:ext uri="{FF2B5EF4-FFF2-40B4-BE49-F238E27FC236}">
                      <a16:creationId xmlns:a16="http://schemas.microsoft.com/office/drawing/2014/main" id="{27796E3B-4889-4616-BB9B-CF7172B34BAF}"/>
                    </a:ext>
                  </a:extLst>
                </p:cNvPr>
                <p:cNvSpPr txBox="1">
                  <a:spLocks noRot="1" noChangeAspect="1" noMove="1" noResize="1" noEditPoints="1" noAdjustHandles="1" noChangeArrowheads="1" noChangeShapeType="1" noTextEdit="1"/>
                </p:cNvSpPr>
                <p:nvPr/>
              </p:nvSpPr>
              <p:spPr>
                <a:xfrm>
                  <a:off x="6357462" y="4479479"/>
                  <a:ext cx="6781889" cy="286104"/>
                </a:xfrm>
                <a:prstGeom prst="rect">
                  <a:avLst/>
                </a:prstGeom>
                <a:blipFill>
                  <a:blip r:embed="rId14"/>
                  <a:stretch>
                    <a:fillRect t="-2128"/>
                  </a:stretch>
                </a:blipFill>
              </p:spPr>
              <p:txBody>
                <a:bodyPr/>
                <a:lstStyle/>
                <a:p>
                  <a:r>
                    <a:rPr lang="en-US">
                      <a:noFill/>
                    </a:rPr>
                    <a:t> </a:t>
                  </a:r>
                </a:p>
              </p:txBody>
            </p:sp>
          </mc:Fallback>
        </mc:AlternateContent>
      </p:grpSp>
      <p:grpSp>
        <p:nvGrpSpPr>
          <p:cNvPr id="98" name="Group 8">
            <a:extLst>
              <a:ext uri="{FF2B5EF4-FFF2-40B4-BE49-F238E27FC236}">
                <a16:creationId xmlns:a16="http://schemas.microsoft.com/office/drawing/2014/main" id="{B3F91D54-B583-4D88-ABDB-0A8AD915FEFD}"/>
              </a:ext>
            </a:extLst>
          </p:cNvPr>
          <p:cNvGrpSpPr/>
          <p:nvPr/>
        </p:nvGrpSpPr>
        <p:grpSpPr>
          <a:xfrm>
            <a:off x="4262374" y="2894169"/>
            <a:ext cx="6781891" cy="708871"/>
            <a:chOff x="6357460" y="4824895"/>
            <a:chExt cx="6781891" cy="708871"/>
          </a:xfrm>
        </p:grpSpPr>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10DA8B45-4AD8-4CA2-9716-37030B5CE98B}"/>
                    </a:ext>
                  </a:extLst>
                </p:cNvPr>
                <p:cNvSpPr txBox="1"/>
                <p:nvPr/>
              </p:nvSpPr>
              <p:spPr>
                <a:xfrm>
                  <a:off x="6385377" y="4824895"/>
                  <a:ext cx="4752919" cy="276999"/>
                </a:xfrm>
                <a:prstGeom prst="rect">
                  <a:avLst/>
                </a:prstGeom>
                <a:noFill/>
              </p:spPr>
              <p:txBody>
                <a:bodyPr wrap="square">
                  <a:spAutoFit/>
                </a:bodyPr>
                <a:lstStyle/>
                <a:p>
                  <a:pPr algn="just"/>
                  <a:r>
                    <a:rPr lang="en-US" sz="1200" i="1" dirty="0">
                      <a:latin typeface="Google Sans Text"/>
                    </a:rPr>
                    <a:t>FPIR.cpreproc (</a:t>
                  </a:r>
                  <a:r>
                    <a:rPr lang="en-US" sz="1200" i="1" dirty="0"/>
                    <a:t>Offline client work):</a:t>
                  </a:r>
                  <a14:m>
                    <m:oMath xmlns:m="http://schemas.openxmlformats.org/officeDocument/2006/math">
                      <m:r>
                        <a:rPr lang="en-US" sz="1200" b="0" i="1" smtClean="0">
                          <a:latin typeface="Cambria Math" panose="02040503050406030204" pitchFamily="18" charset="0"/>
                        </a:rPr>
                        <m:t> </m:t>
                      </m:r>
                    </m:oMath>
                  </a14:m>
                  <a:endParaRPr lang="en-US" sz="1200" i="1" dirty="0"/>
                </a:p>
              </p:txBody>
            </p:sp>
          </mc:Choice>
          <mc:Fallback xmlns="">
            <p:sp>
              <p:nvSpPr>
                <p:cNvPr id="35" name="TextBox 34">
                  <a:extLst>
                    <a:ext uri="{FF2B5EF4-FFF2-40B4-BE49-F238E27FC236}">
                      <a16:creationId xmlns:a16="http://schemas.microsoft.com/office/drawing/2014/main" id="{2CF4C80F-8402-40AC-84B1-3D172962AFF1}"/>
                    </a:ext>
                  </a:extLst>
                </p:cNvPr>
                <p:cNvSpPr txBox="1">
                  <a:spLocks noRot="1" noChangeAspect="1" noMove="1" noResize="1" noEditPoints="1" noAdjustHandles="1" noChangeArrowheads="1" noChangeShapeType="1" noTextEdit="1"/>
                </p:cNvSpPr>
                <p:nvPr/>
              </p:nvSpPr>
              <p:spPr>
                <a:xfrm>
                  <a:off x="6385377" y="4824895"/>
                  <a:ext cx="4752919" cy="276999"/>
                </a:xfrm>
                <a:prstGeom prst="rect">
                  <a:avLst/>
                </a:prstGeom>
                <a:blipFill>
                  <a:blip r:embed="rId15"/>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33CAF130-C145-4F90-BB72-42E070821A57}"/>
                    </a:ext>
                  </a:extLst>
                </p:cNvPr>
                <p:cNvSpPr txBox="1"/>
                <p:nvPr/>
              </p:nvSpPr>
              <p:spPr>
                <a:xfrm>
                  <a:off x="6357460" y="5071075"/>
                  <a:ext cx="6781891" cy="462691"/>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 </m:t>
                      </m:r>
                      <m:d>
                        <m:dPr>
                          <m:ctrlPr>
                            <a:rPr lang="en-US" sz="1100" b="0" i="1" smtClean="0">
                              <a:latin typeface="Cambria Math" panose="02040503050406030204" pitchFamily="18" charset="0"/>
                            </a:rPr>
                          </m:ctrlPr>
                        </m:dPr>
                        <m:e>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𝑏</m:t>
                              </m:r>
                            </m:e>
                            <m:sub>
                              <m:r>
                                <a:rPr lang="en-US" sz="1100" b="0" i="1" smtClean="0">
                                  <a:latin typeface="Cambria Math" panose="02040503050406030204" pitchFamily="18" charset="0"/>
                                </a:rPr>
                                <m:t>𝑗</m:t>
                              </m:r>
                            </m:sub>
                          </m:sSub>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𝑐</m:t>
                              </m:r>
                            </m:e>
                            <m:sub>
                              <m:r>
                                <a:rPr lang="en-US" sz="1100" b="0" i="1" smtClean="0">
                                  <a:latin typeface="Cambria Math" panose="02040503050406030204" pitchFamily="18" charset="0"/>
                                </a:rPr>
                                <m:t>𝑗</m:t>
                              </m:r>
                            </m:sub>
                          </m:sSub>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e>
                      </m:d>
                      <m:r>
                        <a:rPr lang="en-US" sz="1100" b="0" i="1" smtClean="0">
                          <a:latin typeface="Cambria Math" panose="02040503050406030204" pitchFamily="18" charset="0"/>
                        </a:rPr>
                        <m:t>=</m:t>
                      </m:r>
                      <m:d>
                        <m:dPr>
                          <m:ctrlPr>
                            <a:rPr lang="en-US" sz="1100" b="0" i="1" smtClean="0">
                              <a:latin typeface="Cambria Math" panose="02040503050406030204" pitchFamily="18" charset="0"/>
                            </a:rPr>
                          </m:ctrlPr>
                        </m:dPr>
                        <m:e>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𝑠</m:t>
                              </m:r>
                            </m:e>
                            <m:sub>
                              <m:r>
                                <a:rPr lang="en-US" sz="1100" b="0" i="1" smtClean="0">
                                  <a:latin typeface="Cambria Math" panose="02040503050406030204" pitchFamily="18" charset="0"/>
                                </a:rPr>
                                <m:t>𝑗</m:t>
                              </m:r>
                            </m:sub>
                            <m:sup>
                              <m:r>
                                <a:rPr lang="en-US" sz="1100" b="0" i="1" smtClean="0">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𝐴</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𝑚</m:t>
                              </m:r>
                            </m:sup>
                          </m:sSubSup>
                          <m:r>
                            <a:rPr lang="en-US" sz="1100" b="0" i="1" smtClean="0">
                              <a:latin typeface="Cambria Math" panose="02040503050406030204" pitchFamily="18" charset="0"/>
                              <a:ea typeface="Cambria Math" panose="02040503050406030204" pitchFamily="18" charset="0"/>
                            </a:rPr>
                            <m:t>+</m:t>
                          </m:r>
                          <m:sSubSup>
                            <m:sSubSupPr>
                              <m:ctrlPr>
                                <a:rPr lang="en-US" sz="1100" b="0" i="1" smtClean="0">
                                  <a:latin typeface="Cambria Math" panose="02040503050406030204" pitchFamily="18" charset="0"/>
                                  <a:ea typeface="Cambria Math" panose="02040503050406030204" pitchFamily="18" charset="0"/>
                                </a:rPr>
                              </m:ctrlPr>
                            </m:sSubSupPr>
                            <m:e>
                              <m:r>
                                <a:rPr lang="en-US" sz="1100" b="0" i="1" smtClean="0">
                                  <a:latin typeface="Cambria Math" panose="02040503050406030204" pitchFamily="18" charset="0"/>
                                  <a:ea typeface="Cambria Math" panose="02040503050406030204" pitchFamily="18" charset="0"/>
                                </a:rPr>
                                <m:t>𝑒</m:t>
                              </m:r>
                            </m:e>
                            <m:sub>
                              <m:r>
                                <a:rPr lang="en-US" sz="1100" b="0" i="1" smtClean="0">
                                  <a:latin typeface="Cambria Math" panose="02040503050406030204" pitchFamily="18" charset="0"/>
                                  <a:ea typeface="Cambria Math" panose="02040503050406030204" pitchFamily="18" charset="0"/>
                                </a:rPr>
                                <m:t>𝑗</m:t>
                              </m:r>
                            </m:sub>
                            <m:sup>
                              <m:r>
                                <a:rPr lang="en-US" sz="1100" b="0" i="1" smtClean="0">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rPr>
                              </m:ctrlPr>
                            </m:sSubSupPr>
                            <m:e>
                              <m:r>
                                <a:rPr lang="en-US" sz="1100" i="1">
                                  <a:latin typeface="Cambria Math" panose="02040503050406030204" pitchFamily="18" charset="0"/>
                                </a:rPr>
                                <m:t>𝑠</m:t>
                              </m:r>
                            </m:e>
                            <m:sub>
                              <m:r>
                                <a:rPr lang="en-US" sz="1100" i="1">
                                  <a:latin typeface="Cambria Math" panose="02040503050406030204" pitchFamily="18" charset="0"/>
                                </a:rPr>
                                <m:t>𝑗</m:t>
                              </m:r>
                            </m:sub>
                            <m:sup>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×1</m:t>
                              </m:r>
                            </m:sup>
                          </m:sSubSup>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𝑀</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sup>
                          </m:sSubSup>
                        </m:e>
                      </m:d>
                      <m:r>
                        <a:rPr lang="en-US" sz="1100" b="0" i="1" smtClean="0">
                          <a:latin typeface="Cambria Math" panose="02040503050406030204" pitchFamily="18" charset="0"/>
                          <a:ea typeface="Cambria Math" panose="02040503050406030204" pitchFamily="18" charset="0"/>
                        </a:rPr>
                        <m:t>=</m:t>
                      </m:r>
                    </m:oMath>
                  </a14:m>
                  <a:r>
                    <a:rPr lang="en-US" sz="1100" dirty="0"/>
                    <a:t> </a:t>
                  </a:r>
                  <a14:m>
                    <m:oMath xmlns:m="http://schemas.openxmlformats.org/officeDocument/2006/math">
                      <m:d>
                        <m:dPr>
                          <m:ctrlPr>
                            <a:rPr lang="en-US" sz="1100" b="0" i="1" smtClean="0">
                              <a:latin typeface="Cambria Math" panose="02040503050406030204" pitchFamily="18" charset="0"/>
                            </a:rPr>
                          </m:ctrlPr>
                        </m:dPr>
                        <m:e>
                          <m:r>
                            <a:rPr lang="en-US" sz="1100" b="0" i="1" smtClean="0">
                              <a:latin typeface="Cambria Math" panose="02040503050406030204" pitchFamily="18" charset="0"/>
                            </a:rPr>
                            <m:t>2</m:t>
                          </m:r>
                          <m:r>
                            <a:rPr lang="en-US" sz="1100" b="0" i="1" smtClean="0">
                              <a:latin typeface="Cambria Math" panose="02040503050406030204" pitchFamily="18" charset="0"/>
                            </a:rPr>
                            <m:t>𝑛𝑚</m:t>
                          </m:r>
                          <m:r>
                            <a:rPr lang="en-US" sz="1100" b="0" i="1" smtClean="0">
                              <a:latin typeface="Cambria Math" panose="02040503050406030204" pitchFamily="18" charset="0"/>
                            </a:rPr>
                            <m:t>+</m:t>
                          </m:r>
                          <m:r>
                            <a:rPr lang="en-US" sz="1100" b="0" i="1" smtClean="0">
                              <a:latin typeface="Cambria Math" panose="02040503050406030204" pitchFamily="18" charset="0"/>
                            </a:rPr>
                            <m:t>𝑚</m:t>
                          </m:r>
                          <m:r>
                            <a:rPr lang="en-US" sz="1100" i="1">
                              <a:latin typeface="Cambria Math" panose="02040503050406030204" pitchFamily="18" charset="0"/>
                              <a:ea typeface="Cambria Math" panose="02040503050406030204" pitchFamily="18" charset="0"/>
                            </a:rPr>
                            <m:t>,  </m:t>
                          </m:r>
                          <m:r>
                            <a:rPr lang="en-US" sz="1100" b="0" i="1" smtClean="0">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𝜔</m:t>
                          </m:r>
                        </m:e>
                      </m:d>
                      <m:r>
                        <a:rPr lang="en-US" sz="1100" b="0" i="1" smtClean="0">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m:t>
                      </m:r>
                      <m:d>
                        <m:dPr>
                          <m:ctrlPr>
                            <a:rPr lang="en-US" sz="1100" b="0" i="1" smtClean="0">
                              <a:latin typeface="Cambria Math" panose="02040503050406030204" pitchFamily="18" charset="0"/>
                              <a:ea typeface="Cambria Math" panose="02040503050406030204" pitchFamily="18" charset="0"/>
                            </a:rPr>
                          </m:ctrlPr>
                        </m:dPr>
                        <m:e>
                          <m:r>
                            <a:rPr lang="en-US" sz="1100" b="0" i="1" smtClean="0">
                              <a:latin typeface="Cambria Math" panose="02040503050406030204" pitchFamily="18" charset="0"/>
                              <a:ea typeface="Cambria Math" panose="02040503050406030204" pitchFamily="18" charset="0"/>
                            </a:rPr>
                            <m:t>𝑚</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e>
                      </m:d>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𝑛</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𝑚</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𝑂</m:t>
                      </m:r>
                      <m:r>
                        <a:rPr lang="en-US" sz="1100" i="1">
                          <a:latin typeface="Cambria Math" panose="02040503050406030204" pitchFamily="18" charset="0"/>
                        </a:rPr>
                        <m:t>(</m:t>
                      </m:r>
                      <m:r>
                        <a:rPr lang="en-US" sz="1100" b="0" i="1" smtClean="0">
                          <a:latin typeface="Cambria Math" panose="02040503050406030204" pitchFamily="18" charset="0"/>
                        </a:rPr>
                        <m:t>𝑛</m:t>
                      </m:r>
                      <m:r>
                        <a:rPr lang="en-US" sz="1100" i="1">
                          <a:latin typeface="Cambria Math" panose="02040503050406030204" pitchFamily="18" charset="0"/>
                        </a:rPr>
                        <m:t>𝑁</m:t>
                      </m:r>
                      <m:r>
                        <a:rPr lang="en-US" sz="1100" i="1">
                          <a:latin typeface="Cambria Math" panose="02040503050406030204" pitchFamily="18" charset="0"/>
                        </a:rPr>
                        <m:t>)</m:t>
                      </m:r>
                    </m:oMath>
                  </a14:m>
                  <a:endParaRPr lang="en-US" sz="1100" i="1" dirty="0">
                    <a:effectLst/>
                    <a:latin typeface="Google Sans Text"/>
                  </a:endParaRPr>
                </a:p>
              </p:txBody>
            </p:sp>
          </mc:Choice>
          <mc:Fallback xmlns="">
            <p:sp>
              <p:nvSpPr>
                <p:cNvPr id="100" name="TextBox 99">
                  <a:extLst>
                    <a:ext uri="{FF2B5EF4-FFF2-40B4-BE49-F238E27FC236}">
                      <a16:creationId xmlns:a16="http://schemas.microsoft.com/office/drawing/2014/main" id="{33CAF130-C145-4F90-BB72-42E070821A57}"/>
                    </a:ext>
                  </a:extLst>
                </p:cNvPr>
                <p:cNvSpPr txBox="1">
                  <a:spLocks noRot="1" noChangeAspect="1" noMove="1" noResize="1" noEditPoints="1" noAdjustHandles="1" noChangeArrowheads="1" noChangeShapeType="1" noTextEdit="1"/>
                </p:cNvSpPr>
                <p:nvPr/>
              </p:nvSpPr>
              <p:spPr>
                <a:xfrm>
                  <a:off x="6357460" y="5071075"/>
                  <a:ext cx="6781891" cy="462691"/>
                </a:xfrm>
                <a:prstGeom prst="rect">
                  <a:avLst/>
                </a:prstGeom>
                <a:blipFill>
                  <a:blip r:embed="rId16"/>
                  <a:stretch>
                    <a:fillRect b="-2632"/>
                  </a:stretch>
                </a:blipFill>
              </p:spPr>
              <p:txBody>
                <a:bodyPr/>
                <a:lstStyle/>
                <a:p>
                  <a:r>
                    <a:rPr lang="en-US">
                      <a:noFill/>
                    </a:rPr>
                    <a:t> </a:t>
                  </a:r>
                </a:p>
              </p:txBody>
            </p:sp>
          </mc:Fallback>
        </mc:AlternateContent>
      </p:grpSp>
      <p:grpSp>
        <p:nvGrpSpPr>
          <p:cNvPr id="101" name="Group 10">
            <a:extLst>
              <a:ext uri="{FF2B5EF4-FFF2-40B4-BE49-F238E27FC236}">
                <a16:creationId xmlns:a16="http://schemas.microsoft.com/office/drawing/2014/main" id="{8B1B2041-A43D-420A-9136-42497DE6134A}"/>
              </a:ext>
            </a:extLst>
          </p:cNvPr>
          <p:cNvGrpSpPr/>
          <p:nvPr/>
        </p:nvGrpSpPr>
        <p:grpSpPr>
          <a:xfrm>
            <a:off x="4290291" y="3612003"/>
            <a:ext cx="6753974" cy="581263"/>
            <a:chOff x="6385377" y="5566349"/>
            <a:chExt cx="6753974" cy="581263"/>
          </a:xfrm>
        </p:grpSpPr>
        <p:sp>
          <p:nvSpPr>
            <p:cNvPr id="102" name="TextBox 101">
              <a:extLst>
                <a:ext uri="{FF2B5EF4-FFF2-40B4-BE49-F238E27FC236}">
                  <a16:creationId xmlns:a16="http://schemas.microsoft.com/office/drawing/2014/main" id="{EEAE987C-95D4-44A4-B495-FC1E117AF922}"/>
                </a:ext>
              </a:extLst>
            </p:cNvPr>
            <p:cNvSpPr txBox="1"/>
            <p:nvPr/>
          </p:nvSpPr>
          <p:spPr>
            <a:xfrm>
              <a:off x="6385378" y="5566349"/>
              <a:ext cx="4015406" cy="276999"/>
            </a:xfrm>
            <a:prstGeom prst="rect">
              <a:avLst/>
            </a:prstGeom>
            <a:noFill/>
          </p:spPr>
          <p:txBody>
            <a:bodyPr wrap="square">
              <a:spAutoFit/>
            </a:bodyPr>
            <a:lstStyle/>
            <a:p>
              <a:pPr algn="just"/>
              <a:r>
                <a:rPr lang="en-US" sz="1200" i="1" dirty="0" err="1">
                  <a:latin typeface="Google Sans Text"/>
                </a:rPr>
                <a:t>FPIR.query</a:t>
              </a:r>
              <a:r>
                <a:rPr lang="en-US" sz="1200" i="1" dirty="0">
                  <a:latin typeface="Google Sans Text"/>
                </a:rPr>
                <a:t> (</a:t>
              </a:r>
              <a:r>
                <a:rPr lang="en-US" sz="1200" i="1" dirty="0"/>
                <a:t>Online client work):</a:t>
              </a:r>
            </a:p>
          </p:txBody>
        </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60887DF8-BCAA-4579-8C8D-07D33C8ED864}"/>
                    </a:ext>
                  </a:extLst>
                </p:cNvPr>
                <p:cNvSpPr txBox="1"/>
                <p:nvPr/>
              </p:nvSpPr>
              <p:spPr>
                <a:xfrm>
                  <a:off x="6385377" y="5861508"/>
                  <a:ext cx="6753974" cy="286104"/>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acc>
                        <m:accPr>
                          <m:chr m:val="̃"/>
                          <m:ctrlPr>
                            <a:rPr lang="en-US" sz="1100" i="1" smtClean="0">
                              <a:latin typeface="Cambria Math" panose="02040503050406030204" pitchFamily="18" charset="0"/>
                              <a:ea typeface="Cambria Math" panose="02040503050406030204" pitchFamily="18" charset="0"/>
                            </a:rPr>
                          </m:ctrlPr>
                        </m:accPr>
                        <m:e>
                          <m:r>
                            <a:rPr lang="en-US" sz="1100" b="0" i="1" smtClean="0">
                              <a:latin typeface="Cambria Math" panose="02040503050406030204" pitchFamily="18" charset="0"/>
                              <a:ea typeface="Cambria Math" panose="02040503050406030204" pitchFamily="18" charset="0"/>
                            </a:rPr>
                            <m:t>𝑏</m:t>
                          </m:r>
                        </m:e>
                      </m:acc>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r>
                        <a:rPr lang="en-US" sz="1100" b="0" i="1" smtClean="0">
                          <a:latin typeface="Cambria Math" panose="02040503050406030204" pitchFamily="18" charset="0"/>
                        </a:rPr>
                        <m:t>𝑏</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sSub>
                        <m:sSubPr>
                          <m:ctrlPr>
                            <a:rPr lang="en-US" sz="1100" b="0" i="1" smtClean="0">
                              <a:latin typeface="Cambria Math" panose="02040503050406030204" pitchFamily="18" charset="0"/>
                              <a:ea typeface="Cambria Math" panose="02040503050406030204" pitchFamily="18" charset="0"/>
                            </a:rPr>
                          </m:ctrlPr>
                        </m:sSubPr>
                        <m:e>
                          <m:r>
                            <a:rPr lang="en-US" sz="1100" b="0" i="1" smtClean="0">
                              <a:latin typeface="Cambria Math" panose="02040503050406030204" pitchFamily="18" charset="0"/>
                              <a:ea typeface="Cambria Math" panose="02040503050406030204" pitchFamily="18" charset="0"/>
                            </a:rPr>
                            <m:t>𝑓</m:t>
                          </m:r>
                        </m:e>
                        <m:sub>
                          <m:r>
                            <a:rPr lang="en-US" sz="1100" b="0" i="1" smtClean="0">
                              <a:latin typeface="Cambria Math" panose="02040503050406030204" pitchFamily="18" charset="0"/>
                              <a:ea typeface="Cambria Math" panose="02040503050406030204" pitchFamily="18" charset="0"/>
                            </a:rPr>
                            <m:t>𝑖</m:t>
                          </m:r>
                        </m:sub>
                      </m:sSub>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×1</m:t>
                          </m:r>
                        </m:sup>
                      </m:sSubSup>
                    </m:oMath>
                  </a14:m>
                  <a:r>
                    <a:rPr lang="en-US" sz="1100" i="1" dirty="0">
                      <a:effectLst/>
                      <a:latin typeface="Google Sans Text"/>
                    </a:rPr>
                    <a:t>, </a:t>
                  </a:r>
                </a:p>
              </p:txBody>
            </p:sp>
          </mc:Choice>
          <mc:Fallback xmlns="">
            <p:sp>
              <p:nvSpPr>
                <p:cNvPr id="103" name="TextBox 102">
                  <a:extLst>
                    <a:ext uri="{FF2B5EF4-FFF2-40B4-BE49-F238E27FC236}">
                      <a16:creationId xmlns:a16="http://schemas.microsoft.com/office/drawing/2014/main" id="{60887DF8-BCAA-4579-8C8D-07D33C8ED864}"/>
                    </a:ext>
                  </a:extLst>
                </p:cNvPr>
                <p:cNvSpPr txBox="1">
                  <a:spLocks noRot="1" noChangeAspect="1" noMove="1" noResize="1" noEditPoints="1" noAdjustHandles="1" noChangeArrowheads="1" noChangeShapeType="1" noTextEdit="1"/>
                </p:cNvSpPr>
                <p:nvPr/>
              </p:nvSpPr>
              <p:spPr>
                <a:xfrm>
                  <a:off x="6385377" y="5861508"/>
                  <a:ext cx="6753974" cy="286104"/>
                </a:xfrm>
                <a:prstGeom prst="rect">
                  <a:avLst/>
                </a:prstGeom>
                <a:blipFill>
                  <a:blip r:embed="rId17"/>
                  <a:stretch>
                    <a:fillRect t="-2128" b="-1063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graphicFrame>
            <p:nvGraphicFramePr>
              <p:cNvPr id="104" name="Table 26">
                <a:extLst>
                  <a:ext uri="{FF2B5EF4-FFF2-40B4-BE49-F238E27FC236}">
                    <a16:creationId xmlns:a16="http://schemas.microsoft.com/office/drawing/2014/main" id="{21907FDE-98F5-451D-A078-E90813BD0F42}"/>
                  </a:ext>
                </a:extLst>
              </p:cNvPr>
              <p:cNvGraphicFramePr>
                <a:graphicFrameLocks noGrp="1"/>
              </p:cNvGraphicFramePr>
              <p:nvPr>
                <p:extLst>
                  <p:ext uri="{D42A27DB-BD31-4B8C-83A1-F6EECF244321}">
                    <p14:modId xmlns:p14="http://schemas.microsoft.com/office/powerpoint/2010/main" val="3481477841"/>
                  </p:ext>
                </p:extLst>
              </p:nvPr>
            </p:nvGraphicFramePr>
            <p:xfrm>
              <a:off x="4437275" y="5271970"/>
              <a:ext cx="2901092" cy="1463040"/>
            </p:xfrm>
            <a:graphic>
              <a:graphicData uri="http://schemas.openxmlformats.org/drawingml/2006/table">
                <a:tbl>
                  <a:tblPr firstRow="1" bandRow="1">
                    <a:tableStyleId>{5C22544A-7EE6-4342-B048-85BDC9FD1C3A}</a:tableStyleId>
                  </a:tblPr>
                  <a:tblGrid>
                    <a:gridCol w="317817">
                      <a:extLst>
                        <a:ext uri="{9D8B030D-6E8A-4147-A177-3AD203B41FA5}">
                          <a16:colId xmlns:a16="http://schemas.microsoft.com/office/drawing/2014/main" val="318303875"/>
                        </a:ext>
                      </a:extLst>
                    </a:gridCol>
                    <a:gridCol w="486093">
                      <a:extLst>
                        <a:ext uri="{9D8B030D-6E8A-4147-A177-3AD203B41FA5}">
                          <a16:colId xmlns:a16="http://schemas.microsoft.com/office/drawing/2014/main" val="1123812748"/>
                        </a:ext>
                      </a:extLst>
                    </a:gridCol>
                    <a:gridCol w="486093">
                      <a:extLst>
                        <a:ext uri="{9D8B030D-6E8A-4147-A177-3AD203B41FA5}">
                          <a16:colId xmlns:a16="http://schemas.microsoft.com/office/drawing/2014/main" val="1832624885"/>
                        </a:ext>
                      </a:extLst>
                    </a:gridCol>
                    <a:gridCol w="486093">
                      <a:extLst>
                        <a:ext uri="{9D8B030D-6E8A-4147-A177-3AD203B41FA5}">
                          <a16:colId xmlns:a16="http://schemas.microsoft.com/office/drawing/2014/main" val="3563629070"/>
                        </a:ext>
                      </a:extLst>
                    </a:gridCol>
                    <a:gridCol w="486093">
                      <a:extLst>
                        <a:ext uri="{9D8B030D-6E8A-4147-A177-3AD203B41FA5}">
                          <a16:colId xmlns:a16="http://schemas.microsoft.com/office/drawing/2014/main" val="2234934482"/>
                        </a:ext>
                      </a:extLst>
                    </a:gridCol>
                    <a:gridCol w="638903">
                      <a:extLst>
                        <a:ext uri="{9D8B030D-6E8A-4147-A177-3AD203B41FA5}">
                          <a16:colId xmlns:a16="http://schemas.microsoft.com/office/drawing/2014/main" val="1977225126"/>
                        </a:ext>
                      </a:extLst>
                    </a:gridCol>
                  </a:tblGrid>
                  <a:tr h="199218">
                    <a:tc>
                      <a:txBody>
                        <a:bodyPr/>
                        <a:lstStyle/>
                        <a:p>
                          <a:pPr marL="0" algn="ctr" defTabSz="914400" rtl="0" eaLnBrk="1" latinLnBrk="0" hangingPunct="1"/>
                          <a:r>
                            <a:rPr lang="en-US" sz="1000" b="0" i="1" kern="1200" dirty="0">
                              <a:solidFill>
                                <a:schemeClr val="tx1"/>
                              </a:solidFill>
                              <a:effectLst/>
                              <a:latin typeface="Google Sans Text"/>
                              <a:ea typeface="+mn-ea"/>
                              <a:cs typeface="+mn-cs"/>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2379504"/>
                      </a:ext>
                    </a:extLst>
                  </a:tr>
                  <a:tr h="199218">
                    <a:tc>
                      <a:txBody>
                        <a:bodyPr/>
                        <a:lstStyle/>
                        <a:p>
                          <a:pPr marL="0" algn="ctr" defTabSz="914400" rtl="0" eaLnBrk="1" latinLnBrk="0" hangingPunct="1"/>
                          <a:r>
                            <a:rPr lang="en-US" sz="1000" b="0" i="1" kern="1200" dirty="0">
                              <a:solidFill>
                                <a:schemeClr val="tx1"/>
                              </a:solidFill>
                              <a:effectLst/>
                              <a:latin typeface="Google Sans Text"/>
                              <a:ea typeface="+mn-ea"/>
                              <a:cs typeface="+mn-cs"/>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6178800"/>
                      </a:ext>
                    </a:extLst>
                  </a:tr>
                  <a:tr h="199218">
                    <a:tc>
                      <a:txBody>
                        <a:bodyPr/>
                        <a:lstStyle/>
                        <a:p>
                          <a:pPr marL="0" algn="ctr" defTabSz="914400" rtl="0" eaLnBrk="1" latinLnBrk="0" hangingPunct="1"/>
                          <a:r>
                            <a:rPr lang="en-US" sz="1000" b="0" i="1" kern="1200" dirty="0">
                              <a:solidFill>
                                <a:schemeClr val="tx1"/>
                              </a:solidFill>
                              <a:effectLst/>
                              <a:latin typeface="Google Sans Text"/>
                              <a:ea typeface="+mn-ea"/>
                              <a:cs typeface="+mn-cs"/>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16</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17</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18</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19</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20</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9475717"/>
                      </a:ext>
                    </a:extLst>
                  </a:tr>
                  <a:tr h="199218">
                    <a:tc>
                      <a:txBody>
                        <a:bodyPr/>
                        <a:lstStyle/>
                        <a:p>
                          <a:pPr marL="0" algn="ctr" defTabSz="914400" rtl="0" eaLnBrk="1" latinLnBrk="0" hangingPunct="1"/>
                          <a:r>
                            <a:rPr lang="en-US" sz="1000" b="0" i="1" kern="1200" dirty="0">
                              <a:solidFill>
                                <a:schemeClr val="tx1"/>
                              </a:solidFill>
                              <a:effectLst/>
                              <a:latin typeface="Google Sans Text"/>
                              <a:ea typeface="+mn-ea"/>
                              <a:cs typeface="+mn-cs"/>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10</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10</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10</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9</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9</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3621188"/>
                      </a:ext>
                    </a:extLst>
                  </a:tr>
                  <a:tr h="199218">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b>
                                  <m:sSubPr>
                                    <m:ctrlPr>
                                      <a:rPr lang="en-US" sz="1000" b="0" i="1" kern="1200" smtClean="0">
                                        <a:solidFill>
                                          <a:schemeClr val="tx1"/>
                                        </a:solidFill>
                                        <a:effectLst/>
                                        <a:latin typeface="Cambria Math" panose="02040503050406030204" pitchFamily="18" charset="0"/>
                                        <a:ea typeface="+mn-ea"/>
                                        <a:cs typeface="+mn-cs"/>
                                      </a:rPr>
                                    </m:ctrlPr>
                                  </m:sSubPr>
                                  <m:e>
                                    <m:r>
                                      <m:rPr>
                                        <m:nor/>
                                      </m:rPr>
                                      <a:rPr lang="el-GR" sz="1000" smtClean="0">
                                        <a:effectLst/>
                                      </a:rPr>
                                      <m:t>χ</m:t>
                                    </m:r>
                                  </m:e>
                                  <m:sub>
                                    <m:r>
                                      <a:rPr lang="en-US" sz="1000" b="0" i="1" kern="1200" smtClean="0">
                                        <a:solidFill>
                                          <a:schemeClr val="tx1"/>
                                        </a:solidFill>
                                        <a:effectLst/>
                                        <a:latin typeface="Cambria Math" panose="02040503050406030204" pitchFamily="18" charset="0"/>
                                        <a:ea typeface="+mn-ea"/>
                                        <a:cs typeface="+mn-cs"/>
                                      </a:rPr>
                                      <m:t>𝑡𝑒𝑟𝑛</m:t>
                                    </m:r>
                                  </m:sub>
                                </m:sSub>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3277588"/>
                      </a:ext>
                    </a:extLst>
                  </a:tr>
                  <a:tr h="199218">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m:rPr>
                                    <m:nor/>
                                  </m:rPr>
                                  <a:rPr lang="el-GR" sz="1000" b="0" i="1" kern="1200" smtClean="0">
                                    <a:solidFill>
                                      <a:schemeClr val="tx1"/>
                                    </a:solidFill>
                                    <a:effectLst/>
                                    <a:latin typeface="Google Sans Text"/>
                                    <a:ea typeface="+mn-ea"/>
                                    <a:cs typeface="+mn-cs"/>
                                  </a:rPr>
                                  <m:t>λ</m:t>
                                </m:r>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9321766"/>
                      </a:ext>
                    </a:extLst>
                  </a:tr>
                </a:tbl>
              </a:graphicData>
            </a:graphic>
          </p:graphicFrame>
        </mc:Choice>
        <mc:Fallback xmlns="">
          <p:graphicFrame>
            <p:nvGraphicFramePr>
              <p:cNvPr id="104" name="Table 26">
                <a:extLst>
                  <a:ext uri="{FF2B5EF4-FFF2-40B4-BE49-F238E27FC236}">
                    <a16:creationId xmlns:a16="http://schemas.microsoft.com/office/drawing/2014/main" id="{21907FDE-98F5-451D-A078-E90813BD0F42}"/>
                  </a:ext>
                </a:extLst>
              </p:cNvPr>
              <p:cNvGraphicFramePr>
                <a:graphicFrameLocks noGrp="1"/>
              </p:cNvGraphicFramePr>
              <p:nvPr>
                <p:extLst>
                  <p:ext uri="{D42A27DB-BD31-4B8C-83A1-F6EECF244321}">
                    <p14:modId xmlns:p14="http://schemas.microsoft.com/office/powerpoint/2010/main" val="3481477841"/>
                  </p:ext>
                </p:extLst>
              </p:nvPr>
            </p:nvGraphicFramePr>
            <p:xfrm>
              <a:off x="4437275" y="5271970"/>
              <a:ext cx="2901092" cy="1463040"/>
            </p:xfrm>
            <a:graphic>
              <a:graphicData uri="http://schemas.openxmlformats.org/drawingml/2006/table">
                <a:tbl>
                  <a:tblPr firstRow="1" bandRow="1">
                    <a:tableStyleId>{5C22544A-7EE6-4342-B048-85BDC9FD1C3A}</a:tableStyleId>
                  </a:tblPr>
                  <a:tblGrid>
                    <a:gridCol w="317817">
                      <a:extLst>
                        <a:ext uri="{9D8B030D-6E8A-4147-A177-3AD203B41FA5}">
                          <a16:colId xmlns:a16="http://schemas.microsoft.com/office/drawing/2014/main" val="318303875"/>
                        </a:ext>
                      </a:extLst>
                    </a:gridCol>
                    <a:gridCol w="486093">
                      <a:extLst>
                        <a:ext uri="{9D8B030D-6E8A-4147-A177-3AD203B41FA5}">
                          <a16:colId xmlns:a16="http://schemas.microsoft.com/office/drawing/2014/main" val="1123812748"/>
                        </a:ext>
                      </a:extLst>
                    </a:gridCol>
                    <a:gridCol w="486093">
                      <a:extLst>
                        <a:ext uri="{9D8B030D-6E8A-4147-A177-3AD203B41FA5}">
                          <a16:colId xmlns:a16="http://schemas.microsoft.com/office/drawing/2014/main" val="1832624885"/>
                        </a:ext>
                      </a:extLst>
                    </a:gridCol>
                    <a:gridCol w="486093">
                      <a:extLst>
                        <a:ext uri="{9D8B030D-6E8A-4147-A177-3AD203B41FA5}">
                          <a16:colId xmlns:a16="http://schemas.microsoft.com/office/drawing/2014/main" val="3563629070"/>
                        </a:ext>
                      </a:extLst>
                    </a:gridCol>
                    <a:gridCol w="486093">
                      <a:extLst>
                        <a:ext uri="{9D8B030D-6E8A-4147-A177-3AD203B41FA5}">
                          <a16:colId xmlns:a16="http://schemas.microsoft.com/office/drawing/2014/main" val="2234934482"/>
                        </a:ext>
                      </a:extLst>
                    </a:gridCol>
                    <a:gridCol w="638903">
                      <a:extLst>
                        <a:ext uri="{9D8B030D-6E8A-4147-A177-3AD203B41FA5}">
                          <a16:colId xmlns:a16="http://schemas.microsoft.com/office/drawing/2014/main" val="1977225126"/>
                        </a:ext>
                      </a:extLst>
                    </a:gridCol>
                  </a:tblGrid>
                  <a:tr h="243840">
                    <a:tc>
                      <a:txBody>
                        <a:bodyPr/>
                        <a:lstStyle/>
                        <a:p>
                          <a:pPr marL="0" algn="ctr" defTabSz="914400" rtl="0" eaLnBrk="1" latinLnBrk="0" hangingPunct="1"/>
                          <a:r>
                            <a:rPr lang="en-US" sz="1000" b="0" i="1" kern="1200" dirty="0">
                              <a:solidFill>
                                <a:schemeClr val="tx1"/>
                              </a:solidFill>
                              <a:effectLst/>
                              <a:latin typeface="Google Sans Text"/>
                              <a:ea typeface="+mn-ea"/>
                              <a:cs typeface="+mn-cs"/>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66250" t="-2500" r="-433750" b="-517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166250" t="-2500" r="-333750" b="-517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266250" t="-2500" r="-233750" b="-517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366250" t="-2500" r="-133750" b="-517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355238" t="-2500" r="-1905" b="-517500"/>
                          </a:stretch>
                        </a:blipFill>
                      </a:tcPr>
                    </a:tc>
                    <a:extLst>
                      <a:ext uri="{0D108BD9-81ED-4DB2-BD59-A6C34878D82A}">
                        <a16:rowId xmlns:a16="http://schemas.microsoft.com/office/drawing/2014/main" val="2882379504"/>
                      </a:ext>
                    </a:extLst>
                  </a:tr>
                  <a:tr h="243840">
                    <a:tc>
                      <a:txBody>
                        <a:bodyPr/>
                        <a:lstStyle/>
                        <a:p>
                          <a:pPr marL="0" algn="ctr" defTabSz="914400" rtl="0" eaLnBrk="1" latinLnBrk="0" hangingPunct="1"/>
                          <a:r>
                            <a:rPr lang="en-US" sz="1000" b="0" i="1" kern="1200" dirty="0">
                              <a:solidFill>
                                <a:schemeClr val="tx1"/>
                              </a:solidFill>
                              <a:effectLst/>
                              <a:latin typeface="Google Sans Text"/>
                              <a:ea typeface="+mn-ea"/>
                              <a:cs typeface="+mn-cs"/>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1774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6178800"/>
                      </a:ext>
                    </a:extLst>
                  </a:tr>
                  <a:tr h="243840">
                    <a:tc>
                      <a:txBody>
                        <a:bodyPr/>
                        <a:lstStyle/>
                        <a:p>
                          <a:pPr marL="0" algn="ctr" defTabSz="914400" rtl="0" eaLnBrk="1" latinLnBrk="0" hangingPunct="1"/>
                          <a:r>
                            <a:rPr lang="en-US" sz="1000" b="0" i="1" kern="1200" dirty="0">
                              <a:solidFill>
                                <a:schemeClr val="tx1"/>
                              </a:solidFill>
                              <a:effectLst/>
                              <a:latin typeface="Google Sans Text"/>
                              <a:ea typeface="+mn-ea"/>
                              <a:cs typeface="+mn-cs"/>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66250" t="-197561" r="-433750" b="-3073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166250" t="-197561" r="-333750" b="-3073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266250" t="-197561" r="-233750" b="-3073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366250" t="-197561" r="-133750" b="-3073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355238" t="-197561" r="-1905" b="-307317"/>
                          </a:stretch>
                        </a:blipFill>
                      </a:tcPr>
                    </a:tc>
                    <a:extLst>
                      <a:ext uri="{0D108BD9-81ED-4DB2-BD59-A6C34878D82A}">
                        <a16:rowId xmlns:a16="http://schemas.microsoft.com/office/drawing/2014/main" val="4209475717"/>
                      </a:ext>
                    </a:extLst>
                  </a:tr>
                  <a:tr h="243840">
                    <a:tc>
                      <a:txBody>
                        <a:bodyPr/>
                        <a:lstStyle/>
                        <a:p>
                          <a:pPr marL="0" algn="ctr" defTabSz="914400" rtl="0" eaLnBrk="1" latinLnBrk="0" hangingPunct="1"/>
                          <a:r>
                            <a:rPr lang="en-US" sz="1000" b="0" i="1" kern="1200" dirty="0">
                              <a:solidFill>
                                <a:schemeClr val="tx1"/>
                              </a:solidFill>
                              <a:effectLst/>
                              <a:latin typeface="Google Sans Text"/>
                              <a:ea typeface="+mn-ea"/>
                              <a:cs typeface="+mn-cs"/>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66250" t="-305000" r="-433750" b="-21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166250" t="-305000" r="-333750" b="-21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266250" t="-305000" r="-233750" b="-21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366250" t="-305000" r="-133750" b="-21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355238" t="-305000" r="-1905" b="-215000"/>
                          </a:stretch>
                        </a:blipFill>
                      </a:tcPr>
                    </a:tc>
                    <a:extLst>
                      <a:ext uri="{0D108BD9-81ED-4DB2-BD59-A6C34878D82A}">
                        <a16:rowId xmlns:a16="http://schemas.microsoft.com/office/drawing/2014/main" val="2523621188"/>
                      </a:ext>
                    </a:extLst>
                  </a:tr>
                  <a:tr h="243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1923" t="-405000" r="-821154" b="-115000"/>
                          </a:stretch>
                        </a:blip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0.816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3277588"/>
                      </a:ext>
                    </a:extLst>
                  </a:tr>
                  <a:tr h="243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8"/>
                          <a:stretch>
                            <a:fillRect l="-1923" t="-505000" r="-821154" b="-15000"/>
                          </a:stretch>
                        </a:blip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9321766"/>
                      </a:ext>
                    </a:extLst>
                  </a:tr>
                </a:tbl>
              </a:graphicData>
            </a:graphic>
          </p:graphicFrame>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B1CD2F73-6C79-4DA9-AED9-CAE28E15B5F4}"/>
                  </a:ext>
                </a:extLst>
              </p:cNvPr>
              <p:cNvSpPr txBox="1"/>
              <p:nvPr/>
            </p:nvSpPr>
            <p:spPr>
              <a:xfrm>
                <a:off x="4437275" y="4945149"/>
                <a:ext cx="4195651" cy="326821"/>
              </a:xfrm>
              <a:prstGeom prst="rect">
                <a:avLst/>
              </a:prstGeom>
              <a:noFill/>
            </p:spPr>
            <p:txBody>
              <a:bodyPr wrap="square">
                <a:spAutoFit/>
              </a:bodyPr>
              <a:lstStyle/>
              <a:p>
                <a:pPr algn="just"/>
                <a14:m>
                  <m:oMath xmlns:m="http://schemas.openxmlformats.org/officeDocument/2006/math">
                    <m:sSub>
                      <m:sSubPr>
                        <m:ctrlPr>
                          <a:rPr lang="en-US" sz="1400" i="1" smtClean="0">
                            <a:latin typeface="Cambria Math" panose="02040503050406030204" pitchFamily="18" charset="0"/>
                          </a:rPr>
                        </m:ctrlPr>
                      </m:sSubPr>
                      <m:e>
                        <m:r>
                          <m:rPr>
                            <m:nor/>
                          </m:rPr>
                          <a:rPr lang="en-US" sz="1400" i="1" dirty="0">
                            <a:latin typeface="Google Sans Text"/>
                          </a:rPr>
                          <m:t>MatLWE</m:t>
                        </m:r>
                      </m:e>
                      <m:sub>
                        <m:r>
                          <a:rPr lang="en-US" sz="1400" b="0" i="1" smtClean="0">
                            <a:latin typeface="Cambria Math" panose="02040503050406030204" pitchFamily="18" charset="0"/>
                          </a:rPr>
                          <m:t>𝑞</m:t>
                        </m:r>
                        <m:r>
                          <a:rPr lang="en-US" sz="1400" b="0" i="1" smtClean="0">
                            <a:latin typeface="Cambria Math" panose="02040503050406030204" pitchFamily="18" charset="0"/>
                          </a:rPr>
                          <m:t>,</m:t>
                        </m:r>
                        <m:r>
                          <a:rPr lang="en-US" sz="1400" b="0" i="1" smtClean="0">
                            <a:latin typeface="Cambria Math" panose="02040503050406030204" pitchFamily="18" charset="0"/>
                          </a:rPr>
                          <m:t>𝑛</m:t>
                        </m:r>
                        <m:r>
                          <a:rPr lang="en-US" sz="1400" b="0" i="1" smtClean="0">
                            <a:latin typeface="Cambria Math" panose="02040503050406030204" pitchFamily="18" charset="0"/>
                          </a:rPr>
                          <m:t>,</m:t>
                        </m:r>
                        <m:r>
                          <a:rPr lang="en-US" sz="1400" b="0" i="1" smtClean="0">
                            <a:latin typeface="Cambria Math" panose="02040503050406030204" pitchFamily="18" charset="0"/>
                          </a:rPr>
                          <m:t>𝑚</m:t>
                        </m:r>
                        <m:r>
                          <a:rPr lang="en-US" sz="1400" b="0" i="1" smtClean="0">
                            <a:latin typeface="Cambria Math" panose="02040503050406030204" pitchFamily="18" charset="0"/>
                          </a:rPr>
                          <m:t>,</m:t>
                        </m:r>
                        <m:r>
                          <a:rPr lang="el-GR" sz="1400" i="1">
                            <a:latin typeface="Cambria Math" panose="02040503050406030204" pitchFamily="18" charset="0"/>
                          </a:rPr>
                          <m:t>𝜒</m:t>
                        </m:r>
                        <m:r>
                          <a:rPr lang="en-US" sz="1400" i="1">
                            <a:latin typeface="Cambria Math" panose="02040503050406030204" pitchFamily="18" charset="0"/>
                          </a:rPr>
                          <m:t>,</m:t>
                        </m:r>
                        <m:r>
                          <a:rPr lang="en-US" sz="1400" b="0" i="1" smtClean="0">
                            <a:latin typeface="Cambria Math" panose="02040503050406030204" pitchFamily="18" charset="0"/>
                          </a:rPr>
                          <m:t>𝑙</m:t>
                        </m:r>
                      </m:sub>
                    </m:sSub>
                  </m:oMath>
                </a14:m>
                <a:r>
                  <a:rPr lang="en-US" sz="1400" b="1" i="1" dirty="0"/>
                  <a:t> security parameters in </a:t>
                </a:r>
                <a:r>
                  <a:rPr lang="en-US" sz="1400" b="1" i="1" dirty="0" err="1"/>
                  <a:t>FrodoPIR</a:t>
                </a:r>
                <a:endParaRPr lang="en-US" sz="1400" b="1" i="1" dirty="0"/>
              </a:p>
            </p:txBody>
          </p:sp>
        </mc:Choice>
        <mc:Fallback xmlns="">
          <p:sp>
            <p:nvSpPr>
              <p:cNvPr id="105" name="TextBox 104">
                <a:extLst>
                  <a:ext uri="{FF2B5EF4-FFF2-40B4-BE49-F238E27FC236}">
                    <a16:creationId xmlns:a16="http://schemas.microsoft.com/office/drawing/2014/main" id="{B1CD2F73-6C79-4DA9-AED9-CAE28E15B5F4}"/>
                  </a:ext>
                </a:extLst>
              </p:cNvPr>
              <p:cNvSpPr txBox="1">
                <a:spLocks noRot="1" noChangeAspect="1" noMove="1" noResize="1" noEditPoints="1" noAdjustHandles="1" noChangeArrowheads="1" noChangeShapeType="1" noTextEdit="1"/>
              </p:cNvSpPr>
              <p:nvPr/>
            </p:nvSpPr>
            <p:spPr>
              <a:xfrm>
                <a:off x="4437275" y="4945149"/>
                <a:ext cx="4195651" cy="326821"/>
              </a:xfrm>
              <a:prstGeom prst="rect">
                <a:avLst/>
              </a:prstGeom>
              <a:blipFill>
                <a:blip r:embed="rId19"/>
                <a:stretch>
                  <a:fillRect t="-1852"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DBAFB2CD-1EB8-410C-877D-876369FF80C9}"/>
                  </a:ext>
                </a:extLst>
              </p:cNvPr>
              <p:cNvSpPr txBox="1"/>
              <p:nvPr/>
            </p:nvSpPr>
            <p:spPr>
              <a:xfrm>
                <a:off x="7397458" y="5271970"/>
                <a:ext cx="2710238" cy="1405641"/>
              </a:xfrm>
              <a:prstGeom prst="rect">
                <a:avLst/>
              </a:prstGeom>
              <a:noFill/>
            </p:spPr>
            <p:txBody>
              <a:bodyPr wrap="square">
                <a:spAutoFit/>
              </a:bodyPr>
              <a:lstStyle/>
              <a:p>
                <a:pPr algn="just"/>
                <a:r>
                  <a:rPr lang="en-US" sz="1200" dirty="0">
                    <a:latin typeface="Google Sans Text"/>
                  </a:rPr>
                  <a:t>To ensure the final concrete security level of </a:t>
                </a:r>
                <a:r>
                  <a:rPr lang="en-US" sz="1200" i="1" dirty="0">
                    <a:latin typeface="Google Sans Text"/>
                  </a:rPr>
                  <a:t>128</a:t>
                </a:r>
                <a:r>
                  <a:rPr lang="en-US" sz="1200" dirty="0">
                    <a:latin typeface="Google Sans Text"/>
                  </a:rPr>
                  <a:t> bits after </a:t>
                </a:r>
                <a:r>
                  <a:rPr lang="en-US" sz="1200" b="1" dirty="0">
                    <a:latin typeface="Google Sans Text"/>
                  </a:rPr>
                  <a:t>finite</a:t>
                </a:r>
                <a:r>
                  <a:rPr lang="en-US" sz="1200" dirty="0">
                    <a:latin typeface="Google Sans Text"/>
                  </a:rPr>
                  <a:t> </a:t>
                </a:r>
                <a14:m>
                  <m:oMath xmlns:m="http://schemas.openxmlformats.org/officeDocument/2006/math">
                    <m:r>
                      <a:rPr lang="en-US" sz="1200" i="1">
                        <a:latin typeface="Cambria Math" panose="02040503050406030204" pitchFamily="18" charset="0"/>
                      </a:rPr>
                      <m:t>𝑙</m:t>
                    </m:r>
                    <m:r>
                      <a:rPr lang="en-US" sz="1200" b="0" i="1" smtClean="0">
                        <a:latin typeface="Cambria Math" panose="02040503050406030204" pitchFamily="18" charset="0"/>
                      </a:rPr>
                      <m:t>=</m:t>
                    </m:r>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52</m:t>
                        </m:r>
                      </m:sup>
                    </m:sSup>
                  </m:oMath>
                </a14:m>
                <a:r>
                  <a:rPr lang="en-US" sz="1200" dirty="0">
                    <a:latin typeface="Google Sans Text"/>
                  </a:rPr>
                  <a:t> </a:t>
                </a:r>
                <a:r>
                  <a:rPr lang="en-US" sz="1200" b="1" dirty="0">
                    <a:latin typeface="Google Sans Text"/>
                  </a:rPr>
                  <a:t>queries</a:t>
                </a:r>
                <a:r>
                  <a:rPr lang="en-US" sz="1200" dirty="0">
                    <a:latin typeface="Google Sans Text"/>
                  </a:rPr>
                  <a:t>, the base security </a:t>
                </a:r>
                <a14:m>
                  <m:oMath xmlns:m="http://schemas.openxmlformats.org/officeDocument/2006/math">
                    <m:r>
                      <a:rPr lang="en-US" sz="1200" b="0" i="1" smtClean="0">
                        <a:latin typeface="Cambria Math" panose="02040503050406030204" pitchFamily="18" charset="0"/>
                      </a:rPr>
                      <m:t>𝑣</m:t>
                    </m:r>
                  </m:oMath>
                </a14:m>
                <a:r>
                  <a:rPr lang="en-US" sz="1200" dirty="0"/>
                  <a:t> must be </a:t>
                </a:r>
                <a14:m>
                  <m:oMath xmlns:m="http://schemas.openxmlformats.org/officeDocument/2006/math">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180</m:t>
                    </m:r>
                  </m:oMath>
                </a14:m>
                <a:r>
                  <a:rPr lang="en-US" sz="1200" dirty="0"/>
                  <a:t> bits, so that:</a:t>
                </a:r>
              </a:p>
              <a:p>
                <a:pPr algn="just"/>
                <a14:m>
                  <m:oMathPara xmlns:m="http://schemas.openxmlformats.org/officeDocument/2006/math">
                    <m:oMathParaPr>
                      <m:jc m:val="centerGroup"/>
                    </m:oMathParaPr>
                    <m:oMath xmlns:m="http://schemas.openxmlformats.org/officeDocument/2006/math">
                      <m:r>
                        <m:rPr>
                          <m:nor/>
                        </m:rPr>
                        <a:rPr lang="el-GR" sz="1200" i="1" smtClean="0">
                          <a:effectLst/>
                        </a:rPr>
                        <m:t>λ</m:t>
                      </m:r>
                      <m:r>
                        <a:rPr lang="en-US" sz="1200" i="1">
                          <a:latin typeface="Cambria Math" panose="02040503050406030204" pitchFamily="18" charset="0"/>
                        </a:rPr>
                        <m:t>=</m:t>
                      </m:r>
                      <m:r>
                        <a:rPr lang="en-US" sz="1200" i="1">
                          <a:latin typeface="Cambria Math" panose="02040503050406030204" pitchFamily="18" charset="0"/>
                        </a:rPr>
                        <m:t>𝑣</m:t>
                      </m:r>
                      <m:r>
                        <a:rPr lang="en-US" sz="1200" b="0" i="1" smtClean="0">
                          <a:latin typeface="Cambria Math" panose="02040503050406030204" pitchFamily="18" charset="0"/>
                        </a:rPr>
                        <m:t>−</m:t>
                      </m:r>
                      <m:func>
                        <m:funcPr>
                          <m:ctrlPr>
                            <a:rPr lang="en-US" sz="1200" b="0" i="1" smtClean="0">
                              <a:latin typeface="Cambria Math" panose="02040503050406030204" pitchFamily="18" charset="0"/>
                            </a:rPr>
                          </m:ctrlPr>
                        </m:funcPr>
                        <m:fNa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𝑙𝑜𝑔</m:t>
                              </m:r>
                            </m:e>
                            <m:sub>
                              <m:r>
                                <a:rPr lang="en-US" sz="1200" b="0" i="1" smtClean="0">
                                  <a:latin typeface="Cambria Math" panose="02040503050406030204" pitchFamily="18" charset="0"/>
                                </a:rPr>
                                <m:t>2</m:t>
                              </m:r>
                            </m:sub>
                          </m:sSub>
                        </m:fName>
                        <m:e>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𝑙</m:t>
                              </m:r>
                            </m:e>
                          </m:d>
                        </m:e>
                      </m:func>
                      <m:r>
                        <a:rPr lang="en-US" sz="1200" b="0" i="1" smtClean="0">
                          <a:latin typeface="Cambria Math" panose="02040503050406030204" pitchFamily="18" charset="0"/>
                        </a:rPr>
                        <m:t>=</m:t>
                      </m:r>
                      <m:r>
                        <a:rPr lang="en-US" sz="1200" b="0" i="1" smtClean="0">
                          <a:latin typeface="Cambria Math" panose="02040503050406030204" pitchFamily="18" charset="0"/>
                        </a:rPr>
                        <m:t>𝑣</m:t>
                      </m:r>
                      <m:r>
                        <a:rPr lang="en-US" sz="1200" b="0" i="1" smtClean="0">
                          <a:latin typeface="Cambria Math" panose="02040503050406030204" pitchFamily="18" charset="0"/>
                        </a:rPr>
                        <m:t>−52</m:t>
                      </m:r>
                    </m:oMath>
                  </m:oMathPara>
                </a14:m>
                <a:endParaRPr lang="en-US" sz="1200" i="1" dirty="0">
                  <a:latin typeface="Google Sans Text"/>
                </a:endParaRPr>
              </a:p>
              <a:p>
                <a:pPr algn="just"/>
                <a:r>
                  <a:rPr lang="en-US" sz="1200" dirty="0"/>
                  <a:t>After </a:t>
                </a:r>
                <a14:m>
                  <m:oMath xmlns:m="http://schemas.openxmlformats.org/officeDocument/2006/math">
                    <m:sSup>
                      <m:sSupPr>
                        <m:ctrlPr>
                          <a:rPr lang="en-US" sz="1200" i="1">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52</m:t>
                        </m:r>
                      </m:sup>
                    </m:sSup>
                  </m:oMath>
                </a14:m>
                <a:r>
                  <a:rPr lang="en-US" sz="1200" dirty="0">
                    <a:latin typeface="Google Sans Text"/>
                  </a:rPr>
                  <a:t> queries, </a:t>
                </a:r>
                <a:r>
                  <a:rPr lang="en-US" sz="1200" i="1" dirty="0">
                    <a:latin typeface="Google Sans Text"/>
                  </a:rPr>
                  <a:t>A</a:t>
                </a:r>
                <a:r>
                  <a:rPr lang="en-US" sz="1200" dirty="0">
                    <a:latin typeface="Google Sans Text"/>
                  </a:rPr>
                  <a:t> is rotated and the security </a:t>
                </a:r>
                <a:r>
                  <a:rPr lang="en-US" sz="1200" dirty="0"/>
                  <a:t>of the </a:t>
                </a:r>
                <a14:m>
                  <m:oMath xmlns:m="http://schemas.openxmlformats.org/officeDocument/2006/math">
                    <m:sSub>
                      <m:sSubPr>
                        <m:ctrlPr>
                          <a:rPr lang="en-US" sz="1200" i="1">
                            <a:latin typeface="Cambria Math" panose="02040503050406030204" pitchFamily="18" charset="0"/>
                          </a:rPr>
                        </m:ctrlPr>
                      </m:sSubPr>
                      <m:e>
                        <m:r>
                          <m:rPr>
                            <m:nor/>
                          </m:rPr>
                          <a:rPr lang="en-US" sz="1200" i="1" dirty="0">
                            <a:latin typeface="Google Sans Text"/>
                          </a:rPr>
                          <m:t>MatLWE</m:t>
                        </m:r>
                      </m:e>
                      <m:sub>
                        <m:r>
                          <a:rPr lang="en-US" sz="1200" i="1">
                            <a:latin typeface="Cambria Math" panose="02040503050406030204" pitchFamily="18" charset="0"/>
                          </a:rPr>
                          <m:t>𝑞</m:t>
                        </m:r>
                        <m:r>
                          <a:rPr lang="en-US" sz="1200" i="1">
                            <a:latin typeface="Cambria Math" panose="02040503050406030204" pitchFamily="18" charset="0"/>
                          </a:rPr>
                          <m:t>,</m:t>
                        </m:r>
                        <m:r>
                          <a:rPr lang="en-US" sz="1200" i="1">
                            <a:latin typeface="Cambria Math" panose="02040503050406030204" pitchFamily="18" charset="0"/>
                          </a:rPr>
                          <m:t>𝑛</m:t>
                        </m:r>
                        <m:r>
                          <a:rPr lang="en-US" sz="1200" i="1">
                            <a:latin typeface="Cambria Math" panose="02040503050406030204" pitchFamily="18" charset="0"/>
                          </a:rPr>
                          <m:t>,</m:t>
                        </m:r>
                        <m:r>
                          <a:rPr lang="en-US" sz="1200" i="1">
                            <a:latin typeface="Cambria Math" panose="02040503050406030204" pitchFamily="18" charset="0"/>
                          </a:rPr>
                          <m:t>𝑚</m:t>
                        </m:r>
                        <m:r>
                          <a:rPr lang="en-US" sz="1200" i="1">
                            <a:latin typeface="Cambria Math" panose="02040503050406030204" pitchFamily="18" charset="0"/>
                          </a:rPr>
                          <m:t>,</m:t>
                        </m:r>
                        <m:r>
                          <a:rPr lang="el-GR" sz="1200" i="1">
                            <a:latin typeface="Cambria Math" panose="02040503050406030204" pitchFamily="18" charset="0"/>
                          </a:rPr>
                          <m:t>𝜒</m:t>
                        </m:r>
                        <m:r>
                          <a:rPr lang="en-US" sz="1200" i="1">
                            <a:latin typeface="Cambria Math" panose="02040503050406030204" pitchFamily="18" charset="0"/>
                          </a:rPr>
                          <m:t>,</m:t>
                        </m:r>
                        <m:r>
                          <a:rPr lang="en-US" sz="1200" i="1">
                            <a:latin typeface="Cambria Math" panose="02040503050406030204" pitchFamily="18" charset="0"/>
                          </a:rPr>
                          <m:t>𝑙</m:t>
                        </m:r>
                      </m:sub>
                    </m:sSub>
                  </m:oMath>
                </a14:m>
                <a:r>
                  <a:rPr lang="en-US" sz="1200" dirty="0"/>
                  <a:t> is reset.</a:t>
                </a:r>
              </a:p>
            </p:txBody>
          </p:sp>
        </mc:Choice>
        <mc:Fallback xmlns="">
          <p:sp>
            <p:nvSpPr>
              <p:cNvPr id="106" name="TextBox 105">
                <a:extLst>
                  <a:ext uri="{FF2B5EF4-FFF2-40B4-BE49-F238E27FC236}">
                    <a16:creationId xmlns:a16="http://schemas.microsoft.com/office/drawing/2014/main" id="{DBAFB2CD-1EB8-410C-877D-876369FF80C9}"/>
                  </a:ext>
                </a:extLst>
              </p:cNvPr>
              <p:cNvSpPr txBox="1">
                <a:spLocks noRot="1" noChangeAspect="1" noMove="1" noResize="1" noEditPoints="1" noAdjustHandles="1" noChangeArrowheads="1" noChangeShapeType="1" noTextEdit="1"/>
              </p:cNvSpPr>
              <p:nvPr/>
            </p:nvSpPr>
            <p:spPr>
              <a:xfrm>
                <a:off x="7397458" y="5271970"/>
                <a:ext cx="2710238" cy="1405641"/>
              </a:xfrm>
              <a:prstGeom prst="rect">
                <a:avLst/>
              </a:prstGeom>
              <a:blipFill>
                <a:blip r:embed="rId20"/>
                <a:stretch>
                  <a:fillRect t="-435" r="-225" b="-1739"/>
                </a:stretch>
              </a:blipFill>
            </p:spPr>
            <p:txBody>
              <a:bodyPr/>
              <a:lstStyle/>
              <a:p>
                <a:r>
                  <a:rPr lang="en-US">
                    <a:noFill/>
                  </a:rPr>
                  <a:t> </a:t>
                </a:r>
              </a:p>
            </p:txBody>
          </p:sp>
        </mc:Fallback>
      </mc:AlternateContent>
      <p:grpSp>
        <p:nvGrpSpPr>
          <p:cNvPr id="108" name="Group 10">
            <a:extLst>
              <a:ext uri="{FF2B5EF4-FFF2-40B4-BE49-F238E27FC236}">
                <a16:creationId xmlns:a16="http://schemas.microsoft.com/office/drawing/2014/main" id="{A42B4AA1-58DB-4806-8729-AF32BA203E52}"/>
              </a:ext>
            </a:extLst>
          </p:cNvPr>
          <p:cNvGrpSpPr/>
          <p:nvPr/>
        </p:nvGrpSpPr>
        <p:grpSpPr>
          <a:xfrm>
            <a:off x="4290291" y="4199195"/>
            <a:ext cx="6753974" cy="623454"/>
            <a:chOff x="6385377" y="5566349"/>
            <a:chExt cx="6753974" cy="623454"/>
          </a:xfrm>
        </p:grpSpPr>
        <p:sp>
          <p:nvSpPr>
            <p:cNvPr id="109" name="TextBox 108">
              <a:extLst>
                <a:ext uri="{FF2B5EF4-FFF2-40B4-BE49-F238E27FC236}">
                  <a16:creationId xmlns:a16="http://schemas.microsoft.com/office/drawing/2014/main" id="{3F039DD6-5B82-46F9-96B7-CB9BCF5831E3}"/>
                </a:ext>
              </a:extLst>
            </p:cNvPr>
            <p:cNvSpPr txBox="1"/>
            <p:nvPr/>
          </p:nvSpPr>
          <p:spPr>
            <a:xfrm>
              <a:off x="6385378" y="5566349"/>
              <a:ext cx="4015406" cy="276999"/>
            </a:xfrm>
            <a:prstGeom prst="rect">
              <a:avLst/>
            </a:prstGeom>
            <a:noFill/>
          </p:spPr>
          <p:txBody>
            <a:bodyPr wrap="square">
              <a:spAutoFit/>
            </a:bodyPr>
            <a:lstStyle/>
            <a:p>
              <a:pPr algn="just"/>
              <a:r>
                <a:rPr lang="en-US" sz="1200" i="1" dirty="0" err="1">
                  <a:latin typeface="Google Sans Text"/>
                </a:rPr>
                <a:t>FPIR.process</a:t>
              </a:r>
              <a:r>
                <a:rPr lang="en-US" sz="1200" i="1" dirty="0">
                  <a:latin typeface="Google Sans Text"/>
                </a:rPr>
                <a:t> (</a:t>
              </a:r>
              <a:r>
                <a:rPr lang="en-US" sz="1200" i="1" dirty="0"/>
                <a:t>Online client work):</a:t>
              </a: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FD36B8D0-3D11-4596-BD5E-620B9E6A2911}"/>
                    </a:ext>
                  </a:extLst>
                </p:cNvPr>
                <p:cNvSpPr txBox="1"/>
                <p:nvPr/>
              </p:nvSpPr>
              <p:spPr>
                <a:xfrm>
                  <a:off x="6385377" y="5861508"/>
                  <a:ext cx="6753974" cy="328295"/>
                </a:xfrm>
                <a:prstGeom prst="rect">
                  <a:avLst/>
                </a:prstGeom>
                <a:noFill/>
              </p:spPr>
              <p:txBody>
                <a:bodyPr wrap="square">
                  <a:spAutoFit/>
                </a:bodyPr>
                <a:lstStyle/>
                <a:p>
                  <a:pPr lvl="0" algn="ctr">
                    <a:defRPr/>
                  </a:pPr>
                  <a14:m>
                    <m:oMathPara xmlns:m="http://schemas.openxmlformats.org/officeDocument/2006/math">
                      <m:oMathParaPr>
                        <m:jc m:val="centerGroup"/>
                      </m:oMathParaPr>
                      <m:oMath xmlns:m="http://schemas.openxmlformats.org/officeDocument/2006/math">
                        <m:r>
                          <a:rPr lang="en-US" sz="1100" i="1">
                            <a:latin typeface="Cambria Math" panose="02040503050406030204" pitchFamily="18" charset="0"/>
                          </a:rPr>
                          <m:t>𝑥</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𝑝</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r>
                          <a:rPr lang="en-US" sz="1100" i="1">
                            <a:latin typeface="Cambria Math" panose="02040503050406030204" pitchFamily="18" charset="0"/>
                          </a:rPr>
                          <m:t>=</m:t>
                        </m:r>
                        <m:sSub>
                          <m:sSubPr>
                            <m:ctrlPr>
                              <a:rPr lang="en-US" sz="1100" i="1">
                                <a:latin typeface="Cambria Math" panose="02040503050406030204" pitchFamily="18" charset="0"/>
                              </a:rPr>
                            </m:ctrlPr>
                          </m:sSubPr>
                          <m:e>
                            <m:d>
                              <m:dPr>
                                <m:begChr m:val="⌈"/>
                                <m:endChr m:val="⌉"/>
                                <m:ctrlPr>
                                  <a:rPr lang="en-US" sz="1100" i="1">
                                    <a:latin typeface="Cambria Math" panose="02040503050406030204" pitchFamily="18" charset="0"/>
                                  </a:rPr>
                                </m:ctrlPr>
                              </m:dPr>
                              <m:e>
                                <m:acc>
                                  <m:accPr>
                                    <m:chr m:val="̃"/>
                                    <m:ctrlPr>
                                      <a:rPr lang="en-US" sz="1100" i="1">
                                        <a:latin typeface="Cambria Math" panose="02040503050406030204" pitchFamily="18" charset="0"/>
                                        <a:ea typeface="Cambria Math" panose="02040503050406030204" pitchFamily="18" charset="0"/>
                                      </a:rPr>
                                    </m:ctrlPr>
                                  </m:accPr>
                                  <m:e>
                                    <m:r>
                                      <a:rPr lang="en-US" sz="1100" i="1">
                                        <a:latin typeface="Cambria Math" panose="02040503050406030204" pitchFamily="18" charset="0"/>
                                        <a:ea typeface="Cambria Math" panose="02040503050406030204" pitchFamily="18" charset="0"/>
                                      </a:rPr>
                                      <m:t>𝑐</m:t>
                                    </m:r>
                                  </m:e>
                                </m:acc>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𝑐</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e>
                            </m:d>
                          </m:e>
                          <m:sub>
                            <m:r>
                              <a:rPr lang="en-US" sz="1100" i="1">
                                <a:latin typeface="Cambria Math" panose="02040503050406030204" pitchFamily="18" charset="0"/>
                              </a:rPr>
                              <m:t>𝑝</m:t>
                            </m:r>
                          </m:sub>
                        </m:sSub>
                        <m:r>
                          <a:rPr lang="en-US" sz="1100" i="1">
                            <a:latin typeface="Cambria Math" panose="02040503050406030204" pitchFamily="18" charset="0"/>
                          </a:rPr>
                          <m:t>=</m:t>
                        </m:r>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𝑂</m:t>
                        </m:r>
                        <m:r>
                          <a:rPr lang="en-US" sz="1100" i="1">
                            <a:latin typeface="Cambria Math" panose="02040503050406030204" pitchFamily="18" charset="0"/>
                          </a:rPr>
                          <m:t>(1)</m:t>
                        </m:r>
                      </m:oMath>
                    </m:oMathPara>
                  </a14:m>
                  <a:endParaRPr lang="en-US" sz="1100" i="1" dirty="0">
                    <a:latin typeface="Google Sans Text"/>
                  </a:endParaRPr>
                </a:p>
              </p:txBody>
            </p:sp>
          </mc:Choice>
          <mc:Fallback xmlns="">
            <p:sp>
              <p:nvSpPr>
                <p:cNvPr id="110" name="TextBox 109">
                  <a:extLst>
                    <a:ext uri="{FF2B5EF4-FFF2-40B4-BE49-F238E27FC236}">
                      <a16:creationId xmlns:a16="http://schemas.microsoft.com/office/drawing/2014/main" id="{FD36B8D0-3D11-4596-BD5E-620B9E6A2911}"/>
                    </a:ext>
                  </a:extLst>
                </p:cNvPr>
                <p:cNvSpPr txBox="1">
                  <a:spLocks noRot="1" noChangeAspect="1" noMove="1" noResize="1" noEditPoints="1" noAdjustHandles="1" noChangeArrowheads="1" noChangeShapeType="1" noTextEdit="1"/>
                </p:cNvSpPr>
                <p:nvPr/>
              </p:nvSpPr>
              <p:spPr>
                <a:xfrm>
                  <a:off x="6385377" y="5861508"/>
                  <a:ext cx="6753974" cy="328295"/>
                </a:xfrm>
                <a:prstGeom prst="rect">
                  <a:avLst/>
                </a:prstGeom>
                <a:blipFill>
                  <a:blip r:embed="rId21"/>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1ACD55E-A8E1-451A-8897-9918B13A5A5C}"/>
                  </a:ext>
                </a:extLst>
              </p:cNvPr>
              <p:cNvSpPr txBox="1"/>
              <p:nvPr/>
            </p:nvSpPr>
            <p:spPr>
              <a:xfrm>
                <a:off x="10107696" y="5280565"/>
                <a:ext cx="1863394" cy="1590307"/>
              </a:xfrm>
              <a:prstGeom prst="rect">
                <a:avLst/>
              </a:prstGeom>
              <a:noFill/>
            </p:spPr>
            <p:txBody>
              <a:bodyPr wrap="square">
                <a:spAutoFit/>
              </a:bodyPr>
              <a:lstStyle/>
              <a:p>
                <a:pPr algn="just"/>
                <a:r>
                  <a:rPr lang="zh-CN" altLang="en-US" sz="1200" dirty="0"/>
                  <a:t>确保有限后</a:t>
                </a:r>
                <a:r>
                  <a:rPr lang="en-US" altLang="zh-CN" sz="1200" dirty="0"/>
                  <a:t>128</a:t>
                </a:r>
                <a:r>
                  <a:rPr lang="zh-CN" altLang="en-US" sz="1200" dirty="0"/>
                  <a:t>位的最终具体安全级别</a:t>
                </a:r>
                <a14:m>
                  <m:oMath xmlns:m="http://schemas.openxmlformats.org/officeDocument/2006/math">
                    <m:r>
                      <a:rPr lang="en-US" sz="1200" i="1" smtClean="0">
                        <a:latin typeface="Cambria Math" panose="02040503050406030204" pitchFamily="18" charset="0"/>
                      </a:rPr>
                      <m:t>𝑙</m:t>
                    </m:r>
                    <m:r>
                      <a:rPr lang="en-US" sz="1200" b="0" i="1" smtClean="0">
                        <a:latin typeface="Cambria Math" panose="02040503050406030204" pitchFamily="18" charset="0"/>
                      </a:rPr>
                      <m:t>=</m:t>
                    </m:r>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52</m:t>
                        </m:r>
                      </m:sup>
                    </m:sSup>
                  </m:oMath>
                </a14:m>
                <a:r>
                  <a:rPr lang="zh-CN" altLang="en-US" sz="1200" dirty="0"/>
                  <a:t> 查询，基础安全𝑣 必须≈</a:t>
                </a:r>
                <a:r>
                  <a:rPr lang="en-US" altLang="zh-CN" sz="1200" dirty="0"/>
                  <a:t>180</a:t>
                </a:r>
                <a:r>
                  <a:rPr lang="zh-CN" altLang="en-US" sz="1200" dirty="0"/>
                  <a:t>位，因此：</a:t>
                </a:r>
                <a:endParaRPr lang="en-US" altLang="zh-CN" sz="1200" dirty="0"/>
              </a:p>
              <a:p>
                <a:pPr algn="just"/>
                <a14:m>
                  <m:oMathPara xmlns:m="http://schemas.openxmlformats.org/officeDocument/2006/math">
                    <m:oMathParaPr>
                      <m:jc m:val="centerGroup"/>
                    </m:oMathParaPr>
                    <m:oMath xmlns:m="http://schemas.openxmlformats.org/officeDocument/2006/math">
                      <m:r>
                        <m:rPr>
                          <m:nor/>
                        </m:rPr>
                        <a:rPr lang="el-GR" sz="1200" i="1" smtClean="0">
                          <a:effectLst/>
                        </a:rPr>
                        <m:t>λ</m:t>
                      </m:r>
                      <m:r>
                        <a:rPr lang="en-US" sz="1200" i="1">
                          <a:latin typeface="Cambria Math" panose="02040503050406030204" pitchFamily="18" charset="0"/>
                        </a:rPr>
                        <m:t>=</m:t>
                      </m:r>
                      <m:r>
                        <a:rPr lang="en-US" sz="1200" i="1">
                          <a:latin typeface="Cambria Math" panose="02040503050406030204" pitchFamily="18" charset="0"/>
                        </a:rPr>
                        <m:t>𝑣</m:t>
                      </m:r>
                      <m:r>
                        <a:rPr lang="en-US" sz="1200" b="0" i="1" smtClean="0">
                          <a:latin typeface="Cambria Math" panose="02040503050406030204" pitchFamily="18" charset="0"/>
                        </a:rPr>
                        <m:t>−</m:t>
                      </m:r>
                      <m:func>
                        <m:funcPr>
                          <m:ctrlPr>
                            <a:rPr lang="en-US" sz="1200" b="0" i="1" smtClean="0">
                              <a:latin typeface="Cambria Math" panose="02040503050406030204" pitchFamily="18" charset="0"/>
                            </a:rPr>
                          </m:ctrlPr>
                        </m:funcPr>
                        <m:fNa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𝑙𝑜𝑔</m:t>
                              </m:r>
                            </m:e>
                            <m:sub>
                              <m:r>
                                <a:rPr lang="en-US" sz="1200" b="0" i="1" smtClean="0">
                                  <a:latin typeface="Cambria Math" panose="02040503050406030204" pitchFamily="18" charset="0"/>
                                </a:rPr>
                                <m:t>2</m:t>
                              </m:r>
                            </m:sub>
                          </m:sSub>
                        </m:fName>
                        <m:e>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𝑙</m:t>
                              </m:r>
                            </m:e>
                          </m:d>
                        </m:e>
                      </m:func>
                      <m:r>
                        <a:rPr lang="en-US" sz="1200" b="0" i="1" smtClean="0">
                          <a:latin typeface="Cambria Math" panose="02040503050406030204" pitchFamily="18" charset="0"/>
                        </a:rPr>
                        <m:t>=</m:t>
                      </m:r>
                      <m:r>
                        <a:rPr lang="en-US" sz="1200" b="0" i="1" smtClean="0">
                          <a:latin typeface="Cambria Math" panose="02040503050406030204" pitchFamily="18" charset="0"/>
                        </a:rPr>
                        <m:t>𝑣</m:t>
                      </m:r>
                      <m:r>
                        <a:rPr lang="en-US" sz="1200" b="0" i="1" smtClean="0">
                          <a:latin typeface="Cambria Math" panose="02040503050406030204" pitchFamily="18" charset="0"/>
                        </a:rPr>
                        <m:t>−52</m:t>
                      </m:r>
                    </m:oMath>
                  </m:oMathPara>
                </a14:m>
                <a:endParaRPr lang="en-US" sz="1200" i="1" dirty="0">
                  <a:latin typeface="Google Sans Text"/>
                </a:endParaRPr>
              </a:p>
              <a:p>
                <a:pPr algn="just"/>
                <a:r>
                  <a:rPr lang="zh-CN" altLang="en-US" sz="1200" dirty="0"/>
                  <a:t>经过</a:t>
                </a:r>
                <a14:m>
                  <m:oMath xmlns:m="http://schemas.openxmlformats.org/officeDocument/2006/math">
                    <m:sSup>
                      <m:sSupPr>
                        <m:ctrlPr>
                          <a:rPr lang="en-US" sz="1200" i="1" smtClean="0">
                            <a:latin typeface="Cambria Math" panose="02040503050406030204" pitchFamily="18" charset="0"/>
                          </a:rPr>
                        </m:ctrlPr>
                      </m:sSupPr>
                      <m:e>
                        <m:r>
                          <a:rPr lang="en-US" sz="1200" i="1">
                            <a:latin typeface="Cambria Math" panose="02040503050406030204" pitchFamily="18" charset="0"/>
                          </a:rPr>
                          <m:t>2</m:t>
                        </m:r>
                      </m:e>
                      <m:sup>
                        <m:r>
                          <a:rPr lang="en-US" sz="1200" i="1">
                            <a:latin typeface="Cambria Math" panose="02040503050406030204" pitchFamily="18" charset="0"/>
                          </a:rPr>
                          <m:t>52</m:t>
                        </m:r>
                      </m:sup>
                    </m:sSup>
                  </m:oMath>
                </a14:m>
                <a:r>
                  <a:rPr lang="zh-CN" altLang="en-US" sz="1200" dirty="0"/>
                  <a:t>次查询后，</a:t>
                </a:r>
                <a:r>
                  <a:rPr lang="en-US" altLang="zh-CN" sz="1200" dirty="0"/>
                  <a:t>A</a:t>
                </a:r>
                <a:r>
                  <a:rPr lang="zh-CN" altLang="en-US" sz="1200" dirty="0"/>
                  <a:t>被轮换，并重置</a:t>
                </a:r>
                <a14:m>
                  <m:oMath xmlns:m="http://schemas.openxmlformats.org/officeDocument/2006/math">
                    <m:sSub>
                      <m:sSubPr>
                        <m:ctrlPr>
                          <a:rPr lang="en-US" sz="1200" i="1">
                            <a:latin typeface="Cambria Math" panose="02040503050406030204" pitchFamily="18" charset="0"/>
                          </a:rPr>
                        </m:ctrlPr>
                      </m:sSubPr>
                      <m:e>
                        <m:r>
                          <m:rPr>
                            <m:nor/>
                          </m:rPr>
                          <a:rPr lang="en-US" sz="1200" i="1" dirty="0">
                            <a:latin typeface="Google Sans Text"/>
                          </a:rPr>
                          <m:t>MatLWE</m:t>
                        </m:r>
                      </m:e>
                      <m:sub>
                        <m:r>
                          <a:rPr lang="en-US" sz="1200" i="1">
                            <a:latin typeface="Cambria Math" panose="02040503050406030204" pitchFamily="18" charset="0"/>
                          </a:rPr>
                          <m:t>𝑞</m:t>
                        </m:r>
                        <m:r>
                          <a:rPr lang="en-US" sz="1200" i="1">
                            <a:latin typeface="Cambria Math" panose="02040503050406030204" pitchFamily="18" charset="0"/>
                          </a:rPr>
                          <m:t>,</m:t>
                        </m:r>
                        <m:r>
                          <a:rPr lang="en-US" sz="1200" i="1">
                            <a:latin typeface="Cambria Math" panose="02040503050406030204" pitchFamily="18" charset="0"/>
                          </a:rPr>
                          <m:t>𝑛</m:t>
                        </m:r>
                        <m:r>
                          <a:rPr lang="en-US" sz="1200" i="1">
                            <a:latin typeface="Cambria Math" panose="02040503050406030204" pitchFamily="18" charset="0"/>
                          </a:rPr>
                          <m:t>,</m:t>
                        </m:r>
                        <m:r>
                          <a:rPr lang="en-US" sz="1200" i="1">
                            <a:latin typeface="Cambria Math" panose="02040503050406030204" pitchFamily="18" charset="0"/>
                          </a:rPr>
                          <m:t>𝑚</m:t>
                        </m:r>
                        <m:r>
                          <a:rPr lang="en-US" sz="1200" i="1">
                            <a:latin typeface="Cambria Math" panose="02040503050406030204" pitchFamily="18" charset="0"/>
                          </a:rPr>
                          <m:t>,</m:t>
                        </m:r>
                        <m:r>
                          <a:rPr lang="el-GR" sz="1200" i="1">
                            <a:latin typeface="Cambria Math" panose="02040503050406030204" pitchFamily="18" charset="0"/>
                          </a:rPr>
                          <m:t>𝜒</m:t>
                        </m:r>
                        <m:r>
                          <a:rPr lang="en-US" sz="1200" i="1">
                            <a:latin typeface="Cambria Math" panose="02040503050406030204" pitchFamily="18" charset="0"/>
                          </a:rPr>
                          <m:t>,</m:t>
                        </m:r>
                        <m:r>
                          <a:rPr lang="en-US" sz="1200" i="1">
                            <a:latin typeface="Cambria Math" panose="02040503050406030204" pitchFamily="18" charset="0"/>
                          </a:rPr>
                          <m:t>𝑙</m:t>
                        </m:r>
                      </m:sub>
                    </m:sSub>
                  </m:oMath>
                </a14:m>
                <a:r>
                  <a:rPr lang="zh-CN" altLang="en-US" sz="1200" dirty="0"/>
                  <a:t>的安全性。</a:t>
                </a:r>
                <a:endParaRPr lang="en-US" sz="1200" dirty="0"/>
              </a:p>
            </p:txBody>
          </p:sp>
        </mc:Choice>
        <mc:Fallback xmlns="">
          <p:sp>
            <p:nvSpPr>
              <p:cNvPr id="46" name="TextBox 45">
                <a:extLst>
                  <a:ext uri="{FF2B5EF4-FFF2-40B4-BE49-F238E27FC236}">
                    <a16:creationId xmlns:a16="http://schemas.microsoft.com/office/drawing/2014/main" id="{D1ACD55E-A8E1-451A-8897-9918B13A5A5C}"/>
                  </a:ext>
                </a:extLst>
              </p:cNvPr>
              <p:cNvSpPr txBox="1">
                <a:spLocks noRot="1" noChangeAspect="1" noMove="1" noResize="1" noEditPoints="1" noAdjustHandles="1" noChangeArrowheads="1" noChangeShapeType="1" noTextEdit="1"/>
              </p:cNvSpPr>
              <p:nvPr/>
            </p:nvSpPr>
            <p:spPr>
              <a:xfrm>
                <a:off x="10107696" y="5280565"/>
                <a:ext cx="1863394" cy="1590307"/>
              </a:xfrm>
              <a:prstGeom prst="rect">
                <a:avLst/>
              </a:prstGeom>
              <a:blipFill>
                <a:blip r:embed="rId22"/>
                <a:stretch>
                  <a:fillRect r="-8170" b="-1149"/>
                </a:stretch>
              </a:blipFill>
            </p:spPr>
            <p:txBody>
              <a:bodyPr/>
              <a:lstStyle/>
              <a:p>
                <a:r>
                  <a:rPr lang="en-US">
                    <a:noFill/>
                  </a:rPr>
                  <a:t> </a:t>
                </a:r>
              </a:p>
            </p:txBody>
          </p:sp>
        </mc:Fallback>
      </mc:AlternateContent>
    </p:spTree>
    <p:extLst>
      <p:ext uri="{BB962C8B-B14F-4D97-AF65-F5344CB8AC3E}">
        <p14:creationId xmlns:p14="http://schemas.microsoft.com/office/powerpoint/2010/main" val="136581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500"/>
                                        <p:tgtEl>
                                          <p:spTgt spid="68"/>
                                        </p:tgtEl>
                                      </p:cBhvr>
                                    </p:animEffect>
                                  </p:childTnLst>
                                </p:cTn>
                              </p:par>
                              <p:par>
                                <p:cTn id="16" presetID="1" presetClass="entr" presetSubtype="0" fill="hold" nodeType="withEffect">
                                  <p:stCondLst>
                                    <p:cond delay="0"/>
                                  </p:stCondLst>
                                  <p:childTnLst>
                                    <p:set>
                                      <p:cBhvr>
                                        <p:cTn id="17" dur="1" fill="hold">
                                          <p:stCondLst>
                                            <p:cond delay="0"/>
                                          </p:stCondLst>
                                        </p:cTn>
                                        <p:tgtEl>
                                          <p:spTgt spid="38"/>
                                        </p:tgtEl>
                                        <p:attrNameLst>
                                          <p:attrName>style.visibility</p:attrName>
                                        </p:attrNameLst>
                                      </p:cBhvr>
                                      <p:to>
                                        <p:strVal val="visible"/>
                                      </p:to>
                                    </p:set>
                                  </p:childTnLst>
                                </p:cTn>
                              </p:par>
                              <p:par>
                                <p:cTn id="18" presetID="10" presetClass="entr" presetSubtype="0" fill="hold" nodeType="withEffect">
                                  <p:stCondLst>
                                    <p:cond delay="0"/>
                                  </p:stCondLst>
                                  <p:childTnLst>
                                    <p:set>
                                      <p:cBhvr>
                                        <p:cTn id="19" dur="1" fill="hold">
                                          <p:stCondLst>
                                            <p:cond delay="0"/>
                                          </p:stCondLst>
                                        </p:cTn>
                                        <p:tgtEl>
                                          <p:spTgt spid="92"/>
                                        </p:tgtEl>
                                        <p:attrNameLst>
                                          <p:attrName>style.visibility</p:attrName>
                                        </p:attrNameLst>
                                      </p:cBhvr>
                                      <p:to>
                                        <p:strVal val="visible"/>
                                      </p:to>
                                    </p:set>
                                    <p:animEffect transition="in" filter="fade">
                                      <p:cBhvr>
                                        <p:cTn id="20" dur="500"/>
                                        <p:tgtEl>
                                          <p:spTgt spid="9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500"/>
                                        <p:tgtEl>
                                          <p:spTgt spid="69"/>
                                        </p:tgtEl>
                                      </p:cBhvr>
                                    </p:animEffect>
                                  </p:childTnLst>
                                </p:cTn>
                              </p:par>
                              <p:par>
                                <p:cTn id="26" presetID="1" presetClass="entr" presetSubtype="0" fill="hold" nodeType="withEffect">
                                  <p:stCondLst>
                                    <p:cond delay="0"/>
                                  </p:stCondLst>
                                  <p:childTnLst>
                                    <p:set>
                                      <p:cBhvr>
                                        <p:cTn id="27" dur="1" fill="hold">
                                          <p:stCondLst>
                                            <p:cond delay="0"/>
                                          </p:stCondLst>
                                        </p:cTn>
                                        <p:tgtEl>
                                          <p:spTgt spid="42"/>
                                        </p:tgtEl>
                                        <p:attrNameLst>
                                          <p:attrName>style.visibility</p:attrName>
                                        </p:attrNameLst>
                                      </p:cBhvr>
                                      <p:to>
                                        <p:strVal val="visible"/>
                                      </p:to>
                                    </p:set>
                                  </p:childTnLst>
                                </p:cTn>
                              </p:par>
                              <p:par>
                                <p:cTn id="28" presetID="10" presetClass="entr" presetSubtype="0" fill="hold" nodeType="withEffect">
                                  <p:stCondLst>
                                    <p:cond delay="0"/>
                                  </p:stCondLst>
                                  <p:childTnLst>
                                    <p:set>
                                      <p:cBhvr>
                                        <p:cTn id="29" dur="1" fill="hold">
                                          <p:stCondLst>
                                            <p:cond delay="0"/>
                                          </p:stCondLst>
                                        </p:cTn>
                                        <p:tgtEl>
                                          <p:spTgt spid="98"/>
                                        </p:tgtEl>
                                        <p:attrNameLst>
                                          <p:attrName>style.visibility</p:attrName>
                                        </p:attrNameLst>
                                      </p:cBhvr>
                                      <p:to>
                                        <p:strVal val="visible"/>
                                      </p:to>
                                    </p:set>
                                    <p:animEffect transition="in" filter="fade">
                                      <p:cBhvr>
                                        <p:cTn id="30" dur="500"/>
                                        <p:tgtEl>
                                          <p:spTgt spid="98"/>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500"/>
                                        <p:tgtEl>
                                          <p:spTgt spid="71"/>
                                        </p:tgtEl>
                                      </p:cBhvr>
                                    </p:animEffect>
                                  </p:childTnLst>
                                </p:cTn>
                              </p:par>
                              <p:par>
                                <p:cTn id="40" presetID="1" presetClass="entr" presetSubtype="0" fill="hold" nodeType="withEffect">
                                  <p:stCondLst>
                                    <p:cond delay="0"/>
                                  </p:stCondLst>
                                  <p:childTnLst>
                                    <p:set>
                                      <p:cBhvr>
                                        <p:cTn id="41" dur="1" fill="hold">
                                          <p:stCondLst>
                                            <p:cond delay="0"/>
                                          </p:stCondLst>
                                        </p:cTn>
                                        <p:tgtEl>
                                          <p:spTgt spid="53"/>
                                        </p:tgtEl>
                                        <p:attrNameLst>
                                          <p:attrName>style.visibility</p:attrName>
                                        </p:attrNameLst>
                                      </p:cBhvr>
                                      <p:to>
                                        <p:strVal val="visible"/>
                                      </p:to>
                                    </p:set>
                                  </p:childTnLst>
                                </p:cTn>
                              </p:par>
                              <p:par>
                                <p:cTn id="42" presetID="10" presetClass="entr" presetSubtype="0" fill="hold" nodeType="withEffect">
                                  <p:stCondLst>
                                    <p:cond delay="0"/>
                                  </p:stCondLst>
                                  <p:childTnLst>
                                    <p:set>
                                      <p:cBhvr>
                                        <p:cTn id="43" dur="1" fill="hold">
                                          <p:stCondLst>
                                            <p:cond delay="0"/>
                                          </p:stCondLst>
                                        </p:cTn>
                                        <p:tgtEl>
                                          <p:spTgt spid="101"/>
                                        </p:tgtEl>
                                        <p:attrNameLst>
                                          <p:attrName>style.visibility</p:attrName>
                                        </p:attrNameLst>
                                      </p:cBhvr>
                                      <p:to>
                                        <p:strVal val="visible"/>
                                      </p:to>
                                    </p:set>
                                    <p:animEffect transition="in" filter="fade">
                                      <p:cBhvr>
                                        <p:cTn id="44" dur="500"/>
                                        <p:tgtEl>
                                          <p:spTgt spid="10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72"/>
                                        </p:tgtEl>
                                        <p:attrNameLst>
                                          <p:attrName>style.visibility</p:attrName>
                                        </p:attrNameLst>
                                      </p:cBhvr>
                                      <p:to>
                                        <p:strVal val="visible"/>
                                      </p:to>
                                    </p:set>
                                    <p:animEffect transition="in" filter="fade">
                                      <p:cBhvr>
                                        <p:cTn id="49" dur="500"/>
                                        <p:tgtEl>
                                          <p:spTgt spid="72"/>
                                        </p:tgtEl>
                                      </p:cBhvr>
                                    </p:animEffect>
                                  </p:childTnLst>
                                </p:cTn>
                              </p:par>
                              <p:par>
                                <p:cTn id="50" presetID="1" presetClass="entr" presetSubtype="0" fill="hold" nodeType="withEffect">
                                  <p:stCondLst>
                                    <p:cond delay="0"/>
                                  </p:stCondLst>
                                  <p:childTnLst>
                                    <p:set>
                                      <p:cBhvr>
                                        <p:cTn id="51" dur="1" fill="hold">
                                          <p:stCondLst>
                                            <p:cond delay="0"/>
                                          </p:stCondLst>
                                        </p:cTn>
                                        <p:tgtEl>
                                          <p:spTgt spid="55"/>
                                        </p:tgtEl>
                                        <p:attrNameLst>
                                          <p:attrName>style.visibility</p:attrName>
                                        </p:attrNameLst>
                                      </p:cBhvr>
                                      <p:to>
                                        <p:strVal val="visible"/>
                                      </p:to>
                                    </p:set>
                                  </p:childTnLst>
                                </p:cTn>
                              </p:par>
                              <p:par>
                                <p:cTn id="52" presetID="10" presetClass="entr" presetSubtype="0" fill="hold" nodeType="withEffect">
                                  <p:stCondLst>
                                    <p:cond delay="0"/>
                                  </p:stCondLst>
                                  <p:childTnLst>
                                    <p:set>
                                      <p:cBhvr>
                                        <p:cTn id="53" dur="1" fill="hold">
                                          <p:stCondLst>
                                            <p:cond delay="0"/>
                                          </p:stCondLst>
                                        </p:cTn>
                                        <p:tgtEl>
                                          <p:spTgt spid="95"/>
                                        </p:tgtEl>
                                        <p:attrNameLst>
                                          <p:attrName>style.visibility</p:attrName>
                                        </p:attrNameLst>
                                      </p:cBhvr>
                                      <p:to>
                                        <p:strVal val="visible"/>
                                      </p:to>
                                    </p:set>
                                    <p:animEffect transition="in" filter="fade">
                                      <p:cBhvr>
                                        <p:cTn id="54" dur="500"/>
                                        <p:tgtEl>
                                          <p:spTgt spid="9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fade">
                                      <p:cBhvr>
                                        <p:cTn id="59" dur="500"/>
                                        <p:tgtEl>
                                          <p:spTgt spid="3"/>
                                        </p:tgtEl>
                                      </p:cBhvr>
                                    </p:animEffect>
                                  </p:childTnLst>
                                </p:cTn>
                              </p:par>
                              <p:par>
                                <p:cTn id="60" presetID="1" presetClass="entr" presetSubtype="0" fill="hold" nodeType="withEffect">
                                  <p:stCondLst>
                                    <p:cond delay="0"/>
                                  </p:stCondLst>
                                  <p:childTnLst>
                                    <p:set>
                                      <p:cBhvr>
                                        <p:cTn id="61" dur="1" fill="hold">
                                          <p:stCondLst>
                                            <p:cond delay="0"/>
                                          </p:stCondLst>
                                        </p:cTn>
                                        <p:tgtEl>
                                          <p:spTgt spid="58"/>
                                        </p:tgtEl>
                                        <p:attrNameLst>
                                          <p:attrName>style.visibility</p:attrName>
                                        </p:attrNameLst>
                                      </p:cBhvr>
                                      <p:to>
                                        <p:strVal val="visible"/>
                                      </p:to>
                                    </p:set>
                                  </p:childTnLst>
                                </p:cTn>
                              </p:par>
                              <p:par>
                                <p:cTn id="62" presetID="10" presetClass="entr" presetSubtype="0" fill="hold" nodeType="withEffect">
                                  <p:stCondLst>
                                    <p:cond delay="0"/>
                                  </p:stCondLst>
                                  <p:childTnLst>
                                    <p:set>
                                      <p:cBhvr>
                                        <p:cTn id="63" dur="1" fill="hold">
                                          <p:stCondLst>
                                            <p:cond delay="0"/>
                                          </p:stCondLst>
                                        </p:cTn>
                                        <p:tgtEl>
                                          <p:spTgt spid="108"/>
                                        </p:tgtEl>
                                        <p:attrNameLst>
                                          <p:attrName>style.visibility</p:attrName>
                                        </p:attrNameLst>
                                      </p:cBhvr>
                                      <p:to>
                                        <p:strVal val="visible"/>
                                      </p:to>
                                    </p:set>
                                    <p:animEffect transition="in" filter="fade">
                                      <p:cBhvr>
                                        <p:cTn id="64"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3.2</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872498" y="3784210"/>
            <a:ext cx="2539445" cy="452496"/>
          </a:xfrm>
          <a:prstGeom prst="rect">
            <a:avLst/>
          </a:prstGeom>
          <a:noFill/>
        </p:spPr>
        <p:txBody>
          <a:bodyPr wrap="square" rtlCol="0" anchor="t">
            <a:spAutoFit/>
          </a:bodyPr>
          <a:lstStyle/>
          <a:p>
            <a:pPr>
              <a:lnSpc>
                <a:spcPct val="130000"/>
              </a:lnSpc>
            </a:pPr>
            <a:r>
              <a:rPr lang="en-US" altLang="zh-CN" sz="2000" spc="406" dirty="0" err="1">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hlinkClick r:id="rId3"/>
              </a:rPr>
              <a:t>SimplePIR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36</a:t>
            </a:fld>
            <a:endParaRPr lang="en-US"/>
          </a:p>
        </p:txBody>
      </p:sp>
      <p:sp>
        <p:nvSpPr>
          <p:cNvPr id="12" name="TextBox 11">
            <a:extLst>
              <a:ext uri="{FF2B5EF4-FFF2-40B4-BE49-F238E27FC236}">
                <a16:creationId xmlns:a16="http://schemas.microsoft.com/office/drawing/2014/main" id="{9D998FB6-BE18-4FE8-A383-B3CE21C191F6}"/>
              </a:ext>
            </a:extLst>
          </p:cNvPr>
          <p:cNvSpPr txBox="1"/>
          <p:nvPr/>
        </p:nvSpPr>
        <p:spPr>
          <a:xfrm>
            <a:off x="185855" y="580011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LWE-based</a:t>
            </a:r>
          </a:p>
        </p:txBody>
      </p:sp>
      <p:sp>
        <p:nvSpPr>
          <p:cNvPr id="13" name="TextBox 12">
            <a:extLst>
              <a:ext uri="{FF2B5EF4-FFF2-40B4-BE49-F238E27FC236}">
                <a16:creationId xmlns:a16="http://schemas.microsoft.com/office/drawing/2014/main" id="{4A26E43C-61D4-4B59-894A-143A0647EBE6}"/>
              </a:ext>
            </a:extLst>
          </p:cNvPr>
          <p:cNvSpPr txBox="1"/>
          <p:nvPr/>
        </p:nvSpPr>
        <p:spPr>
          <a:xfrm>
            <a:off x="185855" y="6263401"/>
            <a:ext cx="4394534"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Client-Stored Database Hints</a:t>
            </a:r>
          </a:p>
        </p:txBody>
      </p:sp>
    </p:spTree>
    <p:extLst>
      <p:ext uri="{BB962C8B-B14F-4D97-AF65-F5344CB8AC3E}">
        <p14:creationId xmlns:p14="http://schemas.microsoft.com/office/powerpoint/2010/main" val="830549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13D6FE7-F57E-4857-8F42-97F0DA901D6F}"/>
              </a:ext>
            </a:extLst>
          </p:cNvPr>
          <p:cNvPicPr>
            <a:picLocks noChangeAspect="1"/>
          </p:cNvPicPr>
          <p:nvPr/>
        </p:nvPicPr>
        <p:blipFill>
          <a:blip r:embed="rId3"/>
          <a:stretch>
            <a:fillRect/>
          </a:stretch>
        </p:blipFill>
        <p:spPr>
          <a:xfrm>
            <a:off x="199925" y="-5361"/>
            <a:ext cx="3552926" cy="1431040"/>
          </a:xfrm>
          <a:prstGeom prst="rect">
            <a:avLst/>
          </a:prstGeom>
        </p:spPr>
      </p:pic>
      <p:pic>
        <p:nvPicPr>
          <p:cNvPr id="41" name="Picture 40">
            <a:extLst>
              <a:ext uri="{FF2B5EF4-FFF2-40B4-BE49-F238E27FC236}">
                <a16:creationId xmlns:a16="http://schemas.microsoft.com/office/drawing/2014/main" id="{E1710F1F-87C9-44B6-A682-9EE1EB5BF39A}"/>
              </a:ext>
            </a:extLst>
          </p:cNvPr>
          <p:cNvPicPr>
            <a:picLocks noChangeAspect="1"/>
          </p:cNvPicPr>
          <p:nvPr/>
        </p:nvPicPr>
        <p:blipFill>
          <a:blip r:embed="rId4"/>
          <a:stretch>
            <a:fillRect/>
          </a:stretch>
        </p:blipFill>
        <p:spPr>
          <a:xfrm>
            <a:off x="292171" y="1779758"/>
            <a:ext cx="3076575" cy="4955781"/>
          </a:xfrm>
          <a:prstGeom prst="rect">
            <a:avLst/>
          </a:prstGeom>
        </p:spPr>
      </p:pic>
      <p:sp>
        <p:nvSpPr>
          <p:cNvPr id="43" name="TextBox 42">
            <a:extLst>
              <a:ext uri="{FF2B5EF4-FFF2-40B4-BE49-F238E27FC236}">
                <a16:creationId xmlns:a16="http://schemas.microsoft.com/office/drawing/2014/main" id="{3D041F06-E5EF-4957-B3EA-0FBE7B71B6E0}"/>
              </a:ext>
            </a:extLst>
          </p:cNvPr>
          <p:cNvSpPr txBox="1"/>
          <p:nvPr/>
        </p:nvSpPr>
        <p:spPr>
          <a:xfrm>
            <a:off x="388475" y="1504575"/>
            <a:ext cx="2184832" cy="369332"/>
          </a:xfrm>
          <a:prstGeom prst="rect">
            <a:avLst/>
          </a:prstGeom>
          <a:noFill/>
        </p:spPr>
        <p:txBody>
          <a:bodyPr wrap="square">
            <a:spAutoFit/>
          </a:bodyPr>
          <a:lstStyle/>
          <a:p>
            <a:pPr algn="just"/>
            <a:r>
              <a:rPr lang="en-US" b="1" dirty="0" err="1"/>
              <a:t>SimplePIR</a:t>
            </a:r>
            <a:r>
              <a:rPr lang="en-US" b="1" dirty="0"/>
              <a:t> Scheme</a:t>
            </a:r>
          </a:p>
        </p:txBody>
      </p:sp>
      <p:grpSp>
        <p:nvGrpSpPr>
          <p:cNvPr id="7" name="Group 6">
            <a:extLst>
              <a:ext uri="{FF2B5EF4-FFF2-40B4-BE49-F238E27FC236}">
                <a16:creationId xmlns:a16="http://schemas.microsoft.com/office/drawing/2014/main" id="{ABD80E37-C5EB-43E6-9B6A-AE1B60976F29}"/>
              </a:ext>
            </a:extLst>
          </p:cNvPr>
          <p:cNvGrpSpPr/>
          <p:nvPr/>
        </p:nvGrpSpPr>
        <p:grpSpPr>
          <a:xfrm>
            <a:off x="1437372" y="461351"/>
            <a:ext cx="6008906" cy="4128862"/>
            <a:chOff x="1437372" y="461351"/>
            <a:chExt cx="6008906" cy="4128862"/>
          </a:xfrm>
        </p:grpSpPr>
        <p:cxnSp>
          <p:nvCxnSpPr>
            <p:cNvPr id="90" name="Straight Connector 89">
              <a:extLst>
                <a:ext uri="{FF2B5EF4-FFF2-40B4-BE49-F238E27FC236}">
                  <a16:creationId xmlns:a16="http://schemas.microsoft.com/office/drawing/2014/main" id="{9062E9E1-3838-485C-A3FD-A10A751BA30F}"/>
                </a:ext>
              </a:extLst>
            </p:cNvPr>
            <p:cNvCxnSpPr>
              <a:cxnSpLocks/>
            </p:cNvCxnSpPr>
            <p:nvPr/>
          </p:nvCxnSpPr>
          <p:spPr>
            <a:xfrm>
              <a:off x="6563418" y="461351"/>
              <a:ext cx="88286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0855FE9-96F5-4269-958D-536F49E3E4C1}"/>
                </a:ext>
              </a:extLst>
            </p:cNvPr>
            <p:cNvCxnSpPr>
              <a:cxnSpLocks/>
            </p:cNvCxnSpPr>
            <p:nvPr/>
          </p:nvCxnSpPr>
          <p:spPr>
            <a:xfrm>
              <a:off x="1437372" y="4307952"/>
              <a:ext cx="7783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FF27CCF-2076-4EE5-A559-C9B0F7E40B72}"/>
                </a:ext>
              </a:extLst>
            </p:cNvPr>
            <p:cNvCxnSpPr>
              <a:cxnSpLocks/>
            </p:cNvCxnSpPr>
            <p:nvPr/>
          </p:nvCxnSpPr>
          <p:spPr>
            <a:xfrm>
              <a:off x="6334674" y="461351"/>
              <a:ext cx="12244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4DABE272-E83E-4603-99F6-43D6B0100177}"/>
                </a:ext>
              </a:extLst>
            </p:cNvPr>
            <p:cNvCxnSpPr>
              <a:cxnSpLocks/>
            </p:cNvCxnSpPr>
            <p:nvPr/>
          </p:nvCxnSpPr>
          <p:spPr>
            <a:xfrm>
              <a:off x="1637785" y="4590213"/>
              <a:ext cx="18874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D366B6F7-2F46-4A50-BCE2-07CCACFE6A30}"/>
                </a:ext>
              </a:extLst>
            </p:cNvPr>
            <p:cNvCxnSpPr>
              <a:cxnSpLocks/>
            </p:cNvCxnSpPr>
            <p:nvPr/>
          </p:nvCxnSpPr>
          <p:spPr>
            <a:xfrm>
              <a:off x="1976489" y="4590213"/>
              <a:ext cx="13796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57A99B71-9EF0-4EC8-A978-F50CE5669711}"/>
                  </a:ext>
                </a:extLst>
              </p:cNvPr>
              <p:cNvSpPr txBox="1"/>
              <p:nvPr/>
            </p:nvSpPr>
            <p:spPr>
              <a:xfrm>
                <a:off x="4710828" y="5363"/>
                <a:ext cx="3130491" cy="468975"/>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US" sz="1100" b="0" i="1" smtClean="0">
                          <a:latin typeface="Cambria Math" panose="02040503050406030204" pitchFamily="18" charset="0"/>
                        </a:rPr>
                        <m:t>𝑅𝑒𝑔𝑒𝑣</m:t>
                      </m:r>
                      <m:r>
                        <a:rPr lang="en-US" sz="1100" b="0" i="1" smtClean="0">
                          <a:latin typeface="Cambria Math" panose="02040503050406030204" pitchFamily="18" charset="0"/>
                        </a:rPr>
                        <m:t>.</m:t>
                      </m:r>
                      <m:r>
                        <a:rPr lang="en-US" sz="1100" b="0" i="1" smtClean="0">
                          <a:latin typeface="Cambria Math" panose="02040503050406030204" pitchFamily="18" charset="0"/>
                        </a:rPr>
                        <m:t>𝐸𝑛𝑐</m:t>
                      </m:r>
                      <m:d>
                        <m:dPr>
                          <m:ctrlPr>
                            <a:rPr lang="en-US" sz="1100" b="0" i="1" smtClean="0">
                              <a:latin typeface="Cambria Math" panose="02040503050406030204" pitchFamily="18" charset="0"/>
                            </a:rPr>
                          </m:ctrlPr>
                        </m:dPr>
                        <m:e>
                          <m:r>
                            <a:rPr lang="en-US" sz="1100" b="0" i="1">
                              <a:latin typeface="Cambria Math" panose="02040503050406030204" pitchFamily="18" charset="0"/>
                              <a:ea typeface="Cambria Math" panose="02040503050406030204" pitchFamily="18" charset="0"/>
                            </a:rPr>
                            <m:t>𝜇</m:t>
                          </m:r>
                        </m:e>
                      </m:d>
                      <m:r>
                        <a:rPr lang="en-US" sz="1100" b="0" i="1" smtClean="0">
                          <a:latin typeface="Cambria Math" panose="02040503050406030204" pitchFamily="18" charset="0"/>
                          <a:ea typeface="Cambria Math" panose="02040503050406030204" pitchFamily="18" charset="0"/>
                        </a:rPr>
                        <m:t>=</m:t>
                      </m:r>
                      <m:d>
                        <m:dPr>
                          <m:ctrlPr>
                            <a:rPr lang="en-US" sz="1100" b="0" i="1" smtClean="0">
                              <a:latin typeface="Cambria Math" panose="02040503050406030204" pitchFamily="18" charset="0"/>
                              <a:ea typeface="Cambria Math" panose="02040503050406030204" pitchFamily="18" charset="0"/>
                            </a:rPr>
                          </m:ctrlPr>
                        </m:dPr>
                        <m:e>
                          <m:r>
                            <a:rPr lang="en-US" sz="1100" b="0" i="1" smtClean="0">
                              <a:latin typeface="Cambria Math" panose="02040503050406030204" pitchFamily="18" charset="0"/>
                              <a:ea typeface="Cambria Math" panose="02040503050406030204" pitchFamily="18" charset="0"/>
                            </a:rPr>
                            <m:t>𝐴</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𝑐</m:t>
                          </m:r>
                        </m:e>
                      </m:d>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𝐴</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𝐴𝑠</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𝑒</m:t>
                      </m:r>
                      <m:r>
                        <a:rPr lang="en-US" sz="1100" b="0" i="1" smtClean="0">
                          <a:latin typeface="Cambria Math" panose="02040503050406030204" pitchFamily="18" charset="0"/>
                          <a:ea typeface="Cambria Math" panose="02040503050406030204" pitchFamily="18" charset="0"/>
                        </a:rPr>
                        <m:t>+ </m:t>
                      </m:r>
                      <m:d>
                        <m:dPr>
                          <m:begChr m:val="⌊"/>
                          <m:endChr m:val="⌋"/>
                          <m:ctrlPr>
                            <a:rPr lang="en-US" sz="1100" b="0" i="1" smtClean="0">
                              <a:latin typeface="Cambria Math" panose="02040503050406030204" pitchFamily="18" charset="0"/>
                              <a:ea typeface="Cambria Math" panose="02040503050406030204" pitchFamily="18" charset="0"/>
                            </a:rPr>
                          </m:ctrlPr>
                        </m:dPr>
                        <m:e>
                          <m:f>
                            <m:fPr>
                              <m:ctrlPr>
                                <a:rPr lang="en-US" sz="1100" b="0" i="1" smtClean="0">
                                  <a:latin typeface="Cambria Math" panose="02040503050406030204" pitchFamily="18" charset="0"/>
                                  <a:ea typeface="Cambria Math" panose="02040503050406030204" pitchFamily="18" charset="0"/>
                                </a:rPr>
                              </m:ctrlPr>
                            </m:fPr>
                            <m:num>
                              <m:r>
                                <a:rPr lang="en-US" sz="1100" b="0" i="1" smtClean="0">
                                  <a:latin typeface="Cambria Math" panose="02040503050406030204" pitchFamily="18" charset="0"/>
                                  <a:ea typeface="Cambria Math" panose="02040503050406030204" pitchFamily="18" charset="0"/>
                                </a:rPr>
                                <m:t>𝑞</m:t>
                              </m:r>
                            </m:num>
                            <m:den>
                              <m:r>
                                <a:rPr lang="en-US" sz="1100" b="0" i="1" smtClean="0">
                                  <a:latin typeface="Cambria Math" panose="02040503050406030204" pitchFamily="18" charset="0"/>
                                  <a:ea typeface="Cambria Math" panose="02040503050406030204" pitchFamily="18" charset="0"/>
                                </a:rPr>
                                <m:t>𝑝</m:t>
                              </m:r>
                            </m:den>
                          </m:f>
                        </m:e>
                      </m:d>
                      <m:r>
                        <a:rPr lang="en-US" sz="1100" i="1">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ea typeface="Cambria Math" panose="02040503050406030204" pitchFamily="18" charset="0"/>
                        </a:rPr>
                        <m:t>𝜇</m:t>
                      </m:r>
                      <m:r>
                        <a:rPr lang="en-US" sz="1100" b="0" i="1" smtClean="0">
                          <a:latin typeface="Cambria Math" panose="02040503050406030204" pitchFamily="18" charset="0"/>
                          <a:ea typeface="Cambria Math" panose="02040503050406030204" pitchFamily="18" charset="0"/>
                        </a:rPr>
                        <m:t>)</m:t>
                      </m:r>
                    </m:oMath>
                  </m:oMathPara>
                </a14:m>
                <a:endParaRPr lang="en-US" sz="1100" dirty="0"/>
              </a:p>
            </p:txBody>
          </p:sp>
        </mc:Choice>
        <mc:Fallback xmlns="">
          <p:sp>
            <p:nvSpPr>
              <p:cNvPr id="103" name="TextBox 102">
                <a:extLst>
                  <a:ext uri="{FF2B5EF4-FFF2-40B4-BE49-F238E27FC236}">
                    <a16:creationId xmlns:a16="http://schemas.microsoft.com/office/drawing/2014/main" id="{57A99B71-9EF0-4EC8-A978-F50CE5669711}"/>
                  </a:ext>
                </a:extLst>
              </p:cNvPr>
              <p:cNvSpPr txBox="1">
                <a:spLocks noRot="1" noChangeAspect="1" noMove="1" noResize="1" noEditPoints="1" noAdjustHandles="1" noChangeArrowheads="1" noChangeShapeType="1" noTextEdit="1"/>
              </p:cNvSpPr>
              <p:nvPr/>
            </p:nvSpPr>
            <p:spPr>
              <a:xfrm>
                <a:off x="4710828" y="5363"/>
                <a:ext cx="3130491" cy="46897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DEBFE09E-6AF8-44BC-9350-26CC8DFF7D2B}"/>
                  </a:ext>
                </a:extLst>
              </p:cNvPr>
              <p:cNvSpPr txBox="1"/>
              <p:nvPr/>
            </p:nvSpPr>
            <p:spPr>
              <a:xfrm>
                <a:off x="4694993" y="597133"/>
                <a:ext cx="3076575" cy="261610"/>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US" sz="1100" b="0" i="1" smtClean="0">
                          <a:latin typeface="Cambria Math" panose="02040503050406030204" pitchFamily="18" charset="0"/>
                        </a:rPr>
                        <m:t>𝑅𝑒𝑔𝑒𝑣</m:t>
                      </m:r>
                      <m:r>
                        <a:rPr lang="en-US" sz="1100" b="0" i="1" smtClean="0">
                          <a:latin typeface="Cambria Math" panose="02040503050406030204" pitchFamily="18" charset="0"/>
                        </a:rPr>
                        <m:t>.</m:t>
                      </m:r>
                      <m:r>
                        <a:rPr lang="en-US" sz="1100" b="0" i="1" smtClean="0">
                          <a:latin typeface="Cambria Math" panose="02040503050406030204" pitchFamily="18" charset="0"/>
                        </a:rPr>
                        <m:t>𝐸𝑣𝑎𝑙</m:t>
                      </m:r>
                      <m:d>
                        <m:dPr>
                          <m:ctrlPr>
                            <a:rPr lang="en-US" sz="1100" i="1">
                              <a:latin typeface="Cambria Math" panose="02040503050406030204" pitchFamily="18" charset="0"/>
                            </a:rPr>
                          </m:ctrlPr>
                        </m:dPr>
                        <m:e>
                          <m:r>
                            <a:rPr lang="en-US" sz="1100" b="0" i="1" smtClean="0">
                              <a:latin typeface="Cambria Math" panose="02040503050406030204" pitchFamily="18" charset="0"/>
                            </a:rPr>
                            <m:t>𝐷</m:t>
                          </m:r>
                          <m:r>
                            <a:rPr lang="en-US" sz="1100" b="0" i="1" smtClean="0">
                              <a:latin typeface="Cambria Math" panose="02040503050406030204" pitchFamily="18" charset="0"/>
                            </a:rPr>
                            <m:t>,</m:t>
                          </m:r>
                          <m:r>
                            <a:rPr lang="en-US" sz="1100" i="1">
                              <a:latin typeface="Cambria Math" panose="02040503050406030204" pitchFamily="18" charset="0"/>
                              <a:ea typeface="Cambria Math" panose="02040503050406030204" pitchFamily="18" charset="0"/>
                            </a:rPr>
                            <m:t>𝜇</m:t>
                          </m:r>
                        </m:e>
                      </m:d>
                      <m:r>
                        <a:rPr lang="en-US" sz="1100" b="0" i="1" smtClean="0">
                          <a:latin typeface="Cambria Math" panose="02040503050406030204" pitchFamily="18" charset="0"/>
                          <a:ea typeface="Cambria Math" panose="02040503050406030204" pitchFamily="18" charset="0"/>
                        </a:rPr>
                        <m:t>=</m:t>
                      </m:r>
                      <m:d>
                        <m:dPr>
                          <m:ctrlPr>
                            <a:rPr lang="en-US" sz="1100" b="0" i="1" smtClean="0">
                              <a:latin typeface="Cambria Math" panose="02040503050406030204" pitchFamily="18" charset="0"/>
                              <a:ea typeface="Cambria Math" panose="02040503050406030204" pitchFamily="18" charset="0"/>
                            </a:rPr>
                          </m:ctrlPr>
                        </m:dPr>
                        <m:e>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𝐴</m:t>
                              </m:r>
                            </m:e>
                            <m:sup>
                              <m:r>
                                <a:rPr lang="en-US" sz="1100" b="0" i="1" smtClean="0">
                                  <a:latin typeface="Cambria Math" panose="02040503050406030204" pitchFamily="18" charset="0"/>
                                  <a:ea typeface="Cambria Math" panose="02040503050406030204" pitchFamily="18" charset="0"/>
                                </a:rPr>
                                <m:t>′</m:t>
                              </m:r>
                            </m:sup>
                          </m:sSup>
                          <m:r>
                            <a:rPr lang="en-US" sz="1100" b="0" i="1" smtClean="0">
                              <a:latin typeface="Cambria Math" panose="02040503050406030204" pitchFamily="18" charset="0"/>
                              <a:ea typeface="Cambria Math" panose="02040503050406030204" pitchFamily="18" charset="0"/>
                            </a:rPr>
                            <m:t>,</m:t>
                          </m:r>
                          <m:sSup>
                            <m:sSupPr>
                              <m:ctrlPr>
                                <a:rPr lang="en-US" sz="1100" b="0" i="1" smtClean="0">
                                  <a:latin typeface="Cambria Math" panose="02040503050406030204" pitchFamily="18" charset="0"/>
                                  <a:ea typeface="Cambria Math" panose="02040503050406030204" pitchFamily="18" charset="0"/>
                                </a:rPr>
                              </m:ctrlPr>
                            </m:sSupPr>
                            <m:e>
                              <m:r>
                                <a:rPr lang="en-US" sz="1100" b="0" i="1" smtClean="0">
                                  <a:latin typeface="Cambria Math" panose="02040503050406030204" pitchFamily="18" charset="0"/>
                                  <a:ea typeface="Cambria Math" panose="02040503050406030204" pitchFamily="18" charset="0"/>
                                </a:rPr>
                                <m:t>𝑐</m:t>
                              </m:r>
                            </m:e>
                            <m:sup>
                              <m:r>
                                <a:rPr lang="en-US" sz="1100" b="0" i="1" smtClean="0">
                                  <a:latin typeface="Cambria Math" panose="02040503050406030204" pitchFamily="18" charset="0"/>
                                  <a:ea typeface="Cambria Math" panose="02040503050406030204" pitchFamily="18" charset="0"/>
                                </a:rPr>
                                <m:t>′</m:t>
                              </m:r>
                            </m:sup>
                          </m:sSup>
                        </m:e>
                      </m:d>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𝐷</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𝐴</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𝐷</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𝑐</m:t>
                      </m:r>
                      <m:r>
                        <a:rPr lang="en-US" sz="1100" b="0" i="1" smtClean="0">
                          <a:latin typeface="Cambria Math" panose="02040503050406030204" pitchFamily="18" charset="0"/>
                          <a:ea typeface="Cambria Math" panose="02040503050406030204" pitchFamily="18" charset="0"/>
                        </a:rPr>
                        <m:t>)</m:t>
                      </m:r>
                    </m:oMath>
                  </m:oMathPara>
                </a14:m>
                <a:endParaRPr lang="en-US" sz="1100" dirty="0"/>
              </a:p>
            </p:txBody>
          </p:sp>
        </mc:Choice>
        <mc:Fallback xmlns="">
          <p:sp>
            <p:nvSpPr>
              <p:cNvPr id="106" name="TextBox 105">
                <a:extLst>
                  <a:ext uri="{FF2B5EF4-FFF2-40B4-BE49-F238E27FC236}">
                    <a16:creationId xmlns:a16="http://schemas.microsoft.com/office/drawing/2014/main" id="{DEBFE09E-6AF8-44BC-9350-26CC8DFF7D2B}"/>
                  </a:ext>
                </a:extLst>
              </p:cNvPr>
              <p:cNvSpPr txBox="1">
                <a:spLocks noRot="1" noChangeAspect="1" noMove="1" noResize="1" noEditPoints="1" noAdjustHandles="1" noChangeArrowheads="1" noChangeShapeType="1" noTextEdit="1"/>
              </p:cNvSpPr>
              <p:nvPr/>
            </p:nvSpPr>
            <p:spPr>
              <a:xfrm>
                <a:off x="4694993" y="597133"/>
                <a:ext cx="3076575" cy="261610"/>
              </a:xfrm>
              <a:prstGeom prst="rect">
                <a:avLst/>
              </a:prstGeom>
              <a:blipFill>
                <a:blip r:embed="rId6"/>
                <a:stretch>
                  <a:fillRect b="-46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9018D3C2-B76F-4918-90BA-515DD13AE09A}"/>
                  </a:ext>
                </a:extLst>
              </p:cNvPr>
              <p:cNvSpPr txBox="1"/>
              <p:nvPr/>
            </p:nvSpPr>
            <p:spPr>
              <a:xfrm>
                <a:off x="4710828" y="928978"/>
                <a:ext cx="4014554" cy="414857"/>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r>
                        <a:rPr lang="en-US" sz="1100" b="0" i="1" smtClean="0">
                          <a:latin typeface="Cambria Math" panose="02040503050406030204" pitchFamily="18" charset="0"/>
                        </a:rPr>
                        <m:t>𝑅𝑒𝑔𝑒𝑣</m:t>
                      </m:r>
                      <m:r>
                        <a:rPr lang="en-US" sz="1100" b="0" i="1" smtClean="0">
                          <a:latin typeface="Cambria Math" panose="02040503050406030204" pitchFamily="18" charset="0"/>
                        </a:rPr>
                        <m:t>.</m:t>
                      </m:r>
                      <m:r>
                        <a:rPr lang="en-US" sz="1100" b="0" i="1" smtClean="0">
                          <a:latin typeface="Cambria Math" panose="02040503050406030204" pitchFamily="18" charset="0"/>
                        </a:rPr>
                        <m:t>𝐷𝑒𝑐</m:t>
                      </m:r>
                      <m:d>
                        <m:dPr>
                          <m:ctrlPr>
                            <a:rPr lang="en-US" sz="1100" b="0" i="1" smtClean="0">
                              <a:latin typeface="Cambria Math" panose="02040503050406030204" pitchFamily="18" charset="0"/>
                            </a:rPr>
                          </m:ctrlPr>
                        </m:dPr>
                        <m:e>
                          <m:sSup>
                            <m:sSupPr>
                              <m:ctrlPr>
                                <a:rPr lang="en-US" sz="1100" b="0" i="1" smtClean="0">
                                  <a:latin typeface="Cambria Math" panose="02040503050406030204" pitchFamily="18" charset="0"/>
                                </a:rPr>
                              </m:ctrlPr>
                            </m:sSupPr>
                            <m:e>
                              <m:r>
                                <a:rPr lang="en-US" sz="1100" b="0" i="1" smtClean="0">
                                  <a:latin typeface="Cambria Math" panose="02040503050406030204" pitchFamily="18" charset="0"/>
                                </a:rPr>
                                <m:t>𝐴</m:t>
                              </m:r>
                            </m:e>
                            <m:sup>
                              <m:r>
                                <a:rPr lang="en-US" sz="1100" b="0" i="1" smtClean="0">
                                  <a:latin typeface="Cambria Math" panose="02040503050406030204" pitchFamily="18" charset="0"/>
                                </a:rPr>
                                <m:t>′</m:t>
                              </m:r>
                            </m:sup>
                          </m:sSup>
                          <m:r>
                            <a:rPr lang="en-US" sz="1100" b="0" i="1" smtClean="0">
                              <a:latin typeface="Cambria Math" panose="02040503050406030204" pitchFamily="18" charset="0"/>
                            </a:rPr>
                            <m:t>,</m:t>
                          </m:r>
                          <m:r>
                            <a:rPr lang="en-US" sz="1100" b="0" i="1" smtClean="0">
                              <a:latin typeface="Cambria Math" panose="02040503050406030204" pitchFamily="18" charset="0"/>
                            </a:rPr>
                            <m:t>𝑐</m:t>
                          </m:r>
                          <m:r>
                            <a:rPr lang="en-US" sz="1100" b="0" i="1" smtClean="0">
                              <a:latin typeface="Cambria Math" panose="02040503050406030204" pitchFamily="18" charset="0"/>
                            </a:rPr>
                            <m:t>′</m:t>
                          </m:r>
                        </m:e>
                      </m:d>
                      <m:r>
                        <a:rPr lang="en-US" sz="1100" b="0" i="1" smtClean="0">
                          <a:latin typeface="Cambria Math" panose="02040503050406030204" pitchFamily="18" charset="0"/>
                          <a:ea typeface="Cambria Math" panose="02040503050406030204" pitchFamily="18" charset="0"/>
                        </a:rPr>
                        <m:t>=</m:t>
                      </m:r>
                      <m:d>
                        <m:dPr>
                          <m:begChr m:val="⌊"/>
                          <m:endChr m:val="⌋"/>
                          <m:ctrlPr>
                            <a:rPr lang="en-US" sz="1100" b="0" i="1" smtClean="0">
                              <a:latin typeface="Cambria Math" panose="02040503050406030204" pitchFamily="18" charset="0"/>
                              <a:ea typeface="Cambria Math" panose="02040503050406030204" pitchFamily="18" charset="0"/>
                            </a:rPr>
                          </m:ctrlPr>
                        </m:dPr>
                        <m:e>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𝑐</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𝐴</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𝑠</m:t>
                          </m:r>
                          <m:r>
                            <a:rPr lang="en-US" sz="1100" b="0" i="1" smtClean="0">
                              <a:latin typeface="Cambria Math" panose="02040503050406030204" pitchFamily="18" charset="0"/>
                              <a:ea typeface="Cambria Math" panose="02040503050406030204" pitchFamily="18" charset="0"/>
                            </a:rPr>
                            <m:t>)∙</m:t>
                          </m:r>
                          <m:f>
                            <m:fPr>
                              <m:ctrlPr>
                                <a:rPr lang="en-US" sz="1100" b="0" i="1" smtClean="0">
                                  <a:latin typeface="Cambria Math" panose="02040503050406030204" pitchFamily="18" charset="0"/>
                                  <a:ea typeface="Cambria Math" panose="02040503050406030204" pitchFamily="18" charset="0"/>
                                </a:rPr>
                              </m:ctrlPr>
                            </m:fPr>
                            <m:num>
                              <m:r>
                                <a:rPr lang="en-US" sz="1100" b="0" i="1" smtClean="0">
                                  <a:latin typeface="Cambria Math" panose="02040503050406030204" pitchFamily="18" charset="0"/>
                                  <a:ea typeface="Cambria Math" panose="02040503050406030204" pitchFamily="18" charset="0"/>
                                </a:rPr>
                                <m:t>1</m:t>
                              </m:r>
                            </m:num>
                            <m:den>
                              <m:r>
                                <m:rPr>
                                  <m:nor/>
                                </m:rPr>
                                <a:rPr lang="pt-BR" sz="1100"/>
                                <m:t>Δ</m:t>
                              </m:r>
                            </m:den>
                          </m:f>
                        </m:e>
                      </m:d>
                      <m:r>
                        <a:rPr lang="en-US" sz="1100" b="0" i="1" smtClean="0">
                          <a:latin typeface="Cambria Math" panose="02040503050406030204" pitchFamily="18" charset="0"/>
                        </a:rPr>
                        <m:t>=</m:t>
                      </m:r>
                      <m:d>
                        <m:dPr>
                          <m:begChr m:val="⌊"/>
                          <m:endChr m:val="⌋"/>
                          <m:ctrlPr>
                            <a:rPr lang="en-US" sz="1100" i="1">
                              <a:latin typeface="Cambria Math" panose="02040503050406030204" pitchFamily="18" charset="0"/>
                              <a:ea typeface="Cambria Math" panose="02040503050406030204" pitchFamily="18" charset="0"/>
                            </a:rPr>
                          </m:ctrlPr>
                        </m:dPr>
                        <m:e>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𝐷</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𝑐</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m:t>
                          </m:r>
                          <m:d>
                            <m:dPr>
                              <m:ctrlPr>
                                <a:rPr lang="en-US" sz="1100" b="0" i="1" smtClean="0">
                                  <a:latin typeface="Cambria Math" panose="02040503050406030204" pitchFamily="18" charset="0"/>
                                  <a:ea typeface="Cambria Math" panose="02040503050406030204" pitchFamily="18" charset="0"/>
                                </a:rPr>
                              </m:ctrlPr>
                            </m:dPr>
                            <m:e>
                              <m:r>
                                <a:rPr lang="en-US" sz="1100" i="1">
                                  <a:latin typeface="Cambria Math" panose="02040503050406030204" pitchFamily="18" charset="0"/>
                                  <a:ea typeface="Cambria Math" panose="02040503050406030204" pitchFamily="18" charset="0"/>
                                </a:rPr>
                                <m:t>𝐷</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𝐴</m:t>
                              </m:r>
                            </m:e>
                          </m:d>
                          <m:r>
                            <a:rPr lang="en-US" sz="1100" i="1">
                              <a:latin typeface="Cambria Math" panose="02040503050406030204" pitchFamily="18" charset="0"/>
                              <a:ea typeface="Cambria Math" panose="02040503050406030204" pitchFamily="18" charset="0"/>
                            </a:rPr>
                            <m:t>𝑠</m:t>
                          </m:r>
                          <m:r>
                            <a:rPr lang="en-US" sz="1100" i="1">
                              <a:latin typeface="Cambria Math" panose="02040503050406030204" pitchFamily="18" charset="0"/>
                              <a:ea typeface="Cambria Math" panose="02040503050406030204" pitchFamily="18" charset="0"/>
                            </a:rPr>
                            <m:t>)∙</m:t>
                          </m:r>
                          <m:f>
                            <m:fPr>
                              <m:ctrlPr>
                                <a:rPr lang="en-US" sz="1100" i="1">
                                  <a:latin typeface="Cambria Math" panose="02040503050406030204" pitchFamily="18" charset="0"/>
                                  <a:ea typeface="Cambria Math" panose="02040503050406030204" pitchFamily="18" charset="0"/>
                                </a:rPr>
                              </m:ctrlPr>
                            </m:fPr>
                            <m:num>
                              <m:r>
                                <a:rPr lang="en-US" sz="1100" i="1">
                                  <a:latin typeface="Cambria Math" panose="02040503050406030204" pitchFamily="18" charset="0"/>
                                  <a:ea typeface="Cambria Math" panose="02040503050406030204" pitchFamily="18" charset="0"/>
                                </a:rPr>
                                <m:t>1</m:t>
                              </m:r>
                            </m:num>
                            <m:den>
                              <m:r>
                                <m:rPr>
                                  <m:nor/>
                                </m:rPr>
                                <a:rPr lang="pt-BR" sz="1100"/>
                                <m:t>Δ</m:t>
                              </m:r>
                            </m:den>
                          </m:f>
                        </m:e>
                      </m:d>
                    </m:oMath>
                  </m:oMathPara>
                </a14:m>
                <a:endParaRPr lang="en-US" sz="1100" dirty="0"/>
              </a:p>
            </p:txBody>
          </p:sp>
        </mc:Choice>
        <mc:Fallback xmlns="">
          <p:sp>
            <p:nvSpPr>
              <p:cNvPr id="108" name="TextBox 107">
                <a:extLst>
                  <a:ext uri="{FF2B5EF4-FFF2-40B4-BE49-F238E27FC236}">
                    <a16:creationId xmlns:a16="http://schemas.microsoft.com/office/drawing/2014/main" id="{9018D3C2-B76F-4918-90BA-515DD13AE09A}"/>
                  </a:ext>
                </a:extLst>
              </p:cNvPr>
              <p:cNvSpPr txBox="1">
                <a:spLocks noRot="1" noChangeAspect="1" noMove="1" noResize="1" noEditPoints="1" noAdjustHandles="1" noChangeArrowheads="1" noChangeShapeType="1" noTextEdit="1"/>
              </p:cNvSpPr>
              <p:nvPr/>
            </p:nvSpPr>
            <p:spPr>
              <a:xfrm>
                <a:off x="4710828" y="928978"/>
                <a:ext cx="4014554" cy="414857"/>
              </a:xfrm>
              <a:prstGeom prst="rect">
                <a:avLst/>
              </a:prstGeom>
              <a:blipFill>
                <a:blip r:embed="rId7"/>
                <a:stretch>
                  <a:fillRect/>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438CA1F7-10D5-41B3-8863-2109AB31871E}"/>
              </a:ext>
            </a:extLst>
          </p:cNvPr>
          <p:cNvGrpSpPr/>
          <p:nvPr/>
        </p:nvGrpSpPr>
        <p:grpSpPr>
          <a:xfrm>
            <a:off x="1338312" y="873036"/>
            <a:ext cx="6023205" cy="4204536"/>
            <a:chOff x="1338312" y="873036"/>
            <a:chExt cx="6023205" cy="4204536"/>
          </a:xfrm>
        </p:grpSpPr>
        <p:cxnSp>
          <p:nvCxnSpPr>
            <p:cNvPr id="51" name="Straight Connector 91">
              <a:extLst>
                <a:ext uri="{FF2B5EF4-FFF2-40B4-BE49-F238E27FC236}">
                  <a16:creationId xmlns:a16="http://schemas.microsoft.com/office/drawing/2014/main" id="{A1632AF4-79E8-4FD8-AEBB-6DD0056A9F06}"/>
                </a:ext>
              </a:extLst>
            </p:cNvPr>
            <p:cNvCxnSpPr>
              <a:cxnSpLocks/>
            </p:cNvCxnSpPr>
            <p:nvPr/>
          </p:nvCxnSpPr>
          <p:spPr>
            <a:xfrm>
              <a:off x="1338312" y="5077572"/>
              <a:ext cx="2994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91">
              <a:extLst>
                <a:ext uri="{FF2B5EF4-FFF2-40B4-BE49-F238E27FC236}">
                  <a16:creationId xmlns:a16="http://schemas.microsoft.com/office/drawing/2014/main" id="{3508984B-FF4C-48F0-891C-264DDF010707}"/>
                </a:ext>
              </a:extLst>
            </p:cNvPr>
            <p:cNvCxnSpPr>
              <a:cxnSpLocks/>
            </p:cNvCxnSpPr>
            <p:nvPr/>
          </p:nvCxnSpPr>
          <p:spPr>
            <a:xfrm>
              <a:off x="7062044" y="873036"/>
              <a:ext cx="2994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53" name="Straight Connector 91">
            <a:extLst>
              <a:ext uri="{FF2B5EF4-FFF2-40B4-BE49-F238E27FC236}">
                <a16:creationId xmlns:a16="http://schemas.microsoft.com/office/drawing/2014/main" id="{B365E777-AD44-449B-AD3E-67B09882D0FD}"/>
              </a:ext>
            </a:extLst>
          </p:cNvPr>
          <p:cNvCxnSpPr>
            <a:cxnSpLocks/>
          </p:cNvCxnSpPr>
          <p:nvPr/>
        </p:nvCxnSpPr>
        <p:spPr>
          <a:xfrm>
            <a:off x="488682" y="3236430"/>
            <a:ext cx="2994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91">
            <a:extLst>
              <a:ext uri="{FF2B5EF4-FFF2-40B4-BE49-F238E27FC236}">
                <a16:creationId xmlns:a16="http://schemas.microsoft.com/office/drawing/2014/main" id="{A66761E7-7BDE-4D84-ABC7-B770318F74F6}"/>
              </a:ext>
            </a:extLst>
          </p:cNvPr>
          <p:cNvCxnSpPr>
            <a:cxnSpLocks/>
          </p:cNvCxnSpPr>
          <p:nvPr/>
        </p:nvCxnSpPr>
        <p:spPr>
          <a:xfrm>
            <a:off x="6713024" y="873036"/>
            <a:ext cx="2994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AD84E15A-BF27-42D3-A32D-F2E8FFFE15A2}"/>
              </a:ext>
            </a:extLst>
          </p:cNvPr>
          <p:cNvGrpSpPr/>
          <p:nvPr/>
        </p:nvGrpSpPr>
        <p:grpSpPr>
          <a:xfrm>
            <a:off x="1451050" y="1373139"/>
            <a:ext cx="7021154" cy="4392348"/>
            <a:chOff x="1451050" y="1373139"/>
            <a:chExt cx="7021154" cy="4392348"/>
          </a:xfrm>
        </p:grpSpPr>
        <p:cxnSp>
          <p:nvCxnSpPr>
            <p:cNvPr id="55" name="Straight Connector 91">
              <a:extLst>
                <a:ext uri="{FF2B5EF4-FFF2-40B4-BE49-F238E27FC236}">
                  <a16:creationId xmlns:a16="http://schemas.microsoft.com/office/drawing/2014/main" id="{2BCB7B81-3DE5-4E32-9D21-CBD3BED8F587}"/>
                </a:ext>
              </a:extLst>
            </p:cNvPr>
            <p:cNvCxnSpPr>
              <a:cxnSpLocks/>
            </p:cNvCxnSpPr>
            <p:nvPr/>
          </p:nvCxnSpPr>
          <p:spPr>
            <a:xfrm>
              <a:off x="1451050" y="5765487"/>
              <a:ext cx="141016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Straight Connector 91">
              <a:extLst>
                <a:ext uri="{FF2B5EF4-FFF2-40B4-BE49-F238E27FC236}">
                  <a16:creationId xmlns:a16="http://schemas.microsoft.com/office/drawing/2014/main" id="{8395E482-59F9-4D92-B3DE-0EC3F4BAD4EB}"/>
                </a:ext>
              </a:extLst>
            </p:cNvPr>
            <p:cNvCxnSpPr>
              <a:cxnSpLocks/>
            </p:cNvCxnSpPr>
            <p:nvPr/>
          </p:nvCxnSpPr>
          <p:spPr>
            <a:xfrm>
              <a:off x="7062044" y="1373139"/>
              <a:ext cx="141016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5" name="Группа 14">
            <a:extLst>
              <a:ext uri="{FF2B5EF4-FFF2-40B4-BE49-F238E27FC236}">
                <a16:creationId xmlns:a16="http://schemas.microsoft.com/office/drawing/2014/main" id="{F7B3FB6A-FA5E-4512-A518-0A5988085AF9}"/>
              </a:ext>
            </a:extLst>
          </p:cNvPr>
          <p:cNvGrpSpPr/>
          <p:nvPr/>
        </p:nvGrpSpPr>
        <p:grpSpPr>
          <a:xfrm>
            <a:off x="927916" y="231859"/>
            <a:ext cx="1901009" cy="101515"/>
            <a:chOff x="8478439" y="2321743"/>
            <a:chExt cx="1929211" cy="83490"/>
          </a:xfrm>
        </p:grpSpPr>
        <p:cxnSp>
          <p:nvCxnSpPr>
            <p:cNvPr id="75" name="Straight Connector 74">
              <a:extLst>
                <a:ext uri="{FF2B5EF4-FFF2-40B4-BE49-F238E27FC236}">
                  <a16:creationId xmlns:a16="http://schemas.microsoft.com/office/drawing/2014/main" id="{6559AF41-26C4-43A9-AD12-AA0CE4AE1425}"/>
                </a:ext>
              </a:extLst>
            </p:cNvPr>
            <p:cNvCxnSpPr>
              <a:cxnSpLocks/>
            </p:cNvCxnSpPr>
            <p:nvPr/>
          </p:nvCxnSpPr>
          <p:spPr>
            <a:xfrm>
              <a:off x="8478439" y="2334045"/>
              <a:ext cx="85606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D52E4BC-46E7-40CE-A938-C9087832F491}"/>
                </a:ext>
              </a:extLst>
            </p:cNvPr>
            <p:cNvCxnSpPr>
              <a:cxnSpLocks/>
            </p:cNvCxnSpPr>
            <p:nvPr/>
          </p:nvCxnSpPr>
          <p:spPr>
            <a:xfrm>
              <a:off x="8478439" y="2334045"/>
              <a:ext cx="0" cy="711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839EB29-AE77-41F1-A270-EC4F5C5B14A4}"/>
                </a:ext>
              </a:extLst>
            </p:cNvPr>
            <p:cNvCxnSpPr>
              <a:cxnSpLocks/>
            </p:cNvCxnSpPr>
            <p:nvPr/>
          </p:nvCxnSpPr>
          <p:spPr>
            <a:xfrm>
              <a:off x="9311877" y="2334045"/>
              <a:ext cx="0" cy="711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74">
              <a:extLst>
                <a:ext uri="{FF2B5EF4-FFF2-40B4-BE49-F238E27FC236}">
                  <a16:creationId xmlns:a16="http://schemas.microsoft.com/office/drawing/2014/main" id="{BCCC4800-16A0-4000-9ED8-3FE62EAAEE7B}"/>
                </a:ext>
              </a:extLst>
            </p:cNvPr>
            <p:cNvCxnSpPr>
              <a:cxnSpLocks/>
            </p:cNvCxnSpPr>
            <p:nvPr/>
          </p:nvCxnSpPr>
          <p:spPr>
            <a:xfrm>
              <a:off x="9311877" y="2334045"/>
              <a:ext cx="10957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Straight Connector 82">
              <a:extLst>
                <a:ext uri="{FF2B5EF4-FFF2-40B4-BE49-F238E27FC236}">
                  <a16:creationId xmlns:a16="http://schemas.microsoft.com/office/drawing/2014/main" id="{5B0B8CB8-460F-446C-8ECE-10DE75B7E631}"/>
                </a:ext>
              </a:extLst>
            </p:cNvPr>
            <p:cNvCxnSpPr>
              <a:cxnSpLocks/>
            </p:cNvCxnSpPr>
            <p:nvPr/>
          </p:nvCxnSpPr>
          <p:spPr>
            <a:xfrm>
              <a:off x="10407650" y="2321743"/>
              <a:ext cx="0" cy="711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1" name="Группа 10">
            <a:extLst>
              <a:ext uri="{FF2B5EF4-FFF2-40B4-BE49-F238E27FC236}">
                <a16:creationId xmlns:a16="http://schemas.microsoft.com/office/drawing/2014/main" id="{E0C3B8FA-CECB-49A8-BA4A-7E4AF88F7AAA}"/>
              </a:ext>
            </a:extLst>
          </p:cNvPr>
          <p:cNvGrpSpPr/>
          <p:nvPr/>
        </p:nvGrpSpPr>
        <p:grpSpPr>
          <a:xfrm>
            <a:off x="961717" y="1144131"/>
            <a:ext cx="2286308" cy="84594"/>
            <a:chOff x="8478439" y="3230484"/>
            <a:chExt cx="2365375" cy="73274"/>
          </a:xfrm>
        </p:grpSpPr>
        <p:cxnSp>
          <p:nvCxnSpPr>
            <p:cNvPr id="73" name="Straight Connector 78">
              <a:extLst>
                <a:ext uri="{FF2B5EF4-FFF2-40B4-BE49-F238E27FC236}">
                  <a16:creationId xmlns:a16="http://schemas.microsoft.com/office/drawing/2014/main" id="{01999E77-FDF9-4AD1-A5A0-9E4159C8212C}"/>
                </a:ext>
              </a:extLst>
            </p:cNvPr>
            <p:cNvCxnSpPr>
              <a:cxnSpLocks/>
            </p:cNvCxnSpPr>
            <p:nvPr/>
          </p:nvCxnSpPr>
          <p:spPr>
            <a:xfrm>
              <a:off x="8478439" y="3232570"/>
              <a:ext cx="0" cy="711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Straight Connector 78">
              <a:extLst>
                <a:ext uri="{FF2B5EF4-FFF2-40B4-BE49-F238E27FC236}">
                  <a16:creationId xmlns:a16="http://schemas.microsoft.com/office/drawing/2014/main" id="{99C1BB84-95F5-49DF-946D-6AC84C1A3CE2}"/>
                </a:ext>
              </a:extLst>
            </p:cNvPr>
            <p:cNvCxnSpPr>
              <a:cxnSpLocks/>
            </p:cNvCxnSpPr>
            <p:nvPr/>
          </p:nvCxnSpPr>
          <p:spPr>
            <a:xfrm>
              <a:off x="9732564" y="3230484"/>
              <a:ext cx="0" cy="711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8">
              <a:extLst>
                <a:ext uri="{FF2B5EF4-FFF2-40B4-BE49-F238E27FC236}">
                  <a16:creationId xmlns:a16="http://schemas.microsoft.com/office/drawing/2014/main" id="{51451FFE-1B78-4FCE-A6FC-760991E33944}"/>
                </a:ext>
              </a:extLst>
            </p:cNvPr>
            <p:cNvCxnSpPr>
              <a:cxnSpLocks/>
            </p:cNvCxnSpPr>
            <p:nvPr/>
          </p:nvCxnSpPr>
          <p:spPr>
            <a:xfrm>
              <a:off x="10843814" y="3230484"/>
              <a:ext cx="0" cy="711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8" name="Straight Connector 74">
              <a:extLst>
                <a:ext uri="{FF2B5EF4-FFF2-40B4-BE49-F238E27FC236}">
                  <a16:creationId xmlns:a16="http://schemas.microsoft.com/office/drawing/2014/main" id="{EE735E95-2223-4CDD-92FF-87901E9FCCDD}"/>
                </a:ext>
              </a:extLst>
            </p:cNvPr>
            <p:cNvCxnSpPr>
              <a:cxnSpLocks/>
            </p:cNvCxnSpPr>
            <p:nvPr/>
          </p:nvCxnSpPr>
          <p:spPr>
            <a:xfrm>
              <a:off x="8478439" y="3301672"/>
              <a:ext cx="23653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8" name="TextBox 57">
            <a:extLst>
              <a:ext uri="{FF2B5EF4-FFF2-40B4-BE49-F238E27FC236}">
                <a16:creationId xmlns:a16="http://schemas.microsoft.com/office/drawing/2014/main" id="{4D00CFB4-A30B-4437-B730-A8C97D785847}"/>
              </a:ext>
            </a:extLst>
          </p:cNvPr>
          <p:cNvSpPr txBox="1"/>
          <p:nvPr/>
        </p:nvSpPr>
        <p:spPr>
          <a:xfrm>
            <a:off x="4707045" y="1494644"/>
            <a:ext cx="3681936" cy="369332"/>
          </a:xfrm>
          <a:prstGeom prst="rect">
            <a:avLst/>
          </a:prstGeom>
          <a:noFill/>
        </p:spPr>
        <p:txBody>
          <a:bodyPr wrap="square">
            <a:spAutoFit/>
          </a:bodyPr>
          <a:lstStyle/>
          <a:p>
            <a:pPr algn="just"/>
            <a:r>
              <a:rPr lang="en-US" b="1" dirty="0" err="1"/>
              <a:t>SimplePIR</a:t>
            </a:r>
            <a:r>
              <a:rPr lang="en-US" b="1" dirty="0"/>
              <a:t> complexities breakdown:</a:t>
            </a:r>
          </a:p>
        </p:txBody>
      </p:sp>
      <p:grpSp>
        <p:nvGrpSpPr>
          <p:cNvPr id="59" name="Group 4">
            <a:extLst>
              <a:ext uri="{FF2B5EF4-FFF2-40B4-BE49-F238E27FC236}">
                <a16:creationId xmlns:a16="http://schemas.microsoft.com/office/drawing/2014/main" id="{281E1AF4-9C65-4B89-96E0-943ED1C90A1A}"/>
              </a:ext>
            </a:extLst>
          </p:cNvPr>
          <p:cNvGrpSpPr/>
          <p:nvPr/>
        </p:nvGrpSpPr>
        <p:grpSpPr>
          <a:xfrm>
            <a:off x="4701303" y="2023408"/>
            <a:ext cx="6261247" cy="604298"/>
            <a:chOff x="523587" y="3722626"/>
            <a:chExt cx="6261247" cy="604298"/>
          </a:xfrm>
        </p:grpSpPr>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093DABEC-89BE-433A-8EF1-91A50EBD173C}"/>
                    </a:ext>
                  </a:extLst>
                </p:cNvPr>
                <p:cNvSpPr txBox="1"/>
                <p:nvPr/>
              </p:nvSpPr>
              <p:spPr>
                <a:xfrm>
                  <a:off x="549658" y="3722626"/>
                  <a:ext cx="4996927" cy="279051"/>
                </a:xfrm>
                <a:prstGeom prst="rect">
                  <a:avLst/>
                </a:prstGeom>
                <a:noFill/>
              </p:spPr>
              <p:txBody>
                <a:bodyPr wrap="square">
                  <a:spAutoFit/>
                </a:bodyPr>
                <a:lstStyle/>
                <a:p>
                  <a:pPr algn="just"/>
                  <a:r>
                    <a:rPr lang="en-US" sz="1200" i="1" dirty="0" err="1">
                      <a:latin typeface="Google Sans Text"/>
                    </a:rPr>
                    <a:t>SimplePIR.setup</a:t>
                  </a:r>
                  <a:r>
                    <a:rPr lang="en-US" sz="1200" i="1" dirty="0">
                      <a:latin typeface="Google Sans Text"/>
                    </a:rPr>
                    <a:t> (</a:t>
                  </a:r>
                  <a:r>
                    <a:rPr lang="en-US" sz="1200" i="1" dirty="0"/>
                    <a:t>Offline server work) performed 1 time for </a:t>
                  </a:r>
                  <a14:m>
                    <m:oMath xmlns:m="http://schemas.openxmlformats.org/officeDocument/2006/math">
                      <m:r>
                        <a:rPr lang="en-US" sz="1200" b="0" i="1" smtClean="0">
                          <a:latin typeface="Cambria Math" panose="02040503050406030204" pitchFamily="18" charset="0"/>
                        </a:rPr>
                        <m:t>𝑐</m:t>
                      </m:r>
                      <m:r>
                        <a:rPr lang="en-US" sz="1200" b="0" i="1" smtClean="0">
                          <a:latin typeface="Cambria Math" panose="02040503050406030204" pitchFamily="18" charset="0"/>
                        </a:rPr>
                        <m:t>=</m:t>
                      </m:r>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𝑚</m:t>
                          </m:r>
                        </m:e>
                      </m:rad>
                    </m:oMath>
                  </a14:m>
                  <a:r>
                    <a:rPr lang="en-US" sz="1200" i="1" dirty="0"/>
                    <a:t> queries):</a:t>
                  </a:r>
                </a:p>
              </p:txBody>
            </p:sp>
          </mc:Choice>
          <mc:Fallback xmlns="">
            <p:sp>
              <p:nvSpPr>
                <p:cNvPr id="60" name="TextBox 59">
                  <a:extLst>
                    <a:ext uri="{FF2B5EF4-FFF2-40B4-BE49-F238E27FC236}">
                      <a16:creationId xmlns:a16="http://schemas.microsoft.com/office/drawing/2014/main" id="{093DABEC-89BE-433A-8EF1-91A50EBD173C}"/>
                    </a:ext>
                  </a:extLst>
                </p:cNvPr>
                <p:cNvSpPr txBox="1">
                  <a:spLocks noRot="1" noChangeAspect="1" noMove="1" noResize="1" noEditPoints="1" noAdjustHandles="1" noChangeArrowheads="1" noChangeShapeType="1" noTextEdit="1"/>
                </p:cNvSpPr>
                <p:nvPr/>
              </p:nvSpPr>
              <p:spPr>
                <a:xfrm>
                  <a:off x="549658" y="3722626"/>
                  <a:ext cx="4996927" cy="279051"/>
                </a:xfrm>
                <a:prstGeom prst="rect">
                  <a:avLst/>
                </a:prstGeom>
                <a:blipFill>
                  <a:blip r:embed="rId8"/>
                  <a:stretch>
                    <a:fillRect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1E9A7285-5857-42CC-AC70-83FB2E3ACACF}"/>
                    </a:ext>
                  </a:extLst>
                </p:cNvPr>
                <p:cNvSpPr txBox="1"/>
                <p:nvPr/>
              </p:nvSpPr>
              <p:spPr>
                <a:xfrm>
                  <a:off x="523587" y="4006195"/>
                  <a:ext cx="6261247" cy="320729"/>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sSub>
                        <m:sSubPr>
                          <m:ctrlPr>
                            <a:rPr lang="en-US" sz="1100" i="1" smtClean="0">
                              <a:latin typeface="Cambria Math" panose="02040503050406030204" pitchFamily="18" charset="0"/>
                            </a:rPr>
                          </m:ctrlPr>
                        </m:sSubPr>
                        <m:e>
                          <m:r>
                            <a:rPr lang="en-US" sz="1100" b="0" i="1" smtClean="0">
                              <a:latin typeface="Cambria Math" panose="02040503050406030204" pitchFamily="18" charset="0"/>
                            </a:rPr>
                            <m:t>h𝑖𝑛𝑡</m:t>
                          </m:r>
                        </m:e>
                        <m:sub>
                          <m:r>
                            <a:rPr lang="en-US" sz="1100" b="0" i="1" smtClean="0">
                              <a:latin typeface="Cambria Math" panose="02040503050406030204" pitchFamily="18" charset="0"/>
                            </a:rPr>
                            <m:t>𝑐</m:t>
                          </m:r>
                        </m:sub>
                      </m:sSub>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𝑛</m:t>
                          </m:r>
                        </m:sup>
                      </m:sSubSup>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𝑑𝑏</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b="0" i="1" smtClean="0">
                              <a:latin typeface="Cambria Math" panose="02040503050406030204" pitchFamily="18" charset="0"/>
                              <a:ea typeface="Cambria Math" panose="02040503050406030204" pitchFamily="18" charset="0"/>
                            </a:rPr>
                            <m:t>𝑝</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sup>
                      </m:sSubSup>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𝐴</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𝑛</m:t>
                          </m:r>
                        </m:sup>
                      </m:sSubSup>
                      <m:r>
                        <a:rPr lang="en-US" sz="1100" b="0" i="1" smtClean="0">
                          <a:latin typeface="Cambria Math" panose="02040503050406030204" pitchFamily="18" charset="0"/>
                          <a:ea typeface="Cambria Math" panose="02040503050406030204" pitchFamily="18" charset="0"/>
                        </a:rPr>
                        <m:t>=</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0" smtClean="0">
                          <a:latin typeface="Cambria Math" panose="02040503050406030204" pitchFamily="18" charset="0"/>
                          <a:ea typeface="Cambria Math" panose="02040503050406030204" pitchFamily="18" charset="0"/>
                        </a:rPr>
                        <m:t>(</m:t>
                      </m:r>
                      <m:r>
                        <a:rPr lang="en-US" sz="1100" b="0" i="0" smtClean="0">
                          <a:latin typeface="Cambria Math" panose="02040503050406030204" pitchFamily="18" charset="0"/>
                        </a:rPr>
                        <m:t>2</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b="0" i="1" smtClean="0">
                          <a:latin typeface="Cambria Math" panose="02040503050406030204" pitchFamily="18" charset="0"/>
                        </a:rPr>
                        <m:t>)</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𝑛𝑁</m:t>
                      </m:r>
                      <m:r>
                        <a:rPr lang="en-US" sz="1100" i="1">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61" name="TextBox 60">
                  <a:extLst>
                    <a:ext uri="{FF2B5EF4-FFF2-40B4-BE49-F238E27FC236}">
                      <a16:creationId xmlns:a16="http://schemas.microsoft.com/office/drawing/2014/main" id="{1E9A7285-5857-42CC-AC70-83FB2E3ACACF}"/>
                    </a:ext>
                  </a:extLst>
                </p:cNvPr>
                <p:cNvSpPr txBox="1">
                  <a:spLocks noRot="1" noChangeAspect="1" noMove="1" noResize="1" noEditPoints="1" noAdjustHandles="1" noChangeArrowheads="1" noChangeShapeType="1" noTextEdit="1"/>
                </p:cNvSpPr>
                <p:nvPr/>
              </p:nvSpPr>
              <p:spPr>
                <a:xfrm>
                  <a:off x="523587" y="4006195"/>
                  <a:ext cx="6261247" cy="320729"/>
                </a:xfrm>
                <a:prstGeom prst="rect">
                  <a:avLst/>
                </a:prstGeom>
                <a:blipFill>
                  <a:blip r:embed="rId9"/>
                  <a:stretch>
                    <a:fillRect/>
                  </a:stretch>
                </a:blipFill>
              </p:spPr>
              <p:txBody>
                <a:bodyPr/>
                <a:lstStyle/>
                <a:p>
                  <a:r>
                    <a:rPr lang="en-US">
                      <a:noFill/>
                    </a:rPr>
                    <a:t> </a:t>
                  </a:r>
                </a:p>
              </p:txBody>
            </p:sp>
          </mc:Fallback>
        </mc:AlternateContent>
      </p:grpSp>
      <p:grpSp>
        <p:nvGrpSpPr>
          <p:cNvPr id="62" name="Group 3">
            <a:extLst>
              <a:ext uri="{FF2B5EF4-FFF2-40B4-BE49-F238E27FC236}">
                <a16:creationId xmlns:a16="http://schemas.microsoft.com/office/drawing/2014/main" id="{6662EE97-A50A-41E1-851B-A5843095E1C5}"/>
              </a:ext>
            </a:extLst>
          </p:cNvPr>
          <p:cNvGrpSpPr/>
          <p:nvPr/>
        </p:nvGrpSpPr>
        <p:grpSpPr>
          <a:xfrm>
            <a:off x="4701303" y="2725624"/>
            <a:ext cx="6261247" cy="566909"/>
            <a:chOff x="523587" y="4158819"/>
            <a:chExt cx="6261247" cy="566909"/>
          </a:xfrm>
        </p:grpSpPr>
        <p:sp>
          <p:nvSpPr>
            <p:cNvPr id="63" name="TextBox 62">
              <a:extLst>
                <a:ext uri="{FF2B5EF4-FFF2-40B4-BE49-F238E27FC236}">
                  <a16:creationId xmlns:a16="http://schemas.microsoft.com/office/drawing/2014/main" id="{AF4BCC06-2C7C-401B-BAE6-B0FD6A711F2F}"/>
                </a:ext>
              </a:extLst>
            </p:cNvPr>
            <p:cNvSpPr txBox="1"/>
            <p:nvPr/>
          </p:nvSpPr>
          <p:spPr>
            <a:xfrm>
              <a:off x="549659" y="4158819"/>
              <a:ext cx="3639345" cy="279051"/>
            </a:xfrm>
            <a:prstGeom prst="rect">
              <a:avLst/>
            </a:prstGeom>
            <a:noFill/>
          </p:spPr>
          <p:txBody>
            <a:bodyPr wrap="square">
              <a:spAutoFit/>
            </a:bodyPr>
            <a:lstStyle/>
            <a:p>
              <a:pPr algn="just"/>
              <a:r>
                <a:rPr lang="en-US" sz="1200" i="1" dirty="0" err="1">
                  <a:latin typeface="Google Sans Text"/>
                </a:rPr>
                <a:t>SimplePIR.answer</a:t>
              </a:r>
              <a:r>
                <a:rPr lang="en-US" sz="1200" i="1" dirty="0">
                  <a:latin typeface="Google Sans Text"/>
                </a:rPr>
                <a:t> (</a:t>
              </a:r>
              <a:r>
                <a:rPr lang="en-US" sz="1200" i="1" dirty="0"/>
                <a:t>Online server work):</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FA246525-CE28-473F-9B82-5B5465A8073E}"/>
                    </a:ext>
                  </a:extLst>
                </p:cNvPr>
                <p:cNvSpPr txBox="1"/>
                <p:nvPr/>
              </p:nvSpPr>
              <p:spPr>
                <a:xfrm>
                  <a:off x="523587" y="4404999"/>
                  <a:ext cx="6261247" cy="320729"/>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r>
                        <a:rPr lang="en-US" sz="1100" i="1" smtClean="0">
                          <a:latin typeface="Cambria Math" panose="02040503050406030204" pitchFamily="18" charset="0"/>
                        </a:rPr>
                        <m:t>𝑎𝑛𝑠</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𝑑𝑏</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b="0" i="1" smtClean="0">
                              <a:latin typeface="Cambria Math" panose="02040503050406030204" pitchFamily="18" charset="0"/>
                              <a:ea typeface="Cambria Math" panose="02040503050406030204" pitchFamily="18" charset="0"/>
                            </a:rPr>
                            <m:t>𝑝</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sup>
                      </m:sSubSup>
                      <m:r>
                        <a:rPr lang="en-US" sz="1100" i="1">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rPr>
                        <m:t>𝑞</m:t>
                      </m:r>
                      <m:r>
                        <a:rPr lang="en-US" sz="1100" b="0" i="1" smtClean="0">
                          <a:latin typeface="Cambria Math" panose="02040503050406030204" pitchFamily="18" charset="0"/>
                        </a:rPr>
                        <m:t>𝑢</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a:latin typeface="Cambria Math" panose="02040503050406030204" pitchFamily="18" charset="0"/>
                          <a:ea typeface="Cambria Math" panose="02040503050406030204" pitchFamily="18" charset="0"/>
                        </a:rPr>
                        <m:t>(</m:t>
                      </m:r>
                      <m:r>
                        <a:rPr lang="en-US" sz="1100">
                          <a:latin typeface="Cambria Math" panose="02040503050406030204" pitchFamily="18" charset="0"/>
                        </a:rPr>
                        <m:t>2</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rPr>
                        <m:t>)</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𝑁</m:t>
                      </m:r>
                      <m:r>
                        <a:rPr lang="en-US" sz="1100" i="1">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64" name="TextBox 63">
                  <a:extLst>
                    <a:ext uri="{FF2B5EF4-FFF2-40B4-BE49-F238E27FC236}">
                      <a16:creationId xmlns:a16="http://schemas.microsoft.com/office/drawing/2014/main" id="{FA246525-CE28-473F-9B82-5B5465A8073E}"/>
                    </a:ext>
                  </a:extLst>
                </p:cNvPr>
                <p:cNvSpPr txBox="1">
                  <a:spLocks noRot="1" noChangeAspect="1" noMove="1" noResize="1" noEditPoints="1" noAdjustHandles="1" noChangeArrowheads="1" noChangeShapeType="1" noTextEdit="1"/>
                </p:cNvSpPr>
                <p:nvPr/>
              </p:nvSpPr>
              <p:spPr>
                <a:xfrm>
                  <a:off x="523587" y="4404999"/>
                  <a:ext cx="6261247" cy="320729"/>
                </a:xfrm>
                <a:prstGeom prst="rect">
                  <a:avLst/>
                </a:prstGeom>
                <a:blipFill>
                  <a:blip r:embed="rId10"/>
                  <a:stretch>
                    <a:fillRect/>
                  </a:stretch>
                </a:blipFill>
              </p:spPr>
              <p:txBody>
                <a:bodyPr/>
                <a:lstStyle/>
                <a:p>
                  <a:r>
                    <a:rPr lang="en-US">
                      <a:noFill/>
                    </a:rPr>
                    <a:t> </a:t>
                  </a:r>
                </a:p>
              </p:txBody>
            </p:sp>
          </mc:Fallback>
        </mc:AlternateContent>
      </p:grpSp>
      <p:grpSp>
        <p:nvGrpSpPr>
          <p:cNvPr id="65" name="Group 2">
            <a:extLst>
              <a:ext uri="{FF2B5EF4-FFF2-40B4-BE49-F238E27FC236}">
                <a16:creationId xmlns:a16="http://schemas.microsoft.com/office/drawing/2014/main" id="{19A04F45-F4F3-4B7A-85A1-FEF320FD2142}"/>
              </a:ext>
            </a:extLst>
          </p:cNvPr>
          <p:cNvGrpSpPr/>
          <p:nvPr/>
        </p:nvGrpSpPr>
        <p:grpSpPr>
          <a:xfrm>
            <a:off x="4701303" y="3348773"/>
            <a:ext cx="6261248" cy="568832"/>
            <a:chOff x="523587" y="4783217"/>
            <a:chExt cx="6261248" cy="568832"/>
          </a:xfrm>
        </p:grpSpPr>
        <p:sp>
          <p:nvSpPr>
            <p:cNvPr id="80" name="TextBox 79">
              <a:extLst>
                <a:ext uri="{FF2B5EF4-FFF2-40B4-BE49-F238E27FC236}">
                  <a16:creationId xmlns:a16="http://schemas.microsoft.com/office/drawing/2014/main" id="{15AA1264-1433-42B2-9270-02935B338571}"/>
                </a:ext>
              </a:extLst>
            </p:cNvPr>
            <p:cNvSpPr txBox="1"/>
            <p:nvPr/>
          </p:nvSpPr>
          <p:spPr>
            <a:xfrm>
              <a:off x="549659" y="4783217"/>
              <a:ext cx="3639345" cy="279051"/>
            </a:xfrm>
            <a:prstGeom prst="rect">
              <a:avLst/>
            </a:prstGeom>
            <a:noFill/>
          </p:spPr>
          <p:txBody>
            <a:bodyPr wrap="square">
              <a:spAutoFit/>
            </a:bodyPr>
            <a:lstStyle/>
            <a:p>
              <a:pPr algn="just"/>
              <a:r>
                <a:rPr lang="en-US" sz="1200" i="1" dirty="0" err="1">
                  <a:latin typeface="Google Sans Text"/>
                </a:rPr>
                <a:t>SimplePIR.query</a:t>
              </a:r>
              <a:r>
                <a:rPr lang="en-US" sz="1200" i="1" dirty="0">
                  <a:latin typeface="Google Sans Text"/>
                </a:rPr>
                <a:t> (</a:t>
              </a:r>
              <a:r>
                <a:rPr lang="en-US" sz="1200" i="1" dirty="0"/>
                <a:t>Offline client work):</a:t>
              </a: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93392ED-E89C-488B-8A36-A69868DECEF2}"/>
                    </a:ext>
                  </a:extLst>
                </p:cNvPr>
                <p:cNvSpPr txBox="1"/>
                <p:nvPr/>
              </p:nvSpPr>
              <p:spPr>
                <a:xfrm>
                  <a:off x="523587" y="5029397"/>
                  <a:ext cx="6261248" cy="322652"/>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r>
                        <a:rPr lang="en-US" sz="1100" i="1">
                          <a:latin typeface="Cambria Math" panose="02040503050406030204" pitchFamily="18" charset="0"/>
                        </a:rPr>
                        <m:t>𝑞𝑢</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𝐴</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𝑛</m:t>
                          </m:r>
                        </m:sup>
                      </m:sSubSup>
                      <m:r>
                        <a:rPr lang="en-US" sz="1100" i="1">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rPr>
                        <m:t>𝑠</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r>
                        <a:rPr lang="en-US" sz="1100" b="0" i="1" smtClean="0">
                          <a:latin typeface="Cambria Math" panose="02040503050406030204" pitchFamily="18" charset="0"/>
                        </a:rPr>
                        <m:t>𝑒</m:t>
                      </m:r>
                      <m:r>
                        <a:rPr lang="en-US" sz="1100" i="1">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i="1">
                              <a:latin typeface="Cambria Math" panose="02040503050406030204" pitchFamily="18" charset="0"/>
                              <a:ea typeface="Cambria Math" panose="02040503050406030204" pitchFamily="18" charset="0"/>
                            </a:rPr>
                            <m:t>𝜒</m:t>
                          </m:r>
                        </m:e>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p>
                      <m:r>
                        <a:rPr lang="en-US" sz="1100" i="1">
                          <a:latin typeface="Cambria Math" panose="02040503050406030204" pitchFamily="18" charset="0"/>
                        </a:rPr>
                        <m:t>+</m:t>
                      </m:r>
                      <m:r>
                        <a:rPr lang="el-GR" sz="1100" i="1">
                          <a:latin typeface="Cambria Math" panose="02040503050406030204" pitchFamily="18" charset="0"/>
                        </a:rPr>
                        <m:t>𝛥</m:t>
                      </m:r>
                      <m:r>
                        <m:rPr>
                          <m:nor/>
                        </m:rPr>
                        <a:rPr lang="en-US" sz="1100" dirty="0">
                          <a:ea typeface="Cambria Math" panose="02040503050406030204" pitchFamily="18" charset="0"/>
                        </a:rPr>
                        <m:t> </m:t>
                      </m:r>
                      <m:r>
                        <a:rPr lang="en-US" sz="1100" i="1">
                          <a:latin typeface="Cambria Math" panose="02040503050406030204" pitchFamily="18" charset="0"/>
                          <a:ea typeface="Cambria Math" panose="02040503050406030204" pitchFamily="18" charset="0"/>
                        </a:rPr>
                        <m:t>∙</m:t>
                      </m:r>
                      <m:sSub>
                        <m:sSubPr>
                          <m:ctrlPr>
                            <a:rPr lang="en-US" sz="1100" i="1">
                              <a:latin typeface="Cambria Math" panose="02040503050406030204" pitchFamily="18" charset="0"/>
                              <a:ea typeface="Cambria Math" panose="02040503050406030204" pitchFamily="18" charset="0"/>
                            </a:rPr>
                          </m:ctrlPr>
                        </m:sSubPr>
                        <m:e>
                          <m:r>
                            <a:rPr lang="en-US" sz="1100" i="1">
                              <a:latin typeface="Cambria Math" panose="02040503050406030204" pitchFamily="18" charset="0"/>
                              <a:ea typeface="Cambria Math" panose="02040503050406030204" pitchFamily="18" charset="0"/>
                            </a:rPr>
                            <m:t>𝑢</m:t>
                          </m:r>
                        </m:e>
                        <m:sub>
                          <m:sSub>
                            <m:sSubPr>
                              <m:ctrlPr>
                                <a:rPr lang="en-US" sz="1100" i="1">
                                  <a:latin typeface="Cambria Math" panose="02040503050406030204" pitchFamily="18" charset="0"/>
                                  <a:ea typeface="Cambria Math" panose="02040503050406030204" pitchFamily="18" charset="0"/>
                                </a:rPr>
                              </m:ctrlPr>
                            </m:sSubPr>
                            <m:e>
                              <m:r>
                                <a:rPr lang="en-US" sz="1100" i="1">
                                  <a:latin typeface="Cambria Math" panose="02040503050406030204" pitchFamily="18" charset="0"/>
                                  <a:ea typeface="Cambria Math" panose="02040503050406030204" pitchFamily="18" charset="0"/>
                                </a:rPr>
                                <m:t>𝑖</m:t>
                              </m:r>
                            </m:e>
                            <m:sub>
                              <m:r>
                                <a:rPr lang="en-US" sz="1100" i="1">
                                  <a:latin typeface="Cambria Math" panose="02040503050406030204" pitchFamily="18" charset="0"/>
                                  <a:ea typeface="Cambria Math" panose="02040503050406030204" pitchFamily="18" charset="0"/>
                                </a:rPr>
                                <m:t>𝑐𝑜𝑙</m:t>
                              </m:r>
                            </m:sub>
                          </m:sSub>
                        </m:sub>
                      </m:sSub>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sSup>
                        <m:sSupPr>
                          <m:ctrlPr>
                            <a:rPr lang="en-US" sz="1100" b="0" i="1" smtClean="0">
                              <a:latin typeface="Cambria Math" panose="02040503050406030204" pitchFamily="18" charset="0"/>
                              <a:ea typeface="Cambria Math" panose="02040503050406030204" pitchFamily="18" charset="0"/>
                            </a:rPr>
                          </m:ctrlPr>
                        </m:sSupPr>
                        <m:e>
                          <m:d>
                            <m:dPr>
                              <m:begChr m:val="{"/>
                              <m:endChr m:val="}"/>
                              <m:ctrlPr>
                                <a:rPr lang="en-US" sz="1100" b="0" i="1" smtClean="0">
                                  <a:latin typeface="Cambria Math" panose="02040503050406030204" pitchFamily="18" charset="0"/>
                                  <a:ea typeface="Cambria Math" panose="02040503050406030204" pitchFamily="18" charset="0"/>
                                </a:rPr>
                              </m:ctrlPr>
                            </m:dPr>
                            <m:e>
                              <m:r>
                                <a:rPr lang="en-US" sz="1100" b="0" i="1" smtClean="0">
                                  <a:latin typeface="Cambria Math" panose="02040503050406030204" pitchFamily="18" charset="0"/>
                                  <a:ea typeface="Cambria Math" panose="02040503050406030204" pitchFamily="18" charset="0"/>
                                </a:rPr>
                                <m:t>0,1</m:t>
                              </m:r>
                            </m:e>
                          </m:d>
                        </m:e>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p>
                      <m:r>
                        <a:rPr lang="en-US" sz="1100" b="0" i="1" smtClean="0">
                          <a:latin typeface="Cambria Math" panose="02040503050406030204" pitchFamily="18" charset="0"/>
                          <a:ea typeface="Cambria Math" panose="02040503050406030204" pitchFamily="18" charset="0"/>
                        </a:rPr>
                        <m:t>=</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a:latin typeface="Cambria Math" panose="02040503050406030204" pitchFamily="18" charset="0"/>
                          <a:ea typeface="Cambria Math" panose="02040503050406030204" pitchFamily="18" charset="0"/>
                        </a:rPr>
                        <m:t>(</m:t>
                      </m:r>
                      <m:r>
                        <a:rPr lang="en-US" sz="1100">
                          <a:latin typeface="Cambria Math" panose="02040503050406030204" pitchFamily="18" charset="0"/>
                        </a:rPr>
                        <m:t>2</m:t>
                      </m:r>
                      <m:r>
                        <a:rPr lang="en-US" sz="1100" b="0" i="1" smtClean="0">
                          <a:latin typeface="Cambria Math" panose="02040503050406030204" pitchFamily="18" charset="0"/>
                        </a:rPr>
                        <m:t>𝑛</m:t>
                      </m:r>
                      <m:r>
                        <a:rPr lang="en-US" sz="1100" i="1">
                          <a:latin typeface="Cambria Math" panose="02040503050406030204" pitchFamily="18" charset="0"/>
                        </a:rPr>
                        <m:t>)</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81" name="TextBox 80">
                  <a:extLst>
                    <a:ext uri="{FF2B5EF4-FFF2-40B4-BE49-F238E27FC236}">
                      <a16:creationId xmlns:a16="http://schemas.microsoft.com/office/drawing/2014/main" id="{C93392ED-E89C-488B-8A36-A69868DECEF2}"/>
                    </a:ext>
                  </a:extLst>
                </p:cNvPr>
                <p:cNvSpPr txBox="1">
                  <a:spLocks noRot="1" noChangeAspect="1" noMove="1" noResize="1" noEditPoints="1" noAdjustHandles="1" noChangeArrowheads="1" noChangeShapeType="1" noTextEdit="1"/>
                </p:cNvSpPr>
                <p:nvPr/>
              </p:nvSpPr>
              <p:spPr>
                <a:xfrm>
                  <a:off x="523587" y="5029397"/>
                  <a:ext cx="6261248" cy="322652"/>
                </a:xfrm>
                <a:prstGeom prst="rect">
                  <a:avLst/>
                </a:prstGeom>
                <a:blipFill>
                  <a:blip r:embed="rId11"/>
                  <a:stretch>
                    <a:fillRect/>
                  </a:stretch>
                </a:blipFill>
              </p:spPr>
              <p:txBody>
                <a:bodyPr/>
                <a:lstStyle/>
                <a:p>
                  <a:r>
                    <a:rPr lang="en-US">
                      <a:noFill/>
                    </a:rPr>
                    <a:t> </a:t>
                  </a:r>
                </a:p>
              </p:txBody>
            </p:sp>
          </mc:Fallback>
        </mc:AlternateContent>
      </p:grpSp>
      <p:grpSp>
        <p:nvGrpSpPr>
          <p:cNvPr id="82" name="Group 1">
            <a:extLst>
              <a:ext uri="{FF2B5EF4-FFF2-40B4-BE49-F238E27FC236}">
                <a16:creationId xmlns:a16="http://schemas.microsoft.com/office/drawing/2014/main" id="{DF8F6F26-69AB-47C4-A3B7-93F3F6920745}"/>
              </a:ext>
            </a:extLst>
          </p:cNvPr>
          <p:cNvGrpSpPr/>
          <p:nvPr/>
        </p:nvGrpSpPr>
        <p:grpSpPr>
          <a:xfrm>
            <a:off x="4701303" y="3971922"/>
            <a:ext cx="6261247" cy="533823"/>
            <a:chOff x="523587" y="5529041"/>
            <a:chExt cx="6261247" cy="533823"/>
          </a:xfrm>
        </p:grpSpPr>
        <p:sp>
          <p:nvSpPr>
            <p:cNvPr id="85" name="TextBox 84">
              <a:extLst>
                <a:ext uri="{FF2B5EF4-FFF2-40B4-BE49-F238E27FC236}">
                  <a16:creationId xmlns:a16="http://schemas.microsoft.com/office/drawing/2014/main" id="{57D1A285-3886-4574-AC2C-4B64F2D0A3D0}"/>
                </a:ext>
              </a:extLst>
            </p:cNvPr>
            <p:cNvSpPr txBox="1"/>
            <p:nvPr/>
          </p:nvSpPr>
          <p:spPr>
            <a:xfrm>
              <a:off x="549659" y="5529041"/>
              <a:ext cx="3639345" cy="279051"/>
            </a:xfrm>
            <a:prstGeom prst="rect">
              <a:avLst/>
            </a:prstGeom>
            <a:noFill/>
          </p:spPr>
          <p:txBody>
            <a:bodyPr wrap="square">
              <a:spAutoFit/>
            </a:bodyPr>
            <a:lstStyle/>
            <a:p>
              <a:pPr algn="just"/>
              <a:r>
                <a:rPr lang="en-US" sz="1200" i="1" dirty="0" err="1">
                  <a:latin typeface="Google Sans Text"/>
                </a:rPr>
                <a:t>SimplePIR.recover</a:t>
              </a:r>
              <a:r>
                <a:rPr lang="en-US" sz="1200" i="1" dirty="0">
                  <a:latin typeface="Google Sans Text"/>
                </a:rPr>
                <a:t> (</a:t>
              </a:r>
              <a:r>
                <a:rPr lang="en-US" sz="1200" i="1" dirty="0"/>
                <a:t>Online client work):</a:t>
              </a:r>
            </a:p>
          </p:txBody>
        </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5FE5D855-B8A4-4EDE-BA6F-35C30426F845}"/>
                    </a:ext>
                  </a:extLst>
                </p:cNvPr>
                <p:cNvSpPr txBox="1"/>
                <p:nvPr/>
              </p:nvSpPr>
              <p:spPr>
                <a:xfrm>
                  <a:off x="523587" y="5775221"/>
                  <a:ext cx="6261247" cy="287643"/>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acc>
                        <m:accPr>
                          <m:chr m:val="̂"/>
                          <m:ctrlPr>
                            <a:rPr lang="en-US" sz="1100" i="1" smtClean="0">
                              <a:latin typeface="Cambria Math" panose="02040503050406030204" pitchFamily="18" charset="0"/>
                            </a:rPr>
                          </m:ctrlPr>
                        </m:accPr>
                        <m:e>
                          <m:r>
                            <a:rPr lang="en-US" sz="1100" b="0" i="1" smtClean="0">
                              <a:latin typeface="Cambria Math" panose="02040503050406030204" pitchFamily="18" charset="0"/>
                            </a:rPr>
                            <m:t>𝑑</m:t>
                          </m:r>
                        </m:e>
                      </m:acc>
                      <m:r>
                        <a:rPr lang="en-US" sz="1100" i="1">
                          <a:latin typeface="Cambria Math" panose="02040503050406030204" pitchFamily="18" charset="0"/>
                          <a:ea typeface="Cambria Math" panose="02040503050406030204" pitchFamily="18" charset="0"/>
                        </a:rPr>
                        <m:t>∈</m:t>
                      </m:r>
                      <m:sSub>
                        <m:sSubPr>
                          <m:ctrlPr>
                            <a:rPr lang="en-US" sz="1100" i="1">
                              <a:latin typeface="Cambria Math" panose="02040503050406030204" pitchFamily="18" charset="0"/>
                              <a:ea typeface="Cambria Math" panose="02040503050406030204" pitchFamily="18" charset="0"/>
                            </a:rPr>
                          </m:ctrlPr>
                        </m:sSub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Sub>
                      <m:r>
                        <a:rPr lang="en-US" sz="1100" b="0" i="1" smtClean="0">
                          <a:latin typeface="Cambria Math" panose="02040503050406030204" pitchFamily="18" charset="0"/>
                        </a:rPr>
                        <m:t>=(</m:t>
                      </m:r>
                      <m:r>
                        <a:rPr lang="en-US" sz="1100" b="0" i="1" smtClean="0">
                          <a:latin typeface="Cambria Math" panose="02040503050406030204" pitchFamily="18" charset="0"/>
                        </a:rPr>
                        <m:t>𝑎𝑛𝑠</m:t>
                      </m:r>
                      <m:d>
                        <m:dPr>
                          <m:begChr m:val="["/>
                          <m:endChr m:val="]"/>
                          <m:ctrlPr>
                            <a:rPr lang="en-US" sz="1100" b="0" i="1" smtClean="0">
                              <a:latin typeface="Cambria Math" panose="02040503050406030204" pitchFamily="18" charset="0"/>
                            </a:rPr>
                          </m:ctrlPr>
                        </m:dPr>
                        <m:e>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𝑖</m:t>
                              </m:r>
                            </m:e>
                            <m:sub>
                              <m:r>
                                <a:rPr lang="en-US" sz="1100" b="0" i="1" smtClean="0">
                                  <a:latin typeface="Cambria Math" panose="02040503050406030204" pitchFamily="18" charset="0"/>
                                </a:rPr>
                                <m:t>𝑟𝑜𝑤</m:t>
                              </m:r>
                            </m:sub>
                          </m:sSub>
                        </m:e>
                      </m:d>
                      <m:r>
                        <a:rPr lang="en-US" sz="1100" b="0" i="1" smtClean="0">
                          <a:latin typeface="Cambria Math" panose="02040503050406030204" pitchFamily="18" charset="0"/>
                        </a:rPr>
                        <m:t>−</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h𝑖𝑛𝑡</m:t>
                          </m:r>
                        </m:e>
                        <m:sub>
                          <m:r>
                            <a:rPr lang="en-US" sz="1100" b="0" i="1" smtClean="0">
                              <a:latin typeface="Cambria Math" panose="02040503050406030204" pitchFamily="18" charset="0"/>
                            </a:rPr>
                            <m:t>𝑐</m:t>
                          </m:r>
                        </m:sub>
                      </m:sSub>
                      <m:d>
                        <m:dPr>
                          <m:begChr m:val="["/>
                          <m:ctrlPr>
                            <a:rPr lang="en-US" sz="1100" b="0" i="1" smtClean="0">
                              <a:latin typeface="Cambria Math" panose="02040503050406030204" pitchFamily="18" charset="0"/>
                            </a:rPr>
                          </m:ctrlPr>
                        </m:dPr>
                        <m:e>
                          <m:sSub>
                            <m:sSubPr>
                              <m:ctrlPr>
                                <a:rPr lang="en-US" sz="1100" i="1">
                                  <a:latin typeface="Cambria Math" panose="02040503050406030204" pitchFamily="18" charset="0"/>
                                </a:rPr>
                              </m:ctrlPr>
                            </m:sSubPr>
                            <m:e>
                              <m:r>
                                <a:rPr lang="en-US" sz="1100" i="1">
                                  <a:latin typeface="Cambria Math" panose="02040503050406030204" pitchFamily="18" charset="0"/>
                                </a:rPr>
                                <m:t>𝑖</m:t>
                              </m:r>
                            </m:e>
                            <m:sub>
                              <m:r>
                                <a:rPr lang="en-US" sz="1100" i="1">
                                  <a:latin typeface="Cambria Math" panose="02040503050406030204" pitchFamily="18" charset="0"/>
                                </a:rPr>
                                <m:t>𝑟𝑜𝑤</m:t>
                              </m:r>
                            </m:sub>
                          </m:sSub>
                          <m:r>
                            <m:rPr>
                              <m:nor/>
                            </m:rPr>
                            <a:rPr lang="en-US" sz="1100" dirty="0">
                              <a:latin typeface="Google Sans Text"/>
                            </a:rPr>
                            <m:t>,:]</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𝑠</m:t>
                          </m:r>
                        </m:e>
                      </m:d>
                      <m:r>
                        <a:rPr lang="en-US" sz="1100" b="0" i="1" smtClean="0">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r>
                        <a:rPr lang="en-US" sz="1100" i="1">
                          <a:latin typeface="Cambria Math" panose="02040503050406030204" pitchFamily="18" charset="0"/>
                          <a:ea typeface="Cambria Math" panose="02040503050406030204" pitchFamily="18" charset="0"/>
                        </a:rPr>
                        <m:t>)</m:t>
                      </m:r>
                    </m:oMath>
                  </a14:m>
                  <a:endParaRPr lang="en-US" sz="1100" dirty="0">
                    <a:effectLst/>
                    <a:latin typeface="Google Sans Text"/>
                  </a:endParaRPr>
                </a:p>
              </p:txBody>
            </p:sp>
          </mc:Choice>
          <mc:Fallback xmlns="">
            <p:sp>
              <p:nvSpPr>
                <p:cNvPr id="86" name="TextBox 85">
                  <a:extLst>
                    <a:ext uri="{FF2B5EF4-FFF2-40B4-BE49-F238E27FC236}">
                      <a16:creationId xmlns:a16="http://schemas.microsoft.com/office/drawing/2014/main" id="{5FE5D855-B8A4-4EDE-BA6F-35C30426F845}"/>
                    </a:ext>
                  </a:extLst>
                </p:cNvPr>
                <p:cNvSpPr txBox="1">
                  <a:spLocks noRot="1" noChangeAspect="1" noMove="1" noResize="1" noEditPoints="1" noAdjustHandles="1" noChangeArrowheads="1" noChangeShapeType="1" noTextEdit="1"/>
                </p:cNvSpPr>
                <p:nvPr/>
              </p:nvSpPr>
              <p:spPr>
                <a:xfrm>
                  <a:off x="523587" y="5775221"/>
                  <a:ext cx="6261247" cy="287643"/>
                </a:xfrm>
                <a:prstGeom prst="rect">
                  <a:avLst/>
                </a:prstGeom>
                <a:blipFill>
                  <a:blip r:embed="rId12"/>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CFAC6675-A6AA-4665-B91E-CFE9B29D9A50}"/>
                  </a:ext>
                </a:extLst>
              </p:cNvPr>
              <p:cNvSpPr txBox="1"/>
              <p:nvPr/>
            </p:nvSpPr>
            <p:spPr>
              <a:xfrm>
                <a:off x="4627605" y="4684107"/>
                <a:ext cx="4195651" cy="326821"/>
              </a:xfrm>
              <a:prstGeom prst="rect">
                <a:avLst/>
              </a:prstGeom>
              <a:noFill/>
            </p:spPr>
            <p:txBody>
              <a:bodyPr wrap="square">
                <a:spAutoFit/>
              </a:bodyPr>
              <a:lstStyle/>
              <a:p>
                <a:pPr algn="just"/>
                <a14:m>
                  <m:oMath xmlns:m="http://schemas.openxmlformats.org/officeDocument/2006/math">
                    <m:sSub>
                      <m:sSubPr>
                        <m:ctrlPr>
                          <a:rPr lang="en-US" sz="1400" i="1" smtClean="0">
                            <a:latin typeface="Cambria Math" panose="02040503050406030204" pitchFamily="18" charset="0"/>
                          </a:rPr>
                        </m:ctrlPr>
                      </m:sSubPr>
                      <m:e>
                        <m:r>
                          <m:rPr>
                            <m:nor/>
                          </m:rPr>
                          <a:rPr lang="en-US" sz="1400" i="1" dirty="0">
                            <a:latin typeface="Google Sans Text"/>
                          </a:rPr>
                          <m:t>LWE</m:t>
                        </m:r>
                      </m:e>
                      <m:sub>
                        <m:r>
                          <a:rPr lang="en-US" sz="1400" b="0" i="1" smtClean="0">
                            <a:latin typeface="Cambria Math" panose="02040503050406030204" pitchFamily="18" charset="0"/>
                          </a:rPr>
                          <m:t>𝑞</m:t>
                        </m:r>
                        <m:r>
                          <a:rPr lang="en-US" sz="1400" b="0" i="1" smtClean="0">
                            <a:latin typeface="Cambria Math" panose="02040503050406030204" pitchFamily="18" charset="0"/>
                          </a:rPr>
                          <m:t>,</m:t>
                        </m:r>
                        <m:r>
                          <a:rPr lang="en-US" sz="1400" b="0" i="1" smtClean="0">
                            <a:latin typeface="Cambria Math" panose="02040503050406030204" pitchFamily="18" charset="0"/>
                          </a:rPr>
                          <m:t>𝑛</m:t>
                        </m:r>
                        <m:r>
                          <a:rPr lang="en-US" sz="1400" b="0" i="1" smtClean="0">
                            <a:latin typeface="Cambria Math" panose="02040503050406030204" pitchFamily="18" charset="0"/>
                          </a:rPr>
                          <m:t>,</m:t>
                        </m:r>
                        <m:r>
                          <a:rPr lang="en-US" sz="1400" b="0" i="1" smtClean="0">
                            <a:latin typeface="Cambria Math" panose="02040503050406030204" pitchFamily="18" charset="0"/>
                          </a:rPr>
                          <m:t>𝑚</m:t>
                        </m:r>
                        <m:r>
                          <a:rPr lang="en-US" sz="1400" b="0" i="1" smtClean="0">
                            <a:latin typeface="Cambria Math" panose="02040503050406030204" pitchFamily="18" charset="0"/>
                          </a:rPr>
                          <m:t>,</m:t>
                        </m:r>
                        <m:r>
                          <a:rPr lang="el-GR" sz="1400" i="1">
                            <a:latin typeface="Cambria Math" panose="02040503050406030204" pitchFamily="18" charset="0"/>
                          </a:rPr>
                          <m:t>𝜒</m:t>
                        </m:r>
                      </m:sub>
                    </m:sSub>
                  </m:oMath>
                </a14:m>
                <a:r>
                  <a:rPr lang="en-US" sz="1400" b="1" i="1" dirty="0"/>
                  <a:t> security parameters in </a:t>
                </a:r>
                <a:r>
                  <a:rPr lang="en-US" sz="1400" b="1" i="1" dirty="0" err="1"/>
                  <a:t>SimplePIR</a:t>
                </a:r>
                <a:endParaRPr lang="en-US" sz="1400" b="1" i="1" dirty="0"/>
              </a:p>
            </p:txBody>
          </p:sp>
        </mc:Choice>
        <mc:Fallback xmlns="">
          <p:sp>
            <p:nvSpPr>
              <p:cNvPr id="87" name="TextBox 86">
                <a:extLst>
                  <a:ext uri="{FF2B5EF4-FFF2-40B4-BE49-F238E27FC236}">
                    <a16:creationId xmlns:a16="http://schemas.microsoft.com/office/drawing/2014/main" id="{CFAC6675-A6AA-4665-B91E-CFE9B29D9A50}"/>
                  </a:ext>
                </a:extLst>
              </p:cNvPr>
              <p:cNvSpPr txBox="1">
                <a:spLocks noRot="1" noChangeAspect="1" noMove="1" noResize="1" noEditPoints="1" noAdjustHandles="1" noChangeArrowheads="1" noChangeShapeType="1" noTextEdit="1"/>
              </p:cNvSpPr>
              <p:nvPr/>
            </p:nvSpPr>
            <p:spPr>
              <a:xfrm>
                <a:off x="4627605" y="4684107"/>
                <a:ext cx="4195651" cy="326821"/>
              </a:xfrm>
              <a:prstGeom prst="rect">
                <a:avLst/>
              </a:prstGeom>
              <a:blipFill>
                <a:blip r:embed="rId13"/>
                <a:stretch>
                  <a:fillRect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8" name="Table 26">
                <a:extLst>
                  <a:ext uri="{FF2B5EF4-FFF2-40B4-BE49-F238E27FC236}">
                    <a16:creationId xmlns:a16="http://schemas.microsoft.com/office/drawing/2014/main" id="{5B9CBA8E-CF8E-4E1B-BA57-0631695057F7}"/>
                  </a:ext>
                </a:extLst>
              </p:cNvPr>
              <p:cNvGraphicFramePr>
                <a:graphicFrameLocks noGrp="1"/>
              </p:cNvGraphicFramePr>
              <p:nvPr>
                <p:extLst>
                  <p:ext uri="{D42A27DB-BD31-4B8C-83A1-F6EECF244321}">
                    <p14:modId xmlns:p14="http://schemas.microsoft.com/office/powerpoint/2010/main" val="1869202623"/>
                  </p:ext>
                </p:extLst>
              </p:nvPr>
            </p:nvGraphicFramePr>
            <p:xfrm>
              <a:off x="4733975" y="5033980"/>
              <a:ext cx="3268761" cy="1463040"/>
            </p:xfrm>
            <a:graphic>
              <a:graphicData uri="http://schemas.openxmlformats.org/drawingml/2006/table">
                <a:tbl>
                  <a:tblPr firstRow="1" bandRow="1">
                    <a:tableStyleId>{5C22544A-7EE6-4342-B048-85BDC9FD1C3A}</a:tableStyleId>
                  </a:tblPr>
                  <a:tblGrid>
                    <a:gridCol w="305993">
                      <a:extLst>
                        <a:ext uri="{9D8B030D-6E8A-4147-A177-3AD203B41FA5}">
                          <a16:colId xmlns:a16="http://schemas.microsoft.com/office/drawing/2014/main" val="318303875"/>
                        </a:ext>
                      </a:extLst>
                    </a:gridCol>
                    <a:gridCol w="468008">
                      <a:extLst>
                        <a:ext uri="{9D8B030D-6E8A-4147-A177-3AD203B41FA5}">
                          <a16:colId xmlns:a16="http://schemas.microsoft.com/office/drawing/2014/main" val="1123812748"/>
                        </a:ext>
                      </a:extLst>
                    </a:gridCol>
                    <a:gridCol w="468008">
                      <a:extLst>
                        <a:ext uri="{9D8B030D-6E8A-4147-A177-3AD203B41FA5}">
                          <a16:colId xmlns:a16="http://schemas.microsoft.com/office/drawing/2014/main" val="1832624885"/>
                        </a:ext>
                      </a:extLst>
                    </a:gridCol>
                    <a:gridCol w="468008">
                      <a:extLst>
                        <a:ext uri="{9D8B030D-6E8A-4147-A177-3AD203B41FA5}">
                          <a16:colId xmlns:a16="http://schemas.microsoft.com/office/drawing/2014/main" val="3563629070"/>
                        </a:ext>
                      </a:extLst>
                    </a:gridCol>
                    <a:gridCol w="471805">
                      <a:extLst>
                        <a:ext uri="{9D8B030D-6E8A-4147-A177-3AD203B41FA5}">
                          <a16:colId xmlns:a16="http://schemas.microsoft.com/office/drawing/2014/main" val="2234934482"/>
                        </a:ext>
                      </a:extLst>
                    </a:gridCol>
                    <a:gridCol w="471805">
                      <a:extLst>
                        <a:ext uri="{9D8B030D-6E8A-4147-A177-3AD203B41FA5}">
                          <a16:colId xmlns:a16="http://schemas.microsoft.com/office/drawing/2014/main" val="1977225126"/>
                        </a:ext>
                      </a:extLst>
                    </a:gridCol>
                    <a:gridCol w="615134">
                      <a:extLst>
                        <a:ext uri="{9D8B030D-6E8A-4147-A177-3AD203B41FA5}">
                          <a16:colId xmlns:a16="http://schemas.microsoft.com/office/drawing/2014/main" val="606092842"/>
                        </a:ext>
                      </a:extLst>
                    </a:gridCol>
                  </a:tblGrid>
                  <a:tr h="199218">
                    <a:tc>
                      <a:txBody>
                        <a:bodyPr/>
                        <a:lstStyle/>
                        <a:p>
                          <a:pPr marL="0" algn="ctr" defTabSz="914400" rtl="0" eaLnBrk="1" latinLnBrk="0" hangingPunct="1"/>
                          <a:r>
                            <a:rPr lang="en-US" sz="1000" b="0" i="1" kern="1200" dirty="0">
                              <a:solidFill>
                                <a:schemeClr val="tx1"/>
                              </a:solidFill>
                              <a:effectLst/>
                              <a:latin typeface="Google Sans Text"/>
                              <a:ea typeface="+mn-ea"/>
                              <a:cs typeface="+mn-cs"/>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2379504"/>
                      </a:ext>
                    </a:extLst>
                  </a:tr>
                  <a:tr h="199218">
                    <a:tc>
                      <a:txBody>
                        <a:bodyPr/>
                        <a:lstStyle/>
                        <a:p>
                          <a:pPr marL="0" algn="ctr" defTabSz="914400" rtl="0" eaLnBrk="1" latinLnBrk="0" hangingPunct="1"/>
                          <a:r>
                            <a:rPr lang="en-US" sz="1000" b="0" i="1" kern="1200" dirty="0">
                              <a:solidFill>
                                <a:schemeClr val="tx1"/>
                              </a:solidFill>
                              <a:effectLst/>
                              <a:latin typeface="Google Sans Text"/>
                              <a:ea typeface="+mn-ea"/>
                              <a:cs typeface="+mn-cs"/>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6178800"/>
                      </a:ext>
                    </a:extLst>
                  </a:tr>
                  <a:tr h="199218">
                    <a:tc>
                      <a:txBody>
                        <a:bodyPr/>
                        <a:lstStyle/>
                        <a:p>
                          <a:pPr marL="0" algn="ctr" defTabSz="914400" rtl="0" eaLnBrk="1" latinLnBrk="0" hangingPunct="1"/>
                          <a:r>
                            <a:rPr lang="en-US" sz="1000" b="0" i="1" kern="1200" dirty="0">
                              <a:solidFill>
                                <a:schemeClr val="tx1"/>
                              </a:solidFill>
                              <a:effectLst/>
                              <a:latin typeface="Google Sans Text"/>
                              <a:ea typeface="+mn-ea"/>
                              <a:cs typeface="+mn-cs"/>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26</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28</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30</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34</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38</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sz="1000" b="0" i="1" kern="1200" smtClean="0">
                                        <a:solidFill>
                                          <a:schemeClr val="tx1"/>
                                        </a:solidFill>
                                        <a:effectLst/>
                                        <a:latin typeface="Cambria Math" panose="02040503050406030204" pitchFamily="18" charset="0"/>
                                        <a:ea typeface="+mn-ea"/>
                                        <a:cs typeface="+mn-cs"/>
                                      </a:rPr>
                                    </m:ctrlPr>
                                  </m:sSupPr>
                                  <m:e>
                                    <m:r>
                                      <a:rPr lang="en-US" sz="1000" b="0" i="1" kern="1200" smtClean="0">
                                        <a:solidFill>
                                          <a:schemeClr val="tx1"/>
                                        </a:solidFill>
                                        <a:effectLst/>
                                        <a:latin typeface="Cambria Math" panose="02040503050406030204" pitchFamily="18" charset="0"/>
                                        <a:ea typeface="+mn-ea"/>
                                        <a:cs typeface="+mn-cs"/>
                                      </a:rPr>
                                      <m:t>2</m:t>
                                    </m:r>
                                  </m:e>
                                  <m:sup>
                                    <m:r>
                                      <a:rPr lang="en-US" sz="1000" b="0" i="1" kern="1200" smtClean="0">
                                        <a:solidFill>
                                          <a:schemeClr val="tx1"/>
                                        </a:solidFill>
                                        <a:effectLst/>
                                        <a:latin typeface="Cambria Math" panose="02040503050406030204" pitchFamily="18" charset="0"/>
                                        <a:ea typeface="+mn-ea"/>
                                        <a:cs typeface="+mn-cs"/>
                                      </a:rPr>
                                      <m:t>42</m:t>
                                    </m:r>
                                  </m:sup>
                                </m:sSup>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9475717"/>
                      </a:ext>
                    </a:extLst>
                  </a:tr>
                  <a:tr h="199218">
                    <a:tc>
                      <a:txBody>
                        <a:bodyPr/>
                        <a:lstStyle/>
                        <a:p>
                          <a:pPr marL="0" algn="ctr" defTabSz="914400" rtl="0" eaLnBrk="1" latinLnBrk="0" hangingPunct="1"/>
                          <a:r>
                            <a:rPr lang="en-US" sz="1000" b="0" i="1" kern="1200" dirty="0">
                              <a:solidFill>
                                <a:schemeClr val="tx1"/>
                              </a:solidFill>
                              <a:effectLst/>
                              <a:latin typeface="Google Sans Text"/>
                              <a:ea typeface="+mn-ea"/>
                              <a:cs typeface="+mn-cs"/>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991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sz="1000" b="0" i="1" kern="1200" smtClean="0">
                                    <a:solidFill>
                                      <a:schemeClr val="tx1"/>
                                    </a:solidFill>
                                    <a:effectLst/>
                                    <a:latin typeface="Cambria Math" panose="02040503050406030204" pitchFamily="18" charset="0"/>
                                    <a:ea typeface="+mn-ea"/>
                                    <a:cs typeface="+mn-cs"/>
                                  </a:rPr>
                                  <m:t>833</m:t>
                                </m:r>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sz="1000" b="0" i="1" kern="1200" smtClean="0">
                                    <a:solidFill>
                                      <a:schemeClr val="tx1"/>
                                    </a:solidFill>
                                    <a:effectLst/>
                                    <a:latin typeface="Cambria Math" panose="02040503050406030204" pitchFamily="18" charset="0"/>
                                    <a:ea typeface="+mn-ea"/>
                                    <a:cs typeface="+mn-cs"/>
                                  </a:rPr>
                                  <m:t>701</m:t>
                                </m:r>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sz="1000" b="0" i="1" kern="1200" smtClean="0">
                                    <a:solidFill>
                                      <a:schemeClr val="tx1"/>
                                    </a:solidFill>
                                    <a:effectLst/>
                                    <a:latin typeface="Cambria Math" panose="02040503050406030204" pitchFamily="18" charset="0"/>
                                    <a:ea typeface="+mn-ea"/>
                                    <a:cs typeface="+mn-cs"/>
                                  </a:rPr>
                                  <m:t>495</m:t>
                                </m:r>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a:rPr lang="en-US" sz="1000" b="0" i="1" kern="1200" smtClean="0">
                                    <a:solidFill>
                                      <a:schemeClr val="tx1"/>
                                    </a:solidFill>
                                    <a:effectLst/>
                                    <a:latin typeface="Cambria Math" panose="02040503050406030204" pitchFamily="18" charset="0"/>
                                    <a:ea typeface="+mn-ea"/>
                                    <a:cs typeface="+mn-cs"/>
                                  </a:rPr>
                                  <m:t>350</m:t>
                                </m:r>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247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3621188"/>
                      </a:ext>
                    </a:extLst>
                  </a:tr>
                  <a:tr h="199218">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sSub>
                                  <m:sSubPr>
                                    <m:ctrlPr>
                                      <a:rPr lang="en-US" sz="1000" b="0" i="1" kern="1200" smtClean="0">
                                        <a:solidFill>
                                          <a:schemeClr val="tx1"/>
                                        </a:solidFill>
                                        <a:effectLst/>
                                        <a:latin typeface="Cambria Math" panose="02040503050406030204" pitchFamily="18" charset="0"/>
                                        <a:ea typeface="+mn-ea"/>
                                        <a:cs typeface="+mn-cs"/>
                                      </a:rPr>
                                    </m:ctrlPr>
                                  </m:sSubPr>
                                  <m:e>
                                    <m:r>
                                      <m:rPr>
                                        <m:nor/>
                                      </m:rPr>
                                      <a:rPr lang="el-GR" sz="1000" dirty="0" smtClean="0">
                                        <a:effectLst/>
                                      </a:rPr>
                                      <m:t>Χ</m:t>
                                    </m:r>
                                  </m:e>
                                  <m:sub>
                                    <m:r>
                                      <m:rPr>
                                        <m:nor/>
                                      </m:rPr>
                                      <a:rPr lang="el-GR" sz="1000" smtClean="0">
                                        <a:effectLst/>
                                      </a:rPr>
                                      <m:t>σ</m:t>
                                    </m:r>
                                  </m:sub>
                                </m:sSub>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993063"/>
                      </a:ext>
                    </a:extLst>
                  </a:tr>
                  <a:tr h="199218">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m:rPr>
                                    <m:nor/>
                                  </m:rPr>
                                  <a:rPr lang="el-GR" sz="1000" b="0" i="1" kern="1200" smtClean="0">
                                    <a:solidFill>
                                      <a:schemeClr val="tx1"/>
                                    </a:solidFill>
                                    <a:effectLst/>
                                    <a:latin typeface="Google Sans Text"/>
                                    <a:ea typeface="+mn-ea"/>
                                    <a:cs typeface="+mn-cs"/>
                                  </a:rPr>
                                  <m:t>λ</m:t>
                                </m:r>
                              </m:oMath>
                            </m:oMathPara>
                          </a14:m>
                          <a:endParaRPr lang="en-US" sz="1000" b="0" i="1" kern="1200" dirty="0">
                            <a:solidFill>
                              <a:schemeClr val="tx1"/>
                            </a:solidFill>
                            <a:effectLst/>
                            <a:latin typeface="Google Sans Tex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9321766"/>
                      </a:ext>
                    </a:extLst>
                  </a:tr>
                </a:tbl>
              </a:graphicData>
            </a:graphic>
          </p:graphicFrame>
        </mc:Choice>
        <mc:Fallback xmlns="">
          <p:graphicFrame>
            <p:nvGraphicFramePr>
              <p:cNvPr id="88" name="Table 26">
                <a:extLst>
                  <a:ext uri="{FF2B5EF4-FFF2-40B4-BE49-F238E27FC236}">
                    <a16:creationId xmlns:a16="http://schemas.microsoft.com/office/drawing/2014/main" id="{5B9CBA8E-CF8E-4E1B-BA57-0631695057F7}"/>
                  </a:ext>
                </a:extLst>
              </p:cNvPr>
              <p:cNvGraphicFramePr>
                <a:graphicFrameLocks noGrp="1"/>
              </p:cNvGraphicFramePr>
              <p:nvPr>
                <p:extLst>
                  <p:ext uri="{D42A27DB-BD31-4B8C-83A1-F6EECF244321}">
                    <p14:modId xmlns:p14="http://schemas.microsoft.com/office/powerpoint/2010/main" val="1869202623"/>
                  </p:ext>
                </p:extLst>
              </p:nvPr>
            </p:nvGraphicFramePr>
            <p:xfrm>
              <a:off x="4733975" y="5033980"/>
              <a:ext cx="3268761" cy="1463040"/>
            </p:xfrm>
            <a:graphic>
              <a:graphicData uri="http://schemas.openxmlformats.org/drawingml/2006/table">
                <a:tbl>
                  <a:tblPr firstRow="1" bandRow="1">
                    <a:tableStyleId>{5C22544A-7EE6-4342-B048-85BDC9FD1C3A}</a:tableStyleId>
                  </a:tblPr>
                  <a:tblGrid>
                    <a:gridCol w="305993">
                      <a:extLst>
                        <a:ext uri="{9D8B030D-6E8A-4147-A177-3AD203B41FA5}">
                          <a16:colId xmlns:a16="http://schemas.microsoft.com/office/drawing/2014/main" val="318303875"/>
                        </a:ext>
                      </a:extLst>
                    </a:gridCol>
                    <a:gridCol w="468008">
                      <a:extLst>
                        <a:ext uri="{9D8B030D-6E8A-4147-A177-3AD203B41FA5}">
                          <a16:colId xmlns:a16="http://schemas.microsoft.com/office/drawing/2014/main" val="1123812748"/>
                        </a:ext>
                      </a:extLst>
                    </a:gridCol>
                    <a:gridCol w="468008">
                      <a:extLst>
                        <a:ext uri="{9D8B030D-6E8A-4147-A177-3AD203B41FA5}">
                          <a16:colId xmlns:a16="http://schemas.microsoft.com/office/drawing/2014/main" val="1832624885"/>
                        </a:ext>
                      </a:extLst>
                    </a:gridCol>
                    <a:gridCol w="468008">
                      <a:extLst>
                        <a:ext uri="{9D8B030D-6E8A-4147-A177-3AD203B41FA5}">
                          <a16:colId xmlns:a16="http://schemas.microsoft.com/office/drawing/2014/main" val="3563629070"/>
                        </a:ext>
                      </a:extLst>
                    </a:gridCol>
                    <a:gridCol w="471805">
                      <a:extLst>
                        <a:ext uri="{9D8B030D-6E8A-4147-A177-3AD203B41FA5}">
                          <a16:colId xmlns:a16="http://schemas.microsoft.com/office/drawing/2014/main" val="2234934482"/>
                        </a:ext>
                      </a:extLst>
                    </a:gridCol>
                    <a:gridCol w="471805">
                      <a:extLst>
                        <a:ext uri="{9D8B030D-6E8A-4147-A177-3AD203B41FA5}">
                          <a16:colId xmlns:a16="http://schemas.microsoft.com/office/drawing/2014/main" val="1977225126"/>
                        </a:ext>
                      </a:extLst>
                    </a:gridCol>
                    <a:gridCol w="615134">
                      <a:extLst>
                        <a:ext uri="{9D8B030D-6E8A-4147-A177-3AD203B41FA5}">
                          <a16:colId xmlns:a16="http://schemas.microsoft.com/office/drawing/2014/main" val="606092842"/>
                        </a:ext>
                      </a:extLst>
                    </a:gridCol>
                  </a:tblGrid>
                  <a:tr h="243840">
                    <a:tc>
                      <a:txBody>
                        <a:bodyPr/>
                        <a:lstStyle/>
                        <a:p>
                          <a:pPr marL="0" algn="ctr" defTabSz="914400" rtl="0" eaLnBrk="1" latinLnBrk="0" hangingPunct="1"/>
                          <a:r>
                            <a:rPr lang="en-US" sz="1000" b="0" i="1" kern="1200" dirty="0">
                              <a:solidFill>
                                <a:schemeClr val="tx1"/>
                              </a:solidFill>
                              <a:effectLst/>
                              <a:latin typeface="Google Sans Text"/>
                              <a:ea typeface="+mn-ea"/>
                              <a:cs typeface="+mn-cs"/>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66234" t="-2500" r="-535065" b="-517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166234" t="-2500" r="-435065" b="-517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266234" t="-2500" r="-335065" b="-517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366234" t="-2500" r="-235065" b="-517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460256" t="-2500" r="-132051" b="-517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432673" t="-2500" r="-1980" b="-517500"/>
                          </a:stretch>
                        </a:blipFill>
                      </a:tcPr>
                    </a:tc>
                    <a:extLst>
                      <a:ext uri="{0D108BD9-81ED-4DB2-BD59-A6C34878D82A}">
                        <a16:rowId xmlns:a16="http://schemas.microsoft.com/office/drawing/2014/main" val="2882379504"/>
                      </a:ext>
                    </a:extLst>
                  </a:tr>
                  <a:tr h="243840">
                    <a:tc>
                      <a:txBody>
                        <a:bodyPr/>
                        <a:lstStyle/>
                        <a:p>
                          <a:pPr marL="0" algn="ctr" defTabSz="914400" rtl="0" eaLnBrk="1" latinLnBrk="0" hangingPunct="1"/>
                          <a:r>
                            <a:rPr lang="en-US" sz="1000" b="0" i="1" kern="1200" dirty="0">
                              <a:solidFill>
                                <a:schemeClr val="tx1"/>
                              </a:solidFill>
                              <a:effectLst/>
                              <a:latin typeface="Google Sans Text"/>
                              <a:ea typeface="+mn-ea"/>
                              <a:cs typeface="+mn-cs"/>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6178800"/>
                      </a:ext>
                    </a:extLst>
                  </a:tr>
                  <a:tr h="243840">
                    <a:tc>
                      <a:txBody>
                        <a:bodyPr/>
                        <a:lstStyle/>
                        <a:p>
                          <a:pPr marL="0" algn="ctr" defTabSz="914400" rtl="0" eaLnBrk="1" latinLnBrk="0" hangingPunct="1"/>
                          <a:r>
                            <a:rPr lang="en-US" sz="1000" b="0" i="1" kern="1200" dirty="0">
                              <a:solidFill>
                                <a:schemeClr val="tx1"/>
                              </a:solidFill>
                              <a:effectLst/>
                              <a:latin typeface="Google Sans Text"/>
                              <a:ea typeface="+mn-ea"/>
                              <a:cs typeface="+mn-cs"/>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66234" t="-197561" r="-535065" b="-3073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166234" t="-197561" r="-435065" b="-3073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266234" t="-197561" r="-335065" b="-3073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366234" t="-197561" r="-235065" b="-3073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460256" t="-197561" r="-132051" b="-30731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432673" t="-197561" r="-1980" b="-307317"/>
                          </a:stretch>
                        </a:blipFill>
                      </a:tcPr>
                    </a:tc>
                    <a:extLst>
                      <a:ext uri="{0D108BD9-81ED-4DB2-BD59-A6C34878D82A}">
                        <a16:rowId xmlns:a16="http://schemas.microsoft.com/office/drawing/2014/main" val="4209475717"/>
                      </a:ext>
                    </a:extLst>
                  </a:tr>
                  <a:tr h="243840">
                    <a:tc>
                      <a:txBody>
                        <a:bodyPr/>
                        <a:lstStyle/>
                        <a:p>
                          <a:pPr marL="0" algn="ctr" defTabSz="914400" rtl="0" eaLnBrk="1" latinLnBrk="0" hangingPunct="1"/>
                          <a:r>
                            <a:rPr lang="en-US" sz="1000" b="0" i="1" kern="1200" dirty="0">
                              <a:solidFill>
                                <a:schemeClr val="tx1"/>
                              </a:solidFill>
                              <a:effectLst/>
                              <a:latin typeface="Google Sans Text"/>
                              <a:ea typeface="+mn-ea"/>
                              <a:cs typeface="+mn-cs"/>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991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166234" t="-305000" r="-435065" b="-21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266234" t="-305000" r="-335065" b="-21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366234" t="-305000" r="-235065" b="-215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460256" t="-305000" r="-132051" b="-215000"/>
                          </a:stretch>
                        </a:blip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247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3621188"/>
                      </a:ext>
                    </a:extLst>
                  </a:tr>
                  <a:tr h="243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2000" t="-405000" r="-978000" b="-115000"/>
                          </a:stretch>
                        </a:blip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993063"/>
                      </a:ext>
                    </a:extLst>
                  </a:tr>
                  <a:tr h="243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4"/>
                          <a:stretch>
                            <a:fillRect l="-2000" t="-505000" r="-978000" b="-15000"/>
                          </a:stretch>
                        </a:blip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1000" b="0" i="1" kern="1200" dirty="0">
                              <a:solidFill>
                                <a:schemeClr val="tx1"/>
                              </a:solidFill>
                              <a:effectLst/>
                              <a:latin typeface="Google Sans Text"/>
                              <a:ea typeface="+mn-ea"/>
                              <a:cs typeface="+mn-cs"/>
                            </a:rPr>
                            <a:t>128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9321766"/>
                      </a:ext>
                    </a:extLst>
                  </a:tr>
                </a:tbl>
              </a:graphicData>
            </a:graphic>
          </p:graphicFrame>
        </mc:Fallback>
      </mc:AlternateContent>
      <p:sp>
        <p:nvSpPr>
          <p:cNvPr id="89" name="TextBox 88">
            <a:extLst>
              <a:ext uri="{FF2B5EF4-FFF2-40B4-BE49-F238E27FC236}">
                <a16:creationId xmlns:a16="http://schemas.microsoft.com/office/drawing/2014/main" id="{3366665B-DF25-4AB1-AA01-6C5849142B6B}"/>
              </a:ext>
            </a:extLst>
          </p:cNvPr>
          <p:cNvSpPr txBox="1"/>
          <p:nvPr/>
        </p:nvSpPr>
        <p:spPr>
          <a:xfrm>
            <a:off x="8124311" y="4973371"/>
            <a:ext cx="3775518" cy="1384995"/>
          </a:xfrm>
          <a:prstGeom prst="rect">
            <a:avLst/>
          </a:prstGeom>
          <a:noFill/>
        </p:spPr>
        <p:txBody>
          <a:bodyPr wrap="square">
            <a:spAutoFit/>
          </a:bodyPr>
          <a:lstStyle/>
          <a:p>
            <a:pPr algn="just"/>
            <a:r>
              <a:rPr lang="en-US" sz="1200" dirty="0" err="1">
                <a:latin typeface="Google Sans Text"/>
              </a:rPr>
              <a:t>SimplePIR</a:t>
            </a:r>
            <a:r>
              <a:rPr lang="en-US" sz="1200" dirty="0">
                <a:latin typeface="Google Sans Text"/>
              </a:rPr>
              <a:t> argues that the underlying Regev’s encryption stays secure for </a:t>
            </a:r>
            <a:r>
              <a:rPr lang="en-US" sz="1200" b="1" dirty="0">
                <a:latin typeface="Google Sans Text"/>
              </a:rPr>
              <a:t>unbounded</a:t>
            </a:r>
            <a:r>
              <a:rPr lang="en-US" sz="1200" dirty="0">
                <a:latin typeface="Google Sans Text"/>
              </a:rPr>
              <a:t> </a:t>
            </a:r>
            <a:r>
              <a:rPr lang="en-US" sz="1200" b="1" dirty="0">
                <a:latin typeface="Google Sans Text"/>
              </a:rPr>
              <a:t># queries</a:t>
            </a:r>
            <a:r>
              <a:rPr lang="en-US" sz="1200" dirty="0">
                <a:latin typeface="Google Sans Text"/>
              </a:rPr>
              <a:t> for the same </a:t>
            </a:r>
            <a:r>
              <a:rPr lang="en-US" sz="1200" i="1" dirty="0">
                <a:latin typeface="Google Sans Text"/>
              </a:rPr>
              <a:t>A</a:t>
            </a:r>
            <a:r>
              <a:rPr lang="en-US" sz="1200" dirty="0">
                <a:latin typeface="Google Sans Text"/>
              </a:rPr>
              <a:t>, given that every query uses a fresh secret</a:t>
            </a:r>
            <a:r>
              <a:rPr lang="en-US" sz="1200" i="1" dirty="0">
                <a:latin typeface="Google Sans Text"/>
              </a:rPr>
              <a:t> s </a:t>
            </a:r>
            <a:r>
              <a:rPr lang="en-US" sz="1200" dirty="0">
                <a:latin typeface="Google Sans Text"/>
              </a:rPr>
              <a:t>and error </a:t>
            </a:r>
            <a:r>
              <a:rPr lang="en-US" sz="1200" i="1" dirty="0">
                <a:latin typeface="Google Sans Text"/>
              </a:rPr>
              <a:t>e</a:t>
            </a:r>
            <a:r>
              <a:rPr lang="en-US" sz="1200" dirty="0">
                <a:latin typeface="Google Sans Text"/>
              </a:rPr>
              <a:t>.</a:t>
            </a:r>
          </a:p>
          <a:p>
            <a:pPr algn="just"/>
            <a:endParaRPr lang="en-US" sz="1200" dirty="0">
              <a:latin typeface="Google Sans Text"/>
            </a:endParaRPr>
          </a:p>
          <a:p>
            <a:pPr algn="just"/>
            <a:r>
              <a:rPr lang="en-US" altLang="zh-CN" sz="1200" dirty="0" err="1">
                <a:latin typeface="Google Sans Text"/>
              </a:rPr>
              <a:t>SimplePIR</a:t>
            </a:r>
            <a:r>
              <a:rPr lang="zh-CN" altLang="en-US" sz="1200" dirty="0">
                <a:latin typeface="Google Sans Text"/>
              </a:rPr>
              <a:t>认为，对于同一个</a:t>
            </a:r>
            <a:r>
              <a:rPr lang="en-US" altLang="zh-CN" sz="1200" dirty="0">
                <a:latin typeface="Google Sans Text"/>
              </a:rPr>
              <a:t>A</a:t>
            </a:r>
            <a:r>
              <a:rPr lang="zh-CN" altLang="en-US" sz="1200" dirty="0">
                <a:latin typeface="Google Sans Text"/>
              </a:rPr>
              <a:t>的无界</a:t>
            </a:r>
            <a:r>
              <a:rPr lang="en-US" altLang="zh-CN" sz="1200" dirty="0">
                <a:latin typeface="Google Sans Text"/>
              </a:rPr>
              <a:t>#</a:t>
            </a:r>
            <a:r>
              <a:rPr lang="zh-CN" altLang="en-US" sz="1200" dirty="0">
                <a:latin typeface="Google Sans Text"/>
              </a:rPr>
              <a:t>查询，底层</a:t>
            </a:r>
            <a:r>
              <a:rPr lang="en-US" altLang="zh-CN" sz="1200" dirty="0">
                <a:latin typeface="Google Sans Text"/>
              </a:rPr>
              <a:t>Regev</a:t>
            </a:r>
            <a:r>
              <a:rPr lang="zh-CN" altLang="en-US" sz="1200" dirty="0">
                <a:latin typeface="Google Sans Text"/>
              </a:rPr>
              <a:t>的加密是安全的，因为每个查询都使用一个新的秘密</a:t>
            </a:r>
            <a:r>
              <a:rPr lang="en-US" altLang="zh-CN" sz="1200" dirty="0">
                <a:latin typeface="Google Sans Text"/>
              </a:rPr>
              <a:t>s</a:t>
            </a:r>
            <a:r>
              <a:rPr lang="zh-CN" altLang="en-US" sz="1200" dirty="0">
                <a:latin typeface="Google Sans Text"/>
              </a:rPr>
              <a:t>和错误</a:t>
            </a:r>
            <a:r>
              <a:rPr lang="en-US" altLang="zh-CN" sz="1200" dirty="0">
                <a:latin typeface="Google Sans Text"/>
              </a:rPr>
              <a:t>e</a:t>
            </a:r>
            <a:r>
              <a:rPr lang="zh-CN" altLang="en-US" sz="1200" dirty="0">
                <a:latin typeface="Google Sans Text"/>
              </a:rPr>
              <a:t>。</a:t>
            </a:r>
            <a:endParaRPr lang="en-US" sz="1200" dirty="0">
              <a:latin typeface="Google Sans Text"/>
            </a:endParaRPr>
          </a:p>
        </p:txBody>
      </p:sp>
      <p:cxnSp>
        <p:nvCxnSpPr>
          <p:cNvPr id="47" name="Straight Connector 46">
            <a:extLst>
              <a:ext uri="{FF2B5EF4-FFF2-40B4-BE49-F238E27FC236}">
                <a16:creationId xmlns:a16="http://schemas.microsoft.com/office/drawing/2014/main" id="{93C122FA-5EA2-4F82-966F-9701E167B138}"/>
              </a:ext>
            </a:extLst>
          </p:cNvPr>
          <p:cNvCxnSpPr>
            <a:cxnSpLocks/>
          </p:cNvCxnSpPr>
          <p:nvPr/>
        </p:nvCxnSpPr>
        <p:spPr>
          <a:xfrm>
            <a:off x="482452" y="3709467"/>
            <a:ext cx="30570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91">
            <a:extLst>
              <a:ext uri="{FF2B5EF4-FFF2-40B4-BE49-F238E27FC236}">
                <a16:creationId xmlns:a16="http://schemas.microsoft.com/office/drawing/2014/main" id="{D2AC6F1F-2232-4C17-942A-858967342B79}"/>
              </a:ext>
            </a:extLst>
          </p:cNvPr>
          <p:cNvCxnSpPr>
            <a:cxnSpLocks/>
          </p:cNvCxnSpPr>
          <p:nvPr/>
        </p:nvCxnSpPr>
        <p:spPr>
          <a:xfrm>
            <a:off x="482452" y="4847517"/>
            <a:ext cx="30570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91">
            <a:extLst>
              <a:ext uri="{FF2B5EF4-FFF2-40B4-BE49-F238E27FC236}">
                <a16:creationId xmlns:a16="http://schemas.microsoft.com/office/drawing/2014/main" id="{1B90FE82-302E-47FA-8B12-480B2B1EFD93}"/>
              </a:ext>
            </a:extLst>
          </p:cNvPr>
          <p:cNvCxnSpPr>
            <a:cxnSpLocks/>
          </p:cNvCxnSpPr>
          <p:nvPr/>
        </p:nvCxnSpPr>
        <p:spPr>
          <a:xfrm>
            <a:off x="2024184" y="3429000"/>
            <a:ext cx="29947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Straight Connector 91">
            <a:extLst>
              <a:ext uri="{FF2B5EF4-FFF2-40B4-BE49-F238E27FC236}">
                <a16:creationId xmlns:a16="http://schemas.microsoft.com/office/drawing/2014/main" id="{0B97A5C8-C74D-40CF-A409-94ADE4723E1A}"/>
              </a:ext>
            </a:extLst>
          </p:cNvPr>
          <p:cNvCxnSpPr>
            <a:cxnSpLocks/>
          </p:cNvCxnSpPr>
          <p:nvPr/>
        </p:nvCxnSpPr>
        <p:spPr>
          <a:xfrm>
            <a:off x="482452" y="5365437"/>
            <a:ext cx="44546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475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9">
            <a:extLst>
              <a:ext uri="{FF2B5EF4-FFF2-40B4-BE49-F238E27FC236}">
                <a16:creationId xmlns:a16="http://schemas.microsoft.com/office/drawing/2014/main" id="{70FEF371-46A7-4FE8-9261-248F9E462C76}"/>
              </a:ext>
            </a:extLst>
          </p:cNvPr>
          <p:cNvSpPr txBox="1"/>
          <p:nvPr/>
        </p:nvSpPr>
        <p:spPr>
          <a:xfrm>
            <a:off x="1299594" y="183700"/>
            <a:ext cx="5436765" cy="429395"/>
          </a:xfrm>
          <a:prstGeom prst="rect">
            <a:avLst/>
          </a:prstGeom>
          <a:noFill/>
        </p:spPr>
        <p:txBody>
          <a:bodyPr wrap="square" lIns="68562" tIns="34281" rIns="68562" bIns="34281" rtlCol="0">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Cost comparison</a:t>
            </a:r>
            <a:endParaRPr lang="zh-CN" altLang="en-US" sz="2000" i="1"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0" name="组合 22">
            <a:extLst>
              <a:ext uri="{FF2B5EF4-FFF2-40B4-BE49-F238E27FC236}">
                <a16:creationId xmlns:a16="http://schemas.microsoft.com/office/drawing/2014/main" id="{36894D00-87FE-4D31-BA5A-50490172C574}"/>
              </a:ext>
            </a:extLst>
          </p:cNvPr>
          <p:cNvGrpSpPr/>
          <p:nvPr/>
        </p:nvGrpSpPr>
        <p:grpSpPr>
          <a:xfrm>
            <a:off x="11236541" y="460205"/>
            <a:ext cx="258653" cy="233204"/>
            <a:chOff x="3720691" y="2824413"/>
            <a:chExt cx="1341120" cy="1209172"/>
          </a:xfrm>
        </p:grpSpPr>
        <p:sp>
          <p:nvSpPr>
            <p:cNvPr id="12" name="Freeform 5">
              <a:extLst>
                <a:ext uri="{FF2B5EF4-FFF2-40B4-BE49-F238E27FC236}">
                  <a16:creationId xmlns:a16="http://schemas.microsoft.com/office/drawing/2014/main" id="{AC4F9923-5BA1-4819-A43B-EF3B3B2E4EF6}"/>
                </a:ext>
              </a:extLst>
            </p:cNvPr>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a16="http://schemas.microsoft.com/office/drawing/2014/main" id="{B659F423-8712-4D6F-BD44-63A7415EDFC8}"/>
                </a:ext>
              </a:extLst>
            </p:cNvPr>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91416" tIns="45708" rIns="91416" bIns="45708" numCol="1" anchor="t" anchorCtr="0" compatLnSpc="1"/>
            <a:lstStyle/>
            <a:p>
              <a:endParaRPr lang="zh-CN" altLang="en-US" sz="1800">
                <a:latin typeface="微软雅黑" panose="020B0503020204020204" pitchFamily="34" charset="-122"/>
                <a:ea typeface="微软雅黑" panose="020B0503020204020204" pitchFamily="34" charset="-122"/>
              </a:endParaRPr>
            </a:p>
          </p:txBody>
        </p:sp>
      </p:grpSp>
      <p:sp>
        <p:nvSpPr>
          <p:cNvPr id="14" name="矩形 2">
            <a:extLst>
              <a:ext uri="{FF2B5EF4-FFF2-40B4-BE49-F238E27FC236}">
                <a16:creationId xmlns:a16="http://schemas.microsoft.com/office/drawing/2014/main" id="{FCF7214D-3ED7-451C-8678-D817485AD135}"/>
              </a:ext>
            </a:extLst>
          </p:cNvPr>
          <p:cNvSpPr/>
          <p:nvPr/>
        </p:nvSpPr>
        <p:spPr>
          <a:xfrm>
            <a:off x="1336524" y="704336"/>
            <a:ext cx="9721437" cy="45719"/>
          </a:xfrm>
          <a:prstGeom prst="rect">
            <a:avLst/>
          </a:prstGeom>
          <a:solidFill>
            <a:srgbClr val="1C9B78"/>
          </a:solidFill>
          <a:ln>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3" descr="重庆邮电大学标准校徽 (1)">
            <a:extLst>
              <a:ext uri="{FF2B5EF4-FFF2-40B4-BE49-F238E27FC236}">
                <a16:creationId xmlns:a16="http://schemas.microsoft.com/office/drawing/2014/main" id="{BD11E5BD-9DEE-4266-904F-9E5BC2A1DD26}"/>
              </a:ext>
            </a:extLst>
          </p:cNvPr>
          <p:cNvPicPr>
            <a:picLocks noChangeAspect="1"/>
          </p:cNvPicPr>
          <p:nvPr/>
        </p:nvPicPr>
        <p:blipFill>
          <a:blip r:embed="rId3"/>
          <a:stretch>
            <a:fillRect/>
          </a:stretch>
        </p:blipFill>
        <p:spPr>
          <a:xfrm>
            <a:off x="549659" y="190896"/>
            <a:ext cx="612897" cy="612897"/>
          </a:xfrm>
          <a:prstGeom prst="rect">
            <a:avLst/>
          </a:prstGeom>
        </p:spPr>
      </p:pic>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6F98ECF-0BB2-4B80-A454-5BE78E245A37}"/>
                  </a:ext>
                </a:extLst>
              </p:cNvPr>
              <p:cNvSpPr txBox="1"/>
              <p:nvPr/>
            </p:nvSpPr>
            <p:spPr>
              <a:xfrm>
                <a:off x="4158953" y="58005"/>
                <a:ext cx="3359923" cy="646331"/>
              </a:xfrm>
              <a:prstGeom prst="rect">
                <a:avLst/>
              </a:prstGeom>
              <a:noFill/>
            </p:spPr>
            <p:txBody>
              <a:bodyPr wrap="square">
                <a:spAutoFit/>
              </a:bodyPr>
              <a:lstStyle/>
              <a:p>
                <a:pPr algn="just"/>
                <a:r>
                  <a:rPr lang="en-US" sz="1200" i="1" dirty="0"/>
                  <a:t>q, n, p - </a:t>
                </a:r>
                <a:r>
                  <a:rPr lang="ru-RU" sz="1200" i="1" dirty="0"/>
                  <a:t> </a:t>
                </a:r>
                <a:r>
                  <a:rPr lang="en-US" sz="1200" i="1" dirty="0"/>
                  <a:t>the LWE security parameter</a:t>
                </a:r>
              </a:p>
              <a:p>
                <a:pPr algn="just"/>
                <a:r>
                  <a:rPr lang="en-US" sz="1200" i="1" dirty="0"/>
                  <a:t>N / m – </a:t>
                </a:r>
                <a:r>
                  <a:rPr lang="en-US" sz="1200" dirty="0"/>
                  <a:t>the total number of elements in database</a:t>
                </a:r>
              </a:p>
              <a:p>
                <a:pPr algn="just"/>
                <a14:m>
                  <m:oMath xmlns:m="http://schemas.openxmlformats.org/officeDocument/2006/math">
                    <m:r>
                      <a:rPr lang="en-US" sz="1200" i="1" smtClean="0">
                        <a:latin typeface="Cambria Math" panose="02040503050406030204" pitchFamily="18" charset="0"/>
                        <a:ea typeface="Cambria Math" panose="02040503050406030204" pitchFamily="18" charset="0"/>
                      </a:rPr>
                      <m:t>𝜔</m:t>
                    </m:r>
                    <m:r>
                      <a:rPr lang="en-US" sz="1200" b="0" i="1" smtClean="0">
                        <a:latin typeface="Cambria Math" panose="02040503050406030204" pitchFamily="18" charset="0"/>
                        <a:ea typeface="Cambria Math" panose="02040503050406030204" pitchFamily="18" charset="0"/>
                      </a:rPr>
                      <m:t> </m:t>
                    </m:r>
                  </m:oMath>
                </a14:m>
                <a:r>
                  <a:rPr lang="en-US" sz="1200" i="1" dirty="0"/>
                  <a:t>– elements length in bits</a:t>
                </a:r>
              </a:p>
            </p:txBody>
          </p:sp>
        </mc:Choice>
        <mc:Fallback xmlns="">
          <p:sp>
            <p:nvSpPr>
              <p:cNvPr id="84" name="TextBox 83">
                <a:extLst>
                  <a:ext uri="{FF2B5EF4-FFF2-40B4-BE49-F238E27FC236}">
                    <a16:creationId xmlns:a16="http://schemas.microsoft.com/office/drawing/2014/main" id="{76F98ECF-0BB2-4B80-A454-5BE78E245A37}"/>
                  </a:ext>
                </a:extLst>
              </p:cNvPr>
              <p:cNvSpPr txBox="1">
                <a:spLocks noRot="1" noChangeAspect="1" noMove="1" noResize="1" noEditPoints="1" noAdjustHandles="1" noChangeArrowheads="1" noChangeShapeType="1" noTextEdit="1"/>
              </p:cNvSpPr>
              <p:nvPr/>
            </p:nvSpPr>
            <p:spPr>
              <a:xfrm>
                <a:off x="4158953" y="58005"/>
                <a:ext cx="3359923" cy="646331"/>
              </a:xfrm>
              <a:prstGeom prst="rect">
                <a:avLst/>
              </a:prstGeom>
              <a:blipFill>
                <a:blip r:embed="rId4"/>
                <a:stretch>
                  <a:fillRect t="-943"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BC574E99-0A84-4EC4-B028-5E7B64686F96}"/>
                  </a:ext>
                </a:extLst>
              </p:cNvPr>
              <p:cNvGraphicFramePr>
                <a:graphicFrameLocks noGrp="1"/>
              </p:cNvGraphicFramePr>
              <p:nvPr>
                <p:extLst>
                  <p:ext uri="{D42A27DB-BD31-4B8C-83A1-F6EECF244321}">
                    <p14:modId xmlns:p14="http://schemas.microsoft.com/office/powerpoint/2010/main" val="2526136546"/>
                  </p:ext>
                </p:extLst>
              </p:nvPr>
            </p:nvGraphicFramePr>
            <p:xfrm>
              <a:off x="549659" y="937768"/>
              <a:ext cx="10893287" cy="1310768"/>
            </p:xfrm>
            <a:graphic>
              <a:graphicData uri="http://schemas.openxmlformats.org/drawingml/2006/table">
                <a:tbl>
                  <a:tblPr/>
                  <a:tblGrid>
                    <a:gridCol w="1179130">
                      <a:extLst>
                        <a:ext uri="{9D8B030D-6E8A-4147-A177-3AD203B41FA5}">
                          <a16:colId xmlns:a16="http://schemas.microsoft.com/office/drawing/2014/main" val="2541077639"/>
                        </a:ext>
                      </a:extLst>
                    </a:gridCol>
                    <a:gridCol w="1544191">
                      <a:extLst>
                        <a:ext uri="{9D8B030D-6E8A-4147-A177-3AD203B41FA5}">
                          <a16:colId xmlns:a16="http://schemas.microsoft.com/office/drawing/2014/main" val="3598681154"/>
                        </a:ext>
                      </a:extLst>
                    </a:gridCol>
                    <a:gridCol w="1361661">
                      <a:extLst>
                        <a:ext uri="{9D8B030D-6E8A-4147-A177-3AD203B41FA5}">
                          <a16:colId xmlns:a16="http://schemas.microsoft.com/office/drawing/2014/main" val="1194631493"/>
                        </a:ext>
                      </a:extLst>
                    </a:gridCol>
                    <a:gridCol w="1361661">
                      <a:extLst>
                        <a:ext uri="{9D8B030D-6E8A-4147-A177-3AD203B41FA5}">
                          <a16:colId xmlns:a16="http://schemas.microsoft.com/office/drawing/2014/main" val="2854556886"/>
                        </a:ext>
                      </a:extLst>
                    </a:gridCol>
                    <a:gridCol w="1361661">
                      <a:extLst>
                        <a:ext uri="{9D8B030D-6E8A-4147-A177-3AD203B41FA5}">
                          <a16:colId xmlns:a16="http://schemas.microsoft.com/office/drawing/2014/main" val="3876806972"/>
                        </a:ext>
                      </a:extLst>
                    </a:gridCol>
                    <a:gridCol w="1361661">
                      <a:extLst>
                        <a:ext uri="{9D8B030D-6E8A-4147-A177-3AD203B41FA5}">
                          <a16:colId xmlns:a16="http://schemas.microsoft.com/office/drawing/2014/main" val="1343128073"/>
                        </a:ext>
                      </a:extLst>
                    </a:gridCol>
                    <a:gridCol w="1361661">
                      <a:extLst>
                        <a:ext uri="{9D8B030D-6E8A-4147-A177-3AD203B41FA5}">
                          <a16:colId xmlns:a16="http://schemas.microsoft.com/office/drawing/2014/main" val="3089596362"/>
                        </a:ext>
                      </a:extLst>
                    </a:gridCol>
                    <a:gridCol w="1361661">
                      <a:extLst>
                        <a:ext uri="{9D8B030D-6E8A-4147-A177-3AD203B41FA5}">
                          <a16:colId xmlns:a16="http://schemas.microsoft.com/office/drawing/2014/main" val="485145755"/>
                        </a:ext>
                      </a:extLst>
                    </a:gridCol>
                  </a:tblGrid>
                  <a:tr h="0">
                    <a:tc>
                      <a:txBody>
                        <a:bodyPr/>
                        <a:lstStyle/>
                        <a:p>
                          <a:pPr algn="ctr"/>
                          <a:r>
                            <a:rPr lang="en-US" sz="900" b="1" dirty="0">
                              <a:effectLst/>
                              <a:latin typeface="Google Sans Text"/>
                            </a:rPr>
                            <a:t>Approach</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a:effectLst/>
                              <a:latin typeface="Google Sans Text"/>
                            </a:rPr>
                            <a:t>Phase</a:t>
                          </a:r>
                          <a:endParaRPr lang="en-US" sz="9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Client Comm. (Up/Download)</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Client Computation</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Client Storage</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Server Communication</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Server Computation</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Server Storage</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3102979"/>
                      </a:ext>
                    </a:extLst>
                  </a:tr>
                  <a:tr h="0">
                    <a:tc rowSpan="2">
                      <a:txBody>
                        <a:bodyPr/>
                        <a:lstStyle/>
                        <a:p>
                          <a:pPr algn="ctr"/>
                          <a:r>
                            <a:rPr lang="en-US" sz="900" b="0" dirty="0" err="1">
                              <a:effectLst/>
                              <a:latin typeface="Google Sans Text"/>
                            </a:rPr>
                            <a:t>FrodoPIR</a:t>
                          </a:r>
                          <a:endParaRPr lang="en-US" sz="900" b="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0" i="1">
                              <a:effectLst/>
                              <a:latin typeface="Google Sans Text"/>
                            </a:rPr>
                            <a:t>Offline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Google Sans Text"/>
                            </a:rPr>
                            <a:t>- / </a:t>
                          </a:r>
                          <a14:m>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
                                <m:rPr>
                                  <m:nor/>
                                </m:rPr>
                                <a:rPr lang="el-GR" sz="900" i="1" smtClean="0">
                                  <a:effectLst/>
                                </a:rPr>
                                <m:t>λ</m:t>
                              </m:r>
                              <m:r>
                                <a:rPr lang="en-US" sz="900" b="0" i="1" smtClean="0">
                                  <a:effectLst/>
                                  <a:latin typeface="Cambria Math" panose="02040503050406030204" pitchFamily="18" charset="0"/>
                                </a:rPr>
                                <m:t>+</m:t>
                              </m:r>
                              <m:r>
                                <a:rPr lang="en-US" sz="900" b="0" i="1" smtClean="0">
                                  <a:effectLst/>
                                  <a:latin typeface="Cambria Math" panose="02040503050406030204" pitchFamily="18" charset="0"/>
                                </a:rPr>
                                <m:t>𝑛</m:t>
                              </m:r>
                              <m:r>
                                <a:rPr lang="en-US" sz="900" i="1" smtClean="0">
                                  <a:latin typeface="Cambria Math" panose="02040503050406030204" pitchFamily="18" charset="0"/>
                                  <a:ea typeface="Cambria Math" panose="02040503050406030204" pitchFamily="18" charset="0"/>
                                </a:rPr>
                                <m:t>𝜔</m:t>
                              </m:r>
                              <m:r>
                                <a:rPr lang="en-US" sz="900" b="0" i="1" smtClean="0">
                                  <a:effectLst/>
                                  <a:latin typeface="Cambria Math" panose="02040503050406030204" pitchFamily="18" charset="0"/>
                                </a:rPr>
                                <m:t>)</m:t>
                              </m:r>
                            </m:oMath>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
                                  <a:rPr lang="en-US" sz="900" b="0" i="1" smtClean="0">
                                    <a:effectLst/>
                                    <a:latin typeface="Cambria Math" panose="02040503050406030204" pitchFamily="18" charset="0"/>
                                  </a:rPr>
                                  <m:t>𝑛𝑁</m:t>
                                </m:r>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
                                  <m:rPr>
                                    <m:nor/>
                                  </m:rPr>
                                  <a:rPr lang="el-GR" sz="900" i="1" smtClean="0">
                                    <a:effectLst/>
                                  </a:rPr>
                                  <m:t>λ</m:t>
                                </m:r>
                                <m:r>
                                  <a:rPr lang="en-US" sz="900" b="0" i="1" smtClean="0">
                                    <a:effectLst/>
                                    <a:latin typeface="Cambria Math" panose="02040503050406030204" pitchFamily="18" charset="0"/>
                                  </a:rPr>
                                  <m:t>+</m:t>
                                </m:r>
                                <m:r>
                                  <a:rPr lang="en-US" sz="900" b="0" i="1" smtClean="0">
                                    <a:effectLst/>
                                    <a:latin typeface="Cambria Math" panose="02040503050406030204" pitchFamily="18" charset="0"/>
                                  </a:rPr>
                                  <m:t>𝑛</m:t>
                                </m:r>
                                <m:r>
                                  <a:rPr lang="en-US" sz="900" i="1" smtClean="0">
                                    <a:latin typeface="Cambria Math" panose="02040503050406030204" pitchFamily="18" charset="0"/>
                                    <a:ea typeface="Cambria Math" panose="02040503050406030204" pitchFamily="18" charset="0"/>
                                  </a:rPr>
                                  <m:t>𝜔</m:t>
                                </m:r>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
                                  <m:rPr>
                                    <m:nor/>
                                  </m:rPr>
                                  <a:rPr lang="el-GR" sz="900" i="1" smtClean="0">
                                    <a:effectLst/>
                                  </a:rPr>
                                  <m:t>λ</m:t>
                                </m:r>
                                <m:r>
                                  <a:rPr lang="en-US" sz="900" b="0" i="1" smtClean="0">
                                    <a:effectLst/>
                                    <a:latin typeface="Cambria Math" panose="02040503050406030204" pitchFamily="18" charset="0"/>
                                  </a:rPr>
                                  <m:t>+</m:t>
                                </m:r>
                                <m:r>
                                  <a:rPr lang="en-US" sz="900" b="0" i="1" smtClean="0">
                                    <a:effectLst/>
                                    <a:latin typeface="Cambria Math" panose="02040503050406030204" pitchFamily="18" charset="0"/>
                                  </a:rPr>
                                  <m:t>𝑛</m:t>
                                </m:r>
                                <m:r>
                                  <a:rPr lang="en-US" sz="900" i="1" smtClean="0">
                                    <a:latin typeface="Cambria Math" panose="02040503050406030204" pitchFamily="18" charset="0"/>
                                    <a:ea typeface="Cambria Math" panose="02040503050406030204" pitchFamily="18" charset="0"/>
                                  </a:rPr>
                                  <m:t>𝜔</m:t>
                                </m:r>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i="1" smtClean="0">
                                    <a:latin typeface="Cambria Math" panose="02040503050406030204" pitchFamily="18" charset="0"/>
                                    <a:ea typeface="Cambria Math" panose="02040503050406030204" pitchFamily="18" charset="0"/>
                                  </a:rPr>
                                  <m:t>𝑂</m:t>
                                </m:r>
                                <m:r>
                                  <a:rPr lang="en-US" sz="900" i="1" smtClean="0">
                                    <a:latin typeface="Cambria Math" panose="02040503050406030204" pitchFamily="18" charset="0"/>
                                    <a:ea typeface="Cambria Math" panose="02040503050406030204" pitchFamily="18" charset="0"/>
                                  </a:rPr>
                                  <m:t>(2</m:t>
                                </m:r>
                                <m:r>
                                  <a:rPr lang="en-US" sz="900" b="0" i="1" smtClean="0">
                                    <a:latin typeface="Cambria Math" panose="02040503050406030204" pitchFamily="18" charset="0"/>
                                    <a:ea typeface="Cambria Math" panose="02040503050406030204" pitchFamily="18" charset="0"/>
                                  </a:rPr>
                                  <m:t>𝑛𝑁</m:t>
                                </m:r>
                                <m:r>
                                  <a:rPr lang="en-US" sz="900" b="0" i="1" smtClean="0">
                                    <a:latin typeface="Cambria Math" panose="02040503050406030204" pitchFamily="18" charset="0"/>
                                    <a:ea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
                                  <a:rPr lang="en-US" sz="900" b="0" i="1" smtClean="0">
                                    <a:effectLst/>
                                    <a:latin typeface="Cambria Math" panose="02040503050406030204" pitchFamily="18" charset="0"/>
                                  </a:rPr>
                                  <m:t>𝑁</m:t>
                                </m:r>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0987455"/>
                      </a:ext>
                    </a:extLst>
                  </a:tr>
                  <a:tr h="0">
                    <a:tc vMerge="1">
                      <a:txBody>
                        <a:bodyPr/>
                        <a:lstStyle/>
                        <a:p>
                          <a:endParaRPr lang="en-US" sz="12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0" i="1" dirty="0">
                              <a:effectLst/>
                              <a:latin typeface="Google Sans Text"/>
                            </a:rPr>
                            <a:t>Online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
                                <a:rPr lang="en-US" sz="900" b="0" i="1" smtClean="0">
                                  <a:effectLst/>
                                  <a:latin typeface="Cambria Math" panose="02040503050406030204" pitchFamily="18" charset="0"/>
                                </a:rPr>
                                <m:t>𝑁</m:t>
                              </m:r>
                            </m:oMath>
                          </a14:m>
                          <a:r>
                            <a:rPr lang="en-US" sz="900" i="1" dirty="0">
                              <a:effectLst/>
                              <a:latin typeface="Google Sans Text"/>
                            </a:rPr>
                            <a:t>) / </a:t>
                          </a:r>
                          <a14:m>
                            <m:oMath xmlns:m="http://schemas.openxmlformats.org/officeDocument/2006/math">
                              <m:r>
                                <a:rPr lang="en-US" sz="900" b="0" i="1" smtClean="0">
                                  <a:latin typeface="Cambria Math" panose="02040503050406030204" pitchFamily="18" charset="0"/>
                                  <a:ea typeface="Cambria Math" panose="02040503050406030204" pitchFamily="18" charset="0"/>
                                </a:rPr>
                                <m:t>𝑂</m:t>
                              </m:r>
                              <m:r>
                                <a:rPr lang="en-US" sz="900" b="0" i="1" smtClean="0">
                                  <a:latin typeface="Cambria Math" panose="02040503050406030204" pitchFamily="18" charset="0"/>
                                  <a:ea typeface="Cambria Math" panose="02040503050406030204" pitchFamily="18" charset="0"/>
                                </a:rPr>
                                <m:t>(1)</m:t>
                              </m:r>
                            </m:oMath>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(1)</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latin typeface="Cambria Math" panose="02040503050406030204" pitchFamily="18" charset="0"/>
                                    <a:ea typeface="Cambria Math" panose="02040503050406030204" pitchFamily="18" charset="0"/>
                                  </a:rPr>
                                  <m:t>𝑂</m:t>
                                </m:r>
                                <m:r>
                                  <a:rPr lang="en-US" sz="900" b="0" i="1" smtClean="0">
                                    <a:latin typeface="Cambria Math" panose="02040503050406030204" pitchFamily="18" charset="0"/>
                                    <a:ea typeface="Cambria Math" panose="02040503050406030204" pitchFamily="18" charset="0"/>
                                  </a:rPr>
                                  <m:t>(1)</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i="1">
                                    <a:latin typeface="Cambria Math" panose="02040503050406030204" pitchFamily="18" charset="0"/>
                                    <a:ea typeface="Cambria Math" panose="02040503050406030204" pitchFamily="18" charset="0"/>
                                  </a:rPr>
                                  <m:t>𝑂</m:t>
                                </m:r>
                                <m:r>
                                  <a:rPr lang="en-US" sz="900" i="1">
                                    <a:latin typeface="Cambria Math" panose="02040503050406030204" pitchFamily="18" charset="0"/>
                                    <a:ea typeface="Cambria Math" panose="02040503050406030204" pitchFamily="18" charset="0"/>
                                  </a:rPr>
                                  <m:t>(2</m:t>
                                </m:r>
                                <m:r>
                                  <a:rPr lang="en-US" sz="900" b="0" i="1" smtClean="0">
                                    <a:latin typeface="Cambria Math" panose="02040503050406030204" pitchFamily="18" charset="0"/>
                                    <a:ea typeface="Cambria Math" panose="02040503050406030204" pitchFamily="18" charset="0"/>
                                  </a:rPr>
                                  <m:t>𝑁</m:t>
                                </m:r>
                                <m:r>
                                  <a:rPr lang="en-US" sz="900" b="0" i="1" smtClean="0">
                                    <a:latin typeface="Cambria Math" panose="02040503050406030204" pitchFamily="18" charset="0"/>
                                    <a:ea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6012460"/>
                      </a:ext>
                    </a:extLst>
                  </a:tr>
                  <a:tr h="0">
                    <a:tc rowSpan="2">
                      <a:txBody>
                        <a:bodyPr/>
                        <a:lstStyle/>
                        <a:p>
                          <a:pPr algn="ctr"/>
                          <a:r>
                            <a:rPr lang="en-US" sz="900" b="0" dirty="0" err="1">
                              <a:effectLst/>
                              <a:latin typeface="Google Sans Text"/>
                            </a:rPr>
                            <a:t>SimplePIR</a:t>
                          </a:r>
                          <a:endParaRPr lang="en-US" sz="900" b="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i="1" dirty="0">
                              <a:effectLst/>
                              <a:latin typeface="Google Sans Text"/>
                            </a:rPr>
                            <a:t>Offline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i="1" dirty="0">
                              <a:effectLst/>
                              <a:latin typeface="Google Sans Text"/>
                            </a:rPr>
                            <a:t>- / </a:t>
                          </a:r>
                          <a14:m>
                            <m:oMath xmlns:m="http://schemas.openxmlformats.org/officeDocument/2006/math">
                              <m:r>
                                <a:rPr lang="en-US" sz="900" b="0" i="1" smtClean="0">
                                  <a:effectLst/>
                                  <a:latin typeface="Cambria Math" panose="02040503050406030204" pitchFamily="18" charset="0"/>
                                </a:rPr>
                                <m:t> </m:t>
                              </m:r>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
                                <a:rPr lang="en-US" sz="900" b="0" i="1" smtClean="0">
                                  <a:effectLst/>
                                  <a:latin typeface="Cambria Math" panose="02040503050406030204" pitchFamily="18" charset="0"/>
                                </a:rPr>
                                <m:t>𝑛</m:t>
                              </m:r>
                              <m:rad>
                                <m:radPr>
                                  <m:degHide m:val="on"/>
                                  <m:ctrlPr>
                                    <a:rPr lang="en-US" sz="900" b="0" i="1" smtClean="0">
                                      <a:effectLst/>
                                      <a:latin typeface="Cambria Math" panose="02040503050406030204" pitchFamily="18" charset="0"/>
                                    </a:rPr>
                                  </m:ctrlPr>
                                </m:radPr>
                                <m:deg/>
                                <m:e>
                                  <m:r>
                                    <a:rPr lang="en-US" sz="900" b="0" i="1" smtClean="0">
                                      <a:effectLst/>
                                      <a:latin typeface="Cambria Math" panose="02040503050406030204" pitchFamily="18" charset="0"/>
                                    </a:rPr>
                                    <m:t>𝑁</m:t>
                                  </m:r>
                                </m:e>
                              </m:rad>
                              <m:r>
                                <a:rPr lang="en-US" sz="900" b="0" i="1" smtClean="0">
                                  <a:effectLst/>
                                  <a:latin typeface="Cambria Math" panose="02040503050406030204" pitchFamily="18" charset="0"/>
                                </a:rPr>
                                <m:t>)</m:t>
                              </m:r>
                            </m:oMath>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900" i="1" smtClean="0">
                                    <a:latin typeface="Cambria Math" panose="02040503050406030204" pitchFamily="18" charset="0"/>
                                    <a:ea typeface="Cambria Math" panose="02040503050406030204" pitchFamily="18" charset="0"/>
                                  </a:rPr>
                                  <m:t>𝑂</m:t>
                                </m:r>
                                <m:r>
                                  <a:rPr lang="en-US" sz="900" i="1" smtClean="0">
                                    <a:latin typeface="Cambria Math" panose="02040503050406030204" pitchFamily="18" charset="0"/>
                                    <a:ea typeface="Cambria Math" panose="02040503050406030204" pitchFamily="18" charset="0"/>
                                  </a:rPr>
                                  <m:t>(2</m:t>
                                </m:r>
                                <m:r>
                                  <a:rPr lang="en-US" sz="900" b="0" i="1" smtClean="0">
                                    <a:latin typeface="Cambria Math" panose="02040503050406030204" pitchFamily="18" charset="0"/>
                                    <a:ea typeface="Cambria Math" panose="02040503050406030204" pitchFamily="18" charset="0"/>
                                  </a:rPr>
                                  <m:t>𝑛</m:t>
                                </m:r>
                                <m:rad>
                                  <m:radPr>
                                    <m:degHide m:val="on"/>
                                    <m:ctrlPr>
                                      <a:rPr lang="en-US" sz="900" i="1">
                                        <a:latin typeface="Cambria Math" panose="02040503050406030204" pitchFamily="18" charset="0"/>
                                      </a:rPr>
                                    </m:ctrlPr>
                                  </m:radPr>
                                  <m:deg/>
                                  <m:e>
                                    <m:r>
                                      <a:rPr lang="en-US" sz="900" i="1">
                                        <a:latin typeface="Cambria Math" panose="02040503050406030204" pitchFamily="18" charset="0"/>
                                      </a:rPr>
                                      <m:t>𝑁</m:t>
                                    </m:r>
                                  </m:e>
                                </m:rad>
                                <m:r>
                                  <a:rPr lang="en-US" sz="900" i="1">
                                    <a:latin typeface="Cambria Math" panose="02040503050406030204" pitchFamily="18" charset="0"/>
                                    <a:ea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𝑛</m:t>
                                </m:r>
                                <m:rad>
                                  <m:radPr>
                                    <m:degHide m:val="on"/>
                                    <m:ctrlPr>
                                      <a:rPr lang="en-US" sz="900" b="0" i="1" smtClean="0">
                                        <a:effectLst/>
                                        <a:latin typeface="Cambria Math" panose="02040503050406030204" pitchFamily="18" charset="0"/>
                                      </a:rPr>
                                    </m:ctrlPr>
                                  </m:radPr>
                                  <m:deg/>
                                  <m:e>
                                    <m:r>
                                      <a:rPr lang="en-US" sz="900" b="0" i="1" smtClean="0">
                                        <a:effectLst/>
                                        <a:latin typeface="Cambria Math" panose="02040503050406030204" pitchFamily="18" charset="0"/>
                                      </a:rPr>
                                      <m:t>𝑁</m:t>
                                    </m:r>
                                  </m:e>
                                </m:rad>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
                                  <a:rPr lang="en-US" sz="900" b="0" i="1" smtClean="0">
                                    <a:effectLst/>
                                    <a:latin typeface="Cambria Math" panose="02040503050406030204" pitchFamily="18" charset="0"/>
                                  </a:rPr>
                                  <m:t>𝑛</m:t>
                                </m:r>
                                <m:rad>
                                  <m:radPr>
                                    <m:degHide m:val="on"/>
                                    <m:ctrlPr>
                                      <a:rPr lang="en-US" sz="900" b="0" i="1" smtClean="0">
                                        <a:effectLst/>
                                        <a:latin typeface="Cambria Math" panose="02040503050406030204" pitchFamily="18" charset="0"/>
                                      </a:rPr>
                                    </m:ctrlPr>
                                  </m:radPr>
                                  <m:deg/>
                                  <m:e>
                                    <m:r>
                                      <a:rPr lang="en-US" sz="900" b="0" i="1" smtClean="0">
                                        <a:effectLst/>
                                        <a:latin typeface="Cambria Math" panose="02040503050406030204" pitchFamily="18" charset="0"/>
                                      </a:rPr>
                                      <m:t>𝑁</m:t>
                                    </m:r>
                                  </m:e>
                                </m:rad>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(2</m:t>
                                </m:r>
                                <m:r>
                                  <a:rPr lang="en-US" sz="900" b="0" i="1" smtClean="0">
                                    <a:effectLst/>
                                    <a:latin typeface="Cambria Math" panose="02040503050406030204" pitchFamily="18" charset="0"/>
                                  </a:rPr>
                                  <m:t>𝑛𝑁</m:t>
                                </m:r>
                                <m:r>
                                  <a:rPr lang="en-US" sz="900" b="0" i="1" smtClean="0">
                                    <a:effectLst/>
                                    <a:latin typeface="Cambria Math" panose="02040503050406030204" pitchFamily="18" charset="0"/>
                                    <a:ea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
                                  <a:rPr lang="en-US" sz="900" b="0" i="1" smtClean="0">
                                    <a:effectLst/>
                                    <a:latin typeface="Cambria Math" panose="02040503050406030204" pitchFamily="18" charset="0"/>
                                  </a:rPr>
                                  <m:t>𝑁</m:t>
                                </m:r>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4831382"/>
                      </a:ext>
                    </a:extLst>
                  </a:tr>
                  <a:tr h="0">
                    <a:tc vMerge="1">
                      <a:txBody>
                        <a:bodyPr/>
                        <a:lstStyle/>
                        <a:p>
                          <a:endParaRPr lang="en-US" sz="12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i="1" dirty="0">
                              <a:effectLst/>
                              <a:latin typeface="Google Sans Text"/>
                            </a:rPr>
                            <a:t>Online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ad>
                                <m:radPr>
                                  <m:degHide m:val="on"/>
                                  <m:ctrlPr>
                                    <a:rPr lang="en-US" sz="900" b="0" i="1" smtClean="0">
                                      <a:effectLst/>
                                      <a:latin typeface="Cambria Math" panose="02040503050406030204" pitchFamily="18" charset="0"/>
                                    </a:rPr>
                                  </m:ctrlPr>
                                </m:radPr>
                                <m:deg/>
                                <m:e>
                                  <m:r>
                                    <a:rPr lang="en-US" sz="900" b="0" i="1" smtClean="0">
                                      <a:effectLst/>
                                      <a:latin typeface="Cambria Math" panose="02040503050406030204" pitchFamily="18" charset="0"/>
                                    </a:rPr>
                                    <m:t>𝑁</m:t>
                                  </m:r>
                                </m:e>
                              </m:rad>
                              <m:r>
                                <a:rPr lang="en-US" sz="900" b="0" i="1" smtClean="0">
                                  <a:effectLst/>
                                  <a:latin typeface="Cambria Math" panose="02040503050406030204" pitchFamily="18" charset="0"/>
                                </a:rPr>
                                <m:t>)</m:t>
                              </m:r>
                            </m:oMath>
                          </a14:m>
                          <a:r>
                            <a:rPr lang="en-US" sz="900" b="0" i="1" baseline="0" dirty="0">
                              <a:effectLst/>
                              <a:latin typeface="+mn-lt"/>
                            </a:rPr>
                            <a:t> / </a:t>
                          </a:r>
                          <a14:m>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ad>
                                <m:radPr>
                                  <m:degHide m:val="on"/>
                                  <m:ctrlPr>
                                    <a:rPr lang="en-US" sz="900" b="0" i="1" smtClean="0">
                                      <a:effectLst/>
                                      <a:latin typeface="Cambria Math" panose="02040503050406030204" pitchFamily="18" charset="0"/>
                                    </a:rPr>
                                  </m:ctrlPr>
                                </m:radPr>
                                <m:deg/>
                                <m:e>
                                  <m:r>
                                    <a:rPr lang="en-US" sz="900" b="0" i="1" smtClean="0">
                                      <a:effectLst/>
                                      <a:latin typeface="Cambria Math" panose="02040503050406030204" pitchFamily="18" charset="0"/>
                                    </a:rPr>
                                    <m:t>𝑁</m:t>
                                  </m:r>
                                </m:e>
                              </m:rad>
                              <m:r>
                                <a:rPr lang="en-US" sz="900" b="0" i="1" smtClean="0">
                                  <a:effectLst/>
                                  <a:latin typeface="Cambria Math" panose="02040503050406030204" pitchFamily="18" charset="0"/>
                                </a:rPr>
                                <m:t>)</m:t>
                              </m:r>
                            </m:oMath>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(1)</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m:t>
                                </m:r>
                                <m:rad>
                                  <m:radPr>
                                    <m:degHide m:val="on"/>
                                    <m:ctrlPr>
                                      <a:rPr lang="en-US" sz="900" b="0" i="1" smtClean="0">
                                        <a:effectLst/>
                                        <a:latin typeface="Cambria Math" panose="02040503050406030204" pitchFamily="18" charset="0"/>
                                      </a:rPr>
                                    </m:ctrlPr>
                                  </m:radPr>
                                  <m:deg/>
                                  <m:e>
                                    <m:r>
                                      <a:rPr lang="en-US" sz="900" b="0" i="1" smtClean="0">
                                        <a:effectLst/>
                                        <a:latin typeface="Cambria Math" panose="02040503050406030204" pitchFamily="18" charset="0"/>
                                      </a:rPr>
                                      <m:t>𝑁</m:t>
                                    </m:r>
                                  </m:e>
                                </m:rad>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𝑂</m:t>
                                </m:r>
                                <m:r>
                                  <a:rPr lang="en-US" sz="900" b="0" i="1" smtClean="0">
                                    <a:effectLst/>
                                    <a:latin typeface="Cambria Math" panose="02040503050406030204" pitchFamily="18" charset="0"/>
                                  </a:rPr>
                                  <m:t>(2</m:t>
                                </m:r>
                                <m:r>
                                  <a:rPr lang="en-US" sz="900" b="0" i="1" smtClean="0">
                                    <a:effectLst/>
                                    <a:latin typeface="Cambria Math" panose="02040503050406030204" pitchFamily="18" charset="0"/>
                                  </a:rPr>
                                  <m:t>𝑁</m:t>
                                </m:r>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900" b="0" i="1" smtClean="0">
                                    <a:effectLst/>
                                    <a:latin typeface="Cambria Math" panose="02040503050406030204" pitchFamily="18" charset="0"/>
                                  </a:rPr>
                                  <m:t>−</m:t>
                                </m:r>
                              </m:oMath>
                            </m:oMathPara>
                          </a14:m>
                          <a:endParaRPr lang="en-US" sz="900" i="1"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3122121"/>
                      </a:ext>
                    </a:extLst>
                  </a:tr>
                </a:tbl>
              </a:graphicData>
            </a:graphic>
          </p:graphicFrame>
        </mc:Choice>
        <mc:Fallback xmlns="">
          <p:graphicFrame>
            <p:nvGraphicFramePr>
              <p:cNvPr id="22" name="Table 21">
                <a:extLst>
                  <a:ext uri="{FF2B5EF4-FFF2-40B4-BE49-F238E27FC236}">
                    <a16:creationId xmlns:a16="http://schemas.microsoft.com/office/drawing/2014/main" id="{BC574E99-0A84-4EC4-B028-5E7B64686F96}"/>
                  </a:ext>
                </a:extLst>
              </p:cNvPr>
              <p:cNvGraphicFramePr>
                <a:graphicFrameLocks noGrp="1"/>
              </p:cNvGraphicFramePr>
              <p:nvPr>
                <p:extLst>
                  <p:ext uri="{D42A27DB-BD31-4B8C-83A1-F6EECF244321}">
                    <p14:modId xmlns:p14="http://schemas.microsoft.com/office/powerpoint/2010/main" val="2526136546"/>
                  </p:ext>
                </p:extLst>
              </p:nvPr>
            </p:nvGraphicFramePr>
            <p:xfrm>
              <a:off x="549659" y="937768"/>
              <a:ext cx="10893287" cy="1310768"/>
            </p:xfrm>
            <a:graphic>
              <a:graphicData uri="http://schemas.openxmlformats.org/drawingml/2006/table">
                <a:tbl>
                  <a:tblPr/>
                  <a:tblGrid>
                    <a:gridCol w="1179130">
                      <a:extLst>
                        <a:ext uri="{9D8B030D-6E8A-4147-A177-3AD203B41FA5}">
                          <a16:colId xmlns:a16="http://schemas.microsoft.com/office/drawing/2014/main" val="2541077639"/>
                        </a:ext>
                      </a:extLst>
                    </a:gridCol>
                    <a:gridCol w="1544191">
                      <a:extLst>
                        <a:ext uri="{9D8B030D-6E8A-4147-A177-3AD203B41FA5}">
                          <a16:colId xmlns:a16="http://schemas.microsoft.com/office/drawing/2014/main" val="3598681154"/>
                        </a:ext>
                      </a:extLst>
                    </a:gridCol>
                    <a:gridCol w="1361661">
                      <a:extLst>
                        <a:ext uri="{9D8B030D-6E8A-4147-A177-3AD203B41FA5}">
                          <a16:colId xmlns:a16="http://schemas.microsoft.com/office/drawing/2014/main" val="1194631493"/>
                        </a:ext>
                      </a:extLst>
                    </a:gridCol>
                    <a:gridCol w="1361661">
                      <a:extLst>
                        <a:ext uri="{9D8B030D-6E8A-4147-A177-3AD203B41FA5}">
                          <a16:colId xmlns:a16="http://schemas.microsoft.com/office/drawing/2014/main" val="2854556886"/>
                        </a:ext>
                      </a:extLst>
                    </a:gridCol>
                    <a:gridCol w="1361661">
                      <a:extLst>
                        <a:ext uri="{9D8B030D-6E8A-4147-A177-3AD203B41FA5}">
                          <a16:colId xmlns:a16="http://schemas.microsoft.com/office/drawing/2014/main" val="3876806972"/>
                        </a:ext>
                      </a:extLst>
                    </a:gridCol>
                    <a:gridCol w="1361661">
                      <a:extLst>
                        <a:ext uri="{9D8B030D-6E8A-4147-A177-3AD203B41FA5}">
                          <a16:colId xmlns:a16="http://schemas.microsoft.com/office/drawing/2014/main" val="1343128073"/>
                        </a:ext>
                      </a:extLst>
                    </a:gridCol>
                    <a:gridCol w="1361661">
                      <a:extLst>
                        <a:ext uri="{9D8B030D-6E8A-4147-A177-3AD203B41FA5}">
                          <a16:colId xmlns:a16="http://schemas.microsoft.com/office/drawing/2014/main" val="3089596362"/>
                        </a:ext>
                      </a:extLst>
                    </a:gridCol>
                    <a:gridCol w="1361661">
                      <a:extLst>
                        <a:ext uri="{9D8B030D-6E8A-4147-A177-3AD203B41FA5}">
                          <a16:colId xmlns:a16="http://schemas.microsoft.com/office/drawing/2014/main" val="485145755"/>
                        </a:ext>
                      </a:extLst>
                    </a:gridCol>
                  </a:tblGrid>
                  <a:tr h="365760">
                    <a:tc>
                      <a:txBody>
                        <a:bodyPr/>
                        <a:lstStyle/>
                        <a:p>
                          <a:pPr algn="ctr"/>
                          <a:r>
                            <a:rPr lang="en-US" sz="900" b="1" dirty="0">
                              <a:effectLst/>
                              <a:latin typeface="Google Sans Text"/>
                            </a:rPr>
                            <a:t>Approach</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a:effectLst/>
                              <a:latin typeface="Google Sans Text"/>
                            </a:rPr>
                            <a:t>Phase</a:t>
                          </a:r>
                          <a:endParaRPr lang="en-US" sz="9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Client Comm. (Up/Download)</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Client Computation</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Client Storage</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Server Communication</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Server Computation</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1" dirty="0">
                              <a:effectLst/>
                              <a:latin typeface="Google Sans Text"/>
                            </a:rPr>
                            <a:t>Server Storage</a:t>
                          </a:r>
                          <a:endParaRPr lang="en-US" sz="9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3102979"/>
                      </a:ext>
                    </a:extLst>
                  </a:tr>
                  <a:tr h="228600">
                    <a:tc rowSpan="2">
                      <a:txBody>
                        <a:bodyPr/>
                        <a:lstStyle/>
                        <a:p>
                          <a:pPr algn="ctr"/>
                          <a:r>
                            <a:rPr lang="en-US" sz="900" b="0" dirty="0" err="1">
                              <a:effectLst/>
                              <a:latin typeface="Google Sans Text"/>
                            </a:rPr>
                            <a:t>FrodoPIR</a:t>
                          </a:r>
                          <a:endParaRPr lang="en-US" sz="900" b="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0" i="1">
                              <a:effectLst/>
                              <a:latin typeface="Google Sans Text"/>
                            </a:rPr>
                            <a:t>Offline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897" t="-160526" r="-502242" b="-3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9554" t="-160526" r="-400000" b="-3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345" t="-160526" r="-301794" b="-3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99107" t="-160526" r="-200446" b="-3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794" t="-160526" r="-101345" b="-3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98661" t="-160526" r="-893" b="-323684"/>
                          </a:stretch>
                        </a:blipFill>
                      </a:tcPr>
                    </a:tc>
                    <a:extLst>
                      <a:ext uri="{0D108BD9-81ED-4DB2-BD59-A6C34878D82A}">
                        <a16:rowId xmlns:a16="http://schemas.microsoft.com/office/drawing/2014/main" val="580987455"/>
                      </a:ext>
                    </a:extLst>
                  </a:tr>
                  <a:tr h="228600">
                    <a:tc vMerge="1">
                      <a:txBody>
                        <a:bodyPr/>
                        <a:lstStyle/>
                        <a:p>
                          <a:endParaRPr lang="en-US" sz="12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b="0" i="1" dirty="0">
                              <a:effectLst/>
                              <a:latin typeface="Google Sans Text"/>
                            </a:rPr>
                            <a:t>Online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897" t="-260526" r="-502242" b="-2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9554" t="-260526" r="-400000" b="-2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345" t="-260526" r="-301794" b="-2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99107" t="-260526" r="-200446" b="-2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794" t="-260526" r="-101345" b="-22368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98661" t="-260526" r="-893" b="-223684"/>
                          </a:stretch>
                        </a:blipFill>
                      </a:tcPr>
                    </a:tc>
                    <a:extLst>
                      <a:ext uri="{0D108BD9-81ED-4DB2-BD59-A6C34878D82A}">
                        <a16:rowId xmlns:a16="http://schemas.microsoft.com/office/drawing/2014/main" val="1026012460"/>
                      </a:ext>
                    </a:extLst>
                  </a:tr>
                  <a:tr h="243904">
                    <a:tc rowSpan="2">
                      <a:txBody>
                        <a:bodyPr/>
                        <a:lstStyle/>
                        <a:p>
                          <a:pPr algn="ctr"/>
                          <a:r>
                            <a:rPr lang="en-US" sz="900" b="0" dirty="0" err="1">
                              <a:effectLst/>
                              <a:latin typeface="Google Sans Text"/>
                            </a:rPr>
                            <a:t>SimplePIR</a:t>
                          </a:r>
                          <a:endParaRPr lang="en-US" sz="900" b="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i="1" dirty="0">
                              <a:effectLst/>
                              <a:latin typeface="Google Sans Text"/>
                            </a:rPr>
                            <a:t>Offline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897" t="-342500" r="-502242" b="-1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9554" t="-342500" r="-400000" b="-1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345" t="-342500" r="-301794" b="-1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99107" t="-342500" r="-200446" b="-1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794" t="-342500" r="-101345" b="-1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98661" t="-342500" r="-893" b="-112500"/>
                          </a:stretch>
                        </a:blipFill>
                      </a:tcPr>
                    </a:tc>
                    <a:extLst>
                      <a:ext uri="{0D108BD9-81ED-4DB2-BD59-A6C34878D82A}">
                        <a16:rowId xmlns:a16="http://schemas.microsoft.com/office/drawing/2014/main" val="2874831382"/>
                      </a:ext>
                    </a:extLst>
                  </a:tr>
                  <a:tr h="243904">
                    <a:tc vMerge="1">
                      <a:txBody>
                        <a:bodyPr/>
                        <a:lstStyle/>
                        <a:p>
                          <a:endParaRPr lang="en-US" sz="12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i="1" dirty="0">
                              <a:effectLst/>
                              <a:latin typeface="Google Sans Text"/>
                            </a:rPr>
                            <a:t>Online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897" t="-442500" r="-502242" b="-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9554" t="-442500" r="-400000" b="-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345" t="-442500" r="-301794" b="-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99107" t="-442500" r="-200446" b="-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01794" t="-442500" r="-101345" b="-12500"/>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98661" t="-442500" r="-893" b="-12500"/>
                          </a:stretch>
                        </a:blipFill>
                      </a:tcPr>
                    </a:tc>
                    <a:extLst>
                      <a:ext uri="{0D108BD9-81ED-4DB2-BD59-A6C34878D82A}">
                        <a16:rowId xmlns:a16="http://schemas.microsoft.com/office/drawing/2014/main" val="2583122121"/>
                      </a:ext>
                    </a:extLst>
                  </a:tr>
                </a:tbl>
              </a:graphicData>
            </a:graphic>
          </p:graphicFrame>
        </mc:Fallback>
      </mc:AlternateContent>
      <p:sp>
        <p:nvSpPr>
          <p:cNvPr id="19" name="TextBox 18">
            <a:extLst>
              <a:ext uri="{FF2B5EF4-FFF2-40B4-BE49-F238E27FC236}">
                <a16:creationId xmlns:a16="http://schemas.microsoft.com/office/drawing/2014/main" id="{52490F88-73A6-4011-BFEB-91D80C591744}"/>
              </a:ext>
            </a:extLst>
          </p:cNvPr>
          <p:cNvSpPr txBox="1"/>
          <p:nvPr/>
        </p:nvSpPr>
        <p:spPr>
          <a:xfrm>
            <a:off x="7661304" y="4141392"/>
            <a:ext cx="65" cy="276999"/>
          </a:xfrm>
          <a:prstGeom prst="rect">
            <a:avLst/>
          </a:prstGeom>
          <a:noFill/>
        </p:spPr>
        <p:txBody>
          <a:bodyPr wrap="none" lIns="0" tIns="0" rIns="0" bIns="0" rtlCol="0">
            <a:spAutoFit/>
          </a:bodyPr>
          <a:lstStyle/>
          <a:p>
            <a:endParaRPr lang="en-US" dirty="0"/>
          </a:p>
        </p:txBody>
      </p:sp>
      <p:sp>
        <p:nvSpPr>
          <p:cNvPr id="41" name="TextBox 40">
            <a:extLst>
              <a:ext uri="{FF2B5EF4-FFF2-40B4-BE49-F238E27FC236}">
                <a16:creationId xmlns:a16="http://schemas.microsoft.com/office/drawing/2014/main" id="{1601C173-22A0-4454-B55E-7019C4279FAC}"/>
              </a:ext>
            </a:extLst>
          </p:cNvPr>
          <p:cNvSpPr txBox="1"/>
          <p:nvPr/>
        </p:nvSpPr>
        <p:spPr>
          <a:xfrm>
            <a:off x="7361101" y="63008"/>
            <a:ext cx="3494375" cy="646331"/>
          </a:xfrm>
          <a:prstGeom prst="rect">
            <a:avLst/>
          </a:prstGeom>
          <a:noFill/>
        </p:spPr>
        <p:txBody>
          <a:bodyPr wrap="square">
            <a:spAutoFit/>
          </a:bodyPr>
          <a:lstStyle/>
          <a:p>
            <a:pPr algn="just"/>
            <a:r>
              <a:rPr lang="en-US" sz="1200" i="1" dirty="0"/>
              <a:t>For </a:t>
            </a:r>
            <a:r>
              <a:rPr lang="en-US" sz="1200" i="1" dirty="0" err="1"/>
              <a:t>FrodoPIR</a:t>
            </a:r>
            <a:r>
              <a:rPr lang="en-US" sz="1200" i="1" dirty="0"/>
              <a:t>, we consider total DB “volume” </a:t>
            </a:r>
            <a:r>
              <a:rPr lang="en-US" sz="1200" dirty="0"/>
              <a:t>as </a:t>
            </a:r>
            <a:r>
              <a:rPr lang="en-US" sz="1200" i="1" dirty="0">
                <a:effectLst/>
              </a:rPr>
              <a:t>N</a:t>
            </a:r>
            <a:r>
              <a:rPr lang="en-US" sz="1200" i="1" dirty="0"/>
              <a:t>=m⋅ </a:t>
            </a:r>
            <a:r>
              <a:rPr lang="el-GR" sz="1200" i="1" dirty="0">
                <a:effectLst/>
              </a:rPr>
              <a:t>ω</a:t>
            </a:r>
            <a:r>
              <a:rPr lang="en-US" sz="1200" dirty="0">
                <a:effectLst/>
              </a:rPr>
              <a:t> for complexities brevity</a:t>
            </a:r>
          </a:p>
          <a:p>
            <a:pPr algn="just"/>
            <a:r>
              <a:rPr lang="en-US" sz="1200" i="1" dirty="0"/>
              <a:t>p.s. these are raw, not amortized comp. complexities</a:t>
            </a:r>
          </a:p>
        </p:txBody>
      </p:sp>
      <p:sp>
        <p:nvSpPr>
          <p:cNvPr id="17" name="TextBox 16">
            <a:extLst>
              <a:ext uri="{FF2B5EF4-FFF2-40B4-BE49-F238E27FC236}">
                <a16:creationId xmlns:a16="http://schemas.microsoft.com/office/drawing/2014/main" id="{227E176B-14DB-4F9F-B07B-CE9472BF7444}"/>
              </a:ext>
            </a:extLst>
          </p:cNvPr>
          <p:cNvSpPr txBox="1"/>
          <p:nvPr/>
        </p:nvSpPr>
        <p:spPr>
          <a:xfrm>
            <a:off x="6357462" y="2788237"/>
            <a:ext cx="5697822" cy="307777"/>
          </a:xfrm>
          <a:prstGeom prst="rect">
            <a:avLst/>
          </a:prstGeom>
          <a:noFill/>
        </p:spPr>
        <p:txBody>
          <a:bodyPr wrap="square">
            <a:spAutoFit/>
          </a:bodyPr>
          <a:lstStyle/>
          <a:p>
            <a:pPr algn="just"/>
            <a:r>
              <a:rPr lang="en-US" sz="1400" b="1" i="1" dirty="0" err="1"/>
              <a:t>FrodoPIR</a:t>
            </a:r>
            <a:r>
              <a:rPr lang="en-US" sz="1400" b="1" i="1" dirty="0"/>
              <a:t> complexities breakdown:</a:t>
            </a:r>
          </a:p>
        </p:txBody>
      </p:sp>
      <p:sp>
        <p:nvSpPr>
          <p:cNvPr id="18" name="TextBox 17">
            <a:extLst>
              <a:ext uri="{FF2B5EF4-FFF2-40B4-BE49-F238E27FC236}">
                <a16:creationId xmlns:a16="http://schemas.microsoft.com/office/drawing/2014/main" id="{FCE063B8-BB6A-4DB7-B94E-E2063F252102}"/>
              </a:ext>
            </a:extLst>
          </p:cNvPr>
          <p:cNvSpPr txBox="1"/>
          <p:nvPr/>
        </p:nvSpPr>
        <p:spPr>
          <a:xfrm>
            <a:off x="529691" y="2795004"/>
            <a:ext cx="3681936" cy="307777"/>
          </a:xfrm>
          <a:prstGeom prst="rect">
            <a:avLst/>
          </a:prstGeom>
          <a:noFill/>
        </p:spPr>
        <p:txBody>
          <a:bodyPr wrap="square">
            <a:spAutoFit/>
          </a:bodyPr>
          <a:lstStyle/>
          <a:p>
            <a:pPr algn="just"/>
            <a:r>
              <a:rPr lang="en-US" sz="1400" b="1" i="1" dirty="0" err="1"/>
              <a:t>SimplePIR</a:t>
            </a:r>
            <a:r>
              <a:rPr lang="en-US" sz="1400" b="1" i="1" dirty="0"/>
              <a:t> complexities breakdown:</a:t>
            </a:r>
          </a:p>
        </p:txBody>
      </p:sp>
      <p:grpSp>
        <p:nvGrpSpPr>
          <p:cNvPr id="6" name="Group 5">
            <a:extLst>
              <a:ext uri="{FF2B5EF4-FFF2-40B4-BE49-F238E27FC236}">
                <a16:creationId xmlns:a16="http://schemas.microsoft.com/office/drawing/2014/main" id="{670EEC88-A4FD-4DCA-BAD6-3DFC3A08730C}"/>
              </a:ext>
            </a:extLst>
          </p:cNvPr>
          <p:cNvGrpSpPr/>
          <p:nvPr/>
        </p:nvGrpSpPr>
        <p:grpSpPr>
          <a:xfrm>
            <a:off x="6359306" y="3088795"/>
            <a:ext cx="5235300" cy="520807"/>
            <a:chOff x="6359306" y="3621341"/>
            <a:chExt cx="5235300" cy="520807"/>
          </a:xfrm>
        </p:grpSpPr>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F25DB9D-E666-4146-AED5-876B01ABB2C6}"/>
                    </a:ext>
                  </a:extLst>
                </p:cNvPr>
                <p:cNvSpPr txBox="1"/>
                <p:nvPr/>
              </p:nvSpPr>
              <p:spPr>
                <a:xfrm>
                  <a:off x="6385377" y="3621341"/>
                  <a:ext cx="5142572" cy="279051"/>
                </a:xfrm>
                <a:prstGeom prst="rect">
                  <a:avLst/>
                </a:prstGeom>
                <a:noFill/>
              </p:spPr>
              <p:txBody>
                <a:bodyPr wrap="square">
                  <a:spAutoFit/>
                </a:bodyPr>
                <a:lstStyle/>
                <a:p>
                  <a:pPr algn="just"/>
                  <a:r>
                    <a:rPr lang="en-US" sz="1200" i="1" dirty="0">
                      <a:latin typeface="Google Sans Text"/>
                    </a:rPr>
                    <a:t>FPIR.spreproc (</a:t>
                  </a:r>
                  <a:r>
                    <a:rPr lang="en-US" sz="1200" i="1" dirty="0"/>
                    <a:t>Offline server work) (performed 1 time for </a:t>
                  </a:r>
                  <a14:m>
                    <m:oMath xmlns:m="http://schemas.openxmlformats.org/officeDocument/2006/math">
                      <m:r>
                        <a:rPr lang="en-US" sz="1200" b="0" i="1" smtClean="0">
                          <a:latin typeface="Cambria Math" panose="02040503050406030204" pitchFamily="18" charset="0"/>
                        </a:rPr>
                        <m:t>𝑐</m:t>
                      </m:r>
                      <m:r>
                        <a:rPr lang="en-US" sz="1200" b="0" i="1" smtClean="0">
                          <a:latin typeface="Cambria Math" panose="02040503050406030204" pitchFamily="18" charset="0"/>
                        </a:rPr>
                        <m:t>=</m:t>
                      </m:r>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𝑚</m:t>
                          </m:r>
                        </m:e>
                      </m:rad>
                    </m:oMath>
                  </a14:m>
                  <a:r>
                    <a:rPr lang="en-US" sz="1200" i="1" dirty="0"/>
                    <a:t> queries):</a:t>
                  </a:r>
                </a:p>
              </p:txBody>
            </p:sp>
          </mc:Choice>
          <mc:Fallback xmlns="">
            <p:sp>
              <p:nvSpPr>
                <p:cNvPr id="20" name="TextBox 19">
                  <a:extLst>
                    <a:ext uri="{FF2B5EF4-FFF2-40B4-BE49-F238E27FC236}">
                      <a16:creationId xmlns:a16="http://schemas.microsoft.com/office/drawing/2014/main" id="{1F25DB9D-E666-4146-AED5-876B01ABB2C6}"/>
                    </a:ext>
                  </a:extLst>
                </p:cNvPr>
                <p:cNvSpPr txBox="1">
                  <a:spLocks noRot="1" noChangeAspect="1" noMove="1" noResize="1" noEditPoints="1" noAdjustHandles="1" noChangeArrowheads="1" noChangeShapeType="1" noTextEdit="1"/>
                </p:cNvSpPr>
                <p:nvPr/>
              </p:nvSpPr>
              <p:spPr>
                <a:xfrm>
                  <a:off x="6385377" y="3621341"/>
                  <a:ext cx="5142572" cy="279051"/>
                </a:xfrm>
                <a:prstGeom prst="rect">
                  <a:avLst/>
                </a:prstGeom>
                <a:blipFill>
                  <a:blip r:embed="rId6"/>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39BA41B-8821-40EB-923E-EC106213EBE5}"/>
                    </a:ext>
                  </a:extLst>
                </p:cNvPr>
                <p:cNvSpPr txBox="1"/>
                <p:nvPr/>
              </p:nvSpPr>
              <p:spPr>
                <a:xfrm>
                  <a:off x="6359306" y="3867521"/>
                  <a:ext cx="5235300" cy="274627"/>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r>
                        <a:rPr lang="en-US" sz="1100" b="0" i="1" smtClean="0">
                          <a:latin typeface="Cambria Math" panose="02040503050406030204" pitchFamily="18" charset="0"/>
                        </a:rPr>
                        <m:t>𝑀</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sup>
                      </m:sSubSup>
                      <m:r>
                        <a:rPr lang="en-US" sz="1100" b="0" i="1" smtClean="0">
                          <a:latin typeface="Cambria Math" panose="02040503050406030204" pitchFamily="18" charset="0"/>
                        </a:rPr>
                        <m:t>=</m:t>
                      </m:r>
                      <m:r>
                        <a:rPr lang="en-US" sz="1100" b="0" i="1" smtClean="0">
                          <a:latin typeface="Cambria Math" panose="02040503050406030204" pitchFamily="18" charset="0"/>
                        </a:rPr>
                        <m:t>𝐴</m:t>
                      </m:r>
                      <m:r>
                        <a:rPr lang="en-US" sz="1100" b="0" i="1" smtClean="0">
                          <a:latin typeface="Cambria Math" panose="02040503050406030204" pitchFamily="18" charset="0"/>
                          <a:ea typeface="Cambria Math" panose="02040503050406030204" pitchFamily="18" charset="0"/>
                        </a:rPr>
                        <m:t>∈</m:t>
                      </m:r>
                      <m:sSubSup>
                        <m:sSubSupPr>
                          <m:ctrlPr>
                            <a:rPr lang="en-US" sz="1100" b="0" i="1" smtClean="0">
                              <a:latin typeface="Cambria Math" panose="02040503050406030204" pitchFamily="18" charset="0"/>
                              <a:ea typeface="Cambria Math" panose="02040503050406030204" pitchFamily="18" charset="0"/>
                            </a:rPr>
                          </m:ctrlPr>
                        </m:sSubSupPr>
                        <m:e>
                          <m:r>
                            <a:rPr lang="en-US" sz="1100" b="0" i="1" smtClean="0">
                              <a:latin typeface="Cambria Math" panose="02040503050406030204" pitchFamily="18" charset="0"/>
                              <a:ea typeface="Cambria Math" panose="02040503050406030204" pitchFamily="18" charset="0"/>
                            </a:rPr>
                            <m:t>𝑍</m:t>
                          </m:r>
                        </m:e>
                        <m:sub>
                          <m:r>
                            <a:rPr lang="en-US" sz="1100" b="0" i="1" smtClean="0">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𝑚</m:t>
                          </m:r>
                        </m:sup>
                      </m:sSubSup>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𝐷</m:t>
                      </m:r>
                      <m:r>
                        <a:rPr lang="en-US" sz="1100" i="1">
                          <a:latin typeface="Cambria Math" panose="02040503050406030204" pitchFamily="18" charset="0"/>
                          <a:ea typeface="Cambria Math" panose="02040503050406030204" pitchFamily="18" charset="0"/>
                        </a:rPr>
                        <m:t>∈</m:t>
                      </m:r>
                      <m:sSubSup>
                        <m:sSubSupPr>
                          <m:ctrlPr>
                            <a:rPr lang="en-US" sz="1100" i="1" smtClean="0">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ea typeface="Cambria Math" panose="02040503050406030204" pitchFamily="18" charset="0"/>
                            </a:rPr>
                            <m:t>𝑚</m:t>
                          </m:r>
                          <m:r>
                            <a:rPr lang="en-US" sz="110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sup>
                      </m:sSubSup>
                      <m:r>
                        <a:rPr lang="en-US" sz="1100" i="1">
                          <a:latin typeface="Cambria Math" panose="02040503050406030204" pitchFamily="18" charset="0"/>
                        </a:rPr>
                        <m:t>=</m:t>
                      </m:r>
                    </m:oMath>
                  </a14:m>
                  <a:r>
                    <a:rPr lang="en-US" sz="1100" dirty="0"/>
                    <a:t> </a:t>
                  </a:r>
                  <a14:m>
                    <m:oMath xmlns:m="http://schemas.openxmlformats.org/officeDocument/2006/math">
                      <m:r>
                        <a:rPr lang="en-US" sz="1100" i="1">
                          <a:latin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𝑚</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𝑛𝑁</m:t>
                      </m:r>
                      <m:r>
                        <a:rPr lang="en-US" sz="1100" b="0" i="1" smtClean="0">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23" name="TextBox 22">
                  <a:extLst>
                    <a:ext uri="{FF2B5EF4-FFF2-40B4-BE49-F238E27FC236}">
                      <a16:creationId xmlns:a16="http://schemas.microsoft.com/office/drawing/2014/main" id="{739BA41B-8821-40EB-923E-EC106213EBE5}"/>
                    </a:ext>
                  </a:extLst>
                </p:cNvPr>
                <p:cNvSpPr txBox="1">
                  <a:spLocks noRot="1" noChangeAspect="1" noMove="1" noResize="1" noEditPoints="1" noAdjustHandles="1" noChangeArrowheads="1" noChangeShapeType="1" noTextEdit="1"/>
                </p:cNvSpPr>
                <p:nvPr/>
              </p:nvSpPr>
              <p:spPr>
                <a:xfrm>
                  <a:off x="6359306" y="3867521"/>
                  <a:ext cx="5235300" cy="274627"/>
                </a:xfrm>
                <a:prstGeom prst="rect">
                  <a:avLst/>
                </a:prstGeom>
                <a:blipFill>
                  <a:blip r:embed="rId7"/>
                  <a:stretch>
                    <a:fillRect b="-2222"/>
                  </a:stretch>
                </a:blipFill>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F3D5FA49-C009-4022-AF4B-B19940526AF3}"/>
              </a:ext>
            </a:extLst>
          </p:cNvPr>
          <p:cNvGrpSpPr/>
          <p:nvPr/>
        </p:nvGrpSpPr>
        <p:grpSpPr>
          <a:xfrm>
            <a:off x="6357462" y="3605812"/>
            <a:ext cx="5237208" cy="557804"/>
            <a:chOff x="6357462" y="4207779"/>
            <a:chExt cx="5237208" cy="557804"/>
          </a:xfrm>
        </p:grpSpPr>
        <p:sp>
          <p:nvSpPr>
            <p:cNvPr id="30" name="TextBox 29">
              <a:extLst>
                <a:ext uri="{FF2B5EF4-FFF2-40B4-BE49-F238E27FC236}">
                  <a16:creationId xmlns:a16="http://schemas.microsoft.com/office/drawing/2014/main" id="{69E54D1F-52AC-4CB3-9312-845FB67F6E9E}"/>
                </a:ext>
              </a:extLst>
            </p:cNvPr>
            <p:cNvSpPr txBox="1"/>
            <p:nvPr/>
          </p:nvSpPr>
          <p:spPr>
            <a:xfrm>
              <a:off x="6385377" y="4207779"/>
              <a:ext cx="3332039" cy="276999"/>
            </a:xfrm>
            <a:prstGeom prst="rect">
              <a:avLst/>
            </a:prstGeom>
            <a:noFill/>
          </p:spPr>
          <p:txBody>
            <a:bodyPr wrap="square">
              <a:spAutoFit/>
            </a:bodyPr>
            <a:lstStyle/>
            <a:p>
              <a:pPr algn="just"/>
              <a:r>
                <a:rPr lang="en-US" sz="1200" i="1" dirty="0" err="1">
                  <a:latin typeface="Google Sans Text"/>
                </a:rPr>
                <a:t>FPIR.respond</a:t>
              </a:r>
              <a:r>
                <a:rPr lang="en-US" sz="1200" i="1" dirty="0">
                  <a:latin typeface="Google Sans Text"/>
                </a:rPr>
                <a:t> (</a:t>
              </a:r>
              <a:r>
                <a:rPr lang="en-US" sz="1200" i="1" dirty="0"/>
                <a:t>Online server work):</a:t>
              </a:r>
              <a:endParaRPr lang="en-US" sz="1200" dirty="0">
                <a:effectLst/>
                <a:latin typeface="Google Sans Text"/>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6462B96-C808-42F1-ACC2-32B5B168A20D}"/>
                    </a:ext>
                  </a:extLst>
                </p:cNvPr>
                <p:cNvSpPr txBox="1"/>
                <p:nvPr/>
              </p:nvSpPr>
              <p:spPr>
                <a:xfrm>
                  <a:off x="6357462" y="4479479"/>
                  <a:ext cx="5237208" cy="286104"/>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acc>
                        <m:accPr>
                          <m:chr m:val="̃"/>
                          <m:ctrlPr>
                            <a:rPr lang="en-US" sz="1100" i="1" smtClean="0">
                              <a:latin typeface="Cambria Math" panose="02040503050406030204" pitchFamily="18" charset="0"/>
                              <a:ea typeface="Cambria Math" panose="02040503050406030204" pitchFamily="18" charset="0"/>
                            </a:rPr>
                          </m:ctrlPr>
                        </m:accPr>
                        <m:e>
                          <m:r>
                            <a:rPr lang="en-US" sz="1100" b="0" i="1" smtClean="0">
                              <a:latin typeface="Cambria Math" panose="02040503050406030204" pitchFamily="18" charset="0"/>
                              <a:ea typeface="Cambria Math" panose="02040503050406030204" pitchFamily="18" charset="0"/>
                            </a:rPr>
                            <m:t>𝑐</m:t>
                          </m:r>
                        </m:e>
                      </m:acc>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acc>
                        <m:accPr>
                          <m:chr m:val="̃"/>
                          <m:ctrlPr>
                            <a:rPr lang="en-US" sz="1100" i="1">
                              <a:latin typeface="Cambria Math" panose="02040503050406030204" pitchFamily="18" charset="0"/>
                              <a:ea typeface="Cambria Math" panose="02040503050406030204" pitchFamily="18" charset="0"/>
                            </a:rPr>
                          </m:ctrlPr>
                        </m:accPr>
                        <m:e>
                          <m:r>
                            <a:rPr lang="en-US" sz="1100" i="1">
                              <a:latin typeface="Cambria Math" panose="02040503050406030204" pitchFamily="18" charset="0"/>
                              <a:ea typeface="Cambria Math" panose="02040503050406030204" pitchFamily="18" charset="0"/>
                            </a:rPr>
                            <m:t>𝑏</m:t>
                          </m:r>
                        </m:e>
                      </m:acc>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𝐷</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sup>
                      </m:sSubSup>
                      <m:r>
                        <a:rPr lang="en-US" sz="1100" i="1">
                          <a:latin typeface="Cambria Math" panose="02040503050406030204" pitchFamily="18" charset="0"/>
                        </a:rPr>
                        <m:t>=</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𝑁</m:t>
                      </m:r>
                      <m:r>
                        <a:rPr lang="en-US" sz="1100" i="1">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31" name="TextBox 30">
                  <a:extLst>
                    <a:ext uri="{FF2B5EF4-FFF2-40B4-BE49-F238E27FC236}">
                      <a16:creationId xmlns:a16="http://schemas.microsoft.com/office/drawing/2014/main" id="{76462B96-C808-42F1-ACC2-32B5B168A20D}"/>
                    </a:ext>
                  </a:extLst>
                </p:cNvPr>
                <p:cNvSpPr txBox="1">
                  <a:spLocks noRot="1" noChangeAspect="1" noMove="1" noResize="1" noEditPoints="1" noAdjustHandles="1" noChangeArrowheads="1" noChangeShapeType="1" noTextEdit="1"/>
                </p:cNvSpPr>
                <p:nvPr/>
              </p:nvSpPr>
              <p:spPr>
                <a:xfrm>
                  <a:off x="6357462" y="4479479"/>
                  <a:ext cx="5237208" cy="286104"/>
                </a:xfrm>
                <a:prstGeom prst="rect">
                  <a:avLst/>
                </a:prstGeom>
                <a:blipFill>
                  <a:blip r:embed="rId8"/>
                  <a:stretch>
                    <a:fillRect t="-2128" b="-2128"/>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526D8BB6-525B-4A45-99D4-24EA151EDEED}"/>
              </a:ext>
            </a:extLst>
          </p:cNvPr>
          <p:cNvGrpSpPr/>
          <p:nvPr/>
        </p:nvGrpSpPr>
        <p:grpSpPr>
          <a:xfrm>
            <a:off x="6357461" y="4157435"/>
            <a:ext cx="5239050" cy="708871"/>
            <a:chOff x="6357461" y="4824895"/>
            <a:chExt cx="5239050" cy="708871"/>
          </a:xfrm>
        </p:grpSpPr>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CF4C80F-8402-40AC-84B1-3D172962AFF1}"/>
                    </a:ext>
                  </a:extLst>
                </p:cNvPr>
                <p:cNvSpPr txBox="1"/>
                <p:nvPr/>
              </p:nvSpPr>
              <p:spPr>
                <a:xfrm>
                  <a:off x="6385377" y="4824895"/>
                  <a:ext cx="4752919" cy="276999"/>
                </a:xfrm>
                <a:prstGeom prst="rect">
                  <a:avLst/>
                </a:prstGeom>
                <a:noFill/>
              </p:spPr>
              <p:txBody>
                <a:bodyPr wrap="square">
                  <a:spAutoFit/>
                </a:bodyPr>
                <a:lstStyle/>
                <a:p>
                  <a:pPr algn="just"/>
                  <a:r>
                    <a:rPr lang="en-US" sz="1200" i="1" dirty="0">
                      <a:latin typeface="Google Sans Text"/>
                    </a:rPr>
                    <a:t>FPIR.cpreproc (</a:t>
                  </a:r>
                  <a:r>
                    <a:rPr lang="en-US" sz="1200" i="1" dirty="0"/>
                    <a:t>Offline client work):</a:t>
                  </a:r>
                  <a14:m>
                    <m:oMath xmlns:m="http://schemas.openxmlformats.org/officeDocument/2006/math">
                      <m:r>
                        <a:rPr lang="en-US" sz="1200" b="0" i="1" smtClean="0">
                          <a:latin typeface="Cambria Math" panose="02040503050406030204" pitchFamily="18" charset="0"/>
                        </a:rPr>
                        <m:t> </m:t>
                      </m:r>
                    </m:oMath>
                  </a14:m>
                  <a:endParaRPr lang="en-US" sz="1200" i="1" dirty="0"/>
                </a:p>
              </p:txBody>
            </p:sp>
          </mc:Choice>
          <mc:Fallback xmlns="">
            <p:sp>
              <p:nvSpPr>
                <p:cNvPr id="35" name="TextBox 34">
                  <a:extLst>
                    <a:ext uri="{FF2B5EF4-FFF2-40B4-BE49-F238E27FC236}">
                      <a16:creationId xmlns:a16="http://schemas.microsoft.com/office/drawing/2014/main" id="{2CF4C80F-8402-40AC-84B1-3D172962AFF1}"/>
                    </a:ext>
                  </a:extLst>
                </p:cNvPr>
                <p:cNvSpPr txBox="1">
                  <a:spLocks noRot="1" noChangeAspect="1" noMove="1" noResize="1" noEditPoints="1" noAdjustHandles="1" noChangeArrowheads="1" noChangeShapeType="1" noTextEdit="1"/>
                </p:cNvSpPr>
                <p:nvPr/>
              </p:nvSpPr>
              <p:spPr>
                <a:xfrm>
                  <a:off x="6385377" y="4824895"/>
                  <a:ext cx="4752919" cy="276999"/>
                </a:xfrm>
                <a:prstGeom prst="rect">
                  <a:avLst/>
                </a:prstGeom>
                <a:blipFill>
                  <a:blip r:embed="rId9"/>
                  <a:stretch>
                    <a:fillRect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FC10A90-06AB-4077-B1EB-960022FDD391}"/>
                    </a:ext>
                  </a:extLst>
                </p:cNvPr>
                <p:cNvSpPr txBox="1"/>
                <p:nvPr/>
              </p:nvSpPr>
              <p:spPr>
                <a:xfrm>
                  <a:off x="6357461" y="5071075"/>
                  <a:ext cx="5239050" cy="462691"/>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 </m:t>
                      </m:r>
                      <m:d>
                        <m:dPr>
                          <m:ctrlPr>
                            <a:rPr lang="en-US" sz="1100" b="0" i="1" smtClean="0">
                              <a:latin typeface="Cambria Math" panose="02040503050406030204" pitchFamily="18" charset="0"/>
                            </a:rPr>
                          </m:ctrlPr>
                        </m:dPr>
                        <m:e>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𝑏</m:t>
                              </m:r>
                            </m:e>
                            <m:sub>
                              <m:r>
                                <a:rPr lang="en-US" sz="1100" b="0" i="1" smtClean="0">
                                  <a:latin typeface="Cambria Math" panose="02040503050406030204" pitchFamily="18" charset="0"/>
                                </a:rPr>
                                <m:t>𝑗</m:t>
                              </m:r>
                            </m:sub>
                          </m:sSub>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𝑐</m:t>
                              </m:r>
                            </m:e>
                            <m:sub>
                              <m:r>
                                <a:rPr lang="en-US" sz="1100" b="0" i="1" smtClean="0">
                                  <a:latin typeface="Cambria Math" panose="02040503050406030204" pitchFamily="18" charset="0"/>
                                </a:rPr>
                                <m:t>𝑗</m:t>
                              </m:r>
                            </m:sub>
                          </m:sSub>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e>
                      </m:d>
                      <m:r>
                        <a:rPr lang="en-US" sz="1100" b="0" i="1" smtClean="0">
                          <a:latin typeface="Cambria Math" panose="02040503050406030204" pitchFamily="18" charset="0"/>
                        </a:rPr>
                        <m:t>=</m:t>
                      </m:r>
                      <m:d>
                        <m:dPr>
                          <m:ctrlPr>
                            <a:rPr lang="en-US" sz="1100" b="0" i="1" smtClean="0">
                              <a:latin typeface="Cambria Math" panose="02040503050406030204" pitchFamily="18" charset="0"/>
                            </a:rPr>
                          </m:ctrlPr>
                        </m:dPr>
                        <m:e>
                          <m:sSubSup>
                            <m:sSubSupPr>
                              <m:ctrlPr>
                                <a:rPr lang="en-US" sz="1100" b="0" i="1" smtClean="0">
                                  <a:latin typeface="Cambria Math" panose="02040503050406030204" pitchFamily="18" charset="0"/>
                                </a:rPr>
                              </m:ctrlPr>
                            </m:sSubSupPr>
                            <m:e>
                              <m:r>
                                <a:rPr lang="en-US" sz="1100" b="0" i="1" smtClean="0">
                                  <a:latin typeface="Cambria Math" panose="02040503050406030204" pitchFamily="18" charset="0"/>
                                </a:rPr>
                                <m:t>𝑠</m:t>
                              </m:r>
                            </m:e>
                            <m:sub>
                              <m:r>
                                <a:rPr lang="en-US" sz="1100" b="0" i="1" smtClean="0">
                                  <a:latin typeface="Cambria Math" panose="02040503050406030204" pitchFamily="18" charset="0"/>
                                </a:rPr>
                                <m:t>𝑗</m:t>
                              </m:r>
                            </m:sub>
                            <m:sup>
                              <m:r>
                                <a:rPr lang="en-US" sz="1100" b="0" i="1" smtClean="0">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𝐴</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𝑚</m:t>
                              </m:r>
                            </m:sup>
                          </m:sSubSup>
                          <m:r>
                            <a:rPr lang="en-US" sz="1100" b="0" i="1" smtClean="0">
                              <a:latin typeface="Cambria Math" panose="02040503050406030204" pitchFamily="18" charset="0"/>
                              <a:ea typeface="Cambria Math" panose="02040503050406030204" pitchFamily="18" charset="0"/>
                            </a:rPr>
                            <m:t>+</m:t>
                          </m:r>
                          <m:sSubSup>
                            <m:sSubSupPr>
                              <m:ctrlPr>
                                <a:rPr lang="en-US" sz="1100" b="0" i="1" smtClean="0">
                                  <a:latin typeface="Cambria Math" panose="02040503050406030204" pitchFamily="18" charset="0"/>
                                  <a:ea typeface="Cambria Math" panose="02040503050406030204" pitchFamily="18" charset="0"/>
                                </a:rPr>
                              </m:ctrlPr>
                            </m:sSubSupPr>
                            <m:e>
                              <m:r>
                                <a:rPr lang="en-US" sz="1100" b="0" i="1" smtClean="0">
                                  <a:latin typeface="Cambria Math" panose="02040503050406030204" pitchFamily="18" charset="0"/>
                                  <a:ea typeface="Cambria Math" panose="02040503050406030204" pitchFamily="18" charset="0"/>
                                </a:rPr>
                                <m:t>𝑒</m:t>
                              </m:r>
                            </m:e>
                            <m:sub>
                              <m:r>
                                <a:rPr lang="en-US" sz="1100" b="0" i="1" smtClean="0">
                                  <a:latin typeface="Cambria Math" panose="02040503050406030204" pitchFamily="18" charset="0"/>
                                  <a:ea typeface="Cambria Math" panose="02040503050406030204" pitchFamily="18" charset="0"/>
                                </a:rPr>
                                <m:t>𝑗</m:t>
                              </m:r>
                            </m:sub>
                            <m:sup>
                              <m:r>
                                <a:rPr lang="en-US" sz="1100" b="0" i="1" smtClean="0">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rPr>
                              </m:ctrlPr>
                            </m:sSubSupPr>
                            <m:e>
                              <m:r>
                                <a:rPr lang="en-US" sz="1100" i="1">
                                  <a:latin typeface="Cambria Math" panose="02040503050406030204" pitchFamily="18" charset="0"/>
                                </a:rPr>
                                <m:t>𝑠</m:t>
                              </m:r>
                            </m:e>
                            <m:sub>
                              <m:r>
                                <a:rPr lang="en-US" sz="1100" i="1">
                                  <a:latin typeface="Cambria Math" panose="02040503050406030204" pitchFamily="18" charset="0"/>
                                </a:rPr>
                                <m:t>𝑗</m:t>
                              </m:r>
                            </m:sub>
                            <m:sup>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×1</m:t>
                              </m:r>
                            </m:sup>
                          </m:sSubSup>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𝑀</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sup>
                          </m:sSubSup>
                        </m:e>
                      </m:d>
                      <m:r>
                        <a:rPr lang="en-US" sz="1100" b="0" i="1" smtClean="0">
                          <a:latin typeface="Cambria Math" panose="02040503050406030204" pitchFamily="18" charset="0"/>
                          <a:ea typeface="Cambria Math" panose="02040503050406030204" pitchFamily="18" charset="0"/>
                        </a:rPr>
                        <m:t>=</m:t>
                      </m:r>
                    </m:oMath>
                  </a14:m>
                  <a:r>
                    <a:rPr lang="en-US" sz="1100" dirty="0"/>
                    <a:t> </a:t>
                  </a:r>
                  <a14:m>
                    <m:oMath xmlns:m="http://schemas.openxmlformats.org/officeDocument/2006/math">
                      <m:d>
                        <m:dPr>
                          <m:ctrlPr>
                            <a:rPr lang="en-US" sz="1100" b="0" i="1" smtClean="0">
                              <a:latin typeface="Cambria Math" panose="02040503050406030204" pitchFamily="18" charset="0"/>
                            </a:rPr>
                          </m:ctrlPr>
                        </m:dPr>
                        <m:e>
                          <m:r>
                            <a:rPr lang="en-US" sz="1100" b="0" i="1" smtClean="0">
                              <a:latin typeface="Cambria Math" panose="02040503050406030204" pitchFamily="18" charset="0"/>
                            </a:rPr>
                            <m:t>2</m:t>
                          </m:r>
                          <m:r>
                            <a:rPr lang="en-US" sz="1100" b="0" i="1" smtClean="0">
                              <a:latin typeface="Cambria Math" panose="02040503050406030204" pitchFamily="18" charset="0"/>
                            </a:rPr>
                            <m:t>𝑛𝑚</m:t>
                          </m:r>
                          <m:r>
                            <a:rPr lang="en-US" sz="1100" b="0" i="1" smtClean="0">
                              <a:latin typeface="Cambria Math" panose="02040503050406030204" pitchFamily="18" charset="0"/>
                            </a:rPr>
                            <m:t>+</m:t>
                          </m:r>
                          <m:r>
                            <a:rPr lang="en-US" sz="1100" b="0" i="1" smtClean="0">
                              <a:latin typeface="Cambria Math" panose="02040503050406030204" pitchFamily="18" charset="0"/>
                            </a:rPr>
                            <m:t>𝑚</m:t>
                          </m:r>
                          <m:r>
                            <a:rPr lang="en-US" sz="1100" i="1">
                              <a:latin typeface="Cambria Math" panose="02040503050406030204" pitchFamily="18" charset="0"/>
                              <a:ea typeface="Cambria Math" panose="02040503050406030204" pitchFamily="18" charset="0"/>
                            </a:rPr>
                            <m:t>,  </m:t>
                          </m:r>
                          <m:r>
                            <a:rPr lang="en-US" sz="1100" b="0" i="1" smtClean="0">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𝜔</m:t>
                          </m:r>
                        </m:e>
                      </m:d>
                      <m:r>
                        <a:rPr lang="en-US" sz="1100" b="0" i="1" smtClean="0">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m:t>
                      </m:r>
                      <m:d>
                        <m:dPr>
                          <m:ctrlPr>
                            <a:rPr lang="en-US" sz="1100" b="0" i="1" smtClean="0">
                              <a:latin typeface="Cambria Math" panose="02040503050406030204" pitchFamily="18" charset="0"/>
                              <a:ea typeface="Cambria Math" panose="02040503050406030204" pitchFamily="18" charset="0"/>
                            </a:rPr>
                          </m:ctrlPr>
                        </m:dPr>
                        <m:e>
                          <m:r>
                            <a:rPr lang="en-US" sz="1100" b="0" i="1" smtClean="0">
                              <a:latin typeface="Cambria Math" panose="02040503050406030204" pitchFamily="18" charset="0"/>
                              <a:ea typeface="Cambria Math" panose="02040503050406030204" pitchFamily="18" charset="0"/>
                            </a:rPr>
                            <m:t>𝑚</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e>
                      </m:d>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𝑛</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𝑚</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𝑂</m:t>
                      </m:r>
                      <m:r>
                        <a:rPr lang="en-US" sz="1100" i="1">
                          <a:latin typeface="Cambria Math" panose="02040503050406030204" pitchFamily="18" charset="0"/>
                        </a:rPr>
                        <m:t>(</m:t>
                      </m:r>
                      <m:r>
                        <a:rPr lang="en-US" sz="1100" b="0" i="1" smtClean="0">
                          <a:latin typeface="Cambria Math" panose="02040503050406030204" pitchFamily="18" charset="0"/>
                        </a:rPr>
                        <m:t>𝑛</m:t>
                      </m:r>
                      <m:r>
                        <a:rPr lang="en-US" sz="1100" i="1">
                          <a:latin typeface="Cambria Math" panose="02040503050406030204" pitchFamily="18" charset="0"/>
                        </a:rPr>
                        <m:t>𝑁</m:t>
                      </m:r>
                      <m:r>
                        <a:rPr lang="en-US" sz="1100" i="1">
                          <a:latin typeface="Cambria Math" panose="02040503050406030204" pitchFamily="18" charset="0"/>
                        </a:rPr>
                        <m:t>)</m:t>
                      </m:r>
                    </m:oMath>
                  </a14:m>
                  <a:endParaRPr lang="en-US" sz="1100" i="1" dirty="0">
                    <a:effectLst/>
                    <a:latin typeface="Google Sans Text"/>
                  </a:endParaRPr>
                </a:p>
              </p:txBody>
            </p:sp>
          </mc:Choice>
          <mc:Fallback xmlns="">
            <p:sp>
              <p:nvSpPr>
                <p:cNvPr id="36" name="TextBox 35">
                  <a:extLst>
                    <a:ext uri="{FF2B5EF4-FFF2-40B4-BE49-F238E27FC236}">
                      <a16:creationId xmlns:a16="http://schemas.microsoft.com/office/drawing/2014/main" id="{2FC10A90-06AB-4077-B1EB-960022FDD391}"/>
                    </a:ext>
                  </a:extLst>
                </p:cNvPr>
                <p:cNvSpPr txBox="1">
                  <a:spLocks noRot="1" noChangeAspect="1" noMove="1" noResize="1" noEditPoints="1" noAdjustHandles="1" noChangeArrowheads="1" noChangeShapeType="1" noTextEdit="1"/>
                </p:cNvSpPr>
                <p:nvPr/>
              </p:nvSpPr>
              <p:spPr>
                <a:xfrm>
                  <a:off x="6357461" y="5071075"/>
                  <a:ext cx="5239050" cy="462691"/>
                </a:xfrm>
                <a:prstGeom prst="rect">
                  <a:avLst/>
                </a:prstGeom>
                <a:blipFill>
                  <a:blip r:embed="rId10"/>
                  <a:stretch>
                    <a:fillRect b="-2632"/>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8DE2221A-6B4C-4B0B-8FB2-F358D987A778}"/>
              </a:ext>
            </a:extLst>
          </p:cNvPr>
          <p:cNvGrpSpPr/>
          <p:nvPr/>
        </p:nvGrpSpPr>
        <p:grpSpPr>
          <a:xfrm>
            <a:off x="6357461" y="4869224"/>
            <a:ext cx="5235300" cy="792731"/>
            <a:chOff x="6357461" y="5566349"/>
            <a:chExt cx="5235300" cy="792731"/>
          </a:xfrm>
        </p:grpSpPr>
        <p:sp>
          <p:nvSpPr>
            <p:cNvPr id="37" name="TextBox 36">
              <a:extLst>
                <a:ext uri="{FF2B5EF4-FFF2-40B4-BE49-F238E27FC236}">
                  <a16:creationId xmlns:a16="http://schemas.microsoft.com/office/drawing/2014/main" id="{9FD5FEE9-9981-4705-AA1B-EC0D82A64206}"/>
                </a:ext>
              </a:extLst>
            </p:cNvPr>
            <p:cNvSpPr txBox="1"/>
            <p:nvPr/>
          </p:nvSpPr>
          <p:spPr>
            <a:xfrm>
              <a:off x="6385378" y="5566349"/>
              <a:ext cx="4015406" cy="276999"/>
            </a:xfrm>
            <a:prstGeom prst="rect">
              <a:avLst/>
            </a:prstGeom>
            <a:noFill/>
          </p:spPr>
          <p:txBody>
            <a:bodyPr wrap="square">
              <a:spAutoFit/>
            </a:bodyPr>
            <a:lstStyle/>
            <a:p>
              <a:pPr algn="just"/>
              <a:r>
                <a:rPr lang="en-US" sz="1200" i="1" dirty="0" err="1">
                  <a:latin typeface="Google Sans Text"/>
                </a:rPr>
                <a:t>FPIR.query</a:t>
              </a:r>
              <a:r>
                <a:rPr lang="en-US" sz="1200" i="1" dirty="0">
                  <a:latin typeface="Google Sans Text"/>
                </a:rPr>
                <a:t> , </a:t>
              </a:r>
              <a:r>
                <a:rPr lang="en-US" sz="1200" i="1" dirty="0" err="1">
                  <a:latin typeface="Google Sans Text"/>
                </a:rPr>
                <a:t>FPIR.process</a:t>
              </a:r>
              <a:r>
                <a:rPr lang="en-US" sz="1200" i="1" dirty="0">
                  <a:latin typeface="Google Sans Text"/>
                </a:rPr>
                <a:t> (</a:t>
              </a:r>
              <a:r>
                <a:rPr lang="en-US" sz="1200" i="1" dirty="0"/>
                <a:t>Online client work):</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4B27125-6E38-44CF-98D5-B5B6D378DC49}"/>
                    </a:ext>
                  </a:extLst>
                </p:cNvPr>
                <p:cNvSpPr txBox="1"/>
                <p:nvPr/>
              </p:nvSpPr>
              <p:spPr>
                <a:xfrm>
                  <a:off x="6357461" y="5861508"/>
                  <a:ext cx="5235300" cy="497572"/>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acc>
                        <m:accPr>
                          <m:chr m:val="̃"/>
                          <m:ctrlPr>
                            <a:rPr lang="en-US" sz="1100" i="1" smtClean="0">
                              <a:latin typeface="Cambria Math" panose="02040503050406030204" pitchFamily="18" charset="0"/>
                              <a:ea typeface="Cambria Math" panose="02040503050406030204" pitchFamily="18" charset="0"/>
                            </a:rPr>
                          </m:ctrlPr>
                        </m:accPr>
                        <m:e>
                          <m:r>
                            <a:rPr lang="en-US" sz="1100" b="0" i="1" smtClean="0">
                              <a:latin typeface="Cambria Math" panose="02040503050406030204" pitchFamily="18" charset="0"/>
                              <a:ea typeface="Cambria Math" panose="02040503050406030204" pitchFamily="18" charset="0"/>
                            </a:rPr>
                            <m:t>𝑏</m:t>
                          </m:r>
                        </m:e>
                      </m:acc>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r>
                        <a:rPr lang="en-US" sz="1100" b="0" i="1" smtClean="0">
                          <a:latin typeface="Cambria Math" panose="02040503050406030204" pitchFamily="18" charset="0"/>
                        </a:rPr>
                        <m:t>𝑏</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sSub>
                        <m:sSubPr>
                          <m:ctrlPr>
                            <a:rPr lang="en-US" sz="1100" b="0" i="1" smtClean="0">
                              <a:latin typeface="Cambria Math" panose="02040503050406030204" pitchFamily="18" charset="0"/>
                              <a:ea typeface="Cambria Math" panose="02040503050406030204" pitchFamily="18" charset="0"/>
                            </a:rPr>
                          </m:ctrlPr>
                        </m:sSubPr>
                        <m:e>
                          <m:r>
                            <a:rPr lang="en-US" sz="1100" b="0" i="1" smtClean="0">
                              <a:latin typeface="Cambria Math" panose="02040503050406030204" pitchFamily="18" charset="0"/>
                              <a:ea typeface="Cambria Math" panose="02040503050406030204" pitchFamily="18" charset="0"/>
                            </a:rPr>
                            <m:t>𝑓</m:t>
                          </m:r>
                        </m:e>
                        <m:sub>
                          <m:r>
                            <a:rPr lang="en-US" sz="1100" b="0" i="1" smtClean="0">
                              <a:latin typeface="Cambria Math" panose="02040503050406030204" pitchFamily="18" charset="0"/>
                              <a:ea typeface="Cambria Math" panose="02040503050406030204" pitchFamily="18" charset="0"/>
                            </a:rPr>
                            <m:t>𝑖</m:t>
                          </m:r>
                        </m:sub>
                      </m:sSub>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𝑚</m:t>
                          </m:r>
                          <m:r>
                            <a:rPr lang="en-US" sz="1100" i="1">
                              <a:latin typeface="Cambria Math" panose="02040503050406030204" pitchFamily="18" charset="0"/>
                              <a:ea typeface="Cambria Math" panose="02040503050406030204" pitchFamily="18" charset="0"/>
                            </a:rPr>
                            <m:t>×1</m:t>
                          </m:r>
                        </m:sup>
                      </m:sSubSup>
                    </m:oMath>
                  </a14:m>
                  <a:r>
                    <a:rPr lang="en-US" sz="1100" i="1" dirty="0">
                      <a:effectLst/>
                      <a:latin typeface="Google Sans Text"/>
                    </a:rPr>
                    <a:t>, </a:t>
                  </a:r>
                  <a14:m>
                    <m:oMath xmlns:m="http://schemas.openxmlformats.org/officeDocument/2006/math">
                      <m:r>
                        <a:rPr lang="en-US" sz="1100" b="0" i="1" smtClean="0">
                          <a:latin typeface="Cambria Math" panose="02040503050406030204" pitchFamily="18" charset="0"/>
                        </a:rPr>
                        <m:t>𝑥</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b="0" i="1" smtClean="0">
                              <a:latin typeface="Cambria Math" panose="02040503050406030204" pitchFamily="18" charset="0"/>
                              <a:ea typeface="Cambria Math" panose="02040503050406030204" pitchFamily="18" charset="0"/>
                            </a:rPr>
                            <m:t>𝑝</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r>
                        <a:rPr lang="en-US" sz="1100" i="1" smtClean="0">
                          <a:latin typeface="Cambria Math" panose="02040503050406030204" pitchFamily="18" charset="0"/>
                        </a:rPr>
                        <m:t>=</m:t>
                      </m:r>
                      <m:sSub>
                        <m:sSubPr>
                          <m:ctrlPr>
                            <a:rPr lang="en-US" sz="1100" i="1" smtClean="0">
                              <a:latin typeface="Cambria Math" panose="02040503050406030204" pitchFamily="18" charset="0"/>
                            </a:rPr>
                          </m:ctrlPr>
                        </m:sSubPr>
                        <m:e>
                          <m:d>
                            <m:dPr>
                              <m:begChr m:val="⌈"/>
                              <m:endChr m:val="⌉"/>
                              <m:ctrlPr>
                                <a:rPr lang="en-US" sz="1100" i="1">
                                  <a:latin typeface="Cambria Math" panose="02040503050406030204" pitchFamily="18" charset="0"/>
                                </a:rPr>
                              </m:ctrlPr>
                            </m:dPr>
                            <m:e>
                              <m:acc>
                                <m:accPr>
                                  <m:chr m:val="̃"/>
                                  <m:ctrlPr>
                                    <a:rPr lang="en-US" sz="1100" i="1">
                                      <a:latin typeface="Cambria Math" panose="02040503050406030204" pitchFamily="18" charset="0"/>
                                      <a:ea typeface="Cambria Math" panose="02040503050406030204" pitchFamily="18" charset="0"/>
                                    </a:rPr>
                                  </m:ctrlPr>
                                </m:accPr>
                                <m:e>
                                  <m:r>
                                    <a:rPr lang="en-US" sz="1100" i="1">
                                      <a:latin typeface="Cambria Math" panose="02040503050406030204" pitchFamily="18" charset="0"/>
                                      <a:ea typeface="Cambria Math" panose="02040503050406030204" pitchFamily="18" charset="0"/>
                                    </a:rPr>
                                    <m:t>𝑐</m:t>
                                  </m:r>
                                </m:e>
                              </m:acc>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𝑐</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×1</m:t>
                                  </m:r>
                                </m:sup>
                              </m:sSubSup>
                            </m:e>
                          </m:d>
                        </m:e>
                        <m:sub>
                          <m:r>
                            <a:rPr lang="en-US" sz="1100" b="0" i="1" smtClean="0">
                              <a:latin typeface="Cambria Math" panose="02040503050406030204" pitchFamily="18" charset="0"/>
                            </a:rPr>
                            <m:t>𝑝</m:t>
                          </m:r>
                        </m:sub>
                      </m:sSub>
                      <m:r>
                        <a:rPr lang="en-US" sz="1100" b="0" i="1" smtClean="0">
                          <a:latin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𝑚</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𝑂</m:t>
                      </m:r>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𝑚</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𝜔</m:t>
                      </m:r>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𝑂</m:t>
                      </m:r>
                      <m:r>
                        <a:rPr lang="en-US" sz="1100" i="1">
                          <a:latin typeface="Cambria Math" panose="02040503050406030204" pitchFamily="18" charset="0"/>
                        </a:rPr>
                        <m:t>(1)</m:t>
                      </m:r>
                    </m:oMath>
                  </a14:m>
                  <a:endParaRPr lang="en-US" sz="1100" i="1" dirty="0">
                    <a:effectLst/>
                    <a:latin typeface="Google Sans Text"/>
                  </a:endParaRPr>
                </a:p>
              </p:txBody>
            </p:sp>
          </mc:Choice>
          <mc:Fallback xmlns="">
            <p:sp>
              <p:nvSpPr>
                <p:cNvPr id="38" name="TextBox 37">
                  <a:extLst>
                    <a:ext uri="{FF2B5EF4-FFF2-40B4-BE49-F238E27FC236}">
                      <a16:creationId xmlns:a16="http://schemas.microsoft.com/office/drawing/2014/main" id="{64B27125-6E38-44CF-98D5-B5B6D378DC49}"/>
                    </a:ext>
                  </a:extLst>
                </p:cNvPr>
                <p:cNvSpPr txBox="1">
                  <a:spLocks noRot="1" noChangeAspect="1" noMove="1" noResize="1" noEditPoints="1" noAdjustHandles="1" noChangeArrowheads="1" noChangeShapeType="1" noTextEdit="1"/>
                </p:cNvSpPr>
                <p:nvPr/>
              </p:nvSpPr>
              <p:spPr>
                <a:xfrm>
                  <a:off x="6357461" y="5861508"/>
                  <a:ext cx="5235300" cy="497572"/>
                </a:xfrm>
                <a:prstGeom prst="rect">
                  <a:avLst/>
                </a:prstGeom>
                <a:blipFill>
                  <a:blip r:embed="rId11"/>
                  <a:stretch>
                    <a:fillRect t="-1220" b="-2439"/>
                  </a:stretch>
                </a:blipFill>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E047A489-BD2E-4CB6-88D7-C10615375607}"/>
              </a:ext>
            </a:extLst>
          </p:cNvPr>
          <p:cNvGrpSpPr/>
          <p:nvPr/>
        </p:nvGrpSpPr>
        <p:grpSpPr>
          <a:xfrm>
            <a:off x="523588" y="3102208"/>
            <a:ext cx="5235300" cy="566909"/>
            <a:chOff x="523588" y="3588162"/>
            <a:chExt cx="5235300" cy="566909"/>
          </a:xfrm>
        </p:grpSpPr>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F21BE85-5AAE-4782-B956-B97ED159BF22}"/>
                    </a:ext>
                  </a:extLst>
                </p:cNvPr>
                <p:cNvSpPr txBox="1"/>
                <p:nvPr/>
              </p:nvSpPr>
              <p:spPr>
                <a:xfrm>
                  <a:off x="549659" y="3588162"/>
                  <a:ext cx="5142572" cy="279051"/>
                </a:xfrm>
                <a:prstGeom prst="rect">
                  <a:avLst/>
                </a:prstGeom>
                <a:noFill/>
              </p:spPr>
              <p:txBody>
                <a:bodyPr wrap="square">
                  <a:spAutoFit/>
                </a:bodyPr>
                <a:lstStyle/>
                <a:p>
                  <a:pPr algn="just"/>
                  <a:r>
                    <a:rPr lang="en-US" sz="1200" i="1" dirty="0" err="1">
                      <a:latin typeface="Google Sans Text"/>
                    </a:rPr>
                    <a:t>SimplePIR.setup</a:t>
                  </a:r>
                  <a:r>
                    <a:rPr lang="en-US" sz="1200" i="1" dirty="0">
                      <a:latin typeface="Google Sans Text"/>
                    </a:rPr>
                    <a:t> (</a:t>
                  </a:r>
                  <a:r>
                    <a:rPr lang="en-US" sz="1200" i="1" dirty="0"/>
                    <a:t>Offline server work) (performed 1 time for </a:t>
                  </a:r>
                  <a14:m>
                    <m:oMath xmlns:m="http://schemas.openxmlformats.org/officeDocument/2006/math">
                      <m:r>
                        <a:rPr lang="en-US" sz="1200" b="0" i="1" smtClean="0">
                          <a:latin typeface="Cambria Math" panose="02040503050406030204" pitchFamily="18" charset="0"/>
                        </a:rPr>
                        <m:t>𝑐</m:t>
                      </m:r>
                      <m:r>
                        <a:rPr lang="en-US" sz="1200" b="0" i="1" smtClean="0">
                          <a:latin typeface="Cambria Math" panose="02040503050406030204" pitchFamily="18" charset="0"/>
                        </a:rPr>
                        <m:t>=</m:t>
                      </m:r>
                      <m:rad>
                        <m:radPr>
                          <m:degHide m:val="on"/>
                          <m:ctrlPr>
                            <a:rPr lang="en-US" sz="1200" i="1" smtClean="0">
                              <a:latin typeface="Cambria Math" panose="02040503050406030204" pitchFamily="18" charset="0"/>
                            </a:rPr>
                          </m:ctrlPr>
                        </m:radPr>
                        <m:deg/>
                        <m:e>
                          <m:r>
                            <a:rPr lang="en-US" sz="1200" b="0" i="1" smtClean="0">
                              <a:latin typeface="Cambria Math" panose="02040503050406030204" pitchFamily="18" charset="0"/>
                            </a:rPr>
                            <m:t>𝑚</m:t>
                          </m:r>
                        </m:e>
                      </m:rad>
                    </m:oMath>
                  </a14:m>
                  <a:r>
                    <a:rPr lang="en-US" sz="1200" i="1" dirty="0"/>
                    <a:t> queries):</a:t>
                  </a:r>
                </a:p>
              </p:txBody>
            </p:sp>
          </mc:Choice>
          <mc:Fallback xmlns="">
            <p:sp>
              <p:nvSpPr>
                <p:cNvPr id="44" name="TextBox 43">
                  <a:extLst>
                    <a:ext uri="{FF2B5EF4-FFF2-40B4-BE49-F238E27FC236}">
                      <a16:creationId xmlns:a16="http://schemas.microsoft.com/office/drawing/2014/main" id="{2F21BE85-5AAE-4782-B956-B97ED159BF22}"/>
                    </a:ext>
                  </a:extLst>
                </p:cNvPr>
                <p:cNvSpPr txBox="1">
                  <a:spLocks noRot="1" noChangeAspect="1" noMove="1" noResize="1" noEditPoints="1" noAdjustHandles="1" noChangeArrowheads="1" noChangeShapeType="1" noTextEdit="1"/>
                </p:cNvSpPr>
                <p:nvPr/>
              </p:nvSpPr>
              <p:spPr>
                <a:xfrm>
                  <a:off x="549659" y="3588162"/>
                  <a:ext cx="5142572" cy="279051"/>
                </a:xfrm>
                <a:prstGeom prst="rect">
                  <a:avLst/>
                </a:prstGeom>
                <a:blipFill>
                  <a:blip r:embed="rId12"/>
                  <a:stretch>
                    <a:fillRect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0BF7B06-5FE4-4A06-9355-93D1C352A266}"/>
                    </a:ext>
                  </a:extLst>
                </p:cNvPr>
                <p:cNvSpPr txBox="1"/>
                <p:nvPr/>
              </p:nvSpPr>
              <p:spPr>
                <a:xfrm>
                  <a:off x="523588" y="3834342"/>
                  <a:ext cx="5235300" cy="320729"/>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sSub>
                        <m:sSubPr>
                          <m:ctrlPr>
                            <a:rPr lang="en-US" sz="1100" i="1" smtClean="0">
                              <a:latin typeface="Cambria Math" panose="02040503050406030204" pitchFamily="18" charset="0"/>
                            </a:rPr>
                          </m:ctrlPr>
                        </m:sSubPr>
                        <m:e>
                          <m:r>
                            <a:rPr lang="en-US" sz="1100" b="0" i="1" smtClean="0">
                              <a:latin typeface="Cambria Math" panose="02040503050406030204" pitchFamily="18" charset="0"/>
                            </a:rPr>
                            <m:t>h𝑖𝑛𝑡</m:t>
                          </m:r>
                        </m:e>
                        <m:sub>
                          <m:r>
                            <a:rPr lang="en-US" sz="1100" b="0" i="1" smtClean="0">
                              <a:latin typeface="Cambria Math" panose="02040503050406030204" pitchFamily="18" charset="0"/>
                            </a:rPr>
                            <m:t>𝑐</m:t>
                          </m:r>
                        </m:sub>
                      </m:sSub>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𝑛</m:t>
                          </m:r>
                        </m:sup>
                      </m:sSubSup>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𝑑𝑏</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b="0" i="1" smtClean="0">
                              <a:latin typeface="Cambria Math" panose="02040503050406030204" pitchFamily="18" charset="0"/>
                              <a:ea typeface="Cambria Math" panose="02040503050406030204" pitchFamily="18" charset="0"/>
                            </a:rPr>
                            <m:t>𝑝</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sup>
                      </m:sSubSup>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𝐴</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𝑛</m:t>
                          </m:r>
                        </m:sup>
                      </m:sSubSup>
                      <m:r>
                        <a:rPr lang="en-US" sz="1100" b="0" i="1" smtClean="0">
                          <a:latin typeface="Cambria Math" panose="02040503050406030204" pitchFamily="18" charset="0"/>
                          <a:ea typeface="Cambria Math" panose="02040503050406030204" pitchFamily="18" charset="0"/>
                        </a:rPr>
                        <m:t>=</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0" smtClean="0">
                          <a:latin typeface="Cambria Math" panose="02040503050406030204" pitchFamily="18" charset="0"/>
                          <a:ea typeface="Cambria Math" panose="02040503050406030204" pitchFamily="18" charset="0"/>
                        </a:rPr>
                        <m:t>(</m:t>
                      </m:r>
                      <m:r>
                        <a:rPr lang="en-US" sz="1100" b="0" i="0" smtClean="0">
                          <a:latin typeface="Cambria Math" panose="02040503050406030204" pitchFamily="18" charset="0"/>
                        </a:rPr>
                        <m:t>2</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b="0" i="1" smtClean="0">
                          <a:latin typeface="Cambria Math" panose="02040503050406030204" pitchFamily="18" charset="0"/>
                        </a:rPr>
                        <m:t>)</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𝑛𝑁</m:t>
                      </m:r>
                      <m:r>
                        <a:rPr lang="en-US" sz="1100" i="1">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45" name="TextBox 44">
                  <a:extLst>
                    <a:ext uri="{FF2B5EF4-FFF2-40B4-BE49-F238E27FC236}">
                      <a16:creationId xmlns:a16="http://schemas.microsoft.com/office/drawing/2014/main" id="{90BF7B06-5FE4-4A06-9355-93D1C352A266}"/>
                    </a:ext>
                  </a:extLst>
                </p:cNvPr>
                <p:cNvSpPr txBox="1">
                  <a:spLocks noRot="1" noChangeAspect="1" noMove="1" noResize="1" noEditPoints="1" noAdjustHandles="1" noChangeArrowheads="1" noChangeShapeType="1" noTextEdit="1"/>
                </p:cNvSpPr>
                <p:nvPr/>
              </p:nvSpPr>
              <p:spPr>
                <a:xfrm>
                  <a:off x="523588" y="3834342"/>
                  <a:ext cx="5235300" cy="320729"/>
                </a:xfrm>
                <a:prstGeom prst="rect">
                  <a:avLst/>
                </a:prstGeom>
                <a:blipFill>
                  <a:blip r:embed="rId13"/>
                  <a:stretch>
                    <a:fillRect/>
                  </a:stretch>
                </a:blipFill>
              </p:spPr>
              <p:txBody>
                <a:bodyPr/>
                <a:lstStyle/>
                <a:p>
                  <a:r>
                    <a:rPr lang="en-US">
                      <a:noFill/>
                    </a:rPr>
                    <a:t> </a:t>
                  </a:r>
                </a:p>
              </p:txBody>
            </p:sp>
          </mc:Fallback>
        </mc:AlternateContent>
      </p:grpSp>
      <p:grpSp>
        <p:nvGrpSpPr>
          <p:cNvPr id="4" name="Group 3">
            <a:extLst>
              <a:ext uri="{FF2B5EF4-FFF2-40B4-BE49-F238E27FC236}">
                <a16:creationId xmlns:a16="http://schemas.microsoft.com/office/drawing/2014/main" id="{C8A81933-5722-4FE8-8E77-9F144BC3D2EB}"/>
              </a:ext>
            </a:extLst>
          </p:cNvPr>
          <p:cNvGrpSpPr/>
          <p:nvPr/>
        </p:nvGrpSpPr>
        <p:grpSpPr>
          <a:xfrm>
            <a:off x="523588" y="3626866"/>
            <a:ext cx="5235300" cy="566909"/>
            <a:chOff x="523588" y="4158819"/>
            <a:chExt cx="5235300" cy="566909"/>
          </a:xfrm>
        </p:grpSpPr>
        <p:sp>
          <p:nvSpPr>
            <p:cNvPr id="46" name="TextBox 45">
              <a:extLst>
                <a:ext uri="{FF2B5EF4-FFF2-40B4-BE49-F238E27FC236}">
                  <a16:creationId xmlns:a16="http://schemas.microsoft.com/office/drawing/2014/main" id="{A01599EE-B751-4A70-9BDB-3EB757D6A33D}"/>
                </a:ext>
              </a:extLst>
            </p:cNvPr>
            <p:cNvSpPr txBox="1"/>
            <p:nvPr/>
          </p:nvSpPr>
          <p:spPr>
            <a:xfrm>
              <a:off x="549659" y="4158819"/>
              <a:ext cx="5142572" cy="279051"/>
            </a:xfrm>
            <a:prstGeom prst="rect">
              <a:avLst/>
            </a:prstGeom>
            <a:noFill/>
          </p:spPr>
          <p:txBody>
            <a:bodyPr wrap="square">
              <a:spAutoFit/>
            </a:bodyPr>
            <a:lstStyle/>
            <a:p>
              <a:pPr algn="just"/>
              <a:r>
                <a:rPr lang="en-US" sz="1200" i="1" dirty="0" err="1">
                  <a:latin typeface="Google Sans Text"/>
                </a:rPr>
                <a:t>SimplePIR.answer</a:t>
              </a:r>
              <a:r>
                <a:rPr lang="en-US" sz="1200" i="1" dirty="0">
                  <a:latin typeface="Google Sans Text"/>
                </a:rPr>
                <a:t> (</a:t>
              </a:r>
              <a:r>
                <a:rPr lang="en-US" sz="1200" i="1" dirty="0"/>
                <a:t>Online server work):</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693EFE3-CA00-4D69-94AE-DDA01C07C725}"/>
                    </a:ext>
                  </a:extLst>
                </p:cNvPr>
                <p:cNvSpPr txBox="1"/>
                <p:nvPr/>
              </p:nvSpPr>
              <p:spPr>
                <a:xfrm>
                  <a:off x="523588" y="4404999"/>
                  <a:ext cx="5235300" cy="320729"/>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r>
                        <a:rPr lang="en-US" sz="1100" i="1" smtClean="0">
                          <a:latin typeface="Cambria Math" panose="02040503050406030204" pitchFamily="18" charset="0"/>
                        </a:rPr>
                        <m:t>𝑎𝑛𝑠</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𝑑𝑏</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b="0" i="1" smtClean="0">
                              <a:latin typeface="Cambria Math" panose="02040503050406030204" pitchFamily="18" charset="0"/>
                              <a:ea typeface="Cambria Math" panose="02040503050406030204" pitchFamily="18" charset="0"/>
                            </a:rPr>
                            <m:t>𝑝</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sup>
                      </m:sSubSup>
                      <m:r>
                        <a:rPr lang="en-US" sz="1100" i="1">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rPr>
                        <m:t>𝑞</m:t>
                      </m:r>
                      <m:r>
                        <a:rPr lang="en-US" sz="1100" b="0" i="1" smtClean="0">
                          <a:latin typeface="Cambria Math" panose="02040503050406030204" pitchFamily="18" charset="0"/>
                        </a:rPr>
                        <m:t>𝑢</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a:latin typeface="Cambria Math" panose="02040503050406030204" pitchFamily="18" charset="0"/>
                          <a:ea typeface="Cambria Math" panose="02040503050406030204" pitchFamily="18" charset="0"/>
                        </a:rPr>
                        <m:t>(</m:t>
                      </m:r>
                      <m:r>
                        <a:rPr lang="en-US" sz="1100">
                          <a:latin typeface="Cambria Math" panose="02040503050406030204" pitchFamily="18" charset="0"/>
                        </a:rPr>
                        <m:t>2</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rPr>
                        <m:t>)</m:t>
                      </m:r>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𝑁</m:t>
                      </m:r>
                      <m:r>
                        <a:rPr lang="en-US" sz="1100" i="1">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47" name="TextBox 46">
                  <a:extLst>
                    <a:ext uri="{FF2B5EF4-FFF2-40B4-BE49-F238E27FC236}">
                      <a16:creationId xmlns:a16="http://schemas.microsoft.com/office/drawing/2014/main" id="{0693EFE3-CA00-4D69-94AE-DDA01C07C725}"/>
                    </a:ext>
                  </a:extLst>
                </p:cNvPr>
                <p:cNvSpPr txBox="1">
                  <a:spLocks noRot="1" noChangeAspect="1" noMove="1" noResize="1" noEditPoints="1" noAdjustHandles="1" noChangeArrowheads="1" noChangeShapeType="1" noTextEdit="1"/>
                </p:cNvSpPr>
                <p:nvPr/>
              </p:nvSpPr>
              <p:spPr>
                <a:xfrm>
                  <a:off x="523588" y="4404999"/>
                  <a:ext cx="5235300" cy="320729"/>
                </a:xfrm>
                <a:prstGeom prst="rect">
                  <a:avLst/>
                </a:prstGeom>
                <a:blipFill>
                  <a:blip r:embed="rId14"/>
                  <a:stretch>
                    <a:fillRect/>
                  </a:stretch>
                </a:blipFill>
              </p:spPr>
              <p:txBody>
                <a:bodyPr/>
                <a:lstStyle/>
                <a:p>
                  <a:r>
                    <a:rPr lang="en-US">
                      <a:noFill/>
                    </a:rPr>
                    <a:t> </a:t>
                  </a:r>
                </a:p>
              </p:txBody>
            </p:sp>
          </mc:Fallback>
        </mc:AlternateContent>
      </p:grpSp>
      <p:grpSp>
        <p:nvGrpSpPr>
          <p:cNvPr id="3" name="Group 2">
            <a:extLst>
              <a:ext uri="{FF2B5EF4-FFF2-40B4-BE49-F238E27FC236}">
                <a16:creationId xmlns:a16="http://schemas.microsoft.com/office/drawing/2014/main" id="{93AC3976-2B80-41EE-B0F6-B8FF70777F55}"/>
              </a:ext>
            </a:extLst>
          </p:cNvPr>
          <p:cNvGrpSpPr/>
          <p:nvPr/>
        </p:nvGrpSpPr>
        <p:grpSpPr>
          <a:xfrm>
            <a:off x="523588" y="4166634"/>
            <a:ext cx="5235300" cy="754011"/>
            <a:chOff x="523588" y="4783217"/>
            <a:chExt cx="5235300" cy="754011"/>
          </a:xfrm>
        </p:grpSpPr>
        <p:sp>
          <p:nvSpPr>
            <p:cNvPr id="48" name="TextBox 47">
              <a:extLst>
                <a:ext uri="{FF2B5EF4-FFF2-40B4-BE49-F238E27FC236}">
                  <a16:creationId xmlns:a16="http://schemas.microsoft.com/office/drawing/2014/main" id="{74EDD204-DCDA-4310-A158-3E97555EBEF9}"/>
                </a:ext>
              </a:extLst>
            </p:cNvPr>
            <p:cNvSpPr txBox="1"/>
            <p:nvPr/>
          </p:nvSpPr>
          <p:spPr>
            <a:xfrm>
              <a:off x="549659" y="4783217"/>
              <a:ext cx="5142572" cy="279051"/>
            </a:xfrm>
            <a:prstGeom prst="rect">
              <a:avLst/>
            </a:prstGeom>
            <a:noFill/>
          </p:spPr>
          <p:txBody>
            <a:bodyPr wrap="square">
              <a:spAutoFit/>
            </a:bodyPr>
            <a:lstStyle/>
            <a:p>
              <a:pPr algn="just"/>
              <a:r>
                <a:rPr lang="en-US" sz="1200" i="1" dirty="0" err="1">
                  <a:latin typeface="Google Sans Text"/>
                </a:rPr>
                <a:t>SimplePIR.query</a:t>
              </a:r>
              <a:r>
                <a:rPr lang="en-US" sz="1200" i="1" dirty="0">
                  <a:latin typeface="Google Sans Text"/>
                </a:rPr>
                <a:t> (</a:t>
              </a:r>
              <a:r>
                <a:rPr lang="en-US" sz="1200" i="1" dirty="0"/>
                <a:t>Offline client work):</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67ED1D68-9D0E-40AE-BF0D-4EA0DB373AF2}"/>
                    </a:ext>
                  </a:extLst>
                </p:cNvPr>
                <p:cNvSpPr txBox="1"/>
                <p:nvPr/>
              </p:nvSpPr>
              <p:spPr>
                <a:xfrm>
                  <a:off x="523588" y="5029397"/>
                  <a:ext cx="5235300" cy="507831"/>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r>
                        <a:rPr lang="en-US" sz="1100" i="1">
                          <a:latin typeface="Cambria Math" panose="02040503050406030204" pitchFamily="18" charset="0"/>
                        </a:rPr>
                        <m:t>𝑞𝑢</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𝐴</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𝑛</m:t>
                          </m:r>
                        </m:sup>
                      </m:sSubSup>
                      <m:r>
                        <a:rPr lang="en-US" sz="1100" i="1">
                          <a:latin typeface="Cambria Math" panose="02040503050406030204" pitchFamily="18" charset="0"/>
                          <a:ea typeface="Cambria Math" panose="02040503050406030204" pitchFamily="18" charset="0"/>
                        </a:rPr>
                        <m:t>∙</m:t>
                      </m:r>
                      <m:r>
                        <a:rPr lang="en-US" sz="1100" i="1" smtClean="0">
                          <a:latin typeface="Cambria Math" panose="02040503050406030204" pitchFamily="18" charset="0"/>
                        </a:rPr>
                        <m:t>𝑠</m:t>
                      </m:r>
                      <m:r>
                        <a:rPr lang="en-US" sz="1100" i="1">
                          <a:latin typeface="Cambria Math" panose="02040503050406030204" pitchFamily="18" charset="0"/>
                          <a:ea typeface="Cambria Math" panose="02040503050406030204" pitchFamily="18" charset="0"/>
                        </a:rPr>
                        <m:t>∈</m:t>
                      </m:r>
                      <m:sSubSup>
                        <m:sSubSupPr>
                          <m:ctrlPr>
                            <a:rPr lang="en-US" sz="1100" i="1">
                              <a:latin typeface="Cambria Math" panose="02040503050406030204" pitchFamily="18" charset="0"/>
                              <a:ea typeface="Cambria Math" panose="02040503050406030204" pitchFamily="18" charset="0"/>
                            </a:rPr>
                          </m:ctrlPr>
                        </m:sSubSup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up>
                          <m:r>
                            <a:rPr lang="en-US" sz="1100" b="0" i="1" smtClean="0">
                              <a:latin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bSup>
                      <m:r>
                        <a:rPr lang="en-US" sz="1100" b="0" i="1" smtClean="0">
                          <a:latin typeface="Cambria Math" panose="02040503050406030204" pitchFamily="18" charset="0"/>
                        </a:rPr>
                        <m:t>+</m:t>
                      </m:r>
                      <m:r>
                        <a:rPr lang="en-US" sz="1100" b="0" i="1" smtClean="0">
                          <a:latin typeface="Cambria Math" panose="02040503050406030204" pitchFamily="18" charset="0"/>
                        </a:rPr>
                        <m:t>𝑒</m:t>
                      </m:r>
                      <m:r>
                        <a:rPr lang="en-US" sz="1100" i="1">
                          <a:latin typeface="Cambria Math" panose="02040503050406030204" pitchFamily="18" charset="0"/>
                          <a:ea typeface="Cambria Math" panose="02040503050406030204" pitchFamily="18" charset="0"/>
                        </a:rPr>
                        <m:t>∈</m:t>
                      </m:r>
                      <m:sSup>
                        <m:sSupPr>
                          <m:ctrlPr>
                            <a:rPr lang="en-US" sz="1100" i="1" smtClean="0">
                              <a:latin typeface="Cambria Math" panose="02040503050406030204" pitchFamily="18" charset="0"/>
                              <a:ea typeface="Cambria Math" panose="02040503050406030204" pitchFamily="18" charset="0"/>
                            </a:rPr>
                          </m:ctrlPr>
                        </m:sSupPr>
                        <m:e>
                          <m:r>
                            <a:rPr lang="en-US" sz="1100" i="1">
                              <a:latin typeface="Cambria Math" panose="02040503050406030204" pitchFamily="18" charset="0"/>
                              <a:ea typeface="Cambria Math" panose="02040503050406030204" pitchFamily="18" charset="0"/>
                            </a:rPr>
                            <m:t>𝜒</m:t>
                          </m:r>
                        </m:e>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p>
                      <m:r>
                        <a:rPr lang="en-US" sz="1100" i="1">
                          <a:latin typeface="Cambria Math" panose="02040503050406030204" pitchFamily="18" charset="0"/>
                        </a:rPr>
                        <m:t>+</m:t>
                      </m:r>
                      <m:r>
                        <a:rPr lang="el-GR" sz="1100" i="1">
                          <a:latin typeface="Cambria Math" panose="02040503050406030204" pitchFamily="18" charset="0"/>
                        </a:rPr>
                        <m:t>𝛥</m:t>
                      </m:r>
                      <m:r>
                        <m:rPr>
                          <m:nor/>
                        </m:rPr>
                        <a:rPr lang="en-US" sz="1100" dirty="0">
                          <a:ea typeface="Cambria Math" panose="02040503050406030204" pitchFamily="18" charset="0"/>
                        </a:rPr>
                        <m:t> </m:t>
                      </m:r>
                      <m:r>
                        <a:rPr lang="en-US" sz="1100" i="1">
                          <a:latin typeface="Cambria Math" panose="02040503050406030204" pitchFamily="18" charset="0"/>
                          <a:ea typeface="Cambria Math" panose="02040503050406030204" pitchFamily="18" charset="0"/>
                        </a:rPr>
                        <m:t>∙</m:t>
                      </m:r>
                      <m:sSub>
                        <m:sSubPr>
                          <m:ctrlPr>
                            <a:rPr lang="en-US" sz="1100" i="1">
                              <a:latin typeface="Cambria Math" panose="02040503050406030204" pitchFamily="18" charset="0"/>
                              <a:ea typeface="Cambria Math" panose="02040503050406030204" pitchFamily="18" charset="0"/>
                            </a:rPr>
                          </m:ctrlPr>
                        </m:sSubPr>
                        <m:e>
                          <m:r>
                            <a:rPr lang="en-US" sz="1100" i="1">
                              <a:latin typeface="Cambria Math" panose="02040503050406030204" pitchFamily="18" charset="0"/>
                              <a:ea typeface="Cambria Math" panose="02040503050406030204" pitchFamily="18" charset="0"/>
                            </a:rPr>
                            <m:t>𝑢</m:t>
                          </m:r>
                        </m:e>
                        <m:sub>
                          <m:sSub>
                            <m:sSubPr>
                              <m:ctrlPr>
                                <a:rPr lang="en-US" sz="1100" i="1">
                                  <a:latin typeface="Cambria Math" panose="02040503050406030204" pitchFamily="18" charset="0"/>
                                  <a:ea typeface="Cambria Math" panose="02040503050406030204" pitchFamily="18" charset="0"/>
                                </a:rPr>
                              </m:ctrlPr>
                            </m:sSubPr>
                            <m:e>
                              <m:r>
                                <a:rPr lang="en-US" sz="1100" i="1">
                                  <a:latin typeface="Cambria Math" panose="02040503050406030204" pitchFamily="18" charset="0"/>
                                  <a:ea typeface="Cambria Math" panose="02040503050406030204" pitchFamily="18" charset="0"/>
                                </a:rPr>
                                <m:t>𝑖</m:t>
                              </m:r>
                            </m:e>
                            <m:sub>
                              <m:r>
                                <a:rPr lang="en-US" sz="1100" i="1">
                                  <a:latin typeface="Cambria Math" panose="02040503050406030204" pitchFamily="18" charset="0"/>
                                  <a:ea typeface="Cambria Math" panose="02040503050406030204" pitchFamily="18" charset="0"/>
                                </a:rPr>
                                <m:t>𝑐𝑜𝑙</m:t>
                              </m:r>
                            </m:sub>
                          </m:sSub>
                        </m:sub>
                      </m:sSub>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sSup>
                        <m:sSupPr>
                          <m:ctrlPr>
                            <a:rPr lang="en-US" sz="1100" b="0" i="1" smtClean="0">
                              <a:latin typeface="Cambria Math" panose="02040503050406030204" pitchFamily="18" charset="0"/>
                              <a:ea typeface="Cambria Math" panose="02040503050406030204" pitchFamily="18" charset="0"/>
                            </a:rPr>
                          </m:ctrlPr>
                        </m:sSupPr>
                        <m:e>
                          <m:d>
                            <m:dPr>
                              <m:begChr m:val="{"/>
                              <m:endChr m:val="}"/>
                              <m:ctrlPr>
                                <a:rPr lang="en-US" sz="1100" b="0" i="1" smtClean="0">
                                  <a:latin typeface="Cambria Math" panose="02040503050406030204" pitchFamily="18" charset="0"/>
                                  <a:ea typeface="Cambria Math" panose="02040503050406030204" pitchFamily="18" charset="0"/>
                                </a:rPr>
                              </m:ctrlPr>
                            </m:dPr>
                            <m:e>
                              <m:r>
                                <a:rPr lang="en-US" sz="1100" b="0" i="1" smtClean="0">
                                  <a:latin typeface="Cambria Math" panose="02040503050406030204" pitchFamily="18" charset="0"/>
                                  <a:ea typeface="Cambria Math" panose="02040503050406030204" pitchFamily="18" charset="0"/>
                                </a:rPr>
                                <m:t>0,1</m:t>
                              </m:r>
                            </m:e>
                          </m:d>
                        </m:e>
                        <m:sup>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sup>
                      </m:sSup>
                      <m:r>
                        <a:rPr lang="en-US" sz="1100" b="0" i="1" smtClean="0">
                          <a:latin typeface="Cambria Math" panose="02040503050406030204" pitchFamily="18" charset="0"/>
                          <a:ea typeface="Cambria Math" panose="02040503050406030204" pitchFamily="18" charset="0"/>
                        </a:rPr>
                        <m:t>=</m:t>
                      </m:r>
                    </m:oMath>
                  </a14:m>
                  <a:endParaRPr lang="en-US" sz="1100" b="0" i="1" dirty="0">
                    <a:latin typeface="Cambria Math" panose="02040503050406030204" pitchFamily="18" charset="0"/>
                    <a:ea typeface="Cambria Math" panose="02040503050406030204" pitchFamily="18" charset="0"/>
                  </a:endParaRPr>
                </a:p>
                <a:p>
                  <a:pPr lvl="0" algn="ctr">
                    <a:defRPr/>
                  </a:pPr>
                  <a14:m>
                    <m:oMath xmlns:m="http://schemas.openxmlformats.org/officeDocument/2006/math">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r>
                        <a:rPr lang="en-US" sz="1100">
                          <a:latin typeface="Cambria Math" panose="02040503050406030204" pitchFamily="18" charset="0"/>
                          <a:ea typeface="Cambria Math" panose="02040503050406030204" pitchFamily="18" charset="0"/>
                        </a:rPr>
                        <m:t>(</m:t>
                      </m:r>
                      <m:r>
                        <a:rPr lang="en-US" sz="1100">
                          <a:latin typeface="Cambria Math" panose="02040503050406030204" pitchFamily="18" charset="0"/>
                        </a:rPr>
                        <m:t>2</m:t>
                      </m:r>
                      <m:r>
                        <a:rPr lang="en-US" sz="1100" b="0" i="1" smtClean="0">
                          <a:latin typeface="Cambria Math" panose="02040503050406030204" pitchFamily="18" charset="0"/>
                        </a:rPr>
                        <m:t>𝑛</m:t>
                      </m:r>
                      <m:r>
                        <a:rPr lang="en-US" sz="1100" i="1">
                          <a:latin typeface="Cambria Math" panose="02040503050406030204" pitchFamily="18" charset="0"/>
                        </a:rPr>
                        <m:t>)</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m:t>
                      </m:r>
                      <m:rad>
                        <m:radPr>
                          <m:degHide m:val="on"/>
                          <m:ctrlPr>
                            <a:rPr lang="en-US" sz="1100" i="1">
                              <a:latin typeface="Cambria Math" panose="02040503050406030204" pitchFamily="18" charset="0"/>
                            </a:rPr>
                          </m:ctrlPr>
                        </m:radPr>
                        <m:deg/>
                        <m:e>
                          <m:r>
                            <a:rPr lang="en-US" sz="1100" i="1">
                              <a:latin typeface="Cambria Math" panose="02040503050406030204" pitchFamily="18" charset="0"/>
                            </a:rPr>
                            <m:t>𝑁</m:t>
                          </m:r>
                        </m:e>
                      </m:rad>
                      <m:r>
                        <a:rPr lang="en-US" sz="1100" i="1">
                          <a:latin typeface="Cambria Math" panose="02040503050406030204" pitchFamily="18" charset="0"/>
                          <a:ea typeface="Cambria Math" panose="02040503050406030204" pitchFamily="18" charset="0"/>
                        </a:rPr>
                        <m:t>)</m:t>
                      </m:r>
                    </m:oMath>
                  </a14:m>
                  <a:endParaRPr lang="en-US" sz="1100" i="1" dirty="0">
                    <a:effectLst/>
                    <a:latin typeface="Google Sans Text"/>
                  </a:endParaRPr>
                </a:p>
              </p:txBody>
            </p:sp>
          </mc:Choice>
          <mc:Fallback xmlns="">
            <p:sp>
              <p:nvSpPr>
                <p:cNvPr id="49" name="TextBox 48">
                  <a:extLst>
                    <a:ext uri="{FF2B5EF4-FFF2-40B4-BE49-F238E27FC236}">
                      <a16:creationId xmlns:a16="http://schemas.microsoft.com/office/drawing/2014/main" id="{67ED1D68-9D0E-40AE-BF0D-4EA0DB373AF2}"/>
                    </a:ext>
                  </a:extLst>
                </p:cNvPr>
                <p:cNvSpPr txBox="1">
                  <a:spLocks noRot="1" noChangeAspect="1" noMove="1" noResize="1" noEditPoints="1" noAdjustHandles="1" noChangeArrowheads="1" noChangeShapeType="1" noTextEdit="1"/>
                </p:cNvSpPr>
                <p:nvPr/>
              </p:nvSpPr>
              <p:spPr>
                <a:xfrm>
                  <a:off x="523588" y="5029397"/>
                  <a:ext cx="5235300" cy="507831"/>
                </a:xfrm>
                <a:prstGeom prst="rect">
                  <a:avLst/>
                </a:prstGeom>
                <a:blipFill>
                  <a:blip r:embed="rId15"/>
                  <a:stretch>
                    <a:fillRect b="-2410"/>
                  </a:stretch>
                </a:blipFill>
              </p:spPr>
              <p:txBody>
                <a:bodyPr/>
                <a:lstStyle/>
                <a:p>
                  <a:r>
                    <a:rPr lang="en-US">
                      <a:noFill/>
                    </a:rPr>
                    <a:t> </a:t>
                  </a:r>
                </a:p>
              </p:txBody>
            </p:sp>
          </mc:Fallback>
        </mc:AlternateContent>
      </p:grpSp>
      <p:grpSp>
        <p:nvGrpSpPr>
          <p:cNvPr id="2" name="Group 1">
            <a:extLst>
              <a:ext uri="{FF2B5EF4-FFF2-40B4-BE49-F238E27FC236}">
                <a16:creationId xmlns:a16="http://schemas.microsoft.com/office/drawing/2014/main" id="{A2F956B5-D31D-4CFF-A223-91C9B19145FE}"/>
              </a:ext>
            </a:extLst>
          </p:cNvPr>
          <p:cNvGrpSpPr/>
          <p:nvPr/>
        </p:nvGrpSpPr>
        <p:grpSpPr>
          <a:xfrm>
            <a:off x="523588" y="4921878"/>
            <a:ext cx="5235300" cy="533823"/>
            <a:chOff x="523588" y="5529041"/>
            <a:chExt cx="5235300" cy="533823"/>
          </a:xfrm>
        </p:grpSpPr>
        <p:sp>
          <p:nvSpPr>
            <p:cNvPr id="50" name="TextBox 49">
              <a:extLst>
                <a:ext uri="{FF2B5EF4-FFF2-40B4-BE49-F238E27FC236}">
                  <a16:creationId xmlns:a16="http://schemas.microsoft.com/office/drawing/2014/main" id="{C8E60EF2-F6EF-4A34-A602-3B9BA5D7B4D6}"/>
                </a:ext>
              </a:extLst>
            </p:cNvPr>
            <p:cNvSpPr txBox="1"/>
            <p:nvPr/>
          </p:nvSpPr>
          <p:spPr>
            <a:xfrm>
              <a:off x="549659" y="5529041"/>
              <a:ext cx="5142572" cy="279051"/>
            </a:xfrm>
            <a:prstGeom prst="rect">
              <a:avLst/>
            </a:prstGeom>
            <a:noFill/>
          </p:spPr>
          <p:txBody>
            <a:bodyPr wrap="square">
              <a:spAutoFit/>
            </a:bodyPr>
            <a:lstStyle/>
            <a:p>
              <a:pPr algn="just"/>
              <a:r>
                <a:rPr lang="en-US" sz="1200" i="1" dirty="0" err="1">
                  <a:latin typeface="Google Sans Text"/>
                </a:rPr>
                <a:t>SimplePIR.recover</a:t>
              </a:r>
              <a:r>
                <a:rPr lang="en-US" sz="1200" i="1" dirty="0">
                  <a:latin typeface="Google Sans Text"/>
                </a:rPr>
                <a:t> (</a:t>
              </a:r>
              <a:r>
                <a:rPr lang="en-US" sz="1200" i="1" dirty="0"/>
                <a:t>Online client work):</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EF9C9857-8605-4C0E-9FA8-F97A73CFBD03}"/>
                    </a:ext>
                  </a:extLst>
                </p:cNvPr>
                <p:cNvSpPr txBox="1"/>
                <p:nvPr/>
              </p:nvSpPr>
              <p:spPr>
                <a:xfrm>
                  <a:off x="523588" y="5775221"/>
                  <a:ext cx="5235300" cy="287643"/>
                </a:xfrm>
                <a:prstGeom prst="rect">
                  <a:avLst/>
                </a:prstGeom>
                <a:noFill/>
              </p:spPr>
              <p:txBody>
                <a:bodyPr wrap="square">
                  <a:spAutoFit/>
                </a:bodyPr>
                <a:lstStyle/>
                <a:p>
                  <a:pPr lvl="0" algn="ctr">
                    <a:defRPr/>
                  </a:pPr>
                  <a14:m>
                    <m:oMath xmlns:m="http://schemas.openxmlformats.org/officeDocument/2006/math">
                      <m:r>
                        <a:rPr lang="en-US" sz="1100" i="1" smtClean="0">
                          <a:latin typeface="Cambria Math" panose="02040503050406030204" pitchFamily="18" charset="0"/>
                        </a:rPr>
                        <m:t>=</m:t>
                      </m:r>
                      <m:acc>
                        <m:accPr>
                          <m:chr m:val="̂"/>
                          <m:ctrlPr>
                            <a:rPr lang="en-US" sz="1100" i="1" smtClean="0">
                              <a:latin typeface="Cambria Math" panose="02040503050406030204" pitchFamily="18" charset="0"/>
                            </a:rPr>
                          </m:ctrlPr>
                        </m:accPr>
                        <m:e>
                          <m:r>
                            <a:rPr lang="en-US" sz="1100" b="0" i="1" smtClean="0">
                              <a:latin typeface="Cambria Math" panose="02040503050406030204" pitchFamily="18" charset="0"/>
                            </a:rPr>
                            <m:t>𝑑</m:t>
                          </m:r>
                        </m:e>
                      </m:acc>
                      <m:r>
                        <a:rPr lang="en-US" sz="1100" i="1">
                          <a:latin typeface="Cambria Math" panose="02040503050406030204" pitchFamily="18" charset="0"/>
                          <a:ea typeface="Cambria Math" panose="02040503050406030204" pitchFamily="18" charset="0"/>
                        </a:rPr>
                        <m:t>∈</m:t>
                      </m:r>
                      <m:sSub>
                        <m:sSubPr>
                          <m:ctrlPr>
                            <a:rPr lang="en-US" sz="1100" i="1">
                              <a:latin typeface="Cambria Math" panose="02040503050406030204" pitchFamily="18" charset="0"/>
                              <a:ea typeface="Cambria Math" panose="02040503050406030204" pitchFamily="18" charset="0"/>
                            </a:rPr>
                          </m:ctrlPr>
                        </m:sSubPr>
                        <m:e>
                          <m:r>
                            <a:rPr lang="en-US" sz="1100" i="1">
                              <a:latin typeface="Cambria Math" panose="02040503050406030204" pitchFamily="18" charset="0"/>
                              <a:ea typeface="Cambria Math" panose="02040503050406030204" pitchFamily="18" charset="0"/>
                            </a:rPr>
                            <m:t>𝑍</m:t>
                          </m:r>
                        </m:e>
                        <m:sub>
                          <m:r>
                            <a:rPr lang="en-US" sz="1100" i="1">
                              <a:latin typeface="Cambria Math" panose="02040503050406030204" pitchFamily="18" charset="0"/>
                              <a:ea typeface="Cambria Math" panose="02040503050406030204" pitchFamily="18" charset="0"/>
                            </a:rPr>
                            <m:t>𝑞</m:t>
                          </m:r>
                        </m:sub>
                      </m:sSub>
                      <m:r>
                        <a:rPr lang="en-US" sz="1100" b="0" i="1" smtClean="0">
                          <a:latin typeface="Cambria Math" panose="02040503050406030204" pitchFamily="18" charset="0"/>
                        </a:rPr>
                        <m:t>=(</m:t>
                      </m:r>
                      <m:r>
                        <a:rPr lang="en-US" sz="1100" b="0" i="1" smtClean="0">
                          <a:latin typeface="Cambria Math" panose="02040503050406030204" pitchFamily="18" charset="0"/>
                        </a:rPr>
                        <m:t>𝑎𝑛𝑠</m:t>
                      </m:r>
                      <m:d>
                        <m:dPr>
                          <m:begChr m:val="["/>
                          <m:endChr m:val="]"/>
                          <m:ctrlPr>
                            <a:rPr lang="en-US" sz="1100" b="0" i="1" smtClean="0">
                              <a:latin typeface="Cambria Math" panose="02040503050406030204" pitchFamily="18" charset="0"/>
                            </a:rPr>
                          </m:ctrlPr>
                        </m:dPr>
                        <m:e>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𝑖</m:t>
                              </m:r>
                            </m:e>
                            <m:sub>
                              <m:r>
                                <a:rPr lang="en-US" sz="1100" b="0" i="1" smtClean="0">
                                  <a:latin typeface="Cambria Math" panose="02040503050406030204" pitchFamily="18" charset="0"/>
                                </a:rPr>
                                <m:t>𝑟𝑜𝑤</m:t>
                              </m:r>
                            </m:sub>
                          </m:sSub>
                        </m:e>
                      </m:d>
                      <m:r>
                        <a:rPr lang="en-US" sz="1100" b="0" i="1" smtClean="0">
                          <a:latin typeface="Cambria Math" panose="02040503050406030204" pitchFamily="18" charset="0"/>
                        </a:rPr>
                        <m:t>−</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h𝑖𝑛𝑡</m:t>
                          </m:r>
                        </m:e>
                        <m:sub>
                          <m:r>
                            <a:rPr lang="en-US" sz="1100" b="0" i="1" smtClean="0">
                              <a:latin typeface="Cambria Math" panose="02040503050406030204" pitchFamily="18" charset="0"/>
                            </a:rPr>
                            <m:t>𝑐</m:t>
                          </m:r>
                        </m:sub>
                      </m:sSub>
                      <m:d>
                        <m:dPr>
                          <m:begChr m:val="["/>
                          <m:ctrlPr>
                            <a:rPr lang="en-US" sz="1100" b="0" i="1" smtClean="0">
                              <a:latin typeface="Cambria Math" panose="02040503050406030204" pitchFamily="18" charset="0"/>
                            </a:rPr>
                          </m:ctrlPr>
                        </m:dPr>
                        <m:e>
                          <m:sSub>
                            <m:sSubPr>
                              <m:ctrlPr>
                                <a:rPr lang="en-US" sz="1100" i="1">
                                  <a:latin typeface="Cambria Math" panose="02040503050406030204" pitchFamily="18" charset="0"/>
                                </a:rPr>
                              </m:ctrlPr>
                            </m:sSubPr>
                            <m:e>
                              <m:r>
                                <a:rPr lang="en-US" sz="1100" i="1">
                                  <a:latin typeface="Cambria Math" panose="02040503050406030204" pitchFamily="18" charset="0"/>
                                </a:rPr>
                                <m:t>𝑖</m:t>
                              </m:r>
                            </m:e>
                            <m:sub>
                              <m:r>
                                <a:rPr lang="en-US" sz="1100" i="1">
                                  <a:latin typeface="Cambria Math" panose="02040503050406030204" pitchFamily="18" charset="0"/>
                                </a:rPr>
                                <m:t>𝑟𝑜𝑤</m:t>
                              </m:r>
                            </m:sub>
                          </m:sSub>
                          <m:r>
                            <m:rPr>
                              <m:nor/>
                            </m:rPr>
                            <a:rPr lang="en-US" sz="1100" dirty="0">
                              <a:latin typeface="Google Sans Text"/>
                            </a:rPr>
                            <m:t>,:]</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𝑠</m:t>
                          </m:r>
                        </m:e>
                      </m:d>
                      <m:r>
                        <a:rPr lang="en-US" sz="1100" b="0" i="1" smtClean="0">
                          <a:latin typeface="Cambria Math" panose="02040503050406030204" pitchFamily="18" charset="0"/>
                          <a:ea typeface="Cambria Math" panose="02040503050406030204" pitchFamily="18" charset="0"/>
                        </a:rPr>
                        <m:t>=2</m:t>
                      </m:r>
                      <m:r>
                        <a:rPr lang="en-US" sz="1100" b="0" i="1" smtClean="0">
                          <a:latin typeface="Cambria Math" panose="02040503050406030204" pitchFamily="18" charset="0"/>
                          <a:ea typeface="Cambria Math" panose="02040503050406030204" pitchFamily="18" charset="0"/>
                        </a:rPr>
                        <m:t>𝑛</m:t>
                      </m:r>
                    </m:oMath>
                  </a14:m>
                  <a:r>
                    <a:rPr lang="en-US" sz="1100" dirty="0">
                      <a:ea typeface="Cambria Math" panose="02040503050406030204" pitchFamily="18" charset="0"/>
                    </a:rPr>
                    <a:t> </a:t>
                  </a:r>
                  <a14:m>
                    <m:oMath xmlns:m="http://schemas.openxmlformats.org/officeDocument/2006/math">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(2</m:t>
                      </m:r>
                      <m:r>
                        <a:rPr lang="en-US" sz="1100" i="1">
                          <a:latin typeface="Cambria Math" panose="02040503050406030204" pitchFamily="18" charset="0"/>
                          <a:ea typeface="Cambria Math" panose="02040503050406030204" pitchFamily="18" charset="0"/>
                        </a:rPr>
                        <m:t>𝑛</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𝑂</m:t>
                      </m:r>
                      <m:r>
                        <a:rPr lang="en-US" sz="1100" i="1">
                          <a:latin typeface="Cambria Math" panose="02040503050406030204" pitchFamily="18" charset="0"/>
                          <a:ea typeface="Cambria Math" panose="02040503050406030204" pitchFamily="18" charset="0"/>
                        </a:rPr>
                        <m:t>(</m:t>
                      </m:r>
                      <m:r>
                        <a:rPr lang="en-US" sz="1100" b="0" i="1" smtClean="0">
                          <a:latin typeface="Cambria Math" panose="02040503050406030204" pitchFamily="18" charset="0"/>
                          <a:ea typeface="Cambria Math" panose="02040503050406030204" pitchFamily="18" charset="0"/>
                        </a:rPr>
                        <m:t>1</m:t>
                      </m:r>
                      <m:r>
                        <a:rPr lang="en-US" sz="1100" i="1">
                          <a:latin typeface="Cambria Math" panose="02040503050406030204" pitchFamily="18" charset="0"/>
                          <a:ea typeface="Cambria Math" panose="02040503050406030204" pitchFamily="18" charset="0"/>
                        </a:rPr>
                        <m:t>)</m:t>
                      </m:r>
                    </m:oMath>
                  </a14:m>
                  <a:endParaRPr lang="en-US" sz="1100" dirty="0">
                    <a:effectLst/>
                    <a:latin typeface="Google Sans Text"/>
                  </a:endParaRPr>
                </a:p>
              </p:txBody>
            </p:sp>
          </mc:Choice>
          <mc:Fallback xmlns="">
            <p:sp>
              <p:nvSpPr>
                <p:cNvPr id="51" name="TextBox 50">
                  <a:extLst>
                    <a:ext uri="{FF2B5EF4-FFF2-40B4-BE49-F238E27FC236}">
                      <a16:creationId xmlns:a16="http://schemas.microsoft.com/office/drawing/2014/main" id="{EF9C9857-8605-4C0E-9FA8-F97A73CFBD03}"/>
                    </a:ext>
                  </a:extLst>
                </p:cNvPr>
                <p:cNvSpPr txBox="1">
                  <a:spLocks noRot="1" noChangeAspect="1" noMove="1" noResize="1" noEditPoints="1" noAdjustHandles="1" noChangeArrowheads="1" noChangeShapeType="1" noTextEdit="1"/>
                </p:cNvSpPr>
                <p:nvPr/>
              </p:nvSpPr>
              <p:spPr>
                <a:xfrm>
                  <a:off x="523588" y="5775221"/>
                  <a:ext cx="5235300" cy="287643"/>
                </a:xfrm>
                <a:prstGeom prst="rect">
                  <a:avLst/>
                </a:prstGeom>
                <a:blipFill>
                  <a:blip r:embed="rId1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41545902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04</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3863269" y="3767323"/>
            <a:ext cx="4465461" cy="853375"/>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Hypercube-based PIR</a:t>
            </a:r>
          </a:p>
          <a:p>
            <a:pPr>
              <a:lnSpc>
                <a:spcPct val="130000"/>
              </a:lnSpc>
            </a:pP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基于超立方体数据库布局的</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a:cxnSpLocks/>
          </p:cNvCxnSpPr>
          <p:nvPr/>
        </p:nvCxnSpPr>
        <p:spPr>
          <a:xfrm flipH="1">
            <a:off x="3834416" y="4712928"/>
            <a:ext cx="4347560" cy="0"/>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39</a:t>
            </a:fld>
            <a:endParaRPr lang="en-US"/>
          </a:p>
        </p:txBody>
      </p:sp>
      <p:sp>
        <p:nvSpPr>
          <p:cNvPr id="6" name="TextBox 5">
            <a:extLst>
              <a:ext uri="{FF2B5EF4-FFF2-40B4-BE49-F238E27FC236}">
                <a16:creationId xmlns:a16="http://schemas.microsoft.com/office/drawing/2014/main" id="{1DBD6109-D946-4BD4-B3C3-F01A0393396E}"/>
              </a:ext>
            </a:extLst>
          </p:cNvPr>
          <p:cNvSpPr txBox="1"/>
          <p:nvPr/>
        </p:nvSpPr>
        <p:spPr>
          <a:xfrm>
            <a:off x="185854" y="5694014"/>
            <a:ext cx="7297125" cy="1027461"/>
          </a:xfrm>
          <a:prstGeom prst="rect">
            <a:avLst/>
          </a:prstGeom>
          <a:noFill/>
        </p:spPr>
        <p:txBody>
          <a:bodyPr wrap="square">
            <a:spAutoFit/>
          </a:bodyPr>
          <a:lstStyle/>
          <a:p>
            <a:pPr algn="just">
              <a:lnSpc>
                <a:spcPct val="150000"/>
              </a:lnSpc>
              <a:spcBef>
                <a:spcPts val="1200"/>
              </a:spcBef>
            </a:pPr>
            <a:r>
              <a:rPr lang="en-US" i="1" dirty="0">
                <a:latin typeface="Times New Roman" panose="02020603050405020304" pitchFamily="18" charset="0"/>
                <a:ea typeface="宋体" panose="02010600030101010101" pitchFamily="2" charset="-122"/>
                <a:cs typeface="Times New Roman" panose="02020603050405020304" pitchFamily="18" charset="0"/>
              </a:rPr>
              <a:t>PIR Revisited (Kim, Park, Sung 2025) </a:t>
            </a:r>
          </a:p>
          <a:p>
            <a:pPr algn="just">
              <a:lnSpc>
                <a:spcPct val="150000"/>
              </a:lnSpc>
              <a:spcBef>
                <a:spcPts val="1200"/>
              </a:spcBef>
            </a:pPr>
            <a:r>
              <a:rPr lang="en-US" i="1" dirty="0">
                <a:latin typeface="Times New Roman" panose="02020603050405020304" pitchFamily="18" charset="0"/>
                <a:ea typeface="宋体" panose="02010600030101010101" pitchFamily="2" charset="-122"/>
                <a:cs typeface="Times New Roman" panose="02020603050405020304" pitchFamily="18" charset="0"/>
              </a:rPr>
              <a:t>https://eprint.iacr.org/2014/1025.pdf</a:t>
            </a:r>
          </a:p>
        </p:txBody>
      </p:sp>
    </p:spTree>
    <p:extLst>
      <p:ext uri="{BB962C8B-B14F-4D97-AF65-F5344CB8AC3E}">
        <p14:creationId xmlns:p14="http://schemas.microsoft.com/office/powerpoint/2010/main" val="3646708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63296"/>
          </a:xfrm>
          <a:prstGeom prst="rect">
            <a:avLst/>
          </a:prstGeom>
          <a:noFill/>
          <a:ln/>
        </p:spPr>
        <p:txBody>
          <a:bodyPr wrap="square" rtlCol="0" anchor="ctr"/>
          <a:lstStyle/>
          <a:p>
            <a:r>
              <a:rPr lang="en-US" sz="2667" b="1" dirty="0">
                <a:solidFill>
                  <a:srgbClr val="1E293B"/>
                </a:solidFill>
                <a:latin typeface="Calibri" pitchFamily="34" charset="0"/>
                <a:ea typeface="Calibri" pitchFamily="34" charset="-122"/>
                <a:cs typeface="Calibri" pitchFamily="34" charset="-120"/>
              </a:rPr>
              <a:t>Notation Reference / </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符号参考</a:t>
            </a:r>
            <a:endPar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 1"/>
          <p:cNvSpPr/>
          <p:nvPr/>
        </p:nvSpPr>
        <p:spPr>
          <a:xfrm>
            <a:off x="487680" y="512064"/>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All slides use these symbols and function signatures exclusively.  Source: PIR Revisited (Kim, Park, Sung 2025) §2.1–2.2, §3.1–3.2.</a:t>
            </a:r>
            <a:endParaRPr lang="en-US" sz="1133" dirty="0"/>
          </a:p>
        </p:txBody>
      </p:sp>
      <p:sp>
        <p:nvSpPr>
          <p:cNvPr id="4" name="Shape 2"/>
          <p:cNvSpPr/>
          <p:nvPr/>
        </p:nvSpPr>
        <p:spPr>
          <a:xfrm>
            <a:off x="487680" y="768096"/>
            <a:ext cx="7193280" cy="316992"/>
          </a:xfrm>
          <a:prstGeom prst="rect">
            <a:avLst/>
          </a:prstGeom>
          <a:solidFill>
            <a:srgbClr val="1E293B"/>
          </a:solidFill>
          <a:ln w="12700">
            <a:solidFill>
              <a:srgbClr val="1E293B"/>
            </a:solidFill>
            <a:prstDash val="solid"/>
          </a:ln>
        </p:spPr>
      </p:sp>
      <p:sp>
        <p:nvSpPr>
          <p:cNvPr id="5" name="Text 3"/>
          <p:cNvSpPr/>
          <p:nvPr/>
        </p:nvSpPr>
        <p:spPr>
          <a:xfrm>
            <a:off x="633984" y="768096"/>
            <a:ext cx="7046976" cy="316992"/>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Universal Symbols  (PIR Revisited §2.1–3.2)</a:t>
            </a:r>
            <a:endParaRPr lang="en-US" sz="1200" dirty="0"/>
          </a:p>
        </p:txBody>
      </p:sp>
      <mc:AlternateContent xmlns:mc="http://schemas.openxmlformats.org/markup-compatibility/2006" xmlns:a14="http://schemas.microsoft.com/office/drawing/2010/main">
        <mc:Choice Requires="a14">
          <p:graphicFrame>
            <p:nvGraphicFramePr>
              <p:cNvPr id="6" name="Table 0"/>
              <p:cNvGraphicFramePr>
                <a:graphicFrameLocks noGrp="1"/>
              </p:cNvGraphicFramePr>
              <p:nvPr>
                <p:extLst>
                  <p:ext uri="{D42A27DB-BD31-4B8C-83A1-F6EECF244321}">
                    <p14:modId xmlns:p14="http://schemas.microsoft.com/office/powerpoint/2010/main" val="2491604153"/>
                  </p:ext>
                </p:extLst>
              </p:nvPr>
            </p:nvGraphicFramePr>
            <p:xfrm>
              <a:off x="487680" y="1097280"/>
              <a:ext cx="7193280" cy="5653028"/>
            </p:xfrm>
            <a:graphic>
              <a:graphicData uri="http://schemas.openxmlformats.org/drawingml/2006/table">
                <a:tbl>
                  <a:tblPr/>
                  <a:tblGrid>
                    <a:gridCol w="1341120">
                      <a:extLst>
                        <a:ext uri="{9D8B030D-6E8A-4147-A177-3AD203B41FA5}">
                          <a16:colId xmlns:a16="http://schemas.microsoft.com/office/drawing/2014/main" val="20000"/>
                        </a:ext>
                      </a:extLst>
                    </a:gridCol>
                    <a:gridCol w="4413504">
                      <a:extLst>
                        <a:ext uri="{9D8B030D-6E8A-4147-A177-3AD203B41FA5}">
                          <a16:colId xmlns:a16="http://schemas.microsoft.com/office/drawing/2014/main" val="20001"/>
                        </a:ext>
                      </a:extLst>
                    </a:gridCol>
                    <a:gridCol w="1438656">
                      <a:extLst>
                        <a:ext uri="{9D8B030D-6E8A-4147-A177-3AD203B41FA5}">
                          <a16:colId xmlns:a16="http://schemas.microsoft.com/office/drawing/2014/main" val="20002"/>
                        </a:ext>
                      </a:extLst>
                    </a:gridCol>
                  </a:tblGrid>
                  <a:tr h="22250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Symbol</a:t>
                          </a:r>
                          <a:endParaRPr lang="en-US" sz="11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7415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7415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Src</a:t>
                          </a:r>
                          <a:endParaRPr lang="en-US" sz="11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74151"/>
                        </a:solidFill>
                      </a:tcPr>
                    </a:tc>
                    <a:extLst>
                      <a:ext uri="{0D108BD9-81ED-4DB2-BD59-A6C34878D82A}">
                        <a16:rowId xmlns:a16="http://schemas.microsoft.com/office/drawing/2014/main" val="10000"/>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dirty="0" smtClean="0">
                                  <a:solidFill>
                                    <a:srgbClr val="1E293B"/>
                                  </a:solidFill>
                                  <a:latin typeface="Consolas" panose="020B0609020204030204" pitchFamily="49" charset="0"/>
                                  <a:ea typeface="Consolas" pitchFamily="34" charset="-122"/>
                                  <a:cs typeface="Consolas" pitchFamily="34" charset="-120"/>
                                </a:rPr>
                                <m:t>λ</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Security parameter</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i="0" dirty="0" smtClean="0">
                                  <a:solidFill>
                                    <a:srgbClr val="1E293B"/>
                                  </a:solidFill>
                                  <a:latin typeface="Consolas" panose="020B0609020204030204" pitchFamily="49" charset="0"/>
                                  <a:ea typeface="Consolas" pitchFamily="34" charset="-122"/>
                                  <a:cs typeface="Consolas" pitchFamily="34" charset="-120"/>
                                </a:rPr>
                                <m:t>n</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Total DB elements</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222504">
                    <a:tc>
                      <a:txBody>
                        <a:bodyPr/>
                        <a:lstStyle/>
                        <a:p>
                          <a:pPr marL="0" indent="0" algn="l">
                            <a:buNone/>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dirty="0" smtClean="0">
                                  <a:solidFill>
                                    <a:srgbClr val="1E293B"/>
                                  </a:solidFill>
                                  <a:latin typeface="Consolas" panose="020B0609020204030204" pitchFamily="49" charset="0"/>
                                  <a:ea typeface="Consolas" pitchFamily="34" charset="-122"/>
                                  <a:cs typeface="Consolas" pitchFamily="34" charset="-120"/>
                                </a:rPr>
                                <m:t>d</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Number of hypercube dimensions</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rPr>
                            <a:t> </a:t>
                          </a:r>
                          <a14:m>
                            <m:oMath xmlns:m="http://schemas.openxmlformats.org/officeDocument/2006/math">
                              <m:sSub>
                                <m:sSubPr>
                                  <m:ctrlPr>
                                    <a:rPr lang="en-US" sz="1100" b="1" i="1" dirty="0" smtClean="0">
                                      <a:solidFill>
                                        <a:srgbClr val="1E293B"/>
                                      </a:solidFill>
                                      <a:latin typeface="Cambria Math" panose="02040503050406030204" pitchFamily="18" charset="0"/>
                                    </a:rPr>
                                  </m:ctrlPr>
                                </m:sSubPr>
                                <m:e>
                                  <m:r>
                                    <m:rPr>
                                      <m:nor/>
                                    </m:rPr>
                                    <a:rPr lang="en-US" sz="1100" b="1" i="0" dirty="0" smtClean="0">
                                      <a:solidFill>
                                        <a:srgbClr val="1E293B"/>
                                      </a:solidFill>
                                      <a:latin typeface="Consolas" panose="020B0609020204030204" pitchFamily="49" charset="0"/>
                                    </a:rPr>
                                    <m:t>D</m:t>
                                  </m:r>
                                </m:e>
                                <m:sub>
                                  <m:r>
                                    <m:rPr>
                                      <m:nor/>
                                    </m:rPr>
                                    <a:rPr lang="en-US" sz="1100" b="1" dirty="0" smtClean="0">
                                      <a:solidFill>
                                        <a:srgbClr val="1E293B"/>
                                      </a:solidFill>
                                      <a:latin typeface="Consolas" panose="020B0609020204030204" pitchFamily="49" charset="0"/>
                                      <a:ea typeface="Consolas" pitchFamily="34" charset="-122"/>
                                      <a:cs typeface="Consolas" pitchFamily="34" charset="-120"/>
                                    </a:rPr>
                                    <m:t>j</m:t>
                                  </m:r>
                                </m:sub>
                              </m:sSub>
                            </m:oMath>
                          </a14:m>
                          <a:endParaRPr lang="en-US" sz="1100" b="1" dirty="0">
                            <a:solidFill>
                              <a:srgbClr val="1E293B"/>
                            </a:solidFill>
                            <a:latin typeface="Consolas" panose="020B0609020204030204" pitchFamily="49" charset="0"/>
                            <a:ea typeface="Consolas" pitchFamily="34" charset="-122"/>
                            <a:cs typeface="Consolas" pitchFamily="34" charset="-12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Size of j-th dimension;  </a:t>
                          </a:r>
                          <a14:m>
                            <m:oMath xmlns:m="http://schemas.openxmlformats.org/officeDocument/2006/math">
                              <m:nary>
                                <m:naryPr>
                                  <m:chr m:val="∏"/>
                                  <m:subHide m:val="on"/>
                                  <m:supHide m:val="on"/>
                                  <m:ctrlPr>
                                    <a:rPr lang="en-US" sz="1100" i="1" smtClean="0">
                                      <a:solidFill>
                                        <a:srgbClr val="1E293B"/>
                                      </a:solidFill>
                                      <a:latin typeface="Cambria Math" panose="02040503050406030204" pitchFamily="18" charset="0"/>
                                      <a:cs typeface="Calibri" pitchFamily="34" charset="-120"/>
                                    </a:rPr>
                                  </m:ctrlPr>
                                </m:naryPr>
                                <m:sub/>
                                <m:sup/>
                                <m:e>
                                  <m:sSub>
                                    <m:sSubPr>
                                      <m:ctrlPr>
                                        <a:rPr lang="en-US" sz="1100" b="1" i="1" kern="1200" smtClean="0">
                                          <a:solidFill>
                                            <a:srgbClr val="1E293B"/>
                                          </a:solidFill>
                                          <a:latin typeface="Cambria Math" panose="02040503050406030204" pitchFamily="18" charset="0"/>
                                          <a:ea typeface="Consolas" pitchFamily="34" charset="-122"/>
                                          <a:cs typeface="Consolas" pitchFamily="34" charset="-120"/>
                                        </a:rPr>
                                      </m:ctrlPr>
                                    </m:sSubPr>
                                    <m:e>
                                      <m:r>
                                        <m:rPr>
                                          <m:sty m:val="p"/>
                                        </m:rPr>
                                        <a:rPr lang="en-US" sz="1100" b="1" kern="1200" smtClean="0">
                                          <a:solidFill>
                                            <a:srgbClr val="1E293B"/>
                                          </a:solidFill>
                                          <a:latin typeface="Cambria Math" panose="02040503050406030204" pitchFamily="18" charset="0"/>
                                          <a:ea typeface="Consolas" pitchFamily="34" charset="-122"/>
                                          <a:cs typeface="Consolas" pitchFamily="34" charset="-120"/>
                                        </a:rPr>
                                        <m:t>D</m:t>
                                      </m:r>
                                    </m:e>
                                    <m:sub>
                                      <m:r>
                                        <m:rPr>
                                          <m:sty m:val="p"/>
                                        </m:rPr>
                                        <a:rPr lang="en-US" sz="1100" b="1" kern="1200" smtClean="0">
                                          <a:solidFill>
                                            <a:srgbClr val="1E293B"/>
                                          </a:solidFill>
                                          <a:latin typeface="Cambria Math" panose="02040503050406030204" pitchFamily="18" charset="0"/>
                                          <a:ea typeface="Consolas" pitchFamily="34" charset="-122"/>
                                          <a:cs typeface="Consolas" pitchFamily="34" charset="-120"/>
                                        </a:rPr>
                                        <m:t>j</m:t>
                                      </m:r>
                                    </m:sub>
                                  </m:sSub>
                                  <m:r>
                                    <a:rPr lang="en-US" sz="1100" b="0" i="1" kern="1200" smtClean="0">
                                      <a:solidFill>
                                        <a:srgbClr val="1E293B"/>
                                      </a:solidFill>
                                      <a:latin typeface="Cambria Math" panose="02040503050406030204" pitchFamily="18" charset="0"/>
                                      <a:ea typeface="Consolas" pitchFamily="34" charset="-122"/>
                                      <a:cs typeface="Consolas" pitchFamily="34" charset="-120"/>
                                    </a:rPr>
                                    <m:t>=</m:t>
                                  </m:r>
                                  <m:r>
                                    <a:rPr lang="en-US" sz="1100" b="0" i="1" kern="1200" smtClean="0">
                                      <a:solidFill>
                                        <a:srgbClr val="1E293B"/>
                                      </a:solidFill>
                                      <a:latin typeface="Cambria Math" panose="02040503050406030204" pitchFamily="18" charset="0"/>
                                      <a:ea typeface="Consolas" pitchFamily="34" charset="-122"/>
                                      <a:cs typeface="Consolas" pitchFamily="34" charset="-120"/>
                                    </a:rPr>
                                    <m:t>𝑛</m:t>
                                  </m:r>
                                </m:e>
                              </m:nary>
                            </m:oMath>
                          </a14:m>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222504">
                    <a:tc>
                      <a:txBody>
                        <a:bodyPr/>
                        <a:lstStyle/>
                        <a:p>
                          <a:pPr marL="0" indent="0" algn="l">
                            <a:buNone/>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dirty="0" smtClean="0">
                                  <a:solidFill>
                                    <a:srgbClr val="1E293B"/>
                                  </a:solidFill>
                                  <a:latin typeface="Consolas" panose="020B0609020204030204" pitchFamily="49" charset="0"/>
                                  <a:ea typeface="Consolas" pitchFamily="34" charset="-122"/>
                                  <a:cs typeface="Consolas" pitchFamily="34" charset="-120"/>
                                </a:rPr>
                                <m:t>i</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Client's target index  (never i₀)</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dirty="0" smtClean="0">
                                  <a:solidFill>
                                    <a:srgbClr val="1E293B"/>
                                  </a:solidFill>
                                  <a:latin typeface="Consolas" panose="020B0609020204030204" pitchFamily="49" charset="0"/>
                                  <a:ea typeface="Consolas" pitchFamily="34" charset="-122"/>
                                  <a:cs typeface="Consolas" pitchFamily="34" charset="-120"/>
                                </a:rPr>
                                <m:t>(</m:t>
                              </m:r>
                              <m:r>
                                <m:rPr>
                                  <m:nor/>
                                </m:rPr>
                                <a:rPr lang="en-US" sz="1100" b="1" dirty="0" smtClean="0">
                                  <a:solidFill>
                                    <a:srgbClr val="1E293B"/>
                                  </a:solidFill>
                                  <a:latin typeface="Consolas" panose="020B0609020204030204" pitchFamily="49" charset="0"/>
                                  <a:ea typeface="Consolas" pitchFamily="34" charset="-122"/>
                                  <a:cs typeface="Consolas" pitchFamily="34" charset="-120"/>
                                </a:rPr>
                                <m:t>i</m:t>
                              </m:r>
                              <m:r>
                                <m:rPr>
                                  <m:nor/>
                                </m:rPr>
                                <a:rPr lang="en-US" sz="1100" b="1" dirty="0" smtClean="0">
                                  <a:solidFill>
                                    <a:srgbClr val="1E293B"/>
                                  </a:solidFill>
                                  <a:latin typeface="Consolas" panose="020B0609020204030204" pitchFamily="49" charset="0"/>
                                  <a:ea typeface="Consolas" pitchFamily="34" charset="-122"/>
                                  <a:cs typeface="Consolas" pitchFamily="34" charset="-120"/>
                                </a:rPr>
                                <m:t>₁,…,</m:t>
                              </m:r>
                              <m:sSub>
                                <m:sSubPr>
                                  <m:ctrlPr>
                                    <a:rPr lang="en-US" sz="1100" b="1" i="1" dirty="0" smtClean="0">
                                      <a:solidFill>
                                        <a:srgbClr val="1E293B"/>
                                      </a:solidFill>
                                      <a:latin typeface="Cambria Math" panose="02040503050406030204" pitchFamily="18" charset="0"/>
                                    </a:rPr>
                                  </m:ctrlPr>
                                </m:sSubPr>
                                <m:e>
                                  <m:r>
                                    <m:rPr>
                                      <m:nor/>
                                    </m:rPr>
                                    <a:rPr lang="en-US" sz="1100" b="1" i="0" dirty="0" smtClean="0">
                                      <a:solidFill>
                                        <a:srgbClr val="1E293B"/>
                                      </a:solidFill>
                                      <a:latin typeface="Consolas" panose="020B0609020204030204" pitchFamily="49" charset="0"/>
                                      <a:ea typeface="Consolas" pitchFamily="34" charset="-122"/>
                                      <a:cs typeface="Consolas" pitchFamily="34" charset="-120"/>
                                    </a:rPr>
                                    <m:t>i</m:t>
                                  </m:r>
                                </m:e>
                                <m:sub>
                                  <m:r>
                                    <m:rPr>
                                      <m:nor/>
                                    </m:rPr>
                                    <a:rPr lang="en-US" sz="1100" b="1" i="0" dirty="0" smtClean="0">
                                      <a:solidFill>
                                        <a:srgbClr val="1E293B"/>
                                      </a:solidFill>
                                      <a:latin typeface="Consolas" panose="020B0609020204030204" pitchFamily="49" charset="0"/>
                                      <a:ea typeface="Consolas" pitchFamily="34" charset="-122"/>
                                      <a:cs typeface="Consolas" pitchFamily="34" charset="-120"/>
                                    </a:rPr>
                                    <m:t>d</m:t>
                                  </m:r>
                                </m:sub>
                              </m:sSub>
                              <m:r>
                                <m:rPr>
                                  <m:nor/>
                                </m:rPr>
                                <a:rPr lang="en-US" sz="1100" b="1" dirty="0" smtClean="0">
                                  <a:solidFill>
                                    <a:srgbClr val="1E293B"/>
                                  </a:solidFill>
                                  <a:latin typeface="Consolas" panose="020B0609020204030204" pitchFamily="49" charset="0"/>
                                  <a:ea typeface="Consolas" pitchFamily="34" charset="-122"/>
                                  <a:cs typeface="Consolas" pitchFamily="34" charset="-120"/>
                                </a:rPr>
                                <m:t>)</m:t>
                              </m:r>
                            </m:oMath>
                          </a14:m>
                          <a:endParaRPr lang="en-US" sz="1100" b="1" dirty="0">
                            <a:solidFill>
                              <a:srgbClr val="1E293B"/>
                            </a:solidFill>
                            <a:latin typeface="Consolas" panose="020B0609020204030204" pitchFamily="49" charset="0"/>
                            <a:ea typeface="Consolas" pitchFamily="34" charset="-122"/>
                            <a:cs typeface="Consolas" pitchFamily="34" charset="-12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Decomposition of i per dimension</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222504">
                    <a:tc>
                      <a:txBody>
                        <a:bodyPr/>
                        <a:lstStyle/>
                        <a:p>
                          <a:pPr marL="0" indent="0" algn="l">
                            <a:buNone/>
                          </a:pPr>
                          <a:r>
                            <a:rPr lang="en-US" sz="1100" b="1" dirty="0">
                              <a:solidFill>
                                <a:srgbClr val="1E293B"/>
                              </a:solidFill>
                              <a:latin typeface="Consolas" panose="020B0609020204030204" pitchFamily="49" charset="0"/>
                            </a:rPr>
                            <a:t> </a:t>
                          </a:r>
                          <a14:m>
                            <m:oMath xmlns:m="http://schemas.openxmlformats.org/officeDocument/2006/math">
                              <m:sSub>
                                <m:sSubPr>
                                  <m:ctrlPr>
                                    <a:rPr lang="en-US" sz="1100" b="1" i="1" dirty="0" smtClean="0">
                                      <a:solidFill>
                                        <a:srgbClr val="1E293B"/>
                                      </a:solidFill>
                                      <a:latin typeface="Cambria Math" panose="02040503050406030204" pitchFamily="18" charset="0"/>
                                    </a:rPr>
                                  </m:ctrlPr>
                                </m:sSubPr>
                                <m:e>
                                  <m:r>
                                    <m:rPr>
                                      <m:nor/>
                                    </m:rPr>
                                    <a:rPr lang="en-US" sz="1100" b="1" dirty="0" smtClean="0">
                                      <a:solidFill>
                                        <a:srgbClr val="1E293B"/>
                                      </a:solidFill>
                                      <a:latin typeface="Consolas" panose="020B0609020204030204" pitchFamily="49" charset="0"/>
                                      <a:ea typeface="Consolas" pitchFamily="34" charset="-122"/>
                                      <a:cs typeface="Consolas" pitchFamily="34" charset="-120"/>
                                    </a:rPr>
                                    <m:t>I</m:t>
                                  </m:r>
                                </m:e>
                                <m:sub>
                                  <m:r>
                                    <m:rPr>
                                      <m:nor/>
                                    </m:rPr>
                                    <a:rPr lang="en-US" sz="1100" b="1" dirty="0" smtClean="0">
                                      <a:solidFill>
                                        <a:srgbClr val="1E293B"/>
                                      </a:solidFill>
                                      <a:latin typeface="Consolas" panose="020B0609020204030204" pitchFamily="49" charset="0"/>
                                      <a:ea typeface="Consolas" pitchFamily="34" charset="-122"/>
                                      <a:cs typeface="Consolas" pitchFamily="34" charset="-120"/>
                                    </a:rPr>
                                    <m:t>j</m:t>
                                  </m:r>
                                </m:sub>
                              </m:sSub>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Unit vector for dim j, length </a:t>
                          </a:r>
                          <a14:m>
                            <m:oMath xmlns:m="http://schemas.openxmlformats.org/officeDocument/2006/math">
                              <m:sSub>
                                <m:sSubPr>
                                  <m:ctrlPr>
                                    <a:rPr lang="en-US" sz="1100" i="1" smtClean="0">
                                      <a:solidFill>
                                        <a:srgbClr val="1E293B"/>
                                      </a:solidFill>
                                      <a:latin typeface="Cambria Math" panose="02040503050406030204" pitchFamily="18" charset="0"/>
                                      <a:cs typeface="Calibri" pitchFamily="34" charset="-120"/>
                                    </a:rPr>
                                  </m:ctrlPr>
                                </m:sSubPr>
                                <m:e>
                                  <m:r>
                                    <m:rPr>
                                      <m:nor/>
                                    </m:rPr>
                                    <a:rPr lang="en-US" sz="1100" dirty="0" smtClean="0">
                                      <a:solidFill>
                                        <a:srgbClr val="1E293B"/>
                                      </a:solidFill>
                                      <a:latin typeface="+mn-lt"/>
                                      <a:ea typeface="Calibri" pitchFamily="34" charset="-122"/>
                                      <a:cs typeface="Calibri" pitchFamily="34" charset="-120"/>
                                    </a:rPr>
                                    <m:t>D</m:t>
                                  </m:r>
                                </m:e>
                                <m:sub>
                                  <m:r>
                                    <m:rPr>
                                      <m:nor/>
                                    </m:rPr>
                                    <a:rPr lang="en-US" sz="1100" b="0" i="0" dirty="0" smtClean="0">
                                      <a:solidFill>
                                        <a:srgbClr val="1E293B"/>
                                      </a:solidFill>
                                      <a:latin typeface="+mn-lt"/>
                                      <a:ea typeface="Calibri" pitchFamily="34" charset="-122"/>
                                      <a:cs typeface="Calibri" pitchFamily="34" charset="-120"/>
                                    </a:rPr>
                                    <m:t>j</m:t>
                                  </m:r>
                                </m:sub>
                              </m:sSub>
                            </m:oMath>
                          </a14:m>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r h="222504">
                    <a:tc>
                      <a:txBody>
                        <a:bodyPr/>
                        <a:lstStyle/>
                        <a:p>
                          <a:pPr marL="0" indent="0" algn="l">
                            <a:buNone/>
                          </a:pPr>
                          <a:r>
                            <a:rPr lang="en-US" sz="1100" b="1" dirty="0">
                              <a:solidFill>
                                <a:srgbClr val="1E293B"/>
                              </a:solidFill>
                              <a:latin typeface="Consolas" panose="020B0609020204030204" pitchFamily="49" charset="0"/>
                            </a:rPr>
                            <a:t> </a:t>
                          </a:r>
                          <a14:m>
                            <m:oMath xmlns:m="http://schemas.openxmlformats.org/officeDocument/2006/math">
                              <m:sSub>
                                <m:sSubPr>
                                  <m:ctrlPr>
                                    <a:rPr lang="en-US" sz="1100" b="1" i="1" dirty="0" smtClean="0">
                                      <a:solidFill>
                                        <a:srgbClr val="1E293B"/>
                                      </a:solidFill>
                                      <a:latin typeface="Cambria Math" panose="02040503050406030204" pitchFamily="18" charset="0"/>
                                    </a:rPr>
                                  </m:ctrlPr>
                                </m:sSubPr>
                                <m:e>
                                  <m:r>
                                    <m:rPr>
                                      <m:nor/>
                                    </m:rPr>
                                    <a:rPr lang="en-US" sz="1100" b="1" dirty="0" smtClean="0">
                                      <a:solidFill>
                                        <a:srgbClr val="1E293B"/>
                                      </a:solidFill>
                                      <a:latin typeface="Consolas" panose="020B0609020204030204" pitchFamily="49" charset="0"/>
                                      <a:ea typeface="Consolas" pitchFamily="34" charset="-122"/>
                                      <a:cs typeface="Consolas" pitchFamily="34" charset="-120"/>
                                    </a:rPr>
                                    <m:t>q</m:t>
                                  </m:r>
                                </m:e>
                                <m:sub>
                                  <m:r>
                                    <m:rPr>
                                      <m:nor/>
                                    </m:rPr>
                                    <a:rPr lang="en-US" sz="1100" b="1" dirty="0" smtClean="0">
                                      <a:solidFill>
                                        <a:srgbClr val="1E293B"/>
                                      </a:solidFill>
                                      <a:latin typeface="Consolas" panose="020B0609020204030204" pitchFamily="49" charset="0"/>
                                      <a:ea typeface="Consolas" pitchFamily="34" charset="-122"/>
                                      <a:cs typeface="Consolas" pitchFamily="34" charset="-120"/>
                                    </a:rPr>
                                    <m:t>j</m:t>
                                  </m:r>
                                </m:sub>
                              </m:sSub>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Encrypted query for dimension j</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8"/>
                      </a:ext>
                    </a:extLst>
                  </a:tr>
                  <a:tr h="222504">
                    <a:tc>
                      <a:txBody>
                        <a:bodyPr/>
                        <a:lstStyle/>
                        <a:p>
                          <a:pPr marL="0" indent="0" algn="l">
                            <a:buNone/>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dirty="0" smtClean="0">
                                  <a:solidFill>
                                    <a:srgbClr val="1E293B"/>
                                  </a:solidFill>
                                  <a:latin typeface="Consolas" panose="020B0609020204030204" pitchFamily="49" charset="0"/>
                                  <a:ea typeface="Consolas" pitchFamily="34" charset="-122"/>
                                  <a:cs typeface="Consolas" pitchFamily="34" charset="-120"/>
                                </a:rPr>
                                <m:t>q</m:t>
                              </m:r>
                              <m:r>
                                <m:rPr>
                                  <m:nor/>
                                </m:rPr>
                                <a:rPr lang="en-US" sz="1100" b="1" dirty="0" smtClean="0">
                                  <a:solidFill>
                                    <a:srgbClr val="1E293B"/>
                                  </a:solidFill>
                                  <a:latin typeface="Consolas" panose="020B0609020204030204" pitchFamily="49" charset="0"/>
                                  <a:ea typeface="Consolas" pitchFamily="34" charset="-122"/>
                                  <a:cs typeface="Consolas" pitchFamily="34" charset="-120"/>
                                </a:rPr>
                                <m:t>:=(</m:t>
                              </m:r>
                              <m:r>
                                <m:rPr>
                                  <m:nor/>
                                </m:rPr>
                                <a:rPr lang="en-US" sz="1100" b="1" i="0" dirty="0" smtClean="0">
                                  <a:solidFill>
                                    <a:srgbClr val="1E293B"/>
                                  </a:solidFill>
                                  <a:latin typeface="Consolas" panose="020B0609020204030204" pitchFamily="49" charset="0"/>
                                  <a:ea typeface="Consolas" pitchFamily="34" charset="-122"/>
                                  <a:cs typeface="Consolas" pitchFamily="34" charset="-120"/>
                                </a:rPr>
                                <m:t>q</m:t>
                              </m:r>
                              <m:r>
                                <m:rPr>
                                  <m:nor/>
                                </m:rPr>
                                <a:rPr lang="en-US" sz="1100" b="1" dirty="0" smtClean="0">
                                  <a:solidFill>
                                    <a:srgbClr val="1E293B"/>
                                  </a:solidFill>
                                  <a:latin typeface="Consolas" panose="020B0609020204030204" pitchFamily="49" charset="0"/>
                                  <a:ea typeface="Consolas" pitchFamily="34" charset="-122"/>
                                  <a:cs typeface="Consolas" pitchFamily="34" charset="-120"/>
                                </a:rPr>
                                <m:t>₁,…,</m:t>
                              </m:r>
                              <m:sSub>
                                <m:sSubPr>
                                  <m:ctrlPr>
                                    <a:rPr lang="en-US" sz="1100" b="1" i="1" dirty="0" smtClean="0">
                                      <a:solidFill>
                                        <a:srgbClr val="1E293B"/>
                                      </a:solidFill>
                                      <a:latin typeface="Cambria Math" panose="02040503050406030204" pitchFamily="18" charset="0"/>
                                    </a:rPr>
                                  </m:ctrlPr>
                                </m:sSubPr>
                                <m:e>
                                  <m:r>
                                    <m:rPr>
                                      <m:nor/>
                                    </m:rPr>
                                    <a:rPr lang="en-US" sz="1100" b="1" i="0" dirty="0" smtClean="0">
                                      <a:solidFill>
                                        <a:srgbClr val="1E293B"/>
                                      </a:solidFill>
                                      <a:latin typeface="Consolas" panose="020B0609020204030204" pitchFamily="49" charset="0"/>
                                    </a:rPr>
                                    <m:t>q</m:t>
                                  </m:r>
                                </m:e>
                                <m:sub>
                                  <m:r>
                                    <m:rPr>
                                      <m:nor/>
                                    </m:rPr>
                                    <a:rPr lang="en-US" sz="1100" b="1" i="0" dirty="0" smtClean="0">
                                      <a:solidFill>
                                        <a:srgbClr val="1E293B"/>
                                      </a:solidFill>
                                      <a:latin typeface="Consolas" panose="020B0609020204030204" pitchFamily="49" charset="0"/>
                                      <a:ea typeface="Consolas" pitchFamily="34" charset="-122"/>
                                      <a:cs typeface="Consolas" pitchFamily="34" charset="-120"/>
                                    </a:rPr>
                                    <m:t>d</m:t>
                                  </m:r>
                                </m:sub>
                              </m:sSub>
                              <m:r>
                                <m:rPr>
                                  <m:nor/>
                                </m:rPr>
                                <a:rPr lang="en-US" sz="1100" b="1" dirty="0" smtClean="0">
                                  <a:solidFill>
                                    <a:srgbClr val="1E293B"/>
                                  </a:solidFill>
                                  <a:latin typeface="Consolas" panose="020B0609020204030204" pitchFamily="49" charset="0"/>
                                  <a:ea typeface="Consolas" pitchFamily="34" charset="-122"/>
                                  <a:cs typeface="Consolas" pitchFamily="34" charset="-120"/>
                                </a:rPr>
                                <m:t>)</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Full query sent to server</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9"/>
                      </a:ext>
                    </a:extLst>
                  </a:tr>
                  <a:tr h="222504">
                    <a:tc>
                      <a:txBody>
                        <a:bodyPr/>
                        <a:lstStyle/>
                        <a:p>
                          <a:pPr marL="0" indent="0" algn="l">
                            <a:buNone/>
                          </a:pPr>
                          <a:r>
                            <a:rPr lang="en-US" sz="1100" b="1" dirty="0">
                              <a:solidFill>
                                <a:srgbClr val="1E293B"/>
                              </a:solidFill>
                              <a:latin typeface="Consolas" panose="020B0609020204030204" pitchFamily="49" charset="0"/>
                            </a:rPr>
                            <a:t> </a:t>
                          </a:r>
                          <a14:m>
                            <m:oMath xmlns:m="http://schemas.openxmlformats.org/officeDocument/2006/math">
                              <m:sSub>
                                <m:sSubPr>
                                  <m:ctrlPr>
                                    <a:rPr lang="en-US" sz="1100" b="1" i="1" dirty="0" smtClean="0">
                                      <a:solidFill>
                                        <a:srgbClr val="1E293B"/>
                                      </a:solidFill>
                                      <a:latin typeface="Cambria Math" panose="02040503050406030204" pitchFamily="18" charset="0"/>
                                    </a:rPr>
                                  </m:ctrlPr>
                                </m:sSubPr>
                                <m:e>
                                  <m:r>
                                    <m:rPr>
                                      <m:nor/>
                                    </m:rPr>
                                    <a:rPr lang="en-US" sz="1100" b="1" dirty="0" smtClean="0">
                                      <a:solidFill>
                                        <a:srgbClr val="1E293B"/>
                                      </a:solidFill>
                                      <a:latin typeface="Consolas" panose="020B0609020204030204" pitchFamily="49" charset="0"/>
                                      <a:ea typeface="Consolas" pitchFamily="34" charset="-122"/>
                                      <a:cs typeface="Consolas" pitchFamily="34" charset="-120"/>
                                    </a:rPr>
                                    <m:t>m</m:t>
                                  </m:r>
                                </m:e>
                                <m:sub>
                                  <m:r>
                                    <m:rPr>
                                      <m:nor/>
                                    </m:rPr>
                                    <a:rPr lang="en-US" sz="1100" b="1" i="0" dirty="0" smtClean="0">
                                      <a:solidFill>
                                        <a:srgbClr val="1E293B"/>
                                      </a:solidFill>
                                      <a:latin typeface="Consolas" panose="020B0609020204030204" pitchFamily="49" charset="0"/>
                                      <a:ea typeface="Consolas" pitchFamily="34" charset="-122"/>
                                      <a:cs typeface="Consolas" pitchFamily="34" charset="-120"/>
                                    </a:rPr>
                                    <m:t>k</m:t>
                                  </m:r>
                                  <m:r>
                                    <m:rPr>
                                      <m:nor/>
                                    </m:rPr>
                                    <a:rPr lang="en-US" sz="1100" b="1" i="0" dirty="0" smtClean="0">
                                      <a:solidFill>
                                        <a:srgbClr val="1E293B"/>
                                      </a:solidFill>
                                      <a:latin typeface="Consolas" panose="020B0609020204030204" pitchFamily="49" charset="0"/>
                                      <a:ea typeface="Consolas" pitchFamily="34" charset="-122"/>
                                      <a:cs typeface="Consolas" pitchFamily="34" charset="-120"/>
                                    </a:rPr>
                                    <m:t>,</m:t>
                                  </m:r>
                                  <m:r>
                                    <m:rPr>
                                      <m:nor/>
                                    </m:rPr>
                                    <a:rPr lang="en-US" sz="1100" b="1" dirty="0" smtClean="0">
                                      <a:solidFill>
                                        <a:srgbClr val="1E293B"/>
                                      </a:solidFill>
                                      <a:latin typeface="Consolas" panose="020B0609020204030204" pitchFamily="49" charset="0"/>
                                      <a:ea typeface="Consolas" pitchFamily="34" charset="-122"/>
                                      <a:cs typeface="Consolas" pitchFamily="34" charset="-120"/>
                                    </a:rPr>
                                    <m:t>j</m:t>
                                  </m:r>
                                </m:sub>
                              </m:sSub>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noFill/>
                      </a:tcPr>
                    </a:tc>
                    <a:tc>
                      <a:txBody>
                        <a:bodyPr/>
                        <a:lstStyle/>
                        <a:p>
                          <a:pPr marL="0" indent="0" algn="l">
                            <a:buNone/>
                          </a:pPr>
                          <a:r>
                            <a:rPr lang="en-US" sz="1100" dirty="0">
                              <a:solidFill>
                                <a:srgbClr val="1E293B"/>
                              </a:solidFill>
                              <a:latin typeface="+mn-lt"/>
                              <a:ea typeface="Calibri" pitchFamily="34" charset="-122"/>
                              <a:cs typeface="Calibri" pitchFamily="34" charset="-120"/>
                            </a:rPr>
                            <a:t>DB element k, chunk j  —  k = DB loop index ≠ i</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noFill/>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derived</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noFill/>
                      </a:tcPr>
                    </a:tc>
                    <a:extLst>
                      <a:ext uri="{0D108BD9-81ED-4DB2-BD59-A6C34878D82A}">
                        <a16:rowId xmlns:a16="http://schemas.microsoft.com/office/drawing/2014/main" val="10010"/>
                      </a:ext>
                    </a:extLst>
                  </a:tr>
                  <a:tr h="222504">
                    <a:tc>
                      <a:txBody>
                        <a:bodyPr/>
                        <a:lstStyle/>
                        <a:p>
                          <a:pPr marL="0" indent="0" algn="l">
                            <a:buNone/>
                          </a:pPr>
                          <a:r>
                            <a:rPr lang="en-US" sz="1100" b="1" dirty="0">
                              <a:solidFill>
                                <a:srgbClr val="1E293B"/>
                              </a:solidFill>
                              <a:latin typeface="Consolas" panose="020B0609020204030204" pitchFamily="49" charset="0"/>
                            </a:rPr>
                            <a:t> </a:t>
                          </a:r>
                          <a14:m>
                            <m:oMath xmlns:m="http://schemas.openxmlformats.org/officeDocument/2006/math">
                              <m:sSubSup>
                                <m:sSubSupPr>
                                  <m:ctrlPr>
                                    <a:rPr lang="en-US" sz="1100" b="1" i="1" smtClean="0">
                                      <a:solidFill>
                                        <a:srgbClr val="1E293B"/>
                                      </a:solidFill>
                                      <a:latin typeface="Cambria Math" panose="02040503050406030204" pitchFamily="18" charset="0"/>
                                    </a:rPr>
                                  </m:ctrlPr>
                                </m:sSubSupPr>
                                <m:e>
                                  <m:r>
                                    <m:rPr>
                                      <m:nor/>
                                    </m:rPr>
                                    <a:rPr lang="en-US" sz="1100" b="1" dirty="0" smtClean="0">
                                      <a:solidFill>
                                        <a:srgbClr val="1E293B"/>
                                      </a:solidFill>
                                      <a:latin typeface="Consolas" panose="020B0609020204030204" pitchFamily="49" charset="0"/>
                                      <a:ea typeface="Consolas" pitchFamily="34" charset="-122"/>
                                      <a:cs typeface="Consolas" pitchFamily="34" charset="-120"/>
                                    </a:rPr>
                                    <m:t>R</m:t>
                                  </m:r>
                                </m:e>
                                <m:sub>
                                  <m:r>
                                    <m:rPr>
                                      <m:nor/>
                                    </m:rPr>
                                    <a:rPr lang="en-US" sz="1100" b="1" dirty="0" smtClean="0">
                                      <a:solidFill>
                                        <a:srgbClr val="1E293B"/>
                                      </a:solidFill>
                                      <a:latin typeface="Consolas" panose="020B0609020204030204" pitchFamily="49" charset="0"/>
                                      <a:ea typeface="Consolas" pitchFamily="34" charset="-122"/>
                                      <a:cs typeface="Consolas" pitchFamily="34" charset="-120"/>
                                    </a:rPr>
                                    <m:t>j</m:t>
                                  </m:r>
                                </m:sub>
                                <m:sup>
                                  <m:r>
                                    <m:rPr>
                                      <m:nor/>
                                    </m:rPr>
                                    <a:rPr lang="en-US" sz="1100" b="1" dirty="0" smtClean="0">
                                      <a:solidFill>
                                        <a:srgbClr val="1E293B"/>
                                      </a:solidFill>
                                      <a:latin typeface="Consolas" panose="020B0609020204030204" pitchFamily="49" charset="0"/>
                                      <a:ea typeface="Consolas" pitchFamily="34" charset="-122"/>
                                      <a:cs typeface="Consolas" pitchFamily="34" charset="-120"/>
                                    </a:rPr>
                                    <m:t>1</m:t>
                                  </m:r>
                                </m:sup>
                              </m:sSubSup>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Intermediate result after dim 1, chunk j</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derived</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1"/>
                      </a:ext>
                    </a:extLst>
                  </a:tr>
                  <a:tr h="222504">
                    <a:tc>
                      <a:txBody>
                        <a:bodyPr/>
                        <a:lstStyle/>
                        <a:p>
                          <a:pPr marL="0" indent="0" algn="l">
                            <a:buNone/>
                          </a:pPr>
                          <a:r>
                            <a:rPr lang="en-US" sz="1100" b="1" dirty="0">
                              <a:solidFill>
                                <a:srgbClr val="1E293B"/>
                              </a:solidFill>
                              <a:latin typeface="Consolas" panose="020B0609020204030204" pitchFamily="49" charset="0"/>
                            </a:rPr>
                            <a:t> </a:t>
                          </a:r>
                          <a14:m>
                            <m:oMath xmlns:m="http://schemas.openxmlformats.org/officeDocument/2006/math">
                              <m:sSub>
                                <m:sSubPr>
                                  <m:ctrlPr>
                                    <a:rPr lang="en-US" sz="1100" b="1" i="1" dirty="0" smtClean="0">
                                      <a:solidFill>
                                        <a:srgbClr val="1E293B"/>
                                      </a:solidFill>
                                      <a:latin typeface="Cambria Math" panose="02040503050406030204" pitchFamily="18" charset="0"/>
                                    </a:rPr>
                                  </m:ctrlPr>
                                </m:sSubPr>
                                <m:e>
                                  <m:r>
                                    <m:rPr>
                                      <m:nor/>
                                    </m:rPr>
                                    <a:rPr lang="en-US" sz="1100" b="1" dirty="0" smtClean="0">
                                      <a:solidFill>
                                        <a:srgbClr val="1E293B"/>
                                      </a:solidFill>
                                      <a:latin typeface="Consolas" panose="020B0609020204030204" pitchFamily="49" charset="0"/>
                                      <a:ea typeface="Consolas" pitchFamily="34" charset="-122"/>
                                      <a:cs typeface="Consolas" pitchFamily="34" charset="-120"/>
                                    </a:rPr>
                                    <m:t>R</m:t>
                                  </m:r>
                                </m:e>
                                <m:sub>
                                  <m:r>
                                    <m:rPr>
                                      <m:nor/>
                                    </m:rPr>
                                    <a:rPr lang="en-US" sz="1100" b="1" dirty="0" smtClean="0">
                                      <a:solidFill>
                                        <a:srgbClr val="1E293B"/>
                                      </a:solidFill>
                                      <a:latin typeface="Consolas" panose="020B0609020204030204" pitchFamily="49" charset="0"/>
                                      <a:ea typeface="Consolas" pitchFamily="34" charset="-122"/>
                                      <a:cs typeface="Consolas" pitchFamily="34" charset="-120"/>
                                    </a:rPr>
                                    <m:t>j</m:t>
                                  </m:r>
                                </m:sub>
                              </m:sSub>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Final reply ciphertext chunk j</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derived</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2"/>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dirty="0" smtClean="0">
                                  <a:solidFill>
                                    <a:srgbClr val="1E293B"/>
                                  </a:solidFill>
                                  <a:latin typeface="Consolas" panose="020B0609020204030204" pitchFamily="49" charset="0"/>
                                  <a:ea typeface="Consolas" pitchFamily="34" charset="-122"/>
                                  <a:cs typeface="Consolas" pitchFamily="34" charset="-120"/>
                                </a:rPr>
                                <m:t>F</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Ciphertext expansion factor (&gt; 1).  No universal formula.</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3"/>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i="0" dirty="0" smtClean="0">
                                  <a:solidFill>
                                    <a:srgbClr val="1E293B"/>
                                  </a:solidFill>
                                  <a:latin typeface="Consolas" panose="020B0609020204030204" pitchFamily="49" charset="0"/>
                                  <a:ea typeface="Consolas" pitchFamily="34" charset="-122"/>
                                  <a:cs typeface="Consolas" pitchFamily="34" charset="-120"/>
                                </a:rPr>
                                <m:t>sk</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Secret key  (s ←</a:t>
                          </a:r>
                          <a14:m>
                            <m:oMath xmlns:m="http://schemas.openxmlformats.org/officeDocument/2006/math">
                              <m:sSub>
                                <m:sSubPr>
                                  <m:ctrlPr>
                                    <a:rPr lang="en-US" sz="1100" i="1" smtClean="0">
                                      <a:solidFill>
                                        <a:srgbClr val="1E293B"/>
                                      </a:solidFill>
                                      <a:latin typeface="Cambria Math" panose="02040503050406030204" pitchFamily="18" charset="0"/>
                                      <a:cs typeface="Calibri" pitchFamily="34" charset="-120"/>
                                    </a:rPr>
                                  </m:ctrlPr>
                                </m:sSubPr>
                                <m:e>
                                  <m:r>
                                    <m:rPr>
                                      <m:nor/>
                                    </m:rPr>
                                    <a:rPr lang="en-US" sz="1100" dirty="0" smtClean="0">
                                      <a:solidFill>
                                        <a:srgbClr val="1E293B"/>
                                      </a:solidFill>
                                      <a:latin typeface="+mn-lt"/>
                                      <a:ea typeface="Calibri" pitchFamily="34" charset="-122"/>
                                      <a:cs typeface="Calibri" pitchFamily="34" charset="-120"/>
                                    </a:rPr>
                                    <m:t>D</m:t>
                                  </m:r>
                                </m:e>
                                <m:sub>
                                  <m:r>
                                    <m:rPr>
                                      <m:nor/>
                                    </m:rPr>
                                    <a:rPr lang="en-US" sz="1100" dirty="0" smtClean="0">
                                      <a:solidFill>
                                        <a:srgbClr val="1E293B"/>
                                      </a:solidFill>
                                      <a:latin typeface="+mn-lt"/>
                                      <a:ea typeface="Calibri" pitchFamily="34" charset="-122"/>
                                      <a:cs typeface="Calibri" pitchFamily="34" charset="-120"/>
                                    </a:rPr>
                                    <m:t>α</m:t>
                                  </m:r>
                                </m:sub>
                              </m:sSub>
                            </m:oMath>
                          </a14:m>
                          <a:r>
                            <a:rPr lang="en-US" sz="1100" dirty="0">
                              <a:solidFill>
                                <a:srgbClr val="1E293B"/>
                              </a:solidFill>
                              <a:latin typeface="+mn-lt"/>
                              <a:ea typeface="Calibri" pitchFamily="34" charset="-122"/>
                              <a:cs typeface="Calibri" pitchFamily="34" charset="-120"/>
                            </a:rPr>
                            <a:t>)</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4"/>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a:rPr lang="en-US" sz="1100" b="1" i="0" dirty="0" smtClean="0">
                                  <a:solidFill>
                                    <a:srgbClr val="1E293B"/>
                                  </a:solidFill>
                                  <a:latin typeface="Cambria Math" panose="02040503050406030204" pitchFamily="18" charset="0"/>
                                  <a:ea typeface="Consolas" pitchFamily="34" charset="-122"/>
                                  <a:cs typeface="Consolas" pitchFamily="34" charset="-120"/>
                                </a:rPr>
                                <m:t>𝐞</m:t>
                              </m:r>
                              <m:r>
                                <m:rPr>
                                  <m:nor/>
                                </m:rPr>
                                <a:rPr lang="en-US" sz="1100" b="1" i="0" dirty="0" smtClean="0">
                                  <a:solidFill>
                                    <a:srgbClr val="1E293B"/>
                                  </a:solidFill>
                                  <a:latin typeface="Consolas" panose="020B0609020204030204" pitchFamily="49" charset="0"/>
                                  <a:ea typeface="Consolas" pitchFamily="34" charset="-122"/>
                                  <a:cs typeface="Consolas" pitchFamily="34" charset="-120"/>
                                </a:rPr>
                                <m:t>vk</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Evaluation key</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5"/>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i="0" dirty="0" smtClean="0">
                                  <a:solidFill>
                                    <a:srgbClr val="1E293B"/>
                                  </a:solidFill>
                                  <a:latin typeface="Consolas" panose="020B0609020204030204" pitchFamily="49" charset="0"/>
                                  <a:ea typeface="Consolas" pitchFamily="34" charset="-122"/>
                                  <a:cs typeface="Consolas" pitchFamily="34" charset="-120"/>
                                </a:rPr>
                                <m:t>ksk</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Key-switching key</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6"/>
                      </a:ext>
                    </a:extLst>
                  </a:tr>
                  <a:tr h="222504">
                    <a:tc>
                      <a:txBody>
                        <a:bodyPr/>
                        <a:lstStyle/>
                        <a:p>
                          <a:pPr marL="0" indent="0" algn="l">
                            <a:buNone/>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i="0" dirty="0" smtClean="0">
                                  <a:solidFill>
                                    <a:srgbClr val="1E293B"/>
                                  </a:solidFill>
                                  <a:latin typeface="Consolas" panose="020B0609020204030204" pitchFamily="49" charset="0"/>
                                  <a:ea typeface="Consolas" pitchFamily="34" charset="-122"/>
                                  <a:cs typeface="Consolas" pitchFamily="34" charset="-120"/>
                                </a:rPr>
                                <m:t>N</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FHE polynomial degree  (never use N for DB size)</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7"/>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i="0" dirty="0" smtClean="0">
                                  <a:solidFill>
                                    <a:srgbClr val="1E293B"/>
                                  </a:solidFill>
                                  <a:latin typeface="Consolas" panose="020B0609020204030204" pitchFamily="49" charset="0"/>
                                  <a:ea typeface="Consolas" pitchFamily="34" charset="-122"/>
                                  <a:cs typeface="Consolas" pitchFamily="34" charset="-120"/>
                                </a:rPr>
                                <m:t>q</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Ciphertext modulus</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8"/>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a:rPr lang="en-US" sz="1100" b="1" i="0" dirty="0" smtClean="0">
                                  <a:solidFill>
                                    <a:srgbClr val="1E293B"/>
                                  </a:solidFill>
                                  <a:latin typeface="Cambria Math" panose="02040503050406030204" pitchFamily="18" charset="0"/>
                                  <a:ea typeface="Consolas" pitchFamily="34" charset="-122"/>
                                  <a:cs typeface="Consolas" pitchFamily="34" charset="-120"/>
                                </a:rPr>
                                <m:t>𝐩</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Plaintext modulus</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9"/>
                      </a:ext>
                    </a:extLst>
                  </a:tr>
                  <a:tr h="22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dirty="0" smtClean="0">
                                  <a:solidFill>
                                    <a:srgbClr val="1E293B"/>
                                  </a:solidFill>
                                  <a:latin typeface="Consolas" panose="020B0609020204030204" pitchFamily="49" charset="0"/>
                                  <a:ea typeface="Consolas" pitchFamily="34" charset="-122"/>
                                  <a:cs typeface="Consolas" pitchFamily="34" charset="-120"/>
                                </a:rPr>
                                <m:t>Δ</m:t>
                              </m:r>
                              <m:r>
                                <m:rPr>
                                  <m:nor/>
                                </m:rPr>
                                <a:rPr lang="en-US" sz="1100" b="1" dirty="0" smtClean="0">
                                  <a:solidFill>
                                    <a:srgbClr val="1E293B"/>
                                  </a:solidFill>
                                  <a:latin typeface="Consolas" panose="020B0609020204030204" pitchFamily="49" charset="0"/>
                                  <a:ea typeface="Consolas" pitchFamily="34" charset="-122"/>
                                  <a:cs typeface="Consolas" pitchFamily="34" charset="-120"/>
                                </a:rPr>
                                <m:t> = </m:t>
                              </m:r>
                              <m:r>
                                <m:rPr>
                                  <m:nor/>
                                </m:rPr>
                                <a:rPr lang="en-US" sz="1100" b="1" dirty="0" smtClean="0">
                                  <a:solidFill>
                                    <a:srgbClr val="1E293B"/>
                                  </a:solidFill>
                                  <a:latin typeface="Consolas" panose="020B0609020204030204" pitchFamily="49" charset="0"/>
                                  <a:ea typeface="Consolas" pitchFamily="34" charset="-122"/>
                                  <a:cs typeface="Consolas" pitchFamily="34" charset="-120"/>
                                </a:rPr>
                                <m:t>q</m:t>
                              </m:r>
                              <m:r>
                                <m:rPr>
                                  <m:nor/>
                                </m:rPr>
                                <a:rPr lang="en-US" sz="1100" b="1" dirty="0" smtClean="0">
                                  <a:solidFill>
                                    <a:srgbClr val="1E293B"/>
                                  </a:solidFill>
                                  <a:latin typeface="Consolas" panose="020B0609020204030204" pitchFamily="49" charset="0"/>
                                  <a:ea typeface="Consolas" pitchFamily="34" charset="-122"/>
                                  <a:cs typeface="Consolas" pitchFamily="34" charset="-120"/>
                                </a:rPr>
                                <m:t>/</m:t>
                              </m:r>
                              <m:r>
                                <m:rPr>
                                  <m:nor/>
                                </m:rPr>
                                <a:rPr lang="en-US" sz="1100" b="1" dirty="0" smtClean="0">
                                  <a:solidFill>
                                    <a:srgbClr val="1E293B"/>
                                  </a:solidFill>
                                  <a:latin typeface="Consolas" panose="020B0609020204030204" pitchFamily="49" charset="0"/>
                                  <a:ea typeface="Consolas" pitchFamily="34" charset="-122"/>
                                  <a:cs typeface="Consolas" pitchFamily="34" charset="-120"/>
                                </a:rPr>
                                <m:t>p</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Scaling factor</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20"/>
                      </a:ext>
                    </a:extLst>
                  </a:tr>
                  <a:tr h="222504">
                    <a:tc>
                      <a:txBody>
                        <a:bodyPr/>
                        <a:lstStyle/>
                        <a:p>
                          <a:pPr marL="0" indent="0" algn="l">
                            <a:buNone/>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dirty="0" smtClean="0">
                                  <a:solidFill>
                                    <a:srgbClr val="1E293B"/>
                                  </a:solidFill>
                                  <a:latin typeface="Consolas" panose="020B0609020204030204" pitchFamily="49" charset="0"/>
                                  <a:ea typeface="Consolas" pitchFamily="34" charset="-122"/>
                                  <a:cs typeface="Consolas" pitchFamily="34" charset="-120"/>
                                </a:rPr>
                                <m:t>g</m:t>
                              </m:r>
                              <m:r>
                                <m:rPr>
                                  <m:nor/>
                                </m:rPr>
                                <a:rPr lang="en-US" sz="1100" b="1" dirty="0" smtClean="0">
                                  <a:solidFill>
                                    <a:srgbClr val="1E293B"/>
                                  </a:solidFill>
                                  <a:latin typeface="Consolas" panose="020B0609020204030204" pitchFamily="49" charset="0"/>
                                  <a:ea typeface="Consolas" pitchFamily="34" charset="-122"/>
                                  <a:cs typeface="Consolas" pitchFamily="34" charset="-120"/>
                                </a:rPr>
                                <m:t>, ℓ</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Gadget base and length;  </a:t>
                          </a:r>
                          <a14:m>
                            <m:oMath xmlns:m="http://schemas.openxmlformats.org/officeDocument/2006/math">
                              <m:sSup>
                                <m:sSupPr>
                                  <m:ctrlPr>
                                    <a:rPr lang="en-US" sz="1100" i="1" smtClean="0">
                                      <a:solidFill>
                                        <a:srgbClr val="1E293B"/>
                                      </a:solidFill>
                                      <a:latin typeface="Cambria Math" panose="02040503050406030204" pitchFamily="18" charset="0"/>
                                      <a:cs typeface="Calibri" pitchFamily="34" charset="-120"/>
                                    </a:rPr>
                                  </m:ctrlPr>
                                </m:sSupPr>
                                <m:e>
                                  <m:r>
                                    <m:rPr>
                                      <m:nor/>
                                    </m:rPr>
                                    <a:rPr lang="en-US" sz="1100" dirty="0" smtClean="0">
                                      <a:solidFill>
                                        <a:srgbClr val="1E293B"/>
                                      </a:solidFill>
                                      <a:latin typeface="+mn-lt"/>
                                      <a:ea typeface="Calibri" pitchFamily="34" charset="-122"/>
                                      <a:cs typeface="Calibri" pitchFamily="34" charset="-120"/>
                                    </a:rPr>
                                    <m:t>g</m:t>
                                  </m:r>
                                </m:e>
                                <m:sup>
                                  <m:r>
                                    <m:rPr>
                                      <m:nor/>
                                    </m:rPr>
                                    <a:rPr lang="en-US" sz="1100" dirty="0" smtClean="0">
                                      <a:solidFill>
                                        <a:srgbClr val="1E293B"/>
                                      </a:solidFill>
                                      <a:latin typeface="+mn-lt"/>
                                      <a:ea typeface="Calibri" pitchFamily="34" charset="-122"/>
                                      <a:cs typeface="Calibri" pitchFamily="34" charset="-120"/>
                                    </a:rPr>
                                    <m:t>ℓ</m:t>
                                  </m:r>
                                </m:sup>
                              </m:sSup>
                              <m:r>
                                <m:rPr>
                                  <m:nor/>
                                </m:rPr>
                                <a:rPr lang="en-US" sz="1100" dirty="0" smtClean="0">
                                  <a:solidFill>
                                    <a:srgbClr val="1E293B"/>
                                  </a:solidFill>
                                  <a:latin typeface="+mn-lt"/>
                                  <a:ea typeface="Calibri" pitchFamily="34" charset="-122"/>
                                  <a:cs typeface="Calibri" pitchFamily="34" charset="-120"/>
                                </a:rPr>
                                <m:t>≤ </m:t>
                              </m:r>
                              <m:r>
                                <m:rPr>
                                  <m:nor/>
                                </m:rPr>
                                <a:rPr lang="en-US" sz="1100" dirty="0" smtClean="0">
                                  <a:solidFill>
                                    <a:srgbClr val="1E293B"/>
                                  </a:solidFill>
                                  <a:latin typeface="+mn-lt"/>
                                  <a:ea typeface="Calibri" pitchFamily="34" charset="-122"/>
                                  <a:cs typeface="Calibri" pitchFamily="34" charset="-120"/>
                                </a:rPr>
                                <m:t>q</m:t>
                              </m:r>
                            </m:oMath>
                          </a14:m>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21"/>
                      </a:ext>
                    </a:extLst>
                  </a:tr>
                  <a:tr h="222504">
                    <a:tc>
                      <a:txBody>
                        <a:bodyPr/>
                        <a:lstStyle/>
                        <a:p>
                          <a:pPr marL="0" indent="0" algn="l">
                            <a:buNone/>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dirty="0" smtClean="0">
                                  <a:solidFill>
                                    <a:srgbClr val="1E293B"/>
                                  </a:solidFill>
                                  <a:latin typeface="Consolas" panose="020B0609020204030204" pitchFamily="49" charset="0"/>
                                  <a:ea typeface="Consolas" pitchFamily="34" charset="-122"/>
                                  <a:cs typeface="Consolas" pitchFamily="34" charset="-120"/>
                                </a:rPr>
                                <m:t>G</m:t>
                              </m:r>
                              <m:r>
                                <m:rPr>
                                  <m:nor/>
                                </m:rPr>
                                <a:rPr lang="en-US" sz="1100" b="1" dirty="0" smtClean="0">
                                  <a:solidFill>
                                    <a:srgbClr val="1E293B"/>
                                  </a:solidFill>
                                  <a:latin typeface="Consolas" panose="020B0609020204030204" pitchFamily="49" charset="0"/>
                                  <a:ea typeface="Consolas" pitchFamily="34" charset="-122"/>
                                  <a:cs typeface="Consolas" pitchFamily="34" charset="-120"/>
                                </a:rPr>
                                <m:t> = </m:t>
                              </m:r>
                              <m:r>
                                <m:rPr>
                                  <m:nor/>
                                </m:rPr>
                                <a:rPr lang="en-US" sz="1100" b="1" dirty="0" smtClean="0">
                                  <a:solidFill>
                                    <a:srgbClr val="1E293B"/>
                                  </a:solidFill>
                                  <a:latin typeface="Consolas" panose="020B0609020204030204" pitchFamily="49" charset="0"/>
                                  <a:ea typeface="Consolas" pitchFamily="34" charset="-122"/>
                                  <a:cs typeface="Consolas" pitchFamily="34" charset="-120"/>
                                </a:rPr>
                                <m:t>I</m:t>
                              </m:r>
                              <m:r>
                                <m:rPr>
                                  <m:nor/>
                                </m:rPr>
                                <a:rPr lang="en-US" sz="1100" b="1" dirty="0" smtClean="0">
                                  <a:solidFill>
                                    <a:srgbClr val="1E293B"/>
                                  </a:solidFill>
                                  <a:latin typeface="Consolas" panose="020B0609020204030204" pitchFamily="49" charset="0"/>
                                  <a:ea typeface="Consolas" pitchFamily="34" charset="-122"/>
                                  <a:cs typeface="Consolas" pitchFamily="34" charset="-120"/>
                                </a:rPr>
                                <m:t> ⊗ </m:t>
                              </m:r>
                              <m:r>
                                <m:rPr>
                                  <m:nor/>
                                </m:rPr>
                                <a:rPr lang="en-US" sz="1100" b="1" dirty="0" smtClean="0">
                                  <a:solidFill>
                                    <a:srgbClr val="1E293B"/>
                                  </a:solidFill>
                                  <a:latin typeface="Consolas" panose="020B0609020204030204" pitchFamily="49" charset="0"/>
                                  <a:ea typeface="Consolas" pitchFamily="34" charset="-122"/>
                                  <a:cs typeface="Consolas" pitchFamily="34" charset="-120"/>
                                </a:rPr>
                                <m:t>g</m:t>
                              </m:r>
                              <m:r>
                                <m:rPr>
                                  <m:nor/>
                                </m:rPr>
                                <a:rPr lang="en-US" sz="1100" b="1" dirty="0" smtClean="0">
                                  <a:solidFill>
                                    <a:srgbClr val="1E293B"/>
                                  </a:solidFill>
                                  <a:latin typeface="Consolas" panose="020B0609020204030204" pitchFamily="49" charset="0"/>
                                  <a:ea typeface="Consolas" pitchFamily="34" charset="-122"/>
                                  <a:cs typeface="Consolas" pitchFamily="34" charset="-120"/>
                                </a:rPr>
                                <m:t>ᵀ</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Gadget matrix</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22"/>
                      </a:ext>
                    </a:extLst>
                  </a:tr>
                  <a:tr h="222504">
                    <a:tc>
                      <a:txBody>
                        <a:bodyPr/>
                        <a:lstStyle/>
                        <a:p>
                          <a:pPr marL="0" indent="0" algn="l">
                            <a:buNone/>
                          </a:pPr>
                          <a:r>
                            <a:rPr lang="en-US" sz="1100" b="1" dirty="0">
                              <a:solidFill>
                                <a:srgbClr val="1E293B"/>
                              </a:solidFill>
                              <a:latin typeface="Consolas" panose="020B0609020204030204" pitchFamily="49" charset="0"/>
                              <a:ea typeface="Consolas" pitchFamily="34" charset="-122"/>
                              <a:cs typeface="Consolas" pitchFamily="34" charset="-120"/>
                            </a:rPr>
                            <a:t> </a:t>
                          </a:r>
                          <a14:m>
                            <m:oMath xmlns:m="http://schemas.openxmlformats.org/officeDocument/2006/math">
                              <m:r>
                                <m:rPr>
                                  <m:nor/>
                                </m:rPr>
                                <a:rPr lang="en-US" sz="1100" b="1" i="0" dirty="0" smtClean="0">
                                  <a:solidFill>
                                    <a:srgbClr val="1E293B"/>
                                  </a:solidFill>
                                  <a:latin typeface="Consolas" panose="020B0609020204030204" pitchFamily="49" charset="0"/>
                                  <a:ea typeface="Consolas" pitchFamily="34" charset="-122"/>
                                  <a:cs typeface="Consolas" pitchFamily="34" charset="-120"/>
                                </a:rPr>
                                <m:t>Q</m:t>
                              </m:r>
                            </m:oMath>
                          </a14:m>
                          <a:endParaRPr lang="en-US" sz="1100" dirty="0">
                            <a:latin typeface="Consolas" panose="020B0609020204030204" pitchFamily="49" charset="0"/>
                            <a:ea typeface="Consolas" charset="0"/>
                            <a:cs typeface="Consolas"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OnionPIR total RGSW cts  =  128 + 4·(d−1)</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23"/>
                      </a:ext>
                    </a:extLst>
                  </a:tr>
                </a:tbl>
              </a:graphicData>
            </a:graphic>
          </p:graphicFrame>
        </mc:Choice>
        <mc:Fallback xmlns="">
          <p:graphicFrame>
            <p:nvGraphicFramePr>
              <p:cNvPr id="6" name="Table 0"/>
              <p:cNvGraphicFramePr>
                <a:graphicFrameLocks noGrp="1"/>
              </p:cNvGraphicFramePr>
              <p:nvPr>
                <p:extLst>
                  <p:ext uri="{D42A27DB-BD31-4B8C-83A1-F6EECF244321}">
                    <p14:modId xmlns:p14="http://schemas.microsoft.com/office/powerpoint/2010/main" val="2491604153"/>
                  </p:ext>
                </p:extLst>
              </p:nvPr>
            </p:nvGraphicFramePr>
            <p:xfrm>
              <a:off x="487680" y="1097280"/>
              <a:ext cx="7193280" cy="5653028"/>
            </p:xfrm>
            <a:graphic>
              <a:graphicData uri="http://schemas.openxmlformats.org/drawingml/2006/table">
                <a:tbl>
                  <a:tblPr/>
                  <a:tblGrid>
                    <a:gridCol w="1341120">
                      <a:extLst>
                        <a:ext uri="{9D8B030D-6E8A-4147-A177-3AD203B41FA5}">
                          <a16:colId xmlns:a16="http://schemas.microsoft.com/office/drawing/2014/main" val="20000"/>
                        </a:ext>
                      </a:extLst>
                    </a:gridCol>
                    <a:gridCol w="4413504">
                      <a:extLst>
                        <a:ext uri="{9D8B030D-6E8A-4147-A177-3AD203B41FA5}">
                          <a16:colId xmlns:a16="http://schemas.microsoft.com/office/drawing/2014/main" val="20001"/>
                        </a:ext>
                      </a:extLst>
                    </a:gridCol>
                    <a:gridCol w="1438656">
                      <a:extLst>
                        <a:ext uri="{9D8B030D-6E8A-4147-A177-3AD203B41FA5}">
                          <a16:colId xmlns:a16="http://schemas.microsoft.com/office/drawing/2014/main" val="20002"/>
                        </a:ext>
                      </a:extLst>
                    </a:gridCol>
                  </a:tblGrid>
                  <a:tr h="22250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Symbol</a:t>
                          </a:r>
                          <a:endParaRPr lang="en-US" sz="11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7415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7415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Src</a:t>
                          </a:r>
                          <a:endParaRPr lang="en-US" sz="11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74151"/>
                        </a:solidFill>
                      </a:tcPr>
                    </a:tc>
                    <a:extLst>
                      <a:ext uri="{0D108BD9-81ED-4DB2-BD59-A6C34878D82A}">
                        <a16:rowId xmlns:a16="http://schemas.microsoft.com/office/drawing/2014/main" val="10000"/>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113889" r="-437273" b="-2400000"/>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Security parameter</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208108" r="-437273" b="-2235135"/>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Total DB elements</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316667" r="-437273" b="-2197222"/>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Number of hypercube dimensions</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259525">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348837" r="-437273" b="-1739535"/>
                          </a:stretch>
                        </a:blipFill>
                      </a:tcPr>
                    </a:tc>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30525" t="-348837" r="-32873" b="-1739535"/>
                          </a:stretch>
                        </a:blipFill>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536111" r="-437273" b="-1977778"/>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Client's target index  (never i₀)</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229680">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602632" r="-437273" b="-1773684"/>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Decomposition of i per dimension</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259525">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620930" r="-437273" b="-1467442"/>
                          </a:stretch>
                        </a:blipFill>
                      </a:tcPr>
                    </a:tc>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30525" t="-620930" r="-32873" b="-1467442"/>
                          </a:stretch>
                        </a:blipFill>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r h="259525">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738095" r="-437273" b="-1402381"/>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Encrypted query for dimension j</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8"/>
                      </a:ext>
                    </a:extLst>
                  </a:tr>
                  <a:tr h="229680">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926316" r="-437273" b="-1450000"/>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Full query sent to server</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9"/>
                      </a:ext>
                    </a:extLst>
                  </a:tr>
                  <a:tr h="259525">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928571" r="-437273" b="-1211905"/>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DB element k, chunk j  —  k = DB loop index ≠ i</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noFill/>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derived</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noFill/>
                      </a:tcPr>
                    </a:tc>
                    <a:extLst>
                      <a:ext uri="{0D108BD9-81ED-4DB2-BD59-A6C34878D82A}">
                        <a16:rowId xmlns:a16="http://schemas.microsoft.com/office/drawing/2014/main" val="10010"/>
                      </a:ext>
                    </a:extLst>
                  </a:tr>
                  <a:tr h="309245">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847059" r="-437273" b="-898039"/>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Intermediate result after dim 1, chunk j</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derived</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1"/>
                      </a:ext>
                    </a:extLst>
                  </a:tr>
                  <a:tr h="259525">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1123256" r="-437273" b="-965116"/>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Final reply ciphertext chunk j</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derived</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2"/>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1461111" r="-437273" b="-1052778"/>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Ciphertext expansion factor (&gt; 1).  No universal formula.</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3"/>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1518919" r="-437273" b="-924324"/>
                          </a:stretch>
                        </a:blipFill>
                      </a:tcPr>
                    </a:tc>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30525" t="-1518919" r="-32873" b="-924324"/>
                          </a:stretch>
                        </a:blipFill>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4"/>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1663889" r="-437273" b="-850000"/>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Evaluation key</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5"/>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1716216" r="-437273" b="-727027"/>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Key-switching key</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6"/>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1866667" r="-437273" b="-647222"/>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FHE polynomial degree  (never use N for DB size)</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7"/>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1913514" r="-437273" b="-529730"/>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Ciphertext modulus</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8"/>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2013514" r="-437273" b="-429730"/>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Plaintext modulus</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9"/>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2172222" r="-437273" b="-341667"/>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Scaling factor</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20"/>
                      </a:ext>
                    </a:extLst>
                  </a:tr>
                  <a:tr h="249238">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1995122" r="-437273" b="-200000"/>
                          </a:stretch>
                        </a:blipFill>
                      </a:tcPr>
                    </a:tc>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30525" t="-1995122" r="-32873" b="-200000"/>
                          </a:stretch>
                        </a:blipFill>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21"/>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2386111" r="-437273" b="-127778"/>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Gadget matrix</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22"/>
                      </a:ext>
                    </a:extLst>
                  </a:tr>
                  <a:tr h="222504">
                    <a:tc>
                      <a:txBody>
                        <a:bodyPr/>
                        <a:lstStyle/>
                        <a:p>
                          <a:endParaRPr lang="en-US"/>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2"/>
                          <a:stretch>
                            <a:fillRect l="-455" t="-2418919" r="-437273" b="-24324"/>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OnionPIR total RGSW cts  =  128 + 4·(d−1)</a:t>
                          </a:r>
                          <a:endParaRPr lang="en-US" sz="1100" dirty="0">
                            <a:latin typeface="+mn-lt"/>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900" i="1" dirty="0">
                              <a:solidFill>
                                <a:srgbClr val="64748B"/>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25400" marR="25400" marT="25400" marB="254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23"/>
                      </a:ext>
                    </a:extLst>
                  </a:tr>
                </a:tbl>
              </a:graphicData>
            </a:graphic>
          </p:graphicFrame>
        </mc:Fallback>
      </mc:AlternateContent>
      <p:sp>
        <p:nvSpPr>
          <p:cNvPr id="7" name="Shape 4"/>
          <p:cNvSpPr/>
          <p:nvPr/>
        </p:nvSpPr>
        <p:spPr>
          <a:xfrm>
            <a:off x="7863840" y="768096"/>
            <a:ext cx="3840480" cy="316992"/>
          </a:xfrm>
          <a:prstGeom prst="rect">
            <a:avLst/>
          </a:prstGeom>
          <a:solidFill>
            <a:srgbClr val="1E293B"/>
          </a:solidFill>
          <a:ln w="12700">
            <a:solidFill>
              <a:srgbClr val="1E293B"/>
            </a:solidFill>
            <a:prstDash val="solid"/>
          </a:ln>
        </p:spPr>
      </p:sp>
      <p:sp>
        <p:nvSpPr>
          <p:cNvPr id="8" name="Text 5"/>
          <p:cNvSpPr/>
          <p:nvPr/>
        </p:nvSpPr>
        <p:spPr>
          <a:xfrm>
            <a:off x="8010144" y="768096"/>
            <a:ext cx="3694176" cy="316992"/>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Canonical Function Forms  (§2.2)</a:t>
            </a:r>
            <a:endParaRPr lang="en-US" sz="1200" dirty="0"/>
          </a:p>
        </p:txBody>
      </p:sp>
      <p:graphicFrame>
        <p:nvGraphicFramePr>
          <p:cNvPr id="9" name="Table 1"/>
          <p:cNvGraphicFramePr>
            <a:graphicFrameLocks noGrp="1"/>
          </p:cNvGraphicFramePr>
          <p:nvPr/>
        </p:nvGraphicFramePr>
        <p:xfrm>
          <a:off x="7863840" y="1097280"/>
          <a:ext cx="3840480" cy="2706624"/>
        </p:xfrm>
        <a:graphic>
          <a:graphicData uri="http://schemas.openxmlformats.org/drawingml/2006/table">
            <a:tbl>
              <a:tblPr/>
              <a:tblGrid>
                <a:gridCol w="21945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33832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Call</a:t>
                      </a:r>
                      <a:endParaRPr lang="en-US" sz="1100" dirty="0">
                        <a:latin typeface="Calibri" charset="0"/>
                        <a:ea typeface="Calibri" charset="0"/>
                        <a:cs typeface="Calibri"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7415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Used in</a:t>
                      </a:r>
                      <a:endParaRPr lang="en-US" sz="1100" dirty="0">
                        <a:latin typeface="Calibri" charset="0"/>
                        <a:ea typeface="Calibri" charset="0"/>
                        <a:cs typeface="Calibri"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74151"/>
                    </a:solidFill>
                  </a:tcPr>
                </a:tc>
                <a:extLst>
                  <a:ext uri="{0D108BD9-81ED-4DB2-BD59-A6C34878D82A}">
                    <a16:rowId xmlns:a16="http://schemas.microsoft.com/office/drawing/2014/main" val="10000"/>
                  </a:ext>
                </a:extLst>
              </a:tr>
              <a:tr h="338328">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FHE.RLWE.Enc(sk, Δ·m)</a:t>
                      </a:r>
                      <a:endParaRPr lang="en-US" sz="1100" dirty="0">
                        <a:latin typeface="Consolas" charset="0"/>
                        <a:ea typeface="Consolas" charset="0"/>
                        <a:cs typeface="Consolas"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i="1" dirty="0">
                          <a:solidFill>
                            <a:srgbClr val="64748B"/>
                          </a:solidFill>
                          <a:latin typeface="Calibri" pitchFamily="34" charset="0"/>
                          <a:ea typeface="Calibri" pitchFamily="34" charset="-122"/>
                          <a:cs typeface="Calibri" pitchFamily="34" charset="-120"/>
                        </a:rPr>
                        <a:t>XPIR/SealPIR P2, OnionPIR P2</a:t>
                      </a:r>
                      <a:endParaRPr lang="en-US" sz="1000" dirty="0">
                        <a:latin typeface="Calibri" charset="0"/>
                        <a:ea typeface="Calibri" charset="0"/>
                        <a:cs typeface="Calibri"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FHE.RGSW.Enc(sk, m)</a:t>
                      </a:r>
                      <a:endParaRPr lang="en-US" sz="1100" dirty="0">
                        <a:latin typeface="Consolas" charset="0"/>
                        <a:ea typeface="Consolas" charset="0"/>
                        <a:cs typeface="Consolas"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i="1" dirty="0">
                          <a:solidFill>
                            <a:srgbClr val="64748B"/>
                          </a:solidFill>
                          <a:latin typeface="Calibri" pitchFamily="34" charset="0"/>
                          <a:ea typeface="Calibri" pitchFamily="34" charset="-122"/>
                          <a:cs typeface="Calibri" pitchFamily="34" charset="-120"/>
                        </a:rPr>
                        <a:t>OnionPIR P2 dims 2..d</a:t>
                      </a:r>
                      <a:endParaRPr lang="en-US" sz="1000" dirty="0">
                        <a:latin typeface="Calibri" charset="0"/>
                        <a:ea typeface="Calibri" charset="0"/>
                        <a:cs typeface="Calibri"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FHE.ksk.Gen(sk, info(sk))</a:t>
                      </a:r>
                      <a:endParaRPr lang="en-US" sz="1100" dirty="0">
                        <a:latin typeface="Consolas" charset="0"/>
                        <a:ea typeface="Consolas" charset="0"/>
                        <a:cs typeface="Consolas"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i="1" dirty="0">
                          <a:solidFill>
                            <a:srgbClr val="64748B"/>
                          </a:solidFill>
                          <a:latin typeface="Calibri" pitchFamily="34" charset="0"/>
                          <a:ea typeface="Calibri" pitchFamily="34" charset="-122"/>
                          <a:cs typeface="Calibri" pitchFamily="34" charset="-120"/>
                        </a:rPr>
                        <a:t>SealPIR P1, OnionPIR P1</a:t>
                      </a:r>
                      <a:endParaRPr lang="en-US" sz="1000" dirty="0">
                        <a:latin typeface="Calibri" charset="0"/>
                        <a:ea typeface="Calibri" charset="0"/>
                        <a:cs typeface="Calibri"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FHE.Add(c₁, c₂)</a:t>
                      </a:r>
                      <a:endParaRPr lang="en-US" sz="1100" dirty="0">
                        <a:latin typeface="Consolas" charset="0"/>
                        <a:ea typeface="Consolas" charset="0"/>
                        <a:cs typeface="Consolas"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i="1" dirty="0">
                          <a:solidFill>
                            <a:srgbClr val="64748B"/>
                          </a:solidFill>
                          <a:latin typeface="Calibri" pitchFamily="34" charset="0"/>
                          <a:ea typeface="Calibri" pitchFamily="34" charset="-122"/>
                          <a:cs typeface="Calibri" pitchFamily="34" charset="-120"/>
                        </a:rPr>
                        <a:t>All P3</a:t>
                      </a:r>
                      <a:endParaRPr lang="en-US" sz="1000" dirty="0">
                        <a:latin typeface="Calibri" charset="0"/>
                        <a:ea typeface="Calibri" charset="0"/>
                        <a:cs typeface="Calibri"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FHE.PlainMult(c, T(X))</a:t>
                      </a:r>
                      <a:endParaRPr lang="en-US" sz="1100" dirty="0">
                        <a:latin typeface="Consolas" charset="0"/>
                        <a:ea typeface="Consolas" charset="0"/>
                        <a:cs typeface="Consolas"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i="1" dirty="0">
                          <a:solidFill>
                            <a:srgbClr val="64748B"/>
                          </a:solidFill>
                          <a:latin typeface="Calibri" pitchFamily="34" charset="0"/>
                          <a:ea typeface="Calibri" pitchFamily="34" charset="-122"/>
                          <a:cs typeface="Calibri" pitchFamily="34" charset="-120"/>
                        </a:rPr>
                        <a:t>XPIR/SealPIR P3, OnionPIR P3</a:t>
                      </a:r>
                      <a:endParaRPr lang="en-US" sz="1000" dirty="0">
                        <a:latin typeface="Calibri" charset="0"/>
                        <a:ea typeface="Calibri" charset="0"/>
                        <a:cs typeface="Calibri"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338328">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FHE.ExternalProd(c, C)</a:t>
                      </a:r>
                      <a:endParaRPr lang="en-US" sz="1100" dirty="0">
                        <a:latin typeface="Consolas" charset="0"/>
                        <a:ea typeface="Consolas" charset="0"/>
                        <a:cs typeface="Consolas"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i="1" dirty="0">
                          <a:solidFill>
                            <a:srgbClr val="64748B"/>
                          </a:solidFill>
                          <a:latin typeface="Calibri" pitchFamily="34" charset="0"/>
                          <a:ea typeface="Calibri" pitchFamily="34" charset="-122"/>
                          <a:cs typeface="Calibri" pitchFamily="34" charset="-120"/>
                        </a:rPr>
                        <a:t>OnionPIR P3 dims 2..d</a:t>
                      </a:r>
                      <a:endParaRPr lang="en-US" sz="1000" dirty="0">
                        <a:latin typeface="Calibri" charset="0"/>
                        <a:ea typeface="Calibri" charset="0"/>
                        <a:cs typeface="Calibri"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338328">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FHE.Dec(c, sk)</a:t>
                      </a:r>
                      <a:endParaRPr lang="en-US" sz="1100" dirty="0">
                        <a:latin typeface="Consolas" charset="0"/>
                        <a:ea typeface="Consolas" charset="0"/>
                        <a:cs typeface="Consolas"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000" i="1" dirty="0">
                          <a:solidFill>
                            <a:srgbClr val="64748B"/>
                          </a:solidFill>
                          <a:latin typeface="Calibri" pitchFamily="34" charset="0"/>
                          <a:ea typeface="Calibri" pitchFamily="34" charset="-122"/>
                          <a:cs typeface="Calibri" pitchFamily="34" charset="-120"/>
                        </a:rPr>
                        <a:t>All P4</a:t>
                      </a:r>
                      <a:endParaRPr lang="en-US" sz="1000" dirty="0">
                        <a:latin typeface="Calibri" charset="0"/>
                        <a:ea typeface="Calibri" charset="0"/>
                        <a:cs typeface="Calibri" charset="0"/>
                      </a:endParaRPr>
                    </a:p>
                  </a:txBody>
                  <a:tcPr marL="33867" marR="33867" marT="33867" marB="33867"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 name="Shape 6"/>
          <p:cNvSpPr/>
          <p:nvPr/>
        </p:nvSpPr>
        <p:spPr>
          <a:xfrm>
            <a:off x="7863840" y="3901440"/>
            <a:ext cx="3840480" cy="316992"/>
          </a:xfrm>
          <a:prstGeom prst="rect">
            <a:avLst/>
          </a:prstGeom>
          <a:solidFill>
            <a:srgbClr val="DC2626"/>
          </a:solidFill>
          <a:ln w="12700">
            <a:solidFill>
              <a:srgbClr val="DC2626"/>
            </a:solidFill>
            <a:prstDash val="solid"/>
          </a:ln>
        </p:spPr>
      </p:sp>
      <p:sp>
        <p:nvSpPr>
          <p:cNvPr id="11" name="Text 7"/>
          <p:cNvSpPr/>
          <p:nvPr/>
        </p:nvSpPr>
        <p:spPr>
          <a:xfrm>
            <a:off x="8010144" y="3901440"/>
            <a:ext cx="3694176" cy="316992"/>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  Index Distinction — Critical</a:t>
            </a:r>
            <a:endParaRPr lang="en-US" sz="1200" dirty="0"/>
          </a:p>
        </p:txBody>
      </p:sp>
      <p:sp>
        <p:nvSpPr>
          <p:cNvPr id="12" name="Shape 8"/>
          <p:cNvSpPr/>
          <p:nvPr/>
        </p:nvSpPr>
        <p:spPr>
          <a:xfrm>
            <a:off x="7863840" y="4218432"/>
            <a:ext cx="3840480" cy="2487168"/>
          </a:xfrm>
          <a:prstGeom prst="rect">
            <a:avLst/>
          </a:prstGeom>
          <a:solidFill>
            <a:srgbClr val="FEF2F2"/>
          </a:solidFill>
          <a:ln w="12700">
            <a:solidFill>
              <a:srgbClr val="FECACA"/>
            </a:solidFill>
            <a:prstDash val="solid"/>
          </a:ln>
        </p:spPr>
      </p:sp>
      <p:sp>
        <p:nvSpPr>
          <p:cNvPr id="13" name="Text 9"/>
          <p:cNvSpPr/>
          <p:nvPr/>
        </p:nvSpPr>
        <p:spPr>
          <a:xfrm>
            <a:off x="8010144" y="4291584"/>
            <a:ext cx="3584448" cy="2316480"/>
          </a:xfrm>
          <a:prstGeom prst="rect">
            <a:avLst/>
          </a:prstGeom>
          <a:noFill/>
          <a:ln/>
        </p:spPr>
        <p:txBody>
          <a:bodyPr wrap="square" rtlCol="0" anchor="t"/>
          <a:lstStyle/>
          <a:p>
            <a:r>
              <a:rPr lang="en-US" sz="1200" b="1" dirty="0">
                <a:solidFill>
                  <a:srgbClr val="1E293B"/>
                </a:solidFill>
                <a:latin typeface="Consolas" pitchFamily="34" charset="0"/>
                <a:ea typeface="Consolas" pitchFamily="34" charset="-122"/>
                <a:cs typeface="Consolas" pitchFamily="34" charset="-120"/>
              </a:rPr>
              <a:t>i</a:t>
            </a:r>
            <a:r>
              <a:rPr lang="en-US" sz="1133" dirty="0">
                <a:solidFill>
                  <a:srgbClr val="1E293B"/>
                </a:solidFill>
                <a:latin typeface="Calibri" pitchFamily="34" charset="0"/>
                <a:ea typeface="Calibri" pitchFamily="34" charset="-122"/>
                <a:cs typeface="Calibri" pitchFamily="34" charset="-120"/>
              </a:rPr>
              <a:t>   = client's secret target index (one per query)
</a:t>
            </a:r>
            <a:r>
              <a:rPr lang="en-US" sz="1200" b="1" dirty="0">
                <a:solidFill>
                  <a:srgbClr val="1E293B"/>
                </a:solidFill>
                <a:latin typeface="Consolas" pitchFamily="34" charset="0"/>
                <a:ea typeface="Consolas" pitchFamily="34" charset="-122"/>
                <a:cs typeface="Consolas" pitchFamily="34" charset="-120"/>
              </a:rPr>
              <a:t>k</a:t>
            </a:r>
            <a:r>
              <a:rPr lang="en-US" sz="1133" dirty="0">
                <a:solidFill>
                  <a:srgbClr val="1E293B"/>
                </a:solidFill>
                <a:latin typeface="Calibri" pitchFamily="34" charset="0"/>
                <a:ea typeface="Calibri" pitchFamily="34" charset="-122"/>
                <a:cs typeface="Calibri" pitchFamily="34" charset="-120"/>
              </a:rPr>
              <a:t>   = DB loop index,  k ∈ [n]  —  never reuse i
</a:t>
            </a:r>
            <a:r>
              <a:rPr lang="en-US" sz="1200" b="1" dirty="0">
                <a:solidFill>
                  <a:srgbClr val="1E293B"/>
                </a:solidFill>
                <a:latin typeface="Consolas" pitchFamily="34" charset="0"/>
                <a:ea typeface="Consolas" pitchFamily="34" charset="-122"/>
                <a:cs typeface="Consolas" pitchFamily="34" charset="-120"/>
              </a:rPr>
              <a:t>j</a:t>
            </a:r>
            <a:r>
              <a:rPr lang="en-US" sz="1133" dirty="0">
                <a:solidFill>
                  <a:srgbClr val="1E293B"/>
                </a:solidFill>
                <a:latin typeface="Calibri" pitchFamily="34" charset="0"/>
                <a:ea typeface="Calibri" pitchFamily="34" charset="-122"/>
                <a:cs typeface="Calibri" pitchFamily="34" charset="-120"/>
              </a:rPr>
              <a:t>   = chunk index,  j ∈ [⌈ℓ/ℓ₀⌉]
</a:t>
            </a:r>
            <a:endParaRPr lang="en-US" sz="1133"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121920"/>
            <a:ext cx="11216640" cy="487680"/>
          </a:xfrm>
          <a:prstGeom prst="rect">
            <a:avLst/>
          </a:prstGeom>
          <a:noFill/>
          <a:ln/>
        </p:spPr>
        <p:txBody>
          <a:bodyPr wrap="square" rtlCol="0" anchor="ctr"/>
          <a:lstStyle/>
          <a:p>
            <a:r>
              <a:rPr lang="en-US" sz="2667" b="1" dirty="0">
                <a:solidFill>
                  <a:srgbClr val="1E293B"/>
                </a:solidFill>
                <a:latin typeface="Calibri" pitchFamily="34" charset="0"/>
                <a:ea typeface="Calibri" pitchFamily="34" charset="-122"/>
                <a:cs typeface="Calibri" pitchFamily="34" charset="-120"/>
              </a:rPr>
              <a:t>FHE Primitives — Section 2.2 (PIR Revisited) / </a:t>
            </a:r>
            <a:r>
              <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FHE</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原件</a:t>
            </a:r>
            <a:endPar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1"/>
              <p:cNvSpPr/>
              <p:nvPr/>
            </p:nvSpPr>
            <p:spPr>
              <a:xfrm>
                <a:off x="487680" y="585216"/>
                <a:ext cx="11216640" cy="268224"/>
              </a:xfrm>
              <a:prstGeom prst="rect">
                <a:avLst/>
              </a:prstGeom>
              <a:noFill/>
              <a:ln/>
            </p:spPr>
            <p:txBody>
              <a:bodyPr wrap="square" rtlCol="0" anchor="ctr"/>
              <a:lstStyle/>
              <a:p>
                <a:r>
                  <a:rPr lang="en-US" sz="1267" i="1" dirty="0">
                    <a:solidFill>
                      <a:srgbClr val="64748B"/>
                    </a:solidFill>
                    <a:latin typeface="Calibri" pitchFamily="34" charset="0"/>
                    <a:ea typeface="Calibri" pitchFamily="34" charset="-122"/>
                    <a:cs typeface="Calibri" pitchFamily="34" charset="-120"/>
                  </a:rPr>
                  <a:t>Ring-LWE based building blocks used in all hypercube PIR protocols  | </a:t>
                </a:r>
                <a14:m>
                  <m:oMath xmlns:m="http://schemas.openxmlformats.org/officeDocument/2006/math">
                    <m:sSub>
                      <m:sSubPr>
                        <m:ctrlPr>
                          <a:rPr lang="en-US" sz="1400" b="0" i="1" dirty="0" smtClean="0">
                            <a:solidFill>
                              <a:srgbClr val="1E293B"/>
                            </a:solidFill>
                            <a:latin typeface="Cambria Math" panose="02040503050406030204" pitchFamily="18" charset="0"/>
                            <a:cs typeface="Calibri" pitchFamily="34" charset="-120"/>
                          </a:rPr>
                        </m:ctrlPr>
                      </m:sSubPr>
                      <m:e>
                        <m:r>
                          <m:rPr>
                            <m:nor/>
                          </m:rPr>
                          <a:rPr lang="en-US" sz="1400" i="1" dirty="0">
                            <a:solidFill>
                              <a:srgbClr val="64748B"/>
                            </a:solidFill>
                            <a:latin typeface="Calibri" pitchFamily="34" charset="0"/>
                            <a:ea typeface="Calibri" pitchFamily="34" charset="-122"/>
                            <a:cs typeface="Calibri" pitchFamily="34" charset="-120"/>
                          </a:rPr>
                          <m:t>R</m:t>
                        </m:r>
                      </m:e>
                      <m:sub>
                        <m:r>
                          <m:rPr>
                            <m:nor/>
                          </m:rPr>
                          <a:rPr lang="en-US" sz="1400" i="1" dirty="0">
                            <a:solidFill>
                              <a:srgbClr val="64748B"/>
                            </a:solidFill>
                            <a:latin typeface="Calibri" pitchFamily="34" charset="0"/>
                            <a:ea typeface="Calibri" pitchFamily="34" charset="-122"/>
                            <a:cs typeface="Calibri" pitchFamily="34" charset="-120"/>
                          </a:rPr>
                          <m:t>q</m:t>
                        </m:r>
                      </m:sub>
                    </m:sSub>
                    <m:r>
                      <m:rPr>
                        <m:nor/>
                      </m:rPr>
                      <a:rPr lang="en-US" sz="1400" b="0" i="1" dirty="0" smtClean="0">
                        <a:solidFill>
                          <a:srgbClr val="1E293B"/>
                        </a:solidFill>
                        <a:latin typeface="Cambria Math" panose="02040503050406030204" pitchFamily="18" charset="0"/>
                        <a:ea typeface="Calibri" pitchFamily="34" charset="-122"/>
                        <a:cs typeface="Calibri" pitchFamily="34" charset="-120"/>
                      </a:rPr>
                      <m:t> </m:t>
                    </m:r>
                    <m:r>
                      <m:rPr>
                        <m:nor/>
                      </m:rPr>
                      <a:rPr lang="en-US" sz="1400" i="1" dirty="0">
                        <a:solidFill>
                          <a:srgbClr val="64748B"/>
                        </a:solidFill>
                        <a:latin typeface="Calibri" pitchFamily="34" charset="0"/>
                        <a:ea typeface="Calibri" pitchFamily="34" charset="-122"/>
                        <a:cs typeface="Calibri" pitchFamily="34" charset="-120"/>
                      </a:rPr>
                      <m:t>=</m:t>
                    </m:r>
                    <m:r>
                      <m:rPr>
                        <m:nor/>
                      </m:rPr>
                      <a:rPr lang="en-US" sz="1400" b="0" i="1" dirty="0" smtClean="0">
                        <a:solidFill>
                          <a:srgbClr val="64748B"/>
                        </a:solidFill>
                        <a:latin typeface="Calibri" pitchFamily="34" charset="0"/>
                        <a:ea typeface="Calibri" pitchFamily="34" charset="-122"/>
                        <a:cs typeface="Calibri" pitchFamily="34" charset="-120"/>
                      </a:rPr>
                      <m:t> </m:t>
                    </m:r>
                    <m:sSub>
                      <m:sSubPr>
                        <m:ctrlPr>
                          <a:rPr lang="en-US" sz="1400" i="1" dirty="0">
                            <a:solidFill>
                              <a:srgbClr val="1E293B"/>
                            </a:solidFill>
                            <a:latin typeface="Cambria Math" panose="02040503050406030204" pitchFamily="18" charset="0"/>
                            <a:cs typeface="Calibri" pitchFamily="34" charset="-120"/>
                          </a:rPr>
                        </m:ctrlPr>
                      </m:sSubPr>
                      <m:e>
                        <m:r>
                          <m:rPr>
                            <m:nor/>
                          </m:rPr>
                          <a:rPr lang="en-US" sz="1400" i="1" dirty="0">
                            <a:solidFill>
                              <a:srgbClr val="64748B"/>
                            </a:solidFill>
                            <a:latin typeface="Calibri" pitchFamily="34" charset="0"/>
                            <a:ea typeface="Calibri" pitchFamily="34" charset="-122"/>
                            <a:cs typeface="Calibri" pitchFamily="34" charset="-120"/>
                          </a:rPr>
                          <m:t>Z</m:t>
                        </m:r>
                      </m:e>
                      <m:sub>
                        <m:r>
                          <m:rPr>
                            <m:nor/>
                          </m:rPr>
                          <a:rPr lang="en-US" sz="1400" i="1" dirty="0">
                            <a:solidFill>
                              <a:srgbClr val="64748B"/>
                            </a:solidFill>
                            <a:latin typeface="Calibri" pitchFamily="34" charset="0"/>
                            <a:ea typeface="Calibri" pitchFamily="34" charset="-122"/>
                            <a:cs typeface="Calibri" pitchFamily="34" charset="-120"/>
                          </a:rPr>
                          <m:t>q</m:t>
                        </m:r>
                      </m:sub>
                    </m:sSub>
                    <m:r>
                      <m:rPr>
                        <m:nor/>
                      </m:rPr>
                      <a:rPr lang="en-US" sz="1400" i="1" dirty="0">
                        <a:solidFill>
                          <a:srgbClr val="64748B"/>
                        </a:solidFill>
                        <a:latin typeface="Calibri" pitchFamily="34" charset="0"/>
                        <a:ea typeface="Calibri" pitchFamily="34" charset="-122"/>
                        <a:cs typeface="Calibri" pitchFamily="34" charset="-120"/>
                      </a:rPr>
                      <m:t>[</m:t>
                    </m:r>
                    <m:r>
                      <m:rPr>
                        <m:nor/>
                      </m:rPr>
                      <a:rPr lang="en-US" sz="1400" i="1" dirty="0">
                        <a:solidFill>
                          <a:srgbClr val="64748B"/>
                        </a:solidFill>
                        <a:latin typeface="Calibri" pitchFamily="34" charset="0"/>
                        <a:ea typeface="Calibri" pitchFamily="34" charset="-122"/>
                        <a:cs typeface="Calibri" pitchFamily="34" charset="-120"/>
                      </a:rPr>
                      <m:t>X</m:t>
                    </m:r>
                    <m:r>
                      <m:rPr>
                        <m:nor/>
                      </m:rPr>
                      <a:rPr lang="en-US" sz="1400" i="1" dirty="0">
                        <a:solidFill>
                          <a:srgbClr val="64748B"/>
                        </a:solidFill>
                        <a:latin typeface="Calibri" pitchFamily="34" charset="0"/>
                        <a:ea typeface="Calibri" pitchFamily="34" charset="-122"/>
                        <a:cs typeface="Calibri" pitchFamily="34" charset="-120"/>
                      </a:rPr>
                      <m:t>]/(</m:t>
                    </m:r>
                    <m:sSup>
                      <m:sSupPr>
                        <m:ctrlPr>
                          <a:rPr lang="en-US" sz="1400" i="1">
                            <a:solidFill>
                              <a:srgbClr val="1E293B"/>
                            </a:solidFill>
                            <a:latin typeface="Cambria Math" panose="02040503050406030204" pitchFamily="18" charset="0"/>
                            <a:cs typeface="Calibri" pitchFamily="34" charset="-120"/>
                          </a:rPr>
                        </m:ctrlPr>
                      </m:sSupPr>
                      <m:e>
                        <m:r>
                          <m:rPr>
                            <m:nor/>
                          </m:rPr>
                          <a:rPr lang="en-US" sz="1400" i="1" dirty="0">
                            <a:solidFill>
                              <a:srgbClr val="64748B"/>
                            </a:solidFill>
                            <a:latin typeface="Calibri" pitchFamily="34" charset="0"/>
                            <a:ea typeface="Calibri" pitchFamily="34" charset="-122"/>
                            <a:cs typeface="Calibri" pitchFamily="34" charset="-120"/>
                          </a:rPr>
                          <m:t>X</m:t>
                        </m:r>
                      </m:e>
                      <m:sup>
                        <m:r>
                          <m:rPr>
                            <m:nor/>
                          </m:rPr>
                          <a:rPr lang="en-US" sz="1400" i="1" dirty="0">
                            <a:solidFill>
                              <a:srgbClr val="64748B"/>
                            </a:solidFill>
                            <a:latin typeface="Calibri" pitchFamily="34" charset="0"/>
                            <a:ea typeface="Calibri" pitchFamily="34" charset="-122"/>
                            <a:cs typeface="Calibri" pitchFamily="34" charset="-120"/>
                          </a:rPr>
                          <m:t>N</m:t>
                        </m:r>
                        <m:r>
                          <m:rPr>
                            <m:nor/>
                          </m:rPr>
                          <a:rPr lang="en-US" sz="1400" i="1" dirty="0">
                            <a:solidFill>
                              <a:srgbClr val="64748B"/>
                            </a:solidFill>
                            <a:latin typeface="Calibri" pitchFamily="34" charset="0"/>
                            <a:ea typeface="Calibri" pitchFamily="34" charset="-122"/>
                            <a:cs typeface="Calibri" pitchFamily="34" charset="-120"/>
                          </a:rPr>
                          <m:t>+1</m:t>
                        </m:r>
                      </m:sup>
                    </m:sSup>
                    <m:r>
                      <m:rPr>
                        <m:nor/>
                      </m:rPr>
                      <a:rPr lang="en-US" sz="1400" i="1" dirty="0">
                        <a:solidFill>
                          <a:srgbClr val="64748B"/>
                        </a:solidFill>
                        <a:latin typeface="Calibri" pitchFamily="34" charset="0"/>
                        <a:ea typeface="Calibri" pitchFamily="34" charset="-122"/>
                        <a:cs typeface="Calibri" pitchFamily="34" charset="-120"/>
                      </a:rPr>
                      <m:t>),</m:t>
                    </m:r>
                  </m:oMath>
                </a14:m>
                <a:r>
                  <a:rPr lang="en-US" sz="1267" i="1" dirty="0">
                    <a:solidFill>
                      <a:srgbClr val="64748B"/>
                    </a:solidFill>
                    <a:latin typeface="Calibri" pitchFamily="34" charset="0"/>
                    <a:ea typeface="Calibri" pitchFamily="34" charset="-122"/>
                    <a:cs typeface="Calibri" pitchFamily="34" charset="-120"/>
                  </a:rPr>
                  <a:t>  Δ = q/p,  G = I₂ ⊗ gᵀ</a:t>
                </a:r>
                <a:endParaRPr lang="en-US" sz="1267" dirty="0"/>
              </a:p>
            </p:txBody>
          </p:sp>
        </mc:Choice>
        <mc:Fallback xmlns="">
          <p:sp>
            <p:nvSpPr>
              <p:cNvPr id="3" name="Text 1"/>
              <p:cNvSpPr>
                <a:spLocks noRot="1" noChangeAspect="1" noMove="1" noResize="1" noEditPoints="1" noAdjustHandles="1" noChangeArrowheads="1" noChangeShapeType="1" noTextEdit="1"/>
              </p:cNvSpPr>
              <p:nvPr/>
            </p:nvSpPr>
            <p:spPr>
              <a:xfrm>
                <a:off x="487680" y="585216"/>
                <a:ext cx="11216640" cy="268224"/>
              </a:xfrm>
              <a:prstGeom prst="rect">
                <a:avLst/>
              </a:prstGeom>
              <a:blipFill>
                <a:blip r:embed="rId3"/>
                <a:stretch>
                  <a:fillRect l="-54" b="-29545"/>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0"/>
              <p:cNvGraphicFramePr>
                <a:graphicFrameLocks noGrp="1"/>
              </p:cNvGraphicFramePr>
              <p:nvPr>
                <p:extLst>
                  <p:ext uri="{D42A27DB-BD31-4B8C-83A1-F6EECF244321}">
                    <p14:modId xmlns:p14="http://schemas.microsoft.com/office/powerpoint/2010/main" val="594863891"/>
                  </p:ext>
                </p:extLst>
              </p:nvPr>
            </p:nvGraphicFramePr>
            <p:xfrm>
              <a:off x="487680" y="877824"/>
              <a:ext cx="11216640" cy="5791200"/>
            </p:xfrm>
            <a:graphic>
              <a:graphicData uri="http://schemas.openxmlformats.org/drawingml/2006/table">
                <a:tbl>
                  <a:tblPr/>
                  <a:tblGrid>
                    <a:gridCol w="1975104">
                      <a:extLst>
                        <a:ext uri="{9D8B030D-6E8A-4147-A177-3AD203B41FA5}">
                          <a16:colId xmlns:a16="http://schemas.microsoft.com/office/drawing/2014/main" val="20000"/>
                        </a:ext>
                      </a:extLst>
                    </a:gridCol>
                    <a:gridCol w="2097024">
                      <a:extLst>
                        <a:ext uri="{9D8B030D-6E8A-4147-A177-3AD203B41FA5}">
                          <a16:colId xmlns:a16="http://schemas.microsoft.com/office/drawing/2014/main" val="20001"/>
                        </a:ext>
                      </a:extLst>
                    </a:gridCol>
                    <a:gridCol w="2218944">
                      <a:extLst>
                        <a:ext uri="{9D8B030D-6E8A-4147-A177-3AD203B41FA5}">
                          <a16:colId xmlns:a16="http://schemas.microsoft.com/office/drawing/2014/main" val="20002"/>
                        </a:ext>
                      </a:extLst>
                    </a:gridCol>
                    <a:gridCol w="4925568">
                      <a:extLst>
                        <a:ext uri="{9D8B030D-6E8A-4147-A177-3AD203B41FA5}">
                          <a16:colId xmlns:a16="http://schemas.microsoft.com/office/drawing/2014/main" val="20003"/>
                        </a:ext>
                      </a:extLst>
                    </a:gridCol>
                  </a:tblGrid>
                  <a:tr h="48260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Algorithm</a:t>
                          </a:r>
                          <a:endParaRPr lang="en-US" sz="13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82600">
                    <a:tc>
                      <a:txBody>
                        <a:bodyPr/>
                        <a:lstStyle/>
                        <a:p>
                          <a:pPr marL="0" indent="0" algn="l">
                            <a:buNone/>
                          </a:pPr>
                          <a:r>
                            <a:rPr lang="en-US" sz="1100" b="1" dirty="0" err="1">
                              <a:solidFill>
                                <a:srgbClr val="1E293B"/>
                              </a:solidFill>
                              <a:latin typeface="Consolas" pitchFamily="34" charset="0"/>
                              <a:ea typeface="Consolas" pitchFamily="34" charset="-122"/>
                              <a:cs typeface="Consolas" pitchFamily="34" charset="-120"/>
                            </a:rPr>
                            <a:t>FHE.Setup</a:t>
                          </a:r>
                          <a:r>
                            <a:rPr lang="en-US" sz="1100" b="1" dirty="0">
                              <a:solidFill>
                                <a:srgbClr val="1E293B"/>
                              </a:solidFill>
                              <a:latin typeface="Consolas" pitchFamily="34" charset="0"/>
                              <a:ea typeface="Consolas" pitchFamily="34" charset="-122"/>
                              <a:cs typeface="Consolas" pitchFamily="34" charset="-120"/>
                            </a:rPr>
                            <a:t>(</a:t>
                          </a:r>
                          <a14:m>
                            <m:oMath xmlns:m="http://schemas.openxmlformats.org/officeDocument/2006/math">
                              <m:sSup>
                                <m:sSupPr>
                                  <m:ctrlPr>
                                    <a:rPr lang="en-US" sz="1100" b="1" i="1" smtClean="0">
                                      <a:solidFill>
                                        <a:srgbClr val="1E293B"/>
                                      </a:solidFill>
                                      <a:latin typeface="Cambria Math" panose="02040503050406030204" pitchFamily="18" charset="0"/>
                                    </a:rPr>
                                  </m:ctrlPr>
                                </m:sSupPr>
                                <m:e>
                                  <m:r>
                                    <m:rPr>
                                      <m:nor/>
                                    </m:rPr>
                                    <a:rPr lang="en-US" sz="1100" b="1" dirty="0" smtClean="0">
                                      <a:solidFill>
                                        <a:srgbClr val="1E293B"/>
                                      </a:solidFill>
                                      <a:latin typeface="Consolas" pitchFamily="34" charset="0"/>
                                      <a:ea typeface="Consolas" pitchFamily="34" charset="-122"/>
                                      <a:cs typeface="Consolas" pitchFamily="34" charset="-120"/>
                                    </a:rPr>
                                    <m:t>1</m:t>
                                  </m:r>
                                </m:e>
                                <m:sup>
                                  <m:r>
                                    <m:rPr>
                                      <m:nor/>
                                    </m:rPr>
                                    <a:rPr lang="en-US" sz="1100" b="1" dirty="0" smtClean="0">
                                      <a:solidFill>
                                        <a:srgbClr val="1E293B"/>
                                      </a:solidFill>
                                      <a:latin typeface="Consolas" pitchFamily="34" charset="0"/>
                                      <a:ea typeface="Consolas" pitchFamily="34" charset="-122"/>
                                      <a:cs typeface="Consolas" pitchFamily="34" charset="-120"/>
                                    </a:rPr>
                                    <m:t>λ</m:t>
                                  </m:r>
                                </m:sup>
                              </m:sSup>
                            </m:oMath>
                          </a14:m>
                          <a:r>
                            <a:rPr lang="en-US" sz="1100" b="1" dirty="0">
                              <a:solidFill>
                                <a:srgbClr val="1E293B"/>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Security param λ</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params=(q,p,g,D_α)</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System params: ciphertext mod q, plaintext mod p, </a:t>
                          </a:r>
                        </a:p>
                        <a:p>
                          <a:pPr marL="0" indent="0" algn="l">
                            <a:buNone/>
                          </a:pPr>
                          <a:r>
                            <a:rPr lang="en-US" sz="1100" dirty="0">
                              <a:solidFill>
                                <a:srgbClr val="1E293B"/>
                              </a:solidFill>
                              <a:latin typeface="+mn-lt"/>
                              <a:ea typeface="Calibri" pitchFamily="34" charset="-122"/>
                              <a:cs typeface="Calibri" pitchFamily="34" charset="-120"/>
                            </a:rPr>
                            <a:t>gadget vector g=[1,g,g²,…,</a:t>
                          </a:r>
                          <a14:m>
                            <m:oMath xmlns:m="http://schemas.openxmlformats.org/officeDocument/2006/math">
                              <m:sSup>
                                <m:sSupPr>
                                  <m:ctrlPr>
                                    <a:rPr lang="en-US" sz="1100" i="1" smtClean="0">
                                      <a:solidFill>
                                        <a:srgbClr val="1E293B"/>
                                      </a:solidFill>
                                      <a:latin typeface="Cambria Math" panose="02040503050406030204" pitchFamily="18" charset="0"/>
                                      <a:cs typeface="Calibri" pitchFamily="34" charset="-120"/>
                                    </a:rPr>
                                  </m:ctrlPr>
                                </m:sSupPr>
                                <m:e>
                                  <m:r>
                                    <m:rPr>
                                      <m:nor/>
                                    </m:rPr>
                                    <a:rPr lang="en-US" sz="1100" dirty="0" smtClean="0">
                                      <a:solidFill>
                                        <a:srgbClr val="1E293B"/>
                                      </a:solidFill>
                                      <a:latin typeface="+mn-lt"/>
                                      <a:ea typeface="Calibri" pitchFamily="34" charset="-122"/>
                                      <a:cs typeface="Calibri" pitchFamily="34" charset="-120"/>
                                    </a:rPr>
                                    <m:t>g</m:t>
                                  </m:r>
                                </m:e>
                                <m:sup>
                                  <m:r>
                                    <m:rPr>
                                      <m:nor/>
                                    </m:rPr>
                                    <a:rPr lang="en-US" sz="1100" dirty="0" smtClean="0">
                                      <a:solidFill>
                                        <a:srgbClr val="1E293B"/>
                                      </a:solidFill>
                                      <a:latin typeface="+mn-lt"/>
                                      <a:ea typeface="Calibri" pitchFamily="34" charset="-122"/>
                                      <a:cs typeface="Calibri" pitchFamily="34" charset="-120"/>
                                    </a:rPr>
                                    <m:t>(ℓ−1)</m:t>
                                  </m:r>
                                </m:sup>
                              </m:sSup>
                            </m:oMath>
                          </a14:m>
                          <a:r>
                            <a:rPr lang="en-US" sz="1100" dirty="0">
                              <a:solidFill>
                                <a:srgbClr val="1E293B"/>
                              </a:solidFill>
                              <a:latin typeface="+mn-lt"/>
                              <a:ea typeface="Calibri" pitchFamily="34" charset="-122"/>
                              <a:cs typeface="Calibri" pitchFamily="34" charset="-120"/>
                            </a:rPr>
                            <a:t>], noise dist. D_α</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FHE.KeyGen(params)</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Params</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(sk, evk)</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Secret key sk := s ← D_α; public evaluation key evk</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FHE.RLWE.Enc(sk, Δ·m)</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 </a:t>
                          </a:r>
                          <a14:m>
                            <m:oMath xmlns:m="http://schemas.openxmlformats.org/officeDocument/2006/math">
                              <m:r>
                                <m:rPr>
                                  <m:nor/>
                                </m:rPr>
                                <a:rPr lang="en-US" sz="1100" dirty="0" smtClean="0">
                                  <a:solidFill>
                                    <a:srgbClr val="1E293B"/>
                                  </a:solidFill>
                                  <a:latin typeface="+mn-lt"/>
                                  <a:ea typeface="Calibri" pitchFamily="34" charset="-122"/>
                                  <a:cs typeface="Calibri" pitchFamily="34" charset="-120"/>
                                </a:rPr>
                                <m:t>sk</m:t>
                              </m:r>
                              <m:r>
                                <m:rPr>
                                  <m:nor/>
                                </m:rPr>
                                <a:rPr lang="en-US" sz="1100" dirty="0" smtClean="0">
                                  <a:solidFill>
                                    <a:srgbClr val="1E293B"/>
                                  </a:solidFill>
                                  <a:latin typeface="+mn-lt"/>
                                  <a:ea typeface="Calibri" pitchFamily="34" charset="-122"/>
                                  <a:cs typeface="Calibri" pitchFamily="34" charset="-120"/>
                                </a:rPr>
                                <m:t>, </m:t>
                              </m:r>
                              <m:r>
                                <m:rPr>
                                  <m:nor/>
                                </m:rPr>
                                <a:rPr lang="en-US" sz="1100" dirty="0" smtClean="0">
                                  <a:solidFill>
                                    <a:srgbClr val="1E293B"/>
                                  </a:solidFill>
                                  <a:latin typeface="+mn-lt"/>
                                  <a:ea typeface="Calibri" pitchFamily="34" charset="-122"/>
                                  <a:cs typeface="Calibri" pitchFamily="34" charset="-120"/>
                                </a:rPr>
                                <m:t>m</m:t>
                              </m:r>
                              <m:r>
                                <m:rPr>
                                  <m:nor/>
                                </m:rPr>
                                <a:rPr lang="en-US" sz="1100" dirty="0" smtClean="0">
                                  <a:solidFill>
                                    <a:srgbClr val="1E293B"/>
                                  </a:solidFill>
                                  <a:latin typeface="+mn-lt"/>
                                  <a:ea typeface="Calibri" pitchFamily="34" charset="-122"/>
                                  <a:cs typeface="Calibri" pitchFamily="34" charset="-120"/>
                                </a:rPr>
                                <m:t> ∈ </m:t>
                              </m:r>
                              <m:sSub>
                                <m:sSubPr>
                                  <m:ctrlPr>
                                    <a:rPr lang="en-US" sz="1100" b="0" i="1" dirty="0" smtClean="0">
                                      <a:solidFill>
                                        <a:srgbClr val="1E293B"/>
                                      </a:solidFill>
                                      <a:latin typeface="Cambria Math" panose="02040503050406030204" pitchFamily="18" charset="0"/>
                                      <a:cs typeface="Calibri" pitchFamily="34" charset="-120"/>
                                    </a:rPr>
                                  </m:ctrlPr>
                                </m:sSubPr>
                                <m:e>
                                  <m:r>
                                    <m:rPr>
                                      <m:nor/>
                                    </m:rPr>
                                    <a:rPr lang="en-US" sz="1100" b="0" i="0" dirty="0" smtClean="0">
                                      <a:solidFill>
                                        <a:srgbClr val="1E293B"/>
                                      </a:solidFill>
                                      <a:latin typeface="+mn-lt"/>
                                      <a:ea typeface="Calibri" pitchFamily="34" charset="-122"/>
                                      <a:cs typeface="Calibri" pitchFamily="34" charset="-120"/>
                                    </a:rPr>
                                    <m:t>R</m:t>
                                  </m:r>
                                </m:e>
                                <m:sub>
                                  <m:r>
                                    <m:rPr>
                                      <m:nor/>
                                    </m:rPr>
                                    <a:rPr lang="en-US" sz="1100" b="0" i="0" dirty="0" smtClean="0">
                                      <a:solidFill>
                                        <a:srgbClr val="1E293B"/>
                                      </a:solidFill>
                                      <a:latin typeface="+mn-lt"/>
                                      <a:ea typeface="Calibri" pitchFamily="34" charset="-122"/>
                                      <a:cs typeface="Calibri" pitchFamily="34" charset="-120"/>
                                    </a:rPr>
                                    <m:t>p</m:t>
                                  </m:r>
                                </m:sub>
                              </m:sSub>
                            </m:oMath>
                          </a14:m>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ct=(a,b) ∈ </a:t>
                          </a:r>
                          <a14:m>
                            <m:oMath xmlns:m="http://schemas.openxmlformats.org/officeDocument/2006/math">
                              <m:sSubSup>
                                <m:sSubSupPr>
                                  <m:ctrlPr>
                                    <a:rPr lang="en-US" sz="1100" i="1" smtClean="0">
                                      <a:solidFill>
                                        <a:srgbClr val="1E293B"/>
                                      </a:solidFill>
                                      <a:latin typeface="Cambria Math" panose="02040503050406030204" pitchFamily="18" charset="0"/>
                                    </a:rPr>
                                  </m:ctrlPr>
                                </m:sSubSupPr>
                                <m:e>
                                  <m:r>
                                    <m:rPr>
                                      <m:nor/>
                                    </m:rPr>
                                    <a:rPr lang="en-US" sz="1100" dirty="0" smtClean="0">
                                      <a:solidFill>
                                        <a:srgbClr val="1E293B"/>
                                      </a:solidFill>
                                      <a:latin typeface="+mn-lt"/>
                                      <a:ea typeface="Consolas" pitchFamily="34" charset="-122"/>
                                      <a:cs typeface="Consolas" pitchFamily="34" charset="-120"/>
                                    </a:rPr>
                                    <m:t>R</m:t>
                                  </m:r>
                                </m:e>
                                <m:sub>
                                  <m:r>
                                    <m:rPr>
                                      <m:nor/>
                                    </m:rPr>
                                    <a:rPr lang="en-US" sz="1100" dirty="0" smtClean="0">
                                      <a:solidFill>
                                        <a:srgbClr val="1E293B"/>
                                      </a:solidFill>
                                      <a:latin typeface="+mn-lt"/>
                                      <a:ea typeface="Consolas" pitchFamily="34" charset="-122"/>
                                      <a:cs typeface="Consolas" pitchFamily="34" charset="-120"/>
                                    </a:rPr>
                                    <m:t>q</m:t>
                                  </m:r>
                                </m:sub>
                                <m:sup>
                                  <m:r>
                                    <a:rPr lang="en-US" sz="1100" b="0" i="1" smtClean="0">
                                      <a:solidFill>
                                        <a:srgbClr val="1E293B"/>
                                      </a:solidFill>
                                      <a:latin typeface="Cambria Math" panose="02040503050406030204" pitchFamily="18" charset="0"/>
                                    </a:rPr>
                                    <m:t>2</m:t>
                                  </m:r>
                                </m:sup>
                              </m:sSubSup>
                            </m:oMath>
                          </a14:m>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b = a·s + Δm + e,  a ← </a:t>
                          </a:r>
                          <a14:m>
                            <m:oMath xmlns:m="http://schemas.openxmlformats.org/officeDocument/2006/math">
                              <m:sSub>
                                <m:sSubPr>
                                  <m:ctrlPr>
                                    <a:rPr lang="en-US" sz="1100" b="0" i="1" dirty="0" smtClean="0">
                                      <a:solidFill>
                                        <a:srgbClr val="1E293B"/>
                                      </a:solidFill>
                                      <a:latin typeface="Cambria Math" panose="02040503050406030204" pitchFamily="18" charset="0"/>
                                      <a:cs typeface="Calibri" pitchFamily="34" charset="-120"/>
                                    </a:rPr>
                                  </m:ctrlPr>
                                </m:sSubPr>
                                <m:e>
                                  <m:r>
                                    <m:rPr>
                                      <m:nor/>
                                    </m:rPr>
                                    <a:rPr lang="en-US" sz="1100" b="0" i="0" dirty="0" smtClean="0">
                                      <a:solidFill>
                                        <a:srgbClr val="1E293B"/>
                                      </a:solidFill>
                                      <a:latin typeface="+mn-lt"/>
                                      <a:ea typeface="Calibri" pitchFamily="34" charset="-122"/>
                                      <a:cs typeface="Calibri" pitchFamily="34" charset="-120"/>
                                    </a:rPr>
                                    <m:t>R</m:t>
                                  </m:r>
                                </m:e>
                                <m:sub>
                                  <m:r>
                                    <m:rPr>
                                      <m:nor/>
                                    </m:rPr>
                                    <a:rPr lang="en-US" sz="1100" dirty="0" smtClean="0">
                                      <a:solidFill>
                                        <a:srgbClr val="1E293B"/>
                                      </a:solidFill>
                                      <a:latin typeface="+mn-lt"/>
                                      <a:ea typeface="Calibri" pitchFamily="34" charset="-122"/>
                                      <a:cs typeface="Calibri" pitchFamily="34" charset="-120"/>
                                    </a:rPr>
                                    <m:t>q</m:t>
                                  </m:r>
                                </m:sub>
                              </m:sSub>
                            </m:oMath>
                          </a14:m>
                          <a:r>
                            <a:rPr lang="en-US" sz="1100" dirty="0">
                              <a:solidFill>
                                <a:srgbClr val="1E293B"/>
                              </a:solidFill>
                              <a:latin typeface="+mn-lt"/>
                              <a:ea typeface="Calibri" pitchFamily="34" charset="-122"/>
                              <a:cs typeface="Calibri" pitchFamily="34" charset="-120"/>
                            </a:rPr>
                            <a:t> uniform,  e ← </a:t>
                          </a:r>
                          <a14:m>
                            <m:oMath xmlns:m="http://schemas.openxmlformats.org/officeDocument/2006/math">
                              <m:sSub>
                                <m:sSubPr>
                                  <m:ctrlPr>
                                    <a:rPr lang="en-US" sz="1100" b="0" i="1" dirty="0" smtClean="0">
                                      <a:solidFill>
                                        <a:srgbClr val="1E293B"/>
                                      </a:solidFill>
                                      <a:latin typeface="Cambria Math" panose="02040503050406030204" pitchFamily="18" charset="0"/>
                                      <a:cs typeface="Calibri" pitchFamily="34" charset="-120"/>
                                    </a:rPr>
                                  </m:ctrlPr>
                                </m:sSubPr>
                                <m:e>
                                  <m:r>
                                    <m:rPr>
                                      <m:nor/>
                                    </m:rPr>
                                    <a:rPr lang="en-US" sz="1100" dirty="0" smtClean="0">
                                      <a:solidFill>
                                        <a:srgbClr val="1E293B"/>
                                      </a:solidFill>
                                      <a:latin typeface="+mn-lt"/>
                                      <a:ea typeface="Calibri" pitchFamily="34" charset="-122"/>
                                      <a:cs typeface="Calibri" pitchFamily="34" charset="-120"/>
                                    </a:rPr>
                                    <m:t>D</m:t>
                                  </m:r>
                                </m:e>
                                <m:sub>
                                  <m:r>
                                    <m:rPr>
                                      <m:nor/>
                                    </m:rPr>
                                    <a:rPr lang="en-US" sz="1100" dirty="0" smtClean="0">
                                      <a:solidFill>
                                        <a:srgbClr val="1E293B"/>
                                      </a:solidFill>
                                      <a:latin typeface="+mn-lt"/>
                                      <a:ea typeface="Calibri" pitchFamily="34" charset="-122"/>
                                      <a:cs typeface="Calibri" pitchFamily="34" charset="-120"/>
                                    </a:rPr>
                                    <m:t>α</m:t>
                                  </m:r>
                                </m:sub>
                              </m:sSub>
                            </m:oMath>
                          </a14:m>
                          <a:r>
                            <a:rPr lang="en-US" sz="1100" dirty="0">
                              <a:solidFill>
                                <a:srgbClr val="1E293B"/>
                              </a:solidFill>
                              <a:latin typeface="+mn-lt"/>
                              <a:ea typeface="Calibri" pitchFamily="34" charset="-122"/>
                              <a:cs typeface="Calibri" pitchFamily="34" charset="-120"/>
                            </a:rPr>
                            <a:t>,  Δ=q/p</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FHE.RGSW.Enc(sk, m)</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1E293B"/>
                              </a:solidFill>
                              <a:latin typeface="+mn-lt"/>
                              <a:ea typeface="Calibri" pitchFamily="34" charset="-122"/>
                              <a:cs typeface="Calibri" pitchFamily="34" charset="-120"/>
                            </a:rPr>
                            <a:t> </a:t>
                          </a:r>
                          <a14:m>
                            <m:oMath xmlns:m="http://schemas.openxmlformats.org/officeDocument/2006/math">
                              <m:r>
                                <m:rPr>
                                  <m:nor/>
                                </m:rPr>
                                <a:rPr lang="en-US" sz="1100" dirty="0" smtClean="0">
                                  <a:solidFill>
                                    <a:srgbClr val="1E293B"/>
                                  </a:solidFill>
                                  <a:latin typeface="+mn-lt"/>
                                  <a:ea typeface="Calibri" pitchFamily="34" charset="-122"/>
                                  <a:cs typeface="Calibri" pitchFamily="34" charset="-120"/>
                                </a:rPr>
                                <m:t>sk</m:t>
                              </m:r>
                              <m:r>
                                <m:rPr>
                                  <m:nor/>
                                </m:rPr>
                                <a:rPr lang="en-US" sz="1100" dirty="0" smtClean="0">
                                  <a:solidFill>
                                    <a:srgbClr val="1E293B"/>
                                  </a:solidFill>
                                  <a:latin typeface="+mn-lt"/>
                                  <a:ea typeface="Calibri" pitchFamily="34" charset="-122"/>
                                  <a:cs typeface="Calibri" pitchFamily="34" charset="-120"/>
                                </a:rPr>
                                <m:t>, </m:t>
                              </m:r>
                              <m:r>
                                <m:rPr>
                                  <m:nor/>
                                </m:rPr>
                                <a:rPr lang="en-US" sz="1100" dirty="0" smtClean="0">
                                  <a:solidFill>
                                    <a:srgbClr val="1E293B"/>
                                  </a:solidFill>
                                  <a:latin typeface="+mn-lt"/>
                                  <a:ea typeface="Calibri" pitchFamily="34" charset="-122"/>
                                  <a:cs typeface="Calibri" pitchFamily="34" charset="-120"/>
                                </a:rPr>
                                <m:t>m</m:t>
                              </m:r>
                              <m:r>
                                <m:rPr>
                                  <m:nor/>
                                </m:rPr>
                                <a:rPr lang="en-US" sz="1100" dirty="0" smtClean="0">
                                  <a:solidFill>
                                    <a:srgbClr val="1E293B"/>
                                  </a:solidFill>
                                  <a:latin typeface="+mn-lt"/>
                                  <a:ea typeface="Calibri" pitchFamily="34" charset="-122"/>
                                  <a:cs typeface="Calibri" pitchFamily="34" charset="-120"/>
                                </a:rPr>
                                <m:t> ∈ </m:t>
                              </m:r>
                              <m:r>
                                <m:rPr>
                                  <m:nor/>
                                </m:rPr>
                                <a:rPr lang="en-US" sz="1100" dirty="0" smtClean="0">
                                  <a:solidFill>
                                    <a:srgbClr val="1E293B"/>
                                  </a:solidFill>
                                  <a:latin typeface="+mn-lt"/>
                                  <a:ea typeface="Calibri" pitchFamily="34" charset="-122"/>
                                  <a:cs typeface="Calibri" pitchFamily="34" charset="-120"/>
                                </a:rPr>
                                <m:t>R</m:t>
                              </m:r>
                            </m:oMath>
                          </a14:m>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C=Z+m·G ∈ </a:t>
                          </a:r>
                          <a14:m>
                            <m:oMath xmlns:m="http://schemas.openxmlformats.org/officeDocument/2006/math">
                              <m:sSubSup>
                                <m:sSubSupPr>
                                  <m:ctrlPr>
                                    <a:rPr lang="en-US" sz="1100" i="1" smtClean="0">
                                      <a:solidFill>
                                        <a:srgbClr val="1E293B"/>
                                      </a:solidFill>
                                      <a:latin typeface="Cambria Math" panose="02040503050406030204" pitchFamily="18" charset="0"/>
                                    </a:rPr>
                                  </m:ctrlPr>
                                </m:sSubSupPr>
                                <m:e>
                                  <m:r>
                                    <m:rPr>
                                      <m:nor/>
                                    </m:rPr>
                                    <a:rPr lang="en-US" sz="1100" dirty="0" smtClean="0">
                                      <a:solidFill>
                                        <a:srgbClr val="1E293B"/>
                                      </a:solidFill>
                                      <a:latin typeface="+mn-lt"/>
                                      <a:ea typeface="Consolas" pitchFamily="34" charset="-122"/>
                                      <a:cs typeface="Consolas" pitchFamily="34" charset="-120"/>
                                    </a:rPr>
                                    <m:t>R</m:t>
                                  </m:r>
                                </m:e>
                                <m:sub>
                                  <m:r>
                                    <m:rPr>
                                      <m:nor/>
                                    </m:rPr>
                                    <a:rPr lang="en-US" sz="1100" dirty="0" smtClean="0">
                                      <a:solidFill>
                                        <a:srgbClr val="1E293B"/>
                                      </a:solidFill>
                                      <a:latin typeface="+mn-lt"/>
                                      <a:ea typeface="Consolas" pitchFamily="34" charset="-122"/>
                                      <a:cs typeface="Consolas" pitchFamily="34" charset="-120"/>
                                    </a:rPr>
                                    <m:t>q</m:t>
                                  </m:r>
                                </m:sub>
                                <m:sup>
                                  <m:r>
                                    <m:rPr>
                                      <m:nor/>
                                    </m:rPr>
                                    <a:rPr lang="en-US" sz="1100" dirty="0" smtClean="0">
                                      <a:solidFill>
                                        <a:srgbClr val="1E293B"/>
                                      </a:solidFill>
                                      <a:latin typeface="+mn-lt"/>
                                      <a:ea typeface="Consolas" pitchFamily="34" charset="-122"/>
                                      <a:cs typeface="Consolas" pitchFamily="34" charset="-120"/>
                                    </a:rPr>
                                    <m:t>(2ℓ</m:t>
                                  </m:r>
                                  <m:r>
                                    <m:rPr>
                                      <m:nor/>
                                    </m:rPr>
                                    <a:rPr lang="en-US" sz="1100" dirty="0" smtClean="0">
                                      <a:solidFill>
                                        <a:srgbClr val="1E293B"/>
                                      </a:solidFill>
                                      <a:latin typeface="+mn-lt"/>
                                      <a:ea typeface="Consolas" pitchFamily="34" charset="-122"/>
                                      <a:cs typeface="Consolas" pitchFamily="34" charset="-120"/>
                                    </a:rPr>
                                    <m:t>×</m:t>
                                  </m:r>
                                  <m:r>
                                    <m:rPr>
                                      <m:nor/>
                                    </m:rPr>
                                    <a:rPr lang="en-US" sz="1100" dirty="0" smtClean="0">
                                      <a:solidFill>
                                        <a:srgbClr val="1E293B"/>
                                      </a:solidFill>
                                      <a:latin typeface="+mn-lt"/>
                                      <a:ea typeface="Consolas" pitchFamily="34" charset="-122"/>
                                      <a:cs typeface="Consolas" pitchFamily="34" charset="-120"/>
                                    </a:rPr>
                                    <m:t>2)</m:t>
                                  </m:r>
                                </m:sup>
                              </m:sSubSup>
                            </m:oMath>
                          </a14:m>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2ℓ RLWE(0) ciphertexts Z plus message m scaled by G=I₂⊗gᵀ; </a:t>
                          </a:r>
                        </a:p>
                        <a:p>
                          <a:pPr marL="0" indent="0" algn="l">
                            <a:buNone/>
                          </a:pPr>
                          <a:r>
                            <a:rPr lang="en-US" sz="1100" dirty="0">
                              <a:solidFill>
                                <a:srgbClr val="1E293B"/>
                              </a:solidFill>
                              <a:latin typeface="+mn-lt"/>
                              <a:ea typeface="Calibri" pitchFamily="34" charset="-122"/>
                              <a:cs typeface="Calibri" pitchFamily="34" charset="-120"/>
                            </a:rPr>
                            <a:t>encodes m at scales g⁰,g¹,…,</a:t>
                          </a:r>
                          <a14:m>
                            <m:oMath xmlns:m="http://schemas.openxmlformats.org/officeDocument/2006/math">
                              <m:sSup>
                                <m:sSupPr>
                                  <m:ctrlPr>
                                    <a:rPr lang="en-US" sz="1100" i="1" smtClean="0">
                                      <a:solidFill>
                                        <a:srgbClr val="1E293B"/>
                                      </a:solidFill>
                                      <a:latin typeface="Cambria Math" panose="02040503050406030204" pitchFamily="18" charset="0"/>
                                      <a:cs typeface="Calibri" pitchFamily="34" charset="-120"/>
                                    </a:rPr>
                                  </m:ctrlPr>
                                </m:sSupPr>
                                <m:e>
                                  <m:r>
                                    <m:rPr>
                                      <m:nor/>
                                    </m:rPr>
                                    <a:rPr lang="en-US" sz="1100" dirty="0" smtClean="0">
                                      <a:solidFill>
                                        <a:srgbClr val="1E293B"/>
                                      </a:solidFill>
                                      <a:latin typeface="+mn-lt"/>
                                      <a:ea typeface="Calibri" pitchFamily="34" charset="-122"/>
                                      <a:cs typeface="Calibri" pitchFamily="34" charset="-120"/>
                                    </a:rPr>
                                    <m:t>g</m:t>
                                  </m:r>
                                </m:e>
                                <m:sup>
                                  <m:r>
                                    <m:rPr>
                                      <m:nor/>
                                    </m:rPr>
                                    <a:rPr lang="en-US" sz="1100" dirty="0" smtClean="0">
                                      <a:solidFill>
                                        <a:srgbClr val="1E293B"/>
                                      </a:solidFill>
                                      <a:latin typeface="+mn-lt"/>
                                      <a:ea typeface="Calibri" pitchFamily="34" charset="-122"/>
                                      <a:cs typeface="Calibri" pitchFamily="34" charset="-120"/>
                                    </a:rPr>
                                    <m:t>(ℓ−1)</m:t>
                                  </m:r>
                                </m:sup>
                              </m:sSup>
                            </m:oMath>
                          </a14:m>
                          <a:r>
                            <a:rPr lang="en-US" sz="1100" dirty="0">
                              <a:solidFill>
                                <a:srgbClr val="1E293B"/>
                              </a:solidFill>
                              <a:latin typeface="+mn-lt"/>
                              <a:ea typeface="Calibri" pitchFamily="34" charset="-122"/>
                              <a:cs typeface="Calibri" pitchFamily="34" charset="-120"/>
                            </a:rPr>
                            <a:t> per slot</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FHE.ksk.Gen(sk,info(sk))</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sk, partial key info</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ksk=z+g·info(sk)</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Key-switching key: ℓ RLWE(0) ciphertexts z plus key info scaled by g; </a:t>
                          </a:r>
                        </a:p>
                        <a:p>
                          <a:pPr marL="0" indent="0" algn="l">
                            <a:buNone/>
                          </a:pPr>
                          <a:r>
                            <a:rPr lang="en-US" sz="1100" dirty="0">
                              <a:solidFill>
                                <a:srgbClr val="1E293B"/>
                              </a:solidFill>
                              <a:latin typeface="+mn-lt"/>
                              <a:ea typeface="Calibri" pitchFamily="34" charset="-122"/>
                              <a:cs typeface="Calibri" pitchFamily="34" charset="-120"/>
                            </a:rPr>
                            <a:t>size = ½ RGSW ciphertext</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FHE.Add(c₁, c₂)</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RLWE cts of m₁, m₂</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c⁺=(a₁+a₂, b₁+b₂)</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Homomorphic addition; output encrypts m₁+m₂ mod p</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FHE.PlainMult(c, T(X))</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RLWE ct of m, </a:t>
                          </a:r>
                          <a14:m>
                            <m:oMath xmlns:m="http://schemas.openxmlformats.org/officeDocument/2006/math">
                              <m:r>
                                <m:rPr>
                                  <m:nor/>
                                </m:rPr>
                                <a:rPr lang="en-US" sz="1100" dirty="0" smtClean="0">
                                  <a:solidFill>
                                    <a:srgbClr val="1E293B"/>
                                  </a:solidFill>
                                  <a:latin typeface="+mn-lt"/>
                                  <a:ea typeface="Calibri" pitchFamily="34" charset="-122"/>
                                  <a:cs typeface="Calibri" pitchFamily="34" charset="-120"/>
                                </a:rPr>
                                <m:t>T</m:t>
                              </m:r>
                              <m:r>
                                <m:rPr>
                                  <m:nor/>
                                </m:rPr>
                                <a:rPr lang="en-US" sz="1100" dirty="0" smtClean="0">
                                  <a:solidFill>
                                    <a:srgbClr val="1E293B"/>
                                  </a:solidFill>
                                  <a:latin typeface="+mn-lt"/>
                                  <a:ea typeface="Calibri" pitchFamily="34" charset="-122"/>
                                  <a:cs typeface="Calibri" pitchFamily="34" charset="-120"/>
                                </a:rPr>
                                <m:t>(</m:t>
                              </m:r>
                              <m:r>
                                <m:rPr>
                                  <m:nor/>
                                </m:rPr>
                                <a:rPr lang="en-US" sz="1100" dirty="0" smtClean="0">
                                  <a:solidFill>
                                    <a:srgbClr val="1E293B"/>
                                  </a:solidFill>
                                  <a:latin typeface="+mn-lt"/>
                                  <a:ea typeface="Calibri" pitchFamily="34" charset="-122"/>
                                  <a:cs typeface="Calibri" pitchFamily="34" charset="-120"/>
                                </a:rPr>
                                <m:t>X</m:t>
                              </m:r>
                              <m:r>
                                <m:rPr>
                                  <m:nor/>
                                </m:rPr>
                                <a:rPr lang="en-US" sz="1100" dirty="0" smtClean="0">
                                  <a:solidFill>
                                    <a:srgbClr val="1E293B"/>
                                  </a:solidFill>
                                  <a:latin typeface="+mn-lt"/>
                                  <a:ea typeface="Calibri" pitchFamily="34" charset="-122"/>
                                  <a:cs typeface="Calibri" pitchFamily="34" charset="-120"/>
                                </a:rPr>
                                <m:t>) ∈</m:t>
                              </m:r>
                              <m:r>
                                <a:rPr lang="en-US" sz="1100" b="0" i="1" dirty="0" smtClean="0">
                                  <a:solidFill>
                                    <a:srgbClr val="1E293B"/>
                                  </a:solidFill>
                                  <a:latin typeface="Cambria Math" panose="02040503050406030204" pitchFamily="18" charset="0"/>
                                  <a:ea typeface="Calibri" pitchFamily="34" charset="-122"/>
                                  <a:cs typeface="Calibri" pitchFamily="34" charset="-120"/>
                                </a:rPr>
                                <m:t> </m:t>
                              </m:r>
                              <m:sSub>
                                <m:sSubPr>
                                  <m:ctrlPr>
                                    <a:rPr lang="en-US" sz="1100" b="0" i="1" dirty="0" smtClean="0">
                                      <a:solidFill>
                                        <a:srgbClr val="1E293B"/>
                                      </a:solidFill>
                                      <a:latin typeface="Cambria Math" panose="02040503050406030204" pitchFamily="18" charset="0"/>
                                      <a:cs typeface="Calibri" pitchFamily="34" charset="-120"/>
                                    </a:rPr>
                                  </m:ctrlPr>
                                </m:sSubPr>
                                <m:e>
                                  <m:r>
                                    <m:rPr>
                                      <m:nor/>
                                    </m:rPr>
                                    <a:rPr lang="en-US" sz="1100" b="0" i="0" dirty="0" smtClean="0">
                                      <a:solidFill>
                                        <a:srgbClr val="1E293B"/>
                                      </a:solidFill>
                                      <a:latin typeface="+mn-lt"/>
                                      <a:ea typeface="Calibri" pitchFamily="34" charset="-122"/>
                                      <a:cs typeface="Calibri" pitchFamily="34" charset="-120"/>
                                    </a:rPr>
                                    <m:t>R</m:t>
                                  </m:r>
                                </m:e>
                                <m:sub>
                                  <m:r>
                                    <m:rPr>
                                      <m:nor/>
                                    </m:rPr>
                                    <a:rPr lang="en-US" sz="1100" dirty="0" smtClean="0">
                                      <a:solidFill>
                                        <a:srgbClr val="1E293B"/>
                                      </a:solidFill>
                                      <a:latin typeface="+mn-lt"/>
                                      <a:ea typeface="Calibri" pitchFamily="34" charset="-122"/>
                                      <a:cs typeface="Calibri" pitchFamily="34" charset="-120"/>
                                    </a:rPr>
                                    <m:t>q</m:t>
                                  </m:r>
                                </m:sub>
                              </m:sSub>
                            </m:oMath>
                          </a14:m>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c'=(a·T(X), b·T(X))</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Ciphertext-plaintext multiplication; output encrypts m·T(X)</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FHE.ExternalProd(c, C)</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RLWE ct of m₁, RGSW C of m₂</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c'=G⁻¹(c)·C ∈ </a:t>
                          </a:r>
                          <a14:m>
                            <m:oMath xmlns:m="http://schemas.openxmlformats.org/officeDocument/2006/math">
                              <m:sSubSup>
                                <m:sSubSupPr>
                                  <m:ctrlPr>
                                    <a:rPr lang="en-US" sz="1100" i="1" smtClean="0">
                                      <a:solidFill>
                                        <a:srgbClr val="1E293B"/>
                                      </a:solidFill>
                                      <a:latin typeface="Cambria Math" panose="02040503050406030204" pitchFamily="18" charset="0"/>
                                    </a:rPr>
                                  </m:ctrlPr>
                                </m:sSubSupPr>
                                <m:e>
                                  <m:r>
                                    <m:rPr>
                                      <m:nor/>
                                    </m:rPr>
                                    <a:rPr lang="en-US" sz="1100" dirty="0" smtClean="0">
                                      <a:solidFill>
                                        <a:srgbClr val="1E293B"/>
                                      </a:solidFill>
                                      <a:latin typeface="+mn-lt"/>
                                      <a:ea typeface="Consolas" pitchFamily="34" charset="-122"/>
                                      <a:cs typeface="Consolas" pitchFamily="34" charset="-120"/>
                                    </a:rPr>
                                    <m:t>R</m:t>
                                  </m:r>
                                </m:e>
                                <m:sub>
                                  <m:r>
                                    <m:rPr>
                                      <m:nor/>
                                    </m:rPr>
                                    <a:rPr lang="en-US" sz="1100" dirty="0" smtClean="0">
                                      <a:solidFill>
                                        <a:srgbClr val="1E293B"/>
                                      </a:solidFill>
                                      <a:latin typeface="+mn-lt"/>
                                      <a:ea typeface="Consolas" pitchFamily="34" charset="-122"/>
                                      <a:cs typeface="Consolas" pitchFamily="34" charset="-120"/>
                                    </a:rPr>
                                    <m:t>q</m:t>
                                  </m:r>
                                </m:sub>
                                <m:sup>
                                  <m:r>
                                    <a:rPr lang="en-US" sz="1100" b="0" i="1" smtClean="0">
                                      <a:solidFill>
                                        <a:srgbClr val="1E293B"/>
                                      </a:solidFill>
                                      <a:latin typeface="Cambria Math" panose="02040503050406030204" pitchFamily="18" charset="0"/>
                                    </a:rPr>
                                    <m:t>2</m:t>
                                  </m:r>
                                </m:sup>
                              </m:sSubSup>
                            </m:oMath>
                          </a14:m>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RLWE×RGSW→RLWE; output encrypts m₁·m₂. </a:t>
                          </a:r>
                        </a:p>
                        <a:p>
                          <a:pPr marL="0" indent="0" algn="l">
                            <a:buNone/>
                          </a:pPr>
                          <a:r>
                            <a:rPr lang="en-US" sz="1100" dirty="0">
                              <a:solidFill>
                                <a:srgbClr val="1E293B"/>
                              </a:solidFill>
                              <a:latin typeface="+mn-lt"/>
                              <a:ea typeface="Calibri" pitchFamily="34" charset="-122"/>
                              <a:cs typeface="Calibri" pitchFamily="34" charset="-120"/>
                            </a:rPr>
                            <a:t>Key property: additive noise growth (vs quadratic for RLWE×RLWE)</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8"/>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FHE.Dec(c, sk)</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ct=(a,b), sk=s</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m=⌊(b−a·s)/Δ⌉</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Decryption by rounding; recovers m ∈ R_p</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9"/>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FHE.SampleExtract(c, i)</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RLWE ct of M(X), 0≤i&lt;N</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LWE ct of Mᵢ</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Extracts i-th coefficient of encrypted polynomial M(X) into an LWE ciphertext</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0"/>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FHE.Mux(C, a, b)</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RGSW C (bit), RLWE a(</a:t>
                          </a:r>
                          <a14:m>
                            <m:oMath xmlns:m="http://schemas.openxmlformats.org/officeDocument/2006/math">
                              <m:sSub>
                                <m:sSubPr>
                                  <m:ctrlPr>
                                    <a:rPr lang="en-US" sz="1100" b="0" i="1" dirty="0" smtClean="0">
                                      <a:solidFill>
                                        <a:srgbClr val="1E293B"/>
                                      </a:solidFill>
                                      <a:latin typeface="Cambria Math" panose="02040503050406030204" pitchFamily="18" charset="0"/>
                                      <a:cs typeface="Calibri" pitchFamily="34" charset="-120"/>
                                    </a:rPr>
                                  </m:ctrlPr>
                                </m:sSubPr>
                                <m:e>
                                  <m:r>
                                    <m:rPr>
                                      <m:nor/>
                                    </m:rPr>
                                    <a:rPr lang="en-US" sz="1100" dirty="0" smtClean="0">
                                      <a:solidFill>
                                        <a:srgbClr val="1E293B"/>
                                      </a:solidFill>
                                      <a:latin typeface="+mn-lt"/>
                                      <a:ea typeface="Calibri" pitchFamily="34" charset="-122"/>
                                      <a:cs typeface="Calibri" pitchFamily="34" charset="-120"/>
                                    </a:rPr>
                                    <m:t>m</m:t>
                                  </m:r>
                                </m:e>
                                <m:sub>
                                  <m:r>
                                    <m:rPr>
                                      <m:nor/>
                                    </m:rPr>
                                    <a:rPr lang="en-US" sz="1100" dirty="0" smtClean="0">
                                      <a:solidFill>
                                        <a:srgbClr val="1E293B"/>
                                      </a:solidFill>
                                      <a:latin typeface="+mn-lt"/>
                                      <a:ea typeface="Calibri" pitchFamily="34" charset="-122"/>
                                      <a:cs typeface="Calibri" pitchFamily="34" charset="-120"/>
                                    </a:rPr>
                                    <m:t>a</m:t>
                                  </m:r>
                                </m:sub>
                              </m:sSub>
                            </m:oMath>
                          </a14:m>
                          <a:r>
                            <a:rPr lang="en-US" sz="1100" dirty="0">
                              <a:solidFill>
                                <a:srgbClr val="1E293B"/>
                              </a:solidFill>
                              <a:latin typeface="+mn-lt"/>
                              <a:ea typeface="Calibri" pitchFamily="34" charset="-122"/>
                              <a:cs typeface="Calibri" pitchFamily="34" charset="-120"/>
                            </a:rPr>
                            <a:t>), b(</a:t>
                          </a:r>
                          <a14:m>
                            <m:oMath xmlns:m="http://schemas.openxmlformats.org/officeDocument/2006/math">
                              <m:sSub>
                                <m:sSubPr>
                                  <m:ctrlPr>
                                    <a:rPr lang="en-US" sz="1100" b="0" i="1" dirty="0" smtClean="0">
                                      <a:solidFill>
                                        <a:srgbClr val="1E293B"/>
                                      </a:solidFill>
                                      <a:latin typeface="Cambria Math" panose="02040503050406030204" pitchFamily="18" charset="0"/>
                                      <a:cs typeface="Calibri" pitchFamily="34" charset="-120"/>
                                    </a:rPr>
                                  </m:ctrlPr>
                                </m:sSubPr>
                                <m:e>
                                  <m:r>
                                    <m:rPr>
                                      <m:nor/>
                                    </m:rPr>
                                    <a:rPr lang="en-US" sz="1100" dirty="0" smtClean="0">
                                      <a:solidFill>
                                        <a:srgbClr val="1E293B"/>
                                      </a:solidFill>
                                      <a:latin typeface="+mn-lt"/>
                                      <a:ea typeface="Calibri" pitchFamily="34" charset="-122"/>
                                      <a:cs typeface="Calibri" pitchFamily="34" charset="-120"/>
                                    </a:rPr>
                                    <m:t>m</m:t>
                                  </m:r>
                                </m:e>
                                <m:sub>
                                  <m:r>
                                    <m:rPr>
                                      <m:nor/>
                                    </m:rPr>
                                    <a:rPr lang="en-US" sz="1100" dirty="0" smtClean="0">
                                      <a:solidFill>
                                        <a:srgbClr val="1E293B"/>
                                      </a:solidFill>
                                      <a:latin typeface="+mn-lt"/>
                                      <a:ea typeface="Calibri" pitchFamily="34" charset="-122"/>
                                      <a:cs typeface="Calibri" pitchFamily="34" charset="-120"/>
                                    </a:rPr>
                                    <m:t>b</m:t>
                                  </m:r>
                                </m:sub>
                              </m:sSub>
                            </m:oMath>
                          </a14:m>
                          <a:r>
                            <a:rPr lang="en-US" sz="1100" dirty="0">
                              <a:solidFill>
                                <a:srgbClr val="1E293B"/>
                              </a:solidFill>
                              <a:latin typeface="+mn-lt"/>
                              <a:ea typeface="Calibri" pitchFamily="34" charset="-122"/>
                              <a:cs typeface="Calibri" pitchFamily="34" charset="-120"/>
                            </a:rPr>
                            <a:t>)</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C·(b−a)+a</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Homomorphic MUX: enc(</a:t>
                          </a:r>
                          <a14:m>
                            <m:oMath xmlns:m="http://schemas.openxmlformats.org/officeDocument/2006/math">
                              <m:sSub>
                                <m:sSubPr>
                                  <m:ctrlPr>
                                    <a:rPr lang="en-US" sz="1100" b="0" i="1" dirty="0" smtClean="0">
                                      <a:solidFill>
                                        <a:srgbClr val="1E293B"/>
                                      </a:solidFill>
                                      <a:latin typeface="Cambria Math" panose="02040503050406030204" pitchFamily="18" charset="0"/>
                                      <a:cs typeface="Calibri" pitchFamily="34" charset="-120"/>
                                    </a:rPr>
                                  </m:ctrlPr>
                                </m:sSubPr>
                                <m:e>
                                  <m:r>
                                    <m:rPr>
                                      <m:nor/>
                                    </m:rPr>
                                    <a:rPr lang="en-US" sz="1100" dirty="0" smtClean="0">
                                      <a:solidFill>
                                        <a:srgbClr val="1E293B"/>
                                      </a:solidFill>
                                      <a:latin typeface="+mn-lt"/>
                                      <a:ea typeface="Calibri" pitchFamily="34" charset="-122"/>
                                      <a:cs typeface="Calibri" pitchFamily="34" charset="-120"/>
                                    </a:rPr>
                                    <m:t>m</m:t>
                                  </m:r>
                                </m:e>
                                <m:sub>
                                  <m:r>
                                    <m:rPr>
                                      <m:nor/>
                                    </m:rPr>
                                    <a:rPr lang="en-US" sz="1100" dirty="0" smtClean="0">
                                      <a:solidFill>
                                        <a:srgbClr val="1E293B"/>
                                      </a:solidFill>
                                      <a:latin typeface="+mn-lt"/>
                                      <a:ea typeface="Calibri" pitchFamily="34" charset="-122"/>
                                      <a:cs typeface="Calibri" pitchFamily="34" charset="-120"/>
                                    </a:rPr>
                                    <m:t>a</m:t>
                                  </m:r>
                                </m:sub>
                              </m:sSub>
                            </m:oMath>
                          </a14:m>
                          <a:r>
                            <a:rPr lang="en-US" sz="1100" dirty="0">
                              <a:solidFill>
                                <a:srgbClr val="1E293B"/>
                              </a:solidFill>
                              <a:latin typeface="+mn-lt"/>
                              <a:ea typeface="Calibri" pitchFamily="34" charset="-122"/>
                              <a:cs typeface="Calibri" pitchFamily="34" charset="-120"/>
                            </a:rPr>
                            <a:t>) if C=0, enc(</a:t>
                          </a:r>
                          <a14:m>
                            <m:oMath xmlns:m="http://schemas.openxmlformats.org/officeDocument/2006/math">
                              <m:sSub>
                                <m:sSubPr>
                                  <m:ctrlPr>
                                    <a:rPr lang="en-US" sz="1100" b="0" i="1" dirty="0" smtClean="0">
                                      <a:solidFill>
                                        <a:srgbClr val="1E293B"/>
                                      </a:solidFill>
                                      <a:latin typeface="Cambria Math" panose="02040503050406030204" pitchFamily="18" charset="0"/>
                                      <a:cs typeface="Calibri" pitchFamily="34" charset="-120"/>
                                    </a:rPr>
                                  </m:ctrlPr>
                                </m:sSubPr>
                                <m:e>
                                  <m:r>
                                    <m:rPr>
                                      <m:nor/>
                                    </m:rPr>
                                    <a:rPr lang="en-US" sz="1100" dirty="0" smtClean="0">
                                      <a:solidFill>
                                        <a:srgbClr val="1E293B"/>
                                      </a:solidFill>
                                      <a:latin typeface="+mn-lt"/>
                                      <a:ea typeface="Calibri" pitchFamily="34" charset="-122"/>
                                      <a:cs typeface="Calibri" pitchFamily="34" charset="-120"/>
                                    </a:rPr>
                                    <m:t>m</m:t>
                                  </m:r>
                                </m:e>
                                <m:sub>
                                  <m:r>
                                    <m:rPr>
                                      <m:nor/>
                                    </m:rPr>
                                    <a:rPr lang="en-US" sz="1100" dirty="0" smtClean="0">
                                      <a:solidFill>
                                        <a:srgbClr val="1E293B"/>
                                      </a:solidFill>
                                      <a:latin typeface="+mn-lt"/>
                                      <a:ea typeface="Calibri" pitchFamily="34" charset="-122"/>
                                      <a:cs typeface="Calibri" pitchFamily="34" charset="-120"/>
                                    </a:rPr>
                                    <m:t>b</m:t>
                                  </m:r>
                                </m:sub>
                              </m:sSub>
                            </m:oMath>
                          </a14:m>
                          <a:r>
                            <a:rPr lang="en-US" sz="1100" dirty="0">
                              <a:solidFill>
                                <a:srgbClr val="1E293B"/>
                              </a:solidFill>
                              <a:latin typeface="+mn-lt"/>
                              <a:ea typeface="Calibri" pitchFamily="34" charset="-122"/>
                              <a:cs typeface="Calibri" pitchFamily="34" charset="-120"/>
                            </a:rPr>
                            <a:t>) if C=1. Cost: 1 ExternalProd + 2 Add</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mc:Choice>
        <mc:Fallback xmlns="">
          <p:graphicFrame>
            <p:nvGraphicFramePr>
              <p:cNvPr id="4" name="Table 0"/>
              <p:cNvGraphicFramePr>
                <a:graphicFrameLocks noGrp="1"/>
              </p:cNvGraphicFramePr>
              <p:nvPr>
                <p:extLst>
                  <p:ext uri="{D42A27DB-BD31-4B8C-83A1-F6EECF244321}">
                    <p14:modId xmlns:p14="http://schemas.microsoft.com/office/powerpoint/2010/main" val="594863891"/>
                  </p:ext>
                </p:extLst>
              </p:nvPr>
            </p:nvGraphicFramePr>
            <p:xfrm>
              <a:off x="487680" y="877824"/>
              <a:ext cx="11216640" cy="5791200"/>
            </p:xfrm>
            <a:graphic>
              <a:graphicData uri="http://schemas.openxmlformats.org/drawingml/2006/table">
                <a:tbl>
                  <a:tblPr/>
                  <a:tblGrid>
                    <a:gridCol w="1975104">
                      <a:extLst>
                        <a:ext uri="{9D8B030D-6E8A-4147-A177-3AD203B41FA5}">
                          <a16:colId xmlns:a16="http://schemas.microsoft.com/office/drawing/2014/main" val="20000"/>
                        </a:ext>
                      </a:extLst>
                    </a:gridCol>
                    <a:gridCol w="2097024">
                      <a:extLst>
                        <a:ext uri="{9D8B030D-6E8A-4147-A177-3AD203B41FA5}">
                          <a16:colId xmlns:a16="http://schemas.microsoft.com/office/drawing/2014/main" val="20001"/>
                        </a:ext>
                      </a:extLst>
                    </a:gridCol>
                    <a:gridCol w="2218944">
                      <a:extLst>
                        <a:ext uri="{9D8B030D-6E8A-4147-A177-3AD203B41FA5}">
                          <a16:colId xmlns:a16="http://schemas.microsoft.com/office/drawing/2014/main" val="20002"/>
                        </a:ext>
                      </a:extLst>
                    </a:gridCol>
                    <a:gridCol w="4925568">
                      <a:extLst>
                        <a:ext uri="{9D8B030D-6E8A-4147-A177-3AD203B41FA5}">
                          <a16:colId xmlns:a16="http://schemas.microsoft.com/office/drawing/2014/main" val="20003"/>
                        </a:ext>
                      </a:extLst>
                    </a:gridCol>
                  </a:tblGrid>
                  <a:tr h="48260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Algorithm</a:t>
                          </a:r>
                          <a:endParaRPr lang="en-US" sz="13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82600">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309" t="-101266" r="-468519" b="-1005063"/>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Security param λ</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params=(q,p,g,D_α)</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127847" t="-101266" r="-248" b="-1005063"/>
                          </a:stretch>
                        </a:blipFill>
                      </a:tcPr>
                    </a:tc>
                    <a:extLst>
                      <a:ext uri="{0D108BD9-81ED-4DB2-BD59-A6C34878D82A}">
                        <a16:rowId xmlns:a16="http://schemas.microsoft.com/office/drawing/2014/main" val="10001"/>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FHE.KeyGen(params)</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Params</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(sk, evk)</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Secret key sk := s ← D_α; public evaluation key evk</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FHE.RLWE.Enc(sk, Δ·m)</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94477" t="-302532" r="-341279" b="-803797"/>
                          </a:stretch>
                        </a:blipFill>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183791" t="-302532" r="-222527" b="-803797"/>
                          </a:stretch>
                        </a:blipFill>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127847" t="-302532" r="-248" b="-803797"/>
                          </a:stretch>
                        </a:blipFill>
                      </a:tcPr>
                    </a:tc>
                    <a:extLst>
                      <a:ext uri="{0D108BD9-81ED-4DB2-BD59-A6C34878D82A}">
                        <a16:rowId xmlns:a16="http://schemas.microsoft.com/office/drawing/2014/main" val="10003"/>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FHE.RGSW.Enc(sk, m)</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94477" t="-402532" r="-341279" b="-703797"/>
                          </a:stretch>
                        </a:blipFill>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183791" t="-402532" r="-222527" b="-703797"/>
                          </a:stretch>
                        </a:blipFill>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127847" t="-402532" r="-248" b="-703797"/>
                          </a:stretch>
                        </a:blipFill>
                      </a:tcPr>
                    </a:tc>
                    <a:extLst>
                      <a:ext uri="{0D108BD9-81ED-4DB2-BD59-A6C34878D82A}">
                        <a16:rowId xmlns:a16="http://schemas.microsoft.com/office/drawing/2014/main" val="10004"/>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FHE.ksk.Gen(sk,info(sk))</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sk, partial key info</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ksk=z+g·info(sk)</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Key-switching key: ℓ RLWE(0) ciphertexts z plus key info scaled by g; </a:t>
                          </a:r>
                        </a:p>
                        <a:p>
                          <a:pPr marL="0" indent="0" algn="l">
                            <a:buNone/>
                          </a:pPr>
                          <a:r>
                            <a:rPr lang="en-US" sz="1100" dirty="0">
                              <a:solidFill>
                                <a:srgbClr val="1E293B"/>
                              </a:solidFill>
                              <a:latin typeface="+mn-lt"/>
                              <a:ea typeface="Calibri" pitchFamily="34" charset="-122"/>
                              <a:cs typeface="Calibri" pitchFamily="34" charset="-120"/>
                            </a:rPr>
                            <a:t>size = ½ RGSW ciphertext</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FHE.Add(c₁, c₂)</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RLWE cts of m₁, m₂</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c⁺=(a₁+a₂, b₁+b₂)</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Homomorphic addition; output encrypts m₁+m₂ mod p</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FHE.PlainMult(c, T(X))</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94477" t="-702532" r="-341279" b="-403797"/>
                          </a:stretch>
                        </a:blipFill>
                      </a:tcPr>
                    </a:tc>
                    <a:tc>
                      <a:txBody>
                        <a:bodyPr/>
                        <a:lstStyle/>
                        <a:p>
                          <a:pPr marL="0" indent="0" algn="l">
                            <a:buNone/>
                          </a:pPr>
                          <a:r>
                            <a:rPr lang="en-US" sz="1100" dirty="0">
                              <a:solidFill>
                                <a:srgbClr val="1E293B"/>
                              </a:solidFill>
                              <a:latin typeface="+mn-lt"/>
                              <a:ea typeface="Consolas" pitchFamily="34" charset="-122"/>
                              <a:cs typeface="Consolas" pitchFamily="34" charset="-120"/>
                            </a:rPr>
                            <a:t>c'=(a·T(X), b·T(X))</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Ciphertext-plaintext multiplication; output encrypts m·T(X)</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FHE.ExternalProd(c, C)</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RLWE ct of m₁, RGSW C of m₂</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183791" t="-792500" r="-222527" b="-298750"/>
                          </a:stretch>
                        </a:blipFill>
                      </a:tcPr>
                    </a:tc>
                    <a:tc>
                      <a:txBody>
                        <a:bodyPr/>
                        <a:lstStyle/>
                        <a:p>
                          <a:pPr marL="0" indent="0" algn="l">
                            <a:buNone/>
                          </a:pPr>
                          <a:r>
                            <a:rPr lang="en-US" sz="1100" dirty="0">
                              <a:solidFill>
                                <a:srgbClr val="1E293B"/>
                              </a:solidFill>
                              <a:latin typeface="+mn-lt"/>
                              <a:ea typeface="Calibri" pitchFamily="34" charset="-122"/>
                              <a:cs typeface="Calibri" pitchFamily="34" charset="-120"/>
                            </a:rPr>
                            <a:t>RLWE×RGSW→RLWE; output encrypts m₁·m₂. </a:t>
                          </a:r>
                        </a:p>
                        <a:p>
                          <a:pPr marL="0" indent="0" algn="l">
                            <a:buNone/>
                          </a:pPr>
                          <a:r>
                            <a:rPr lang="en-US" sz="1100" dirty="0">
                              <a:solidFill>
                                <a:srgbClr val="1E293B"/>
                              </a:solidFill>
                              <a:latin typeface="+mn-lt"/>
                              <a:ea typeface="Calibri" pitchFamily="34" charset="-122"/>
                              <a:cs typeface="Calibri" pitchFamily="34" charset="-120"/>
                            </a:rPr>
                            <a:t>Key property: additive noise growth (vs quadratic for RLWE×RLWE)</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8"/>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FHE.Dec(c, sk)</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ct=(a,b), sk=s</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m=⌊(b−a·s)/Δ⌉</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Decryption by rounding; recovers m ∈ R_p</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9"/>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FHE.SampleExtract(c, i)</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RLWE ct of M(X), 0≤i&lt;N</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onsolas" pitchFamily="34" charset="-122"/>
                              <a:cs typeface="Consolas" pitchFamily="34" charset="-120"/>
                            </a:rPr>
                            <a:t>LWE ct of Mᵢ</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l">
                            <a:buNone/>
                          </a:pPr>
                          <a:r>
                            <a:rPr lang="en-US" sz="1100" dirty="0">
                              <a:solidFill>
                                <a:srgbClr val="1E293B"/>
                              </a:solidFill>
                              <a:latin typeface="+mn-lt"/>
                              <a:ea typeface="Calibri" pitchFamily="34" charset="-122"/>
                              <a:cs typeface="Calibri" pitchFamily="34" charset="-120"/>
                            </a:rPr>
                            <a:t>Extracts i-th coefficient of encrypted polynomial M(X) into an LWE ciphertext</a:t>
                          </a:r>
                          <a:endParaRPr lang="en-US" sz="1100" dirty="0">
                            <a:latin typeface="+mn-lt"/>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10"/>
                      </a:ext>
                    </a:extLst>
                  </a:tr>
                  <a:tr h="482600">
                    <a:tc>
                      <a:txBody>
                        <a:bodyPr/>
                        <a:lstStyle/>
                        <a:p>
                          <a:pPr marL="0" indent="0" algn="l">
                            <a:buNone/>
                          </a:pPr>
                          <a:r>
                            <a:rPr lang="en-US" sz="1100" b="1" dirty="0">
                              <a:solidFill>
                                <a:srgbClr val="1E293B"/>
                              </a:solidFill>
                              <a:latin typeface="Consolas" pitchFamily="34" charset="0"/>
                              <a:ea typeface="Consolas" pitchFamily="34" charset="-122"/>
                              <a:cs typeface="Consolas" pitchFamily="34" charset="-120"/>
                            </a:rPr>
                            <a:t>FHE.Mux(C, a, b)</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94477" t="-1103797" r="-341279" b="-2532"/>
                          </a:stretch>
                        </a:blipFill>
                      </a:tcPr>
                    </a:tc>
                    <a:tc>
                      <a:txBody>
                        <a:bodyPr/>
                        <a:lstStyle/>
                        <a:p>
                          <a:pPr marL="0" indent="0" algn="l">
                            <a:buNone/>
                          </a:pPr>
                          <a:r>
                            <a:rPr lang="en-US" sz="1100" dirty="0">
                              <a:solidFill>
                                <a:srgbClr val="1E293B"/>
                              </a:solidFill>
                              <a:latin typeface="+mn-lt"/>
                              <a:ea typeface="Consolas" pitchFamily="34" charset="-122"/>
                              <a:cs typeface="Consolas" pitchFamily="34" charset="-120"/>
                            </a:rPr>
                            <a:t>C·(b−a)+a</a:t>
                          </a:r>
                          <a:endParaRPr lang="en-US" sz="1100" dirty="0">
                            <a:latin typeface="+mn-lt"/>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endParaRPr lang="en-US"/>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blipFill>
                          <a:blip r:embed="rId4"/>
                          <a:stretch>
                            <a:fillRect l="-127847" t="-1103797" r="-248" b="-2532"/>
                          </a:stretch>
                        </a:blipFill>
                      </a:tcPr>
                    </a:tc>
                    <a:extLst>
                      <a:ext uri="{0D108BD9-81ED-4DB2-BD59-A6C34878D82A}">
                        <a16:rowId xmlns:a16="http://schemas.microsoft.com/office/drawing/2014/main" val="10011"/>
                      </a:ext>
                    </a:extLst>
                  </a:tr>
                </a:tbl>
              </a:graphicData>
            </a:graphic>
          </p:graphicFrame>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194457"/>
            <a:ext cx="10896181" cy="487680"/>
          </a:xfrm>
          <a:prstGeom prst="rect">
            <a:avLst/>
          </a:prstGeom>
          <a:noFill/>
          <a:ln/>
        </p:spPr>
        <p:txBody>
          <a:bodyPr wrap="square" rtlCol="0" anchor="ctr"/>
          <a:lstStyle/>
          <a:p>
            <a:r>
              <a:rPr lang="en-US" sz="2533" b="1" dirty="0">
                <a:solidFill>
                  <a:srgbClr val="1E293B"/>
                </a:solidFill>
                <a:latin typeface="Calibri" pitchFamily="34" charset="0"/>
                <a:ea typeface="Calibri" pitchFamily="34" charset="-122"/>
                <a:cs typeface="Calibri" pitchFamily="34" charset="-120"/>
              </a:rPr>
              <a:t>Hypercube-based PIR — DB Structure &amp; Protocol Overview  (§3, PIR Revisited) / </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数据库结构与协议概述</a:t>
            </a:r>
            <a:endPar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 1"/>
          <p:cNvSpPr/>
          <p:nvPr/>
        </p:nvSpPr>
        <p:spPr>
          <a:xfrm>
            <a:off x="487680" y="1017529"/>
            <a:ext cx="5486400" cy="341376"/>
          </a:xfrm>
          <a:prstGeom prst="rect">
            <a:avLst/>
          </a:prstGeom>
          <a:noFill/>
          <a:ln/>
        </p:spPr>
        <p:txBody>
          <a:bodyPr wrap="square" rtlCol="0" anchor="ctr"/>
          <a:lstStyle/>
          <a:p>
            <a:r>
              <a:rPr lang="en-US" sz="1600" b="1" dirty="0">
                <a:solidFill>
                  <a:srgbClr val="1E293B"/>
                </a:solidFill>
                <a:latin typeface="Calibri" pitchFamily="34" charset="0"/>
                <a:ea typeface="Calibri" pitchFamily="34" charset="-122"/>
                <a:cs typeface="Calibri" pitchFamily="34" charset="-120"/>
              </a:rPr>
              <a:t>Database Structure / </a:t>
            </a:r>
            <a:r>
              <a:rPr lang="zh-CN" altLang="en-US" sz="1600" b="1" dirty="0">
                <a:solidFill>
                  <a:srgbClr val="1E293B"/>
                </a:solidFill>
                <a:latin typeface="Calibri" pitchFamily="34" charset="0"/>
                <a:ea typeface="Calibri" pitchFamily="34" charset="-122"/>
                <a:cs typeface="Calibri" pitchFamily="34" charset="-120"/>
              </a:rPr>
              <a:t>数据库结构</a:t>
            </a:r>
            <a:endParaRPr lang="en-US" sz="1600" dirty="0"/>
          </a:p>
        </p:txBody>
      </p:sp>
      <p:sp>
        <p:nvSpPr>
          <p:cNvPr id="4" name="Shape 2"/>
          <p:cNvSpPr/>
          <p:nvPr/>
        </p:nvSpPr>
        <p:spPr>
          <a:xfrm>
            <a:off x="487680" y="1383289"/>
            <a:ext cx="5486400" cy="2218944"/>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mc:AlternateContent xmlns:mc="http://schemas.openxmlformats.org/markup-compatibility/2006" xmlns:a14="http://schemas.microsoft.com/office/drawing/2010/main">
        <mc:Choice Requires="a14">
          <p:sp>
            <p:nvSpPr>
              <p:cNvPr id="5" name="Text 3"/>
              <p:cNvSpPr/>
              <p:nvPr/>
            </p:nvSpPr>
            <p:spPr>
              <a:xfrm>
                <a:off x="670560" y="1468633"/>
                <a:ext cx="5120640" cy="2011680"/>
              </a:xfrm>
              <a:prstGeom prst="rect">
                <a:avLst/>
              </a:prstGeom>
              <a:noFill/>
              <a:ln/>
            </p:spPr>
            <p:txBody>
              <a:bodyPr wrap="square" rtlCol="0" anchor="t"/>
              <a:lstStyle/>
              <a:p>
                <a:r>
                  <a:rPr lang="en-US" sz="1333" b="1" dirty="0">
                    <a:solidFill>
                      <a:srgbClr val="1E293B"/>
                    </a:solidFill>
                    <a:latin typeface="Consolas" pitchFamily="34" charset="0"/>
                    <a:ea typeface="Consolas" pitchFamily="34" charset="-122"/>
                    <a:cs typeface="Consolas" pitchFamily="34" charset="-120"/>
                  </a:rPr>
                  <a:t>n</a:t>
                </a:r>
                <a:r>
                  <a:rPr lang="en-US" sz="1333" dirty="0">
                    <a:solidFill>
                      <a:srgbClr val="1E293B"/>
                    </a:solidFill>
                    <a:latin typeface="Calibri" pitchFamily="34" charset="0"/>
                    <a:ea typeface="Calibri" pitchFamily="34" charset="-122"/>
                    <a:cs typeface="Calibri" pitchFamily="34" charset="-120"/>
                  </a:rPr>
                  <a:t> elements reshaped into a </a:t>
                </a:r>
                <a:r>
                  <a:rPr lang="en-US" sz="1333" b="1" dirty="0">
                    <a:solidFill>
                      <a:srgbClr val="1E293B"/>
                    </a:solidFill>
                    <a:latin typeface="Consolas" pitchFamily="34" charset="0"/>
                    <a:ea typeface="Consolas" pitchFamily="34" charset="-122"/>
                    <a:cs typeface="Consolas" pitchFamily="34" charset="-120"/>
                  </a:rPr>
                  <a:t>d</a:t>
                </a:r>
                <a:r>
                  <a:rPr lang="en-US" sz="1333" dirty="0">
                    <a:solidFill>
                      <a:srgbClr val="1E293B"/>
                    </a:solidFill>
                    <a:latin typeface="Calibri" pitchFamily="34" charset="0"/>
                    <a:ea typeface="Calibri" pitchFamily="34" charset="-122"/>
                    <a:cs typeface="Calibri" pitchFamily="34" charset="-120"/>
                  </a:rPr>
                  <a:t>-dimensional hypercube:
</a:t>
                </a:r>
                <a:r>
                  <a:rPr lang="en-US" sz="1333" dirty="0">
                    <a:solidFill>
                      <a:srgbClr val="1E293B"/>
                    </a:solidFill>
                    <a:latin typeface="Consolas" pitchFamily="34" charset="0"/>
                    <a:ea typeface="Consolas" pitchFamily="34" charset="-122"/>
                    <a:cs typeface="Consolas" pitchFamily="34" charset="-120"/>
                  </a:rPr>
                  <a:t>  DB  ≅  D₁ × D₂ × ··· × </a:t>
                </a:r>
                <a14:m>
                  <m:oMath xmlns:m="http://schemas.openxmlformats.org/officeDocument/2006/math">
                    <m:sSub>
                      <m:sSubPr>
                        <m:ctrlPr>
                          <a:rPr lang="en-US" sz="1333" i="1" smtClean="0">
                            <a:solidFill>
                              <a:srgbClr val="1E293B"/>
                            </a:solidFill>
                            <a:latin typeface="Cambria Math" panose="02040503050406030204" pitchFamily="18" charset="0"/>
                          </a:rPr>
                        </m:ctrlPr>
                      </m:sSubPr>
                      <m:e>
                        <m:r>
                          <m:rPr>
                            <m:nor/>
                          </m:rPr>
                          <a:rPr lang="en-US" sz="1333" dirty="0">
                            <a:solidFill>
                              <a:srgbClr val="1E293B"/>
                            </a:solidFill>
                            <a:latin typeface="Consolas" pitchFamily="34" charset="0"/>
                            <a:ea typeface="Consolas" pitchFamily="34" charset="-122"/>
                            <a:cs typeface="Consolas" pitchFamily="34" charset="-120"/>
                          </a:rPr>
                          <m:t>D</m:t>
                        </m:r>
                      </m:e>
                      <m:sub>
                        <m:r>
                          <m:rPr>
                            <m:nor/>
                          </m:rPr>
                          <a:rPr lang="en-US" sz="1333" dirty="0">
                            <a:solidFill>
                              <a:srgbClr val="1E293B"/>
                            </a:solidFill>
                            <a:latin typeface="Consolas" pitchFamily="34" charset="0"/>
                            <a:ea typeface="Consolas" pitchFamily="34" charset="-122"/>
                            <a:cs typeface="Consolas" pitchFamily="34" charset="-120"/>
                          </a:rPr>
                          <m:t>d</m:t>
                        </m:r>
                      </m:sub>
                    </m:sSub>
                  </m:oMath>
                </a14:m>
                <a:r>
                  <a:rPr lang="en-US" sz="1333" dirty="0">
                    <a:solidFill>
                      <a:srgbClr val="1E293B"/>
                    </a:solidFill>
                    <a:latin typeface="Consolas" pitchFamily="34" charset="0"/>
                    <a:ea typeface="Consolas" pitchFamily="34" charset="-122"/>
                    <a:cs typeface="Consolas" pitchFamily="34" charset="-120"/>
                  </a:rPr>
                  <a:t>
  n   =  D₁ · D₂ · ··· · </a:t>
                </a:r>
                <a14:m>
                  <m:oMath xmlns:m="http://schemas.openxmlformats.org/officeDocument/2006/math">
                    <m:sSub>
                      <m:sSubPr>
                        <m:ctrlPr>
                          <a:rPr lang="en-US" sz="1333" i="1">
                            <a:solidFill>
                              <a:srgbClr val="1E293B"/>
                            </a:solidFill>
                            <a:latin typeface="Cambria Math" panose="02040503050406030204" pitchFamily="18" charset="0"/>
                          </a:rPr>
                        </m:ctrlPr>
                      </m:sSubPr>
                      <m:e>
                        <m:r>
                          <m:rPr>
                            <m:nor/>
                          </m:rPr>
                          <a:rPr lang="en-US" sz="1333" dirty="0">
                            <a:solidFill>
                              <a:srgbClr val="1E293B"/>
                            </a:solidFill>
                            <a:latin typeface="Consolas" pitchFamily="34" charset="0"/>
                            <a:ea typeface="Consolas" pitchFamily="34" charset="-122"/>
                            <a:cs typeface="Consolas" pitchFamily="34" charset="-120"/>
                          </a:rPr>
                          <m:t>D</m:t>
                        </m:r>
                      </m:e>
                      <m:sub>
                        <m:r>
                          <m:rPr>
                            <m:nor/>
                          </m:rPr>
                          <a:rPr lang="en-US" sz="1333" dirty="0">
                            <a:solidFill>
                              <a:srgbClr val="1E293B"/>
                            </a:solidFill>
                            <a:latin typeface="Consolas" pitchFamily="34" charset="0"/>
                            <a:ea typeface="Consolas" pitchFamily="34" charset="-122"/>
                            <a:cs typeface="Consolas" pitchFamily="34" charset="-120"/>
                          </a:rPr>
                          <m:t>d</m:t>
                        </m:r>
                      </m:sub>
                    </m:sSub>
                  </m:oMath>
                </a14:m>
                <a:r>
                  <a:rPr lang="en-US" sz="1333" dirty="0">
                    <a:solidFill>
                      <a:srgbClr val="1E293B"/>
                    </a:solidFill>
                    <a:latin typeface="Consolas" pitchFamily="34" charset="0"/>
                    <a:ea typeface="Consolas" pitchFamily="34" charset="-122"/>
                    <a:cs typeface="Consolas" pitchFamily="34" charset="-120"/>
                  </a:rPr>
                  <a:t>
</a:t>
                </a:r>
                <a:r>
                  <a:rPr lang="en-US" sz="1333" dirty="0">
                    <a:solidFill>
                      <a:srgbClr val="1E293B"/>
                    </a:solidFill>
                    <a:latin typeface="Calibri" pitchFamily="34" charset="0"/>
                    <a:ea typeface="Calibri" pitchFamily="34" charset="-122"/>
                    <a:cs typeface="Calibri" pitchFamily="34" charset="-120"/>
                  </a:rPr>
                  <a:t>Each element DB[i] is accessed via:
</a:t>
                </a:r>
                <a:r>
                  <a:rPr lang="en-US" sz="1333" dirty="0">
                    <a:solidFill>
                      <a:srgbClr val="1E293B"/>
                    </a:solidFill>
                    <a:latin typeface="Consolas" pitchFamily="34" charset="0"/>
                    <a:ea typeface="Consolas" pitchFamily="34" charset="-122"/>
                    <a:cs typeface="Consolas" pitchFamily="34" charset="-120"/>
                  </a:rPr>
                  <a:t>  i  →  (i₁, i₂, …, </a:t>
                </a:r>
                <a14:m>
                  <m:oMath xmlns:m="http://schemas.openxmlformats.org/officeDocument/2006/math">
                    <m:sSub>
                      <m:sSubPr>
                        <m:ctrlPr>
                          <a:rPr lang="en-US" sz="1333" i="1">
                            <a:solidFill>
                              <a:srgbClr val="1E293B"/>
                            </a:solidFill>
                            <a:latin typeface="Cambria Math" panose="02040503050406030204" pitchFamily="18" charset="0"/>
                          </a:rPr>
                        </m:ctrlPr>
                      </m:sSubPr>
                      <m:e>
                        <m:r>
                          <m:rPr>
                            <m:nor/>
                          </m:rPr>
                          <a:rPr lang="en-US" sz="1333" dirty="0">
                            <a:solidFill>
                              <a:srgbClr val="1E293B"/>
                            </a:solidFill>
                            <a:latin typeface="Consolas" pitchFamily="34" charset="0"/>
                            <a:ea typeface="Consolas" pitchFamily="34" charset="-122"/>
                            <a:cs typeface="Consolas" pitchFamily="34" charset="-120"/>
                          </a:rPr>
                          <m:t>i</m:t>
                        </m:r>
                      </m:e>
                      <m:sub>
                        <m:r>
                          <m:rPr>
                            <m:nor/>
                          </m:rPr>
                          <a:rPr lang="en-US" sz="1333" dirty="0">
                            <a:solidFill>
                              <a:srgbClr val="1E293B"/>
                            </a:solidFill>
                            <a:latin typeface="Consolas" pitchFamily="34" charset="0"/>
                            <a:ea typeface="Consolas" pitchFamily="34" charset="-122"/>
                            <a:cs typeface="Consolas" pitchFamily="34" charset="-120"/>
                          </a:rPr>
                          <m:t>d</m:t>
                        </m:r>
                      </m:sub>
                    </m:sSub>
                  </m:oMath>
                </a14:m>
                <a:r>
                  <a:rPr lang="en-US" sz="1333"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333" i="1">
                            <a:solidFill>
                              <a:srgbClr val="1E293B"/>
                            </a:solidFill>
                            <a:latin typeface="Cambria Math" panose="02040503050406030204" pitchFamily="18" charset="0"/>
                          </a:rPr>
                        </m:ctrlPr>
                      </m:sSubPr>
                      <m:e>
                        <m:r>
                          <m:rPr>
                            <m:nor/>
                          </m:rPr>
                          <a:rPr lang="en-US" sz="1333" dirty="0">
                            <a:solidFill>
                              <a:srgbClr val="1E293B"/>
                            </a:solidFill>
                            <a:latin typeface="Consolas" pitchFamily="34" charset="0"/>
                            <a:ea typeface="Consolas" pitchFamily="34" charset="-122"/>
                            <a:cs typeface="Consolas" pitchFamily="34" charset="-120"/>
                          </a:rPr>
                          <m:t>i</m:t>
                        </m:r>
                      </m:e>
                      <m:sub>
                        <m:r>
                          <m:rPr>
                            <m:nor/>
                          </m:rPr>
                          <a:rPr lang="en-US" sz="1333" dirty="0">
                            <a:solidFill>
                              <a:srgbClr val="1E293B"/>
                            </a:solidFill>
                            <a:latin typeface="Consolas" pitchFamily="34" charset="0"/>
                            <a:ea typeface="Consolas" pitchFamily="34" charset="-122"/>
                            <a:cs typeface="Consolas" pitchFamily="34" charset="-120"/>
                          </a:rPr>
                          <m:t>j</m:t>
                        </m:r>
                      </m:sub>
                    </m:sSub>
                    <m:r>
                      <a:rPr lang="en-US" sz="1333" i="1" dirty="0">
                        <a:solidFill>
                          <a:srgbClr val="1E293B"/>
                        </a:solidFill>
                        <a:latin typeface="Cambria Math" panose="02040503050406030204" pitchFamily="18" charset="0"/>
                        <a:ea typeface="Consolas" pitchFamily="34" charset="-122"/>
                        <a:cs typeface="Consolas" pitchFamily="34" charset="-120"/>
                      </a:rPr>
                      <m:t> </m:t>
                    </m:r>
                  </m:oMath>
                </a14:m>
                <a:r>
                  <a:rPr lang="en-US" sz="1333"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333" i="1">
                            <a:solidFill>
                              <a:srgbClr val="1E293B"/>
                            </a:solidFill>
                            <a:latin typeface="Cambria Math" panose="02040503050406030204" pitchFamily="18" charset="0"/>
                          </a:rPr>
                        </m:ctrlPr>
                      </m:sSubPr>
                      <m:e>
                        <m:r>
                          <m:rPr>
                            <m:nor/>
                          </m:rPr>
                          <a:rPr lang="en-US" sz="1333" dirty="0">
                            <a:solidFill>
                              <a:srgbClr val="1E293B"/>
                            </a:solidFill>
                            <a:latin typeface="Consolas" pitchFamily="34" charset="0"/>
                            <a:ea typeface="Consolas" pitchFamily="34" charset="-122"/>
                            <a:cs typeface="Consolas" pitchFamily="34" charset="-120"/>
                          </a:rPr>
                          <m:t>D</m:t>
                        </m:r>
                      </m:e>
                      <m:sub>
                        <m:r>
                          <m:rPr>
                            <m:nor/>
                          </m:rPr>
                          <a:rPr lang="en-US" sz="1333" dirty="0">
                            <a:solidFill>
                              <a:srgbClr val="1E293B"/>
                            </a:solidFill>
                            <a:latin typeface="Consolas" pitchFamily="34" charset="0"/>
                            <a:ea typeface="Consolas" pitchFamily="34" charset="-122"/>
                            <a:cs typeface="Consolas" pitchFamily="34" charset="-120"/>
                          </a:rPr>
                          <m:t>j</m:t>
                        </m:r>
                      </m:sub>
                    </m:sSub>
                  </m:oMath>
                </a14:m>
                <a:r>
                  <a:rPr lang="en-US" sz="1333" dirty="0">
                    <a:solidFill>
                      <a:srgbClr val="1E293B"/>
                    </a:solidFill>
                    <a:latin typeface="Consolas" pitchFamily="34" charset="0"/>
                    <a:ea typeface="Consolas" pitchFamily="34" charset="-122"/>
                    <a:cs typeface="Consolas" pitchFamily="34" charset="-120"/>
                  </a:rPr>
                  <a:t>]</a:t>
                </a:r>
                <a:endParaRPr lang="en-US" sz="1333" dirty="0"/>
              </a:p>
            </p:txBody>
          </p:sp>
        </mc:Choice>
        <mc:Fallback xmlns="">
          <p:sp>
            <p:nvSpPr>
              <p:cNvPr id="5" name="Text 3"/>
              <p:cNvSpPr>
                <a:spLocks noRot="1" noChangeAspect="1" noMove="1" noResize="1" noEditPoints="1" noAdjustHandles="1" noChangeArrowheads="1" noChangeShapeType="1" noTextEdit="1"/>
              </p:cNvSpPr>
              <p:nvPr/>
            </p:nvSpPr>
            <p:spPr>
              <a:xfrm>
                <a:off x="670560" y="1468633"/>
                <a:ext cx="5120640" cy="2011680"/>
              </a:xfrm>
              <a:prstGeom prst="rect">
                <a:avLst/>
              </a:prstGeom>
              <a:blipFill>
                <a:blip r:embed="rId3"/>
                <a:stretch>
                  <a:fillRect l="-238" t="-909"/>
                </a:stretch>
              </a:blipFill>
              <a:ln/>
            </p:spPr>
            <p:txBody>
              <a:bodyPr/>
              <a:lstStyle/>
              <a:p>
                <a:r>
                  <a:rPr lang="en-US">
                    <a:noFill/>
                  </a:rPr>
                  <a:t> </a:t>
                </a:r>
              </a:p>
            </p:txBody>
          </p:sp>
        </mc:Fallback>
      </mc:AlternateContent>
      <p:sp>
        <p:nvSpPr>
          <p:cNvPr id="6" name="Text 4"/>
          <p:cNvSpPr/>
          <p:nvPr/>
        </p:nvSpPr>
        <p:spPr>
          <a:xfrm>
            <a:off x="487680" y="3748537"/>
            <a:ext cx="5486400" cy="341376"/>
          </a:xfrm>
          <a:prstGeom prst="rect">
            <a:avLst/>
          </a:prstGeom>
          <a:noFill/>
          <a:ln/>
        </p:spPr>
        <p:txBody>
          <a:bodyPr wrap="square" rtlCol="0" anchor="ctr"/>
          <a:lstStyle/>
          <a:p>
            <a:r>
              <a:rPr lang="en-US" sz="1600" b="1" dirty="0">
                <a:solidFill>
                  <a:srgbClr val="1E293B"/>
                </a:solidFill>
                <a:latin typeface="Calibri" pitchFamily="34" charset="0"/>
                <a:ea typeface="Calibri" pitchFamily="34" charset="-122"/>
                <a:cs typeface="Calibri" pitchFamily="34" charset="-120"/>
              </a:rPr>
              <a:t>Key Parameters / </a:t>
            </a:r>
            <a:r>
              <a:rPr lang="zh-CN" altLang="en-US" sz="1600" b="1" dirty="0">
                <a:solidFill>
                  <a:srgbClr val="1E293B"/>
                </a:solidFill>
                <a:latin typeface="Calibri" pitchFamily="34" charset="0"/>
                <a:ea typeface="Calibri" pitchFamily="34" charset="-122"/>
                <a:cs typeface="Calibri" pitchFamily="34" charset="-120"/>
              </a:rPr>
              <a:t>关键参数</a:t>
            </a:r>
            <a:endParaRPr lang="en-US" sz="1600" dirty="0"/>
          </a:p>
        </p:txBody>
      </p:sp>
      <p:sp>
        <p:nvSpPr>
          <p:cNvPr id="7" name="Shape 5"/>
          <p:cNvSpPr/>
          <p:nvPr/>
        </p:nvSpPr>
        <p:spPr>
          <a:xfrm>
            <a:off x="487680" y="4114297"/>
            <a:ext cx="438912" cy="316992"/>
          </a:xfrm>
          <a:prstGeom prst="rect">
            <a:avLst/>
          </a:prstGeom>
          <a:solidFill>
            <a:srgbClr val="2563EB"/>
          </a:solidFill>
          <a:ln w="12700">
            <a:solidFill>
              <a:srgbClr val="2563EB"/>
            </a:solidFill>
            <a:prstDash val="solid"/>
          </a:ln>
        </p:spPr>
      </p:sp>
      <p:sp>
        <p:nvSpPr>
          <p:cNvPr id="8" name="Text 6"/>
          <p:cNvSpPr/>
          <p:nvPr/>
        </p:nvSpPr>
        <p:spPr>
          <a:xfrm>
            <a:off x="487680" y="4114297"/>
            <a:ext cx="438912" cy="316992"/>
          </a:xfrm>
          <a:prstGeom prst="rect">
            <a:avLst/>
          </a:prstGeom>
          <a:noFill/>
          <a:ln/>
        </p:spPr>
        <p:txBody>
          <a:bodyPr wrap="square" lIns="0" tIns="0" rIns="0" bIns="0" rtlCol="0" anchor="ctr"/>
          <a:lstStyle/>
          <a:p>
            <a:pPr algn="ctr"/>
            <a:r>
              <a:rPr lang="en-US" sz="1200" b="1" dirty="0">
                <a:solidFill>
                  <a:srgbClr val="FFFFFF"/>
                </a:solidFill>
                <a:latin typeface="Consolas" pitchFamily="34" charset="0"/>
                <a:ea typeface="Consolas" pitchFamily="34" charset="-122"/>
                <a:cs typeface="Consolas" pitchFamily="34" charset="-120"/>
              </a:rPr>
              <a:t>n</a:t>
            </a:r>
            <a:endParaRPr lang="en-US" sz="1200" dirty="0"/>
          </a:p>
        </p:txBody>
      </p:sp>
      <p:sp>
        <p:nvSpPr>
          <p:cNvPr id="9" name="Text 7"/>
          <p:cNvSpPr/>
          <p:nvPr/>
        </p:nvSpPr>
        <p:spPr>
          <a:xfrm>
            <a:off x="987552" y="4138681"/>
            <a:ext cx="2194560" cy="268224"/>
          </a:xfrm>
          <a:prstGeom prst="rect">
            <a:avLst/>
          </a:prstGeom>
          <a:noFill/>
          <a:ln/>
        </p:spPr>
        <p:txBody>
          <a:bodyPr wrap="square" lIns="0" tIns="0" rIns="0" bIns="0" rtlCol="0" anchor="ctr"/>
          <a:lstStyle/>
          <a:p>
            <a:r>
              <a:rPr lang="en-US" sz="1133" dirty="0">
                <a:solidFill>
                  <a:srgbClr val="1E293B"/>
                </a:solidFill>
                <a:latin typeface="Calibri" pitchFamily="34" charset="0"/>
                <a:ea typeface="Calibri" pitchFamily="34" charset="-122"/>
                <a:cs typeface="Calibri" pitchFamily="34" charset="-120"/>
              </a:rPr>
              <a:t>Total number of database elements</a:t>
            </a:r>
            <a:endParaRPr lang="en-US" sz="1133" dirty="0"/>
          </a:p>
        </p:txBody>
      </p:sp>
      <p:sp>
        <p:nvSpPr>
          <p:cNvPr id="10" name="Shape 8"/>
          <p:cNvSpPr/>
          <p:nvPr/>
        </p:nvSpPr>
        <p:spPr>
          <a:xfrm>
            <a:off x="3243072" y="4114297"/>
            <a:ext cx="438912" cy="316992"/>
          </a:xfrm>
          <a:prstGeom prst="rect">
            <a:avLst/>
          </a:prstGeom>
          <a:solidFill>
            <a:srgbClr val="2563EB"/>
          </a:solidFill>
          <a:ln w="12700">
            <a:solidFill>
              <a:srgbClr val="2563EB"/>
            </a:solidFill>
            <a:prstDash val="solid"/>
          </a:ln>
        </p:spPr>
      </p:sp>
      <p:sp>
        <p:nvSpPr>
          <p:cNvPr id="11" name="Text 9"/>
          <p:cNvSpPr/>
          <p:nvPr/>
        </p:nvSpPr>
        <p:spPr>
          <a:xfrm>
            <a:off x="3243072" y="4114297"/>
            <a:ext cx="438912" cy="316992"/>
          </a:xfrm>
          <a:prstGeom prst="rect">
            <a:avLst/>
          </a:prstGeom>
          <a:noFill/>
          <a:ln/>
        </p:spPr>
        <p:txBody>
          <a:bodyPr wrap="square" lIns="0" tIns="0" rIns="0" bIns="0" rtlCol="0" anchor="ctr"/>
          <a:lstStyle/>
          <a:p>
            <a:pPr algn="ctr"/>
            <a:r>
              <a:rPr lang="en-US" sz="1200" b="1" dirty="0">
                <a:solidFill>
                  <a:srgbClr val="FFFFFF"/>
                </a:solidFill>
                <a:latin typeface="Consolas" pitchFamily="34" charset="0"/>
                <a:ea typeface="Consolas" pitchFamily="34" charset="-122"/>
                <a:cs typeface="Consolas" pitchFamily="34" charset="-120"/>
              </a:rPr>
              <a:t>d</a:t>
            </a:r>
            <a:endParaRPr lang="en-US" sz="1200" dirty="0"/>
          </a:p>
        </p:txBody>
      </p:sp>
      <p:sp>
        <p:nvSpPr>
          <p:cNvPr id="12" name="Text 10"/>
          <p:cNvSpPr/>
          <p:nvPr/>
        </p:nvSpPr>
        <p:spPr>
          <a:xfrm>
            <a:off x="3742944" y="4138681"/>
            <a:ext cx="2194560" cy="268224"/>
          </a:xfrm>
          <a:prstGeom prst="rect">
            <a:avLst/>
          </a:prstGeom>
          <a:noFill/>
          <a:ln/>
        </p:spPr>
        <p:txBody>
          <a:bodyPr wrap="square" lIns="0" tIns="0" rIns="0" bIns="0" rtlCol="0" anchor="ctr"/>
          <a:lstStyle/>
          <a:p>
            <a:r>
              <a:rPr lang="en-US" sz="1133" dirty="0">
                <a:solidFill>
                  <a:srgbClr val="1E293B"/>
                </a:solidFill>
                <a:latin typeface="Calibri" pitchFamily="34" charset="0"/>
                <a:ea typeface="Calibri" pitchFamily="34" charset="-122"/>
                <a:cs typeface="Calibri" pitchFamily="34" charset="-120"/>
              </a:rPr>
              <a:t>Number of hypercube dimensions</a:t>
            </a:r>
            <a:endParaRPr lang="en-US" sz="1133" dirty="0"/>
          </a:p>
        </p:txBody>
      </p:sp>
      <p:sp>
        <p:nvSpPr>
          <p:cNvPr id="13" name="Shape 11"/>
          <p:cNvSpPr/>
          <p:nvPr/>
        </p:nvSpPr>
        <p:spPr>
          <a:xfrm>
            <a:off x="487680" y="4516633"/>
            <a:ext cx="438912" cy="316992"/>
          </a:xfrm>
          <a:prstGeom prst="rect">
            <a:avLst/>
          </a:prstGeom>
          <a:solidFill>
            <a:srgbClr val="2563EB"/>
          </a:solidFill>
          <a:ln w="12700">
            <a:solidFill>
              <a:srgbClr val="2563EB"/>
            </a:solidFill>
            <a:prstDash val="solid"/>
          </a:ln>
        </p:spPr>
      </p:sp>
      <mc:AlternateContent xmlns:mc="http://schemas.openxmlformats.org/markup-compatibility/2006" xmlns:a14="http://schemas.microsoft.com/office/drawing/2010/main">
        <mc:Choice Requires="a14">
          <p:sp>
            <p:nvSpPr>
              <p:cNvPr id="14" name="Text 12"/>
              <p:cNvSpPr/>
              <p:nvPr/>
            </p:nvSpPr>
            <p:spPr>
              <a:xfrm>
                <a:off x="487680" y="4516633"/>
                <a:ext cx="438912" cy="316992"/>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200" b="1" i="1" smtClean="0">
                              <a:solidFill>
                                <a:srgbClr val="FFFFFF"/>
                              </a:solidFill>
                              <a:latin typeface="Cambria Math" panose="02040503050406030204" pitchFamily="18" charset="0"/>
                            </a:rPr>
                          </m:ctrlPr>
                        </m:sSubPr>
                        <m:e>
                          <m:r>
                            <m:rPr>
                              <m:nor/>
                            </m:rPr>
                            <a:rPr lang="en-US" sz="1200" b="1" dirty="0">
                              <a:solidFill>
                                <a:srgbClr val="FFFFFF"/>
                              </a:solidFill>
                              <a:latin typeface="Consolas" pitchFamily="34" charset="0"/>
                              <a:ea typeface="Consolas" pitchFamily="34" charset="-122"/>
                              <a:cs typeface="Consolas" pitchFamily="34" charset="-120"/>
                            </a:rPr>
                            <m:t>D</m:t>
                          </m:r>
                        </m:e>
                        <m:sub>
                          <m:r>
                            <m:rPr>
                              <m:nor/>
                            </m:rPr>
                            <a:rPr lang="en-US" sz="1200" b="1" dirty="0">
                              <a:solidFill>
                                <a:srgbClr val="FFFFFF"/>
                              </a:solidFill>
                              <a:latin typeface="Consolas" pitchFamily="34" charset="0"/>
                              <a:ea typeface="Consolas" pitchFamily="34" charset="-122"/>
                              <a:cs typeface="Consolas" pitchFamily="34" charset="-120"/>
                            </a:rPr>
                            <m:t>j</m:t>
                          </m:r>
                        </m:sub>
                      </m:sSub>
                    </m:oMath>
                  </m:oMathPara>
                </a14:m>
                <a:endParaRPr lang="en-US" sz="1200" dirty="0"/>
              </a:p>
            </p:txBody>
          </p:sp>
        </mc:Choice>
        <mc:Fallback xmlns="">
          <p:sp>
            <p:nvSpPr>
              <p:cNvPr id="14" name="Text 12"/>
              <p:cNvSpPr>
                <a:spLocks noRot="1" noChangeAspect="1" noMove="1" noResize="1" noEditPoints="1" noAdjustHandles="1" noChangeArrowheads="1" noChangeShapeType="1" noTextEdit="1"/>
              </p:cNvSpPr>
              <p:nvPr/>
            </p:nvSpPr>
            <p:spPr>
              <a:xfrm>
                <a:off x="487680" y="4516633"/>
                <a:ext cx="438912" cy="316992"/>
              </a:xfrm>
              <a:prstGeom prst="rect">
                <a:avLst/>
              </a:prstGeom>
              <a:blipFill>
                <a:blip r:embed="rId4"/>
                <a:stretch>
                  <a:fillRect b="-9615"/>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 13"/>
              <p:cNvSpPr/>
              <p:nvPr/>
            </p:nvSpPr>
            <p:spPr>
              <a:xfrm>
                <a:off x="987552" y="4541017"/>
                <a:ext cx="2194560" cy="268224"/>
              </a:xfrm>
              <a:prstGeom prst="rect">
                <a:avLst/>
              </a:prstGeom>
              <a:noFill/>
              <a:ln/>
            </p:spPr>
            <p:txBody>
              <a:bodyPr wrap="square" lIns="0" tIns="0" rIns="0" bIns="0" rtlCol="0" anchor="ctr"/>
              <a:lstStyle/>
              <a:p>
                <a:r>
                  <a:rPr lang="en-US" sz="1133" dirty="0">
                    <a:solidFill>
                      <a:srgbClr val="1E293B"/>
                    </a:solidFill>
                    <a:latin typeface="Calibri" pitchFamily="34" charset="0"/>
                    <a:ea typeface="Calibri" pitchFamily="34" charset="-122"/>
                    <a:cs typeface="Calibri" pitchFamily="34" charset="-120"/>
                  </a:rPr>
                  <a:t>Size of j-th dimension  (</a:t>
                </a:r>
                <a14:m>
                  <m:oMath xmlns:m="http://schemas.openxmlformats.org/officeDocument/2006/math">
                    <m:nary>
                      <m:naryPr>
                        <m:chr m:val="∏"/>
                        <m:subHide m:val="on"/>
                        <m:supHide m:val="on"/>
                        <m:ctrlPr>
                          <a:rPr lang="en-US" sz="1133" i="1" smtClean="0">
                            <a:solidFill>
                              <a:srgbClr val="1E293B"/>
                            </a:solidFill>
                            <a:latin typeface="Cambria Math" panose="02040503050406030204" pitchFamily="18" charset="0"/>
                            <a:cs typeface="Calibri" pitchFamily="34" charset="-120"/>
                          </a:rPr>
                        </m:ctrlPr>
                      </m:naryPr>
                      <m:sub/>
                      <m:sup/>
                      <m:e>
                        <m:sSub>
                          <m:sSubPr>
                            <m:ctrlPr>
                              <a:rPr lang="en-US" sz="1133" i="1">
                                <a:solidFill>
                                  <a:srgbClr val="1E293B"/>
                                </a:solidFill>
                                <a:latin typeface="Cambria Math" panose="02040503050406030204" pitchFamily="18" charset="0"/>
                                <a:cs typeface="Calibri" pitchFamily="34" charset="-120"/>
                              </a:rPr>
                            </m:ctrlPr>
                          </m:sSubPr>
                          <m:e>
                            <m:r>
                              <m:rPr>
                                <m:nor/>
                              </m:rPr>
                              <a:rPr lang="en-US" sz="1133" dirty="0">
                                <a:solidFill>
                                  <a:srgbClr val="1E293B"/>
                                </a:solidFill>
                                <a:latin typeface="Calibri" pitchFamily="34" charset="0"/>
                                <a:ea typeface="Calibri" pitchFamily="34" charset="-122"/>
                                <a:cs typeface="Calibri" pitchFamily="34" charset="-120"/>
                              </a:rPr>
                              <m:t>D</m:t>
                            </m:r>
                          </m:e>
                          <m:sub>
                            <m:r>
                              <m:rPr>
                                <m:nor/>
                              </m:rPr>
                              <a:rPr lang="en-US" sz="1133" dirty="0">
                                <a:solidFill>
                                  <a:srgbClr val="1E293B"/>
                                </a:solidFill>
                                <a:latin typeface="Calibri" pitchFamily="34" charset="0"/>
                                <a:ea typeface="Calibri" pitchFamily="34" charset="-122"/>
                                <a:cs typeface="Calibri" pitchFamily="34" charset="-120"/>
                              </a:rPr>
                              <m:t>j</m:t>
                            </m:r>
                          </m:sub>
                        </m:sSub>
                        <m:r>
                          <m:rPr>
                            <m:nor/>
                          </m:rPr>
                          <a:rPr lang="en-US" sz="1133" dirty="0">
                            <a:solidFill>
                              <a:srgbClr val="1E293B"/>
                            </a:solidFill>
                            <a:latin typeface="Calibri" pitchFamily="34" charset="0"/>
                            <a:ea typeface="Calibri" pitchFamily="34" charset="-122"/>
                            <a:cs typeface="Calibri" pitchFamily="34" charset="-120"/>
                          </a:rPr>
                          <m:t> = </m:t>
                        </m:r>
                        <m:r>
                          <m:rPr>
                            <m:nor/>
                          </m:rPr>
                          <a:rPr lang="en-US" sz="1133" dirty="0">
                            <a:solidFill>
                              <a:srgbClr val="1E293B"/>
                            </a:solidFill>
                            <a:latin typeface="Calibri" pitchFamily="34" charset="0"/>
                            <a:ea typeface="Calibri" pitchFamily="34" charset="-122"/>
                            <a:cs typeface="Calibri" pitchFamily="34" charset="-120"/>
                          </a:rPr>
                          <m:t>n</m:t>
                        </m:r>
                      </m:e>
                    </m:nary>
                  </m:oMath>
                </a14:m>
                <a:r>
                  <a:rPr lang="en-US" sz="1133" dirty="0">
                    <a:solidFill>
                      <a:srgbClr val="1E293B"/>
                    </a:solidFill>
                    <a:latin typeface="Calibri" pitchFamily="34" charset="0"/>
                    <a:ea typeface="Calibri" pitchFamily="34" charset="-122"/>
                    <a:cs typeface="Calibri" pitchFamily="34" charset="-120"/>
                  </a:rPr>
                  <a:t>)</a:t>
                </a:r>
                <a:endParaRPr lang="en-US" sz="1133" dirty="0"/>
              </a:p>
            </p:txBody>
          </p:sp>
        </mc:Choice>
        <mc:Fallback xmlns="">
          <p:sp>
            <p:nvSpPr>
              <p:cNvPr id="15" name="Text 13"/>
              <p:cNvSpPr>
                <a:spLocks noRot="1" noChangeAspect="1" noMove="1" noResize="1" noEditPoints="1" noAdjustHandles="1" noChangeArrowheads="1" noChangeShapeType="1" noTextEdit="1"/>
              </p:cNvSpPr>
              <p:nvPr/>
            </p:nvSpPr>
            <p:spPr>
              <a:xfrm>
                <a:off x="987552" y="4541017"/>
                <a:ext cx="2194560" cy="268224"/>
              </a:xfrm>
              <a:prstGeom prst="rect">
                <a:avLst/>
              </a:prstGeom>
              <a:blipFill>
                <a:blip r:embed="rId5"/>
                <a:stretch>
                  <a:fillRect l="-4167" t="-104545" b="-147727"/>
                </a:stretch>
              </a:blipFill>
              <a:ln/>
            </p:spPr>
            <p:txBody>
              <a:bodyPr/>
              <a:lstStyle/>
              <a:p>
                <a:r>
                  <a:rPr lang="en-US">
                    <a:noFill/>
                  </a:rPr>
                  <a:t> </a:t>
                </a:r>
              </a:p>
            </p:txBody>
          </p:sp>
        </mc:Fallback>
      </mc:AlternateContent>
      <p:sp>
        <p:nvSpPr>
          <p:cNvPr id="16" name="Shape 14"/>
          <p:cNvSpPr/>
          <p:nvPr/>
        </p:nvSpPr>
        <p:spPr>
          <a:xfrm>
            <a:off x="3243072" y="4516633"/>
            <a:ext cx="438912" cy="316992"/>
          </a:xfrm>
          <a:prstGeom prst="rect">
            <a:avLst/>
          </a:prstGeom>
          <a:solidFill>
            <a:srgbClr val="2563EB"/>
          </a:solidFill>
          <a:ln w="12700">
            <a:solidFill>
              <a:srgbClr val="2563EB"/>
            </a:solidFill>
            <a:prstDash val="solid"/>
          </a:ln>
        </p:spPr>
      </p:sp>
      <p:sp>
        <p:nvSpPr>
          <p:cNvPr id="17" name="Text 15"/>
          <p:cNvSpPr/>
          <p:nvPr/>
        </p:nvSpPr>
        <p:spPr>
          <a:xfrm>
            <a:off x="3243072" y="4516633"/>
            <a:ext cx="438912" cy="316992"/>
          </a:xfrm>
          <a:prstGeom prst="rect">
            <a:avLst/>
          </a:prstGeom>
          <a:noFill/>
          <a:ln/>
        </p:spPr>
        <p:txBody>
          <a:bodyPr wrap="square" lIns="0" tIns="0" rIns="0" bIns="0" rtlCol="0" anchor="ctr"/>
          <a:lstStyle/>
          <a:p>
            <a:pPr algn="ctr"/>
            <a:r>
              <a:rPr lang="en-US" sz="1200" b="1" dirty="0">
                <a:solidFill>
                  <a:srgbClr val="FFFFFF"/>
                </a:solidFill>
                <a:latin typeface="Consolas" pitchFamily="34" charset="0"/>
                <a:ea typeface="Consolas" pitchFamily="34" charset="-122"/>
                <a:cs typeface="Consolas" pitchFamily="34" charset="-120"/>
              </a:rPr>
              <a:t>F</a:t>
            </a:r>
            <a:endParaRPr lang="en-US" sz="1200" dirty="0"/>
          </a:p>
        </p:txBody>
      </p:sp>
      <p:sp>
        <p:nvSpPr>
          <p:cNvPr id="18" name="Text 16"/>
          <p:cNvSpPr/>
          <p:nvPr/>
        </p:nvSpPr>
        <p:spPr>
          <a:xfrm>
            <a:off x="3742944" y="4541017"/>
            <a:ext cx="2194560" cy="268224"/>
          </a:xfrm>
          <a:prstGeom prst="rect">
            <a:avLst/>
          </a:prstGeom>
          <a:noFill/>
          <a:ln/>
        </p:spPr>
        <p:txBody>
          <a:bodyPr wrap="square" lIns="0" tIns="0" rIns="0" bIns="0" rtlCol="0" anchor="ctr"/>
          <a:lstStyle/>
          <a:p>
            <a:r>
              <a:rPr lang="en-US" sz="1133" dirty="0">
                <a:solidFill>
                  <a:srgbClr val="1E293B"/>
                </a:solidFill>
                <a:latin typeface="Calibri" pitchFamily="34" charset="0"/>
                <a:ea typeface="Calibri" pitchFamily="34" charset="-122"/>
                <a:cs typeface="Calibri" pitchFamily="34" charset="-120"/>
              </a:rPr>
              <a:t>Ciphertext expansion factor (F &gt; 1)</a:t>
            </a:r>
            <a:endParaRPr lang="en-US" sz="1133" dirty="0"/>
          </a:p>
        </p:txBody>
      </p:sp>
      <p:sp>
        <p:nvSpPr>
          <p:cNvPr id="19" name="Shape 17"/>
          <p:cNvSpPr/>
          <p:nvPr/>
        </p:nvSpPr>
        <p:spPr>
          <a:xfrm>
            <a:off x="487680" y="4918969"/>
            <a:ext cx="438912" cy="316992"/>
          </a:xfrm>
          <a:prstGeom prst="rect">
            <a:avLst/>
          </a:prstGeom>
          <a:solidFill>
            <a:srgbClr val="2563EB"/>
          </a:solidFill>
          <a:ln w="12700">
            <a:solidFill>
              <a:srgbClr val="2563EB"/>
            </a:solidFill>
            <a:prstDash val="solid"/>
          </a:ln>
        </p:spPr>
      </p:sp>
      <p:sp>
        <p:nvSpPr>
          <p:cNvPr id="20" name="Text 18"/>
          <p:cNvSpPr/>
          <p:nvPr/>
        </p:nvSpPr>
        <p:spPr>
          <a:xfrm>
            <a:off x="487680" y="4918969"/>
            <a:ext cx="438912" cy="316992"/>
          </a:xfrm>
          <a:prstGeom prst="rect">
            <a:avLst/>
          </a:prstGeom>
          <a:noFill/>
          <a:ln/>
        </p:spPr>
        <p:txBody>
          <a:bodyPr wrap="square" lIns="0" tIns="0" rIns="0" bIns="0" rtlCol="0" anchor="ctr"/>
          <a:lstStyle/>
          <a:p>
            <a:pPr algn="ctr"/>
            <a:r>
              <a:rPr lang="en-US" sz="1200" b="1" dirty="0">
                <a:solidFill>
                  <a:srgbClr val="FFFFFF"/>
                </a:solidFill>
                <a:latin typeface="Consolas" pitchFamily="34" charset="0"/>
                <a:ea typeface="Consolas" pitchFamily="34" charset="-122"/>
                <a:cs typeface="Consolas" pitchFamily="34" charset="-120"/>
              </a:rPr>
              <a:t>N</a:t>
            </a:r>
            <a:endParaRPr lang="en-US" sz="1200" dirty="0"/>
          </a:p>
        </p:txBody>
      </p:sp>
      <p:sp>
        <p:nvSpPr>
          <p:cNvPr id="21" name="Text 19"/>
          <p:cNvSpPr/>
          <p:nvPr/>
        </p:nvSpPr>
        <p:spPr>
          <a:xfrm>
            <a:off x="987552" y="4943353"/>
            <a:ext cx="2194560" cy="268224"/>
          </a:xfrm>
          <a:prstGeom prst="rect">
            <a:avLst/>
          </a:prstGeom>
          <a:noFill/>
          <a:ln/>
        </p:spPr>
        <p:txBody>
          <a:bodyPr wrap="square" lIns="0" tIns="0" rIns="0" bIns="0" rtlCol="0" anchor="ctr"/>
          <a:lstStyle/>
          <a:p>
            <a:r>
              <a:rPr lang="en-US" sz="1133" dirty="0">
                <a:solidFill>
                  <a:srgbClr val="1E293B"/>
                </a:solidFill>
                <a:latin typeface="Calibri" pitchFamily="34" charset="0"/>
                <a:ea typeface="Calibri" pitchFamily="34" charset="-122"/>
                <a:cs typeface="Calibri" pitchFamily="34" charset="-120"/>
              </a:rPr>
              <a:t>FHE polynomial degree</a:t>
            </a:r>
            <a:endParaRPr lang="en-US" sz="1133" dirty="0"/>
          </a:p>
        </p:txBody>
      </p:sp>
      <p:sp>
        <p:nvSpPr>
          <p:cNvPr id="22" name="Shape 20"/>
          <p:cNvSpPr/>
          <p:nvPr/>
        </p:nvSpPr>
        <p:spPr>
          <a:xfrm>
            <a:off x="3243072" y="4918969"/>
            <a:ext cx="438912" cy="316992"/>
          </a:xfrm>
          <a:prstGeom prst="rect">
            <a:avLst/>
          </a:prstGeom>
          <a:solidFill>
            <a:srgbClr val="2563EB"/>
          </a:solidFill>
          <a:ln w="12700">
            <a:solidFill>
              <a:srgbClr val="2563EB"/>
            </a:solidFill>
            <a:prstDash val="solid"/>
          </a:ln>
        </p:spPr>
      </p:sp>
      <p:sp>
        <p:nvSpPr>
          <p:cNvPr id="23" name="Text 21"/>
          <p:cNvSpPr/>
          <p:nvPr/>
        </p:nvSpPr>
        <p:spPr>
          <a:xfrm>
            <a:off x="3243072" y="4918969"/>
            <a:ext cx="438912" cy="316992"/>
          </a:xfrm>
          <a:prstGeom prst="rect">
            <a:avLst/>
          </a:prstGeom>
          <a:noFill/>
          <a:ln/>
        </p:spPr>
        <p:txBody>
          <a:bodyPr wrap="square" lIns="0" tIns="0" rIns="0" bIns="0" rtlCol="0" anchor="ctr"/>
          <a:lstStyle/>
          <a:p>
            <a:pPr algn="ctr"/>
            <a:r>
              <a:rPr lang="en-US" sz="1200" b="1" dirty="0">
                <a:solidFill>
                  <a:srgbClr val="FFFFFF"/>
                </a:solidFill>
                <a:latin typeface="Consolas" pitchFamily="34" charset="0"/>
                <a:ea typeface="Consolas" pitchFamily="34" charset="-122"/>
                <a:cs typeface="Consolas" pitchFamily="34" charset="-120"/>
              </a:rPr>
              <a:t>ℓ₀</a:t>
            </a:r>
            <a:endParaRPr lang="en-US" sz="1200" dirty="0"/>
          </a:p>
        </p:txBody>
      </p:sp>
      <p:sp>
        <p:nvSpPr>
          <p:cNvPr id="24" name="Text 22"/>
          <p:cNvSpPr/>
          <p:nvPr/>
        </p:nvSpPr>
        <p:spPr>
          <a:xfrm>
            <a:off x="3742944" y="4943353"/>
            <a:ext cx="2194560" cy="268224"/>
          </a:xfrm>
          <a:prstGeom prst="rect">
            <a:avLst/>
          </a:prstGeom>
          <a:noFill/>
          <a:ln/>
        </p:spPr>
        <p:txBody>
          <a:bodyPr wrap="square" lIns="0" tIns="0" rIns="0" bIns="0" rtlCol="0" anchor="ctr"/>
          <a:lstStyle/>
          <a:p>
            <a:r>
              <a:rPr lang="en-US" sz="1133" dirty="0">
                <a:solidFill>
                  <a:srgbClr val="1E293B"/>
                </a:solidFill>
                <a:latin typeface="Calibri" pitchFamily="34" charset="0"/>
                <a:ea typeface="Calibri" pitchFamily="34" charset="-122"/>
                <a:cs typeface="Calibri" pitchFamily="34" charset="-120"/>
              </a:rPr>
              <a:t>Plaintext bits per ciphertext</a:t>
            </a:r>
            <a:endParaRPr lang="en-US" sz="1133" dirty="0"/>
          </a:p>
        </p:txBody>
      </p:sp>
      <p:sp>
        <p:nvSpPr>
          <p:cNvPr id="25" name="Shape 23"/>
          <p:cNvSpPr/>
          <p:nvPr/>
        </p:nvSpPr>
        <p:spPr>
          <a:xfrm>
            <a:off x="487680" y="5370073"/>
            <a:ext cx="5486400" cy="609600"/>
          </a:xfrm>
          <a:prstGeom prst="rect">
            <a:avLst/>
          </a:prstGeom>
          <a:solidFill>
            <a:srgbClr val="EFF6FF"/>
          </a:solidFill>
          <a:ln w="12700">
            <a:solidFill>
              <a:srgbClr val="BFDBFE"/>
            </a:solidFill>
            <a:prstDash val="solid"/>
          </a:ln>
        </p:spPr>
      </p:sp>
      <p:sp>
        <p:nvSpPr>
          <p:cNvPr id="26" name="Text 24"/>
          <p:cNvSpPr/>
          <p:nvPr/>
        </p:nvSpPr>
        <p:spPr>
          <a:xfrm>
            <a:off x="633984" y="5406649"/>
            <a:ext cx="5218176" cy="536448"/>
          </a:xfrm>
          <a:prstGeom prst="rect">
            <a:avLst/>
          </a:prstGeom>
          <a:noFill/>
          <a:ln/>
        </p:spPr>
        <p:txBody>
          <a:bodyPr wrap="square" rtlCol="0" anchor="ctr"/>
          <a:lstStyle/>
          <a:p>
            <a:r>
              <a:rPr lang="en-US" sz="1133" dirty="0">
                <a:solidFill>
                  <a:srgbClr val="1E293B"/>
                </a:solidFill>
                <a:latin typeface="Calibri" pitchFamily="34" charset="0"/>
                <a:ea typeface="Calibri" pitchFamily="34" charset="-122"/>
                <a:cs typeface="Calibri" pitchFamily="34" charset="-120"/>
              </a:rPr>
              <a:t>Security model: Semi-honest server (IND-CPA). Server follows the protocol but may inspect all public information (ciphertexts, public keys).</a:t>
            </a:r>
            <a:endParaRPr lang="en-US" sz="1133" dirty="0"/>
          </a:p>
        </p:txBody>
      </p:sp>
      <p:sp>
        <p:nvSpPr>
          <p:cNvPr id="27" name="Text 25"/>
          <p:cNvSpPr/>
          <p:nvPr/>
        </p:nvSpPr>
        <p:spPr>
          <a:xfrm>
            <a:off x="6217920" y="1017529"/>
            <a:ext cx="5608320" cy="341376"/>
          </a:xfrm>
          <a:prstGeom prst="rect">
            <a:avLst/>
          </a:prstGeom>
          <a:noFill/>
          <a:ln/>
        </p:spPr>
        <p:txBody>
          <a:bodyPr wrap="square" rtlCol="0" anchor="ctr"/>
          <a:lstStyle/>
          <a:p>
            <a:r>
              <a:rPr lang="en-US" sz="1600" b="1" dirty="0">
                <a:solidFill>
                  <a:srgbClr val="1E293B"/>
                </a:solidFill>
                <a:latin typeface="Calibri" pitchFamily="34" charset="0"/>
                <a:ea typeface="Calibri" pitchFamily="34" charset="-122"/>
                <a:cs typeface="Calibri" pitchFamily="34" charset="-120"/>
              </a:rPr>
              <a:t>Protocol Phases (Online) / </a:t>
            </a:r>
            <a:r>
              <a:rPr lang="zh-CN" altLang="en-US" sz="1600" b="1" dirty="0">
                <a:solidFill>
                  <a:srgbClr val="1E293B"/>
                </a:solidFill>
                <a:latin typeface="Calibri" pitchFamily="34" charset="0"/>
                <a:ea typeface="Calibri" pitchFamily="34" charset="-122"/>
                <a:cs typeface="Calibri" pitchFamily="34" charset="-120"/>
              </a:rPr>
              <a:t>协议阶段（在线）</a:t>
            </a:r>
            <a:endParaRPr lang="en-US" sz="1600" dirty="0"/>
          </a:p>
        </p:txBody>
      </p:sp>
      <p:sp>
        <p:nvSpPr>
          <p:cNvPr id="28" name="Shape 26"/>
          <p:cNvSpPr/>
          <p:nvPr/>
        </p:nvSpPr>
        <p:spPr>
          <a:xfrm>
            <a:off x="6217920" y="1383289"/>
            <a:ext cx="5608320" cy="92659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29" name="Shape 27"/>
          <p:cNvSpPr/>
          <p:nvPr/>
        </p:nvSpPr>
        <p:spPr>
          <a:xfrm>
            <a:off x="6217920" y="1383289"/>
            <a:ext cx="438912" cy="926592"/>
          </a:xfrm>
          <a:prstGeom prst="rect">
            <a:avLst/>
          </a:prstGeom>
          <a:solidFill>
            <a:srgbClr val="1E293B"/>
          </a:solidFill>
          <a:ln w="12700">
            <a:solidFill>
              <a:srgbClr val="1E293B"/>
            </a:solidFill>
            <a:prstDash val="solid"/>
          </a:ln>
        </p:spPr>
      </p:sp>
      <p:sp>
        <p:nvSpPr>
          <p:cNvPr id="30" name="Text 28"/>
          <p:cNvSpPr/>
          <p:nvPr/>
        </p:nvSpPr>
        <p:spPr>
          <a:xfrm>
            <a:off x="6217920" y="1675897"/>
            <a:ext cx="438912" cy="34137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1</a:t>
            </a:r>
            <a:endParaRPr lang="en-US" sz="1733" dirty="0"/>
          </a:p>
        </p:txBody>
      </p:sp>
      <p:sp>
        <p:nvSpPr>
          <p:cNvPr id="31" name="Text 29"/>
          <p:cNvSpPr/>
          <p:nvPr/>
        </p:nvSpPr>
        <p:spPr>
          <a:xfrm>
            <a:off x="6742176" y="1468633"/>
            <a:ext cx="4998720" cy="268224"/>
          </a:xfrm>
          <a:prstGeom prst="rect">
            <a:avLst/>
          </a:prstGeom>
          <a:noFill/>
          <a:ln/>
        </p:spPr>
        <p:txBody>
          <a:bodyPr wrap="square" lIns="0" tIns="0" rIns="0" bIns="0" rtlCol="0" anchor="ctr"/>
          <a:lstStyle/>
          <a:p>
            <a:r>
              <a:rPr lang="en-US" sz="1333" b="1" dirty="0">
                <a:solidFill>
                  <a:srgbClr val="1E293B"/>
                </a:solidFill>
                <a:latin typeface="Calibri" pitchFamily="34" charset="0"/>
                <a:ea typeface="Calibri" pitchFamily="34" charset="-122"/>
                <a:cs typeface="Calibri" pitchFamily="34" charset="-120"/>
              </a:rPr>
              <a:t>Setup  ·  Server</a:t>
            </a:r>
            <a:endParaRPr lang="en-US" sz="1333" dirty="0"/>
          </a:p>
        </p:txBody>
      </p:sp>
      <mc:AlternateContent xmlns:mc="http://schemas.openxmlformats.org/markup-compatibility/2006" xmlns:a14="http://schemas.microsoft.com/office/drawing/2010/main">
        <mc:Choice Requires="a14">
          <p:sp>
            <p:nvSpPr>
              <p:cNvPr id="32" name="Text 30"/>
              <p:cNvSpPr/>
              <p:nvPr/>
            </p:nvSpPr>
            <p:spPr>
              <a:xfrm>
                <a:off x="6742176" y="1749049"/>
                <a:ext cx="4998720" cy="487680"/>
              </a:xfrm>
              <a:prstGeom prst="rect">
                <a:avLst/>
              </a:prstGeom>
              <a:noFill/>
              <a:ln/>
            </p:spPr>
            <p:txBody>
              <a:bodyPr wrap="square" lIns="0" tIns="0" rIns="0" bIns="0" rtlCol="0" anchor="t"/>
              <a:lstStyle/>
              <a:p>
                <a:r>
                  <a:rPr lang="en-US" sz="1133" dirty="0">
                    <a:solidFill>
                      <a:srgbClr val="64748B"/>
                    </a:solidFill>
                    <a:latin typeface="Calibri" pitchFamily="34" charset="0"/>
                    <a:ea typeface="Calibri" pitchFamily="34" charset="-122"/>
                    <a:cs typeface="Calibri" pitchFamily="34" charset="-120"/>
                  </a:rPr>
                  <a:t>Determine d dimensions. Reshape DB into (D₁×···×</a:t>
                </a:r>
                <a14:m>
                  <m:oMath xmlns:m="http://schemas.openxmlformats.org/officeDocument/2006/math">
                    <m:sSub>
                      <m:sSubPr>
                        <m:ctrlPr>
                          <a:rPr lang="en-US" sz="1133" i="1" smtClean="0">
                            <a:solidFill>
                              <a:srgbClr val="64748B"/>
                            </a:solidFill>
                            <a:latin typeface="Cambria Math" panose="02040503050406030204" pitchFamily="18" charset="0"/>
                            <a:cs typeface="Calibri" pitchFamily="34" charset="-120"/>
                          </a:rPr>
                        </m:ctrlPr>
                      </m:sSubPr>
                      <m:e>
                        <m:r>
                          <m:rPr>
                            <m:nor/>
                          </m:rPr>
                          <a:rPr lang="en-US" sz="1133" dirty="0">
                            <a:solidFill>
                              <a:srgbClr val="64748B"/>
                            </a:solidFill>
                            <a:latin typeface="Calibri" pitchFamily="34" charset="0"/>
                            <a:ea typeface="Calibri" pitchFamily="34" charset="-122"/>
                            <a:cs typeface="Calibri" pitchFamily="34" charset="-120"/>
                          </a:rPr>
                          <m:t>D</m:t>
                        </m:r>
                      </m:e>
                      <m:sub>
                        <m:r>
                          <m:rPr>
                            <m:nor/>
                          </m:rPr>
                          <a:rPr lang="en-US" sz="1133" dirty="0">
                            <a:solidFill>
                              <a:srgbClr val="64748B"/>
                            </a:solidFill>
                            <a:latin typeface="Calibri" pitchFamily="34" charset="0"/>
                            <a:ea typeface="Calibri" pitchFamily="34" charset="-122"/>
                            <a:cs typeface="Calibri" pitchFamily="34" charset="-120"/>
                          </a:rPr>
                          <m:t>d</m:t>
                        </m:r>
                      </m:sub>
                    </m:sSub>
                  </m:oMath>
                </a14:m>
                <a:r>
                  <a:rPr lang="en-US" sz="1133" dirty="0">
                    <a:solidFill>
                      <a:srgbClr val="64748B"/>
                    </a:solidFill>
                    <a:latin typeface="Calibri" pitchFamily="34" charset="0"/>
                    <a:ea typeface="Calibri" pitchFamily="34" charset="-122"/>
                    <a:cs typeface="Calibri" pitchFamily="34" charset="-120"/>
                  </a:rPr>
                  <a:t>) hypercube. </a:t>
                </a:r>
              </a:p>
              <a:p>
                <a:r>
                  <a:rPr lang="en-US" sz="1133" dirty="0">
                    <a:solidFill>
                      <a:srgbClr val="64748B"/>
                    </a:solidFill>
                    <a:latin typeface="Calibri" pitchFamily="34" charset="0"/>
                    <a:ea typeface="Calibri" pitchFamily="34" charset="-122"/>
                    <a:cs typeface="Calibri" pitchFamily="34" charset="-120"/>
                  </a:rPr>
                  <a:t>Publish d and each </a:t>
                </a:r>
                <a14:m>
                  <m:oMath xmlns:m="http://schemas.openxmlformats.org/officeDocument/2006/math">
                    <m:sSub>
                      <m:sSubPr>
                        <m:ctrlPr>
                          <a:rPr lang="en-US" sz="1133" i="1">
                            <a:solidFill>
                              <a:srgbClr val="64748B"/>
                            </a:solidFill>
                            <a:latin typeface="Cambria Math" panose="02040503050406030204" pitchFamily="18" charset="0"/>
                            <a:cs typeface="Calibri" pitchFamily="34" charset="-120"/>
                          </a:rPr>
                        </m:ctrlPr>
                      </m:sSubPr>
                      <m:e>
                        <m:r>
                          <m:rPr>
                            <m:nor/>
                          </m:rPr>
                          <a:rPr lang="en-US" sz="1133" dirty="0">
                            <a:solidFill>
                              <a:srgbClr val="64748B"/>
                            </a:solidFill>
                            <a:latin typeface="Calibri" pitchFamily="34" charset="0"/>
                            <a:ea typeface="Calibri" pitchFamily="34" charset="-122"/>
                            <a:cs typeface="Calibri" pitchFamily="34" charset="-120"/>
                          </a:rPr>
                          <m:t>D</m:t>
                        </m:r>
                      </m:e>
                      <m:sub>
                        <m:r>
                          <m:rPr>
                            <m:nor/>
                          </m:rPr>
                          <a:rPr lang="en-US" sz="1133" dirty="0">
                            <a:solidFill>
                              <a:srgbClr val="64748B"/>
                            </a:solidFill>
                            <a:latin typeface="Calibri" pitchFamily="34" charset="0"/>
                            <a:ea typeface="Calibri" pitchFamily="34" charset="-122"/>
                            <a:cs typeface="Calibri" pitchFamily="34" charset="-120"/>
                          </a:rPr>
                          <m:t>j</m:t>
                        </m:r>
                      </m:sub>
                    </m:sSub>
                  </m:oMath>
                </a14:m>
                <a:r>
                  <a:rPr lang="en-US" sz="1133" dirty="0">
                    <a:solidFill>
                      <a:srgbClr val="64748B"/>
                    </a:solidFill>
                    <a:latin typeface="Calibri" pitchFamily="34" charset="0"/>
                    <a:ea typeface="Calibri" pitchFamily="34" charset="-122"/>
                    <a:cs typeface="Calibri" pitchFamily="34" charset="-120"/>
                  </a:rPr>
                  <a:t>.</a:t>
                </a:r>
                <a:endParaRPr lang="en-US" sz="1133" dirty="0"/>
              </a:p>
            </p:txBody>
          </p:sp>
        </mc:Choice>
        <mc:Fallback xmlns="">
          <p:sp>
            <p:nvSpPr>
              <p:cNvPr id="32" name="Text 30"/>
              <p:cNvSpPr>
                <a:spLocks noRot="1" noChangeAspect="1" noMove="1" noResize="1" noEditPoints="1" noAdjustHandles="1" noChangeArrowheads="1" noChangeShapeType="1" noTextEdit="1"/>
              </p:cNvSpPr>
              <p:nvPr/>
            </p:nvSpPr>
            <p:spPr>
              <a:xfrm>
                <a:off x="6742176" y="1749049"/>
                <a:ext cx="4998720" cy="487680"/>
              </a:xfrm>
              <a:prstGeom prst="rect">
                <a:avLst/>
              </a:prstGeom>
              <a:blipFill>
                <a:blip r:embed="rId6"/>
                <a:stretch>
                  <a:fillRect l="-1829" t="-11250"/>
                </a:stretch>
              </a:blipFill>
              <a:ln/>
            </p:spPr>
            <p:txBody>
              <a:bodyPr/>
              <a:lstStyle/>
              <a:p>
                <a:r>
                  <a:rPr lang="en-US">
                    <a:noFill/>
                  </a:rPr>
                  <a:t> </a:t>
                </a:r>
              </a:p>
            </p:txBody>
          </p:sp>
        </mc:Fallback>
      </mc:AlternateContent>
      <p:sp>
        <p:nvSpPr>
          <p:cNvPr id="33" name="Shape 31"/>
          <p:cNvSpPr/>
          <p:nvPr/>
        </p:nvSpPr>
        <p:spPr>
          <a:xfrm>
            <a:off x="6217920" y="2407417"/>
            <a:ext cx="5608320" cy="92659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34" name="Shape 32"/>
          <p:cNvSpPr/>
          <p:nvPr/>
        </p:nvSpPr>
        <p:spPr>
          <a:xfrm>
            <a:off x="6217920" y="2407417"/>
            <a:ext cx="438912" cy="926592"/>
          </a:xfrm>
          <a:prstGeom prst="rect">
            <a:avLst/>
          </a:prstGeom>
          <a:solidFill>
            <a:srgbClr val="1E293B"/>
          </a:solidFill>
          <a:ln w="12700">
            <a:solidFill>
              <a:srgbClr val="1E293B"/>
            </a:solidFill>
            <a:prstDash val="solid"/>
          </a:ln>
        </p:spPr>
      </p:sp>
      <p:sp>
        <p:nvSpPr>
          <p:cNvPr id="35" name="Text 33"/>
          <p:cNvSpPr/>
          <p:nvPr/>
        </p:nvSpPr>
        <p:spPr>
          <a:xfrm>
            <a:off x="6217920" y="2700025"/>
            <a:ext cx="438912" cy="34137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2</a:t>
            </a:r>
            <a:endParaRPr lang="en-US" sz="1733" dirty="0"/>
          </a:p>
        </p:txBody>
      </p:sp>
      <p:sp>
        <p:nvSpPr>
          <p:cNvPr id="36" name="Text 34"/>
          <p:cNvSpPr/>
          <p:nvPr/>
        </p:nvSpPr>
        <p:spPr>
          <a:xfrm>
            <a:off x="6742176" y="2492761"/>
            <a:ext cx="4998720" cy="268224"/>
          </a:xfrm>
          <a:prstGeom prst="rect">
            <a:avLst/>
          </a:prstGeom>
          <a:noFill/>
          <a:ln/>
        </p:spPr>
        <p:txBody>
          <a:bodyPr wrap="square" lIns="0" tIns="0" rIns="0" bIns="0" rtlCol="0" anchor="ctr"/>
          <a:lstStyle/>
          <a:p>
            <a:r>
              <a:rPr lang="en-US" sz="1333" b="1" dirty="0">
                <a:solidFill>
                  <a:srgbClr val="1E293B"/>
                </a:solidFill>
                <a:latin typeface="Calibri" pitchFamily="34" charset="0"/>
                <a:ea typeface="Calibri" pitchFamily="34" charset="-122"/>
                <a:cs typeface="Calibri" pitchFamily="34" charset="-120"/>
              </a:rPr>
              <a:t>Query Generation  ·  Client</a:t>
            </a:r>
            <a:endParaRPr lang="en-US" sz="1333" dirty="0"/>
          </a:p>
        </p:txBody>
      </p:sp>
      <mc:AlternateContent xmlns:mc="http://schemas.openxmlformats.org/markup-compatibility/2006" xmlns:a14="http://schemas.microsoft.com/office/drawing/2010/main">
        <mc:Choice Requires="a14">
          <p:sp>
            <p:nvSpPr>
              <p:cNvPr id="37" name="Text 35"/>
              <p:cNvSpPr/>
              <p:nvPr/>
            </p:nvSpPr>
            <p:spPr>
              <a:xfrm>
                <a:off x="6742176" y="2773177"/>
                <a:ext cx="4998720" cy="487680"/>
              </a:xfrm>
              <a:prstGeom prst="rect">
                <a:avLst/>
              </a:prstGeom>
              <a:noFill/>
              <a:ln/>
            </p:spPr>
            <p:txBody>
              <a:bodyPr wrap="square" lIns="0" tIns="0" rIns="0" bIns="0" rtlCol="0" anchor="t"/>
              <a:lstStyle/>
              <a:p>
                <a:r>
                  <a:rPr lang="en-US" sz="1133" dirty="0">
                    <a:solidFill>
                      <a:srgbClr val="64748B"/>
                    </a:solidFill>
                    <a:latin typeface="Calibri" pitchFamily="34" charset="0"/>
                    <a:ea typeface="Calibri" pitchFamily="34" charset="-122"/>
                    <a:cs typeface="Calibri" pitchFamily="34" charset="-120"/>
                  </a:rPr>
                  <a:t>Encode index i as tuple (i₁,…,</a:t>
                </a:r>
                <a:r>
                  <a:rPr lang="en-US" sz="1133" dirty="0">
                    <a:solidFill>
                      <a:srgbClr val="64748B"/>
                    </a:solidFill>
                    <a:cs typeface="Calibri" pitchFamily="34" charset="-120"/>
                  </a:rPr>
                  <a:t> </a:t>
                </a:r>
                <a14:m>
                  <m:oMath xmlns:m="http://schemas.openxmlformats.org/officeDocument/2006/math">
                    <m:sSub>
                      <m:sSubPr>
                        <m:ctrlPr>
                          <a:rPr lang="en-US" sz="1133" i="1" smtClean="0">
                            <a:solidFill>
                              <a:srgbClr val="64748B"/>
                            </a:solidFill>
                            <a:latin typeface="Cambria Math" panose="02040503050406030204" pitchFamily="18" charset="0"/>
                            <a:cs typeface="Calibri" pitchFamily="34" charset="-120"/>
                          </a:rPr>
                        </m:ctrlPr>
                      </m:sSubPr>
                      <m:e>
                        <m:r>
                          <m:rPr>
                            <m:nor/>
                          </m:rPr>
                          <a:rPr lang="en-US" sz="1133" dirty="0">
                            <a:solidFill>
                              <a:srgbClr val="64748B"/>
                            </a:solidFill>
                            <a:latin typeface="Calibri" pitchFamily="34" charset="0"/>
                            <a:ea typeface="Calibri" pitchFamily="34" charset="-122"/>
                            <a:cs typeface="Calibri" pitchFamily="34" charset="-120"/>
                          </a:rPr>
                          <m:t>i</m:t>
                        </m:r>
                      </m:e>
                      <m:sub>
                        <m:r>
                          <m:rPr>
                            <m:nor/>
                          </m:rPr>
                          <a:rPr lang="en-US" sz="1133" dirty="0">
                            <a:solidFill>
                              <a:srgbClr val="64748B"/>
                            </a:solidFill>
                            <a:latin typeface="Calibri" pitchFamily="34" charset="0"/>
                            <a:ea typeface="Calibri" pitchFamily="34" charset="-122"/>
                            <a:cs typeface="Calibri" pitchFamily="34" charset="-120"/>
                          </a:rPr>
                          <m:t>d</m:t>
                        </m:r>
                      </m:sub>
                    </m:sSub>
                  </m:oMath>
                </a14:m>
                <a:r>
                  <a:rPr lang="en-US" sz="1133" dirty="0">
                    <a:solidFill>
                      <a:srgbClr val="64748B"/>
                    </a:solidFill>
                    <a:latin typeface="Calibri" pitchFamily="34" charset="0"/>
                    <a:ea typeface="Calibri" pitchFamily="34" charset="-122"/>
                    <a:cs typeface="Calibri" pitchFamily="34" charset="-120"/>
                  </a:rPr>
                  <a:t>). Build unit vector </a:t>
                </a:r>
                <a14:m>
                  <m:oMath xmlns:m="http://schemas.openxmlformats.org/officeDocument/2006/math">
                    <m:sSub>
                      <m:sSubPr>
                        <m:ctrlPr>
                          <a:rPr lang="en-US" sz="1133" i="1">
                            <a:solidFill>
                              <a:srgbClr val="64748B"/>
                            </a:solidFill>
                            <a:latin typeface="Cambria Math" panose="02040503050406030204" pitchFamily="18" charset="0"/>
                            <a:cs typeface="Calibri" pitchFamily="34" charset="-120"/>
                          </a:rPr>
                        </m:ctrlPr>
                      </m:sSubPr>
                      <m:e>
                        <m:r>
                          <m:rPr>
                            <m:nor/>
                          </m:rPr>
                          <a:rPr lang="en-US" sz="1133" dirty="0">
                            <a:solidFill>
                              <a:srgbClr val="64748B"/>
                            </a:solidFill>
                            <a:latin typeface="Calibri" pitchFamily="34" charset="0"/>
                            <a:ea typeface="Calibri" pitchFamily="34" charset="-122"/>
                            <a:cs typeface="Calibri" pitchFamily="34" charset="-120"/>
                          </a:rPr>
                          <m:t>I</m:t>
                        </m:r>
                      </m:e>
                      <m:sub>
                        <m:r>
                          <m:rPr>
                            <m:nor/>
                          </m:rPr>
                          <a:rPr lang="en-US" sz="1133" dirty="0">
                            <a:solidFill>
                              <a:srgbClr val="64748B"/>
                            </a:solidFill>
                            <a:latin typeface="Calibri" pitchFamily="34" charset="0"/>
                            <a:ea typeface="Calibri" pitchFamily="34" charset="-122"/>
                            <a:cs typeface="Calibri" pitchFamily="34" charset="-120"/>
                          </a:rPr>
                          <m:t>j</m:t>
                        </m:r>
                      </m:sub>
                    </m:sSub>
                    <m:r>
                      <a:rPr lang="en-US" sz="1133" i="1" dirty="0">
                        <a:solidFill>
                          <a:srgbClr val="64748B"/>
                        </a:solidFill>
                        <a:latin typeface="Cambria Math" panose="02040503050406030204" pitchFamily="18" charset="0"/>
                        <a:ea typeface="Calibri" pitchFamily="34" charset="-122"/>
                        <a:cs typeface="Calibri" pitchFamily="34" charset="-120"/>
                      </a:rPr>
                      <m:t> </m:t>
                    </m:r>
                  </m:oMath>
                </a14:m>
                <a:r>
                  <a:rPr lang="en-US" sz="1133" dirty="0">
                    <a:solidFill>
                      <a:srgbClr val="64748B"/>
                    </a:solidFill>
                    <a:latin typeface="Calibri" pitchFamily="34" charset="0"/>
                    <a:ea typeface="Calibri" pitchFamily="34" charset="-122"/>
                    <a:cs typeface="Calibri" pitchFamily="34" charset="-120"/>
                  </a:rPr>
                  <a:t>∈ </a:t>
                </a:r>
                <a14:m>
                  <m:oMath xmlns:m="http://schemas.openxmlformats.org/officeDocument/2006/math">
                    <m:sSup>
                      <m:sSupPr>
                        <m:ctrlPr>
                          <a:rPr lang="en-US" sz="1133" i="1" smtClean="0">
                            <a:solidFill>
                              <a:srgbClr val="64748B"/>
                            </a:solidFill>
                            <a:latin typeface="Cambria Math" panose="02040503050406030204" pitchFamily="18" charset="0"/>
                            <a:cs typeface="Calibri" pitchFamily="34" charset="-120"/>
                          </a:rPr>
                        </m:ctrlPr>
                      </m:sSupPr>
                      <m:e>
                        <m:r>
                          <m:rPr>
                            <m:nor/>
                          </m:rPr>
                          <a:rPr lang="en-US" sz="1133" dirty="0">
                            <a:solidFill>
                              <a:srgbClr val="64748B"/>
                            </a:solidFill>
                            <a:latin typeface="Calibri" pitchFamily="34" charset="0"/>
                            <a:ea typeface="Calibri" pitchFamily="34" charset="-122"/>
                            <a:cs typeface="Calibri" pitchFamily="34" charset="-120"/>
                          </a:rPr>
                          <m:t>{0,1}</m:t>
                        </m:r>
                      </m:e>
                      <m:sup>
                        <m:sSub>
                          <m:sSubPr>
                            <m:ctrlPr>
                              <a:rPr lang="en-US" sz="1133" i="1" smtClean="0">
                                <a:solidFill>
                                  <a:srgbClr val="64748B"/>
                                </a:solidFill>
                                <a:latin typeface="Cambria Math" panose="02040503050406030204" pitchFamily="18" charset="0"/>
                                <a:cs typeface="Calibri" pitchFamily="34" charset="-120"/>
                              </a:rPr>
                            </m:ctrlPr>
                          </m:sSubPr>
                          <m:e>
                            <m:r>
                              <m:rPr>
                                <m:nor/>
                              </m:rPr>
                              <a:rPr lang="en-US" sz="1133" dirty="0">
                                <a:solidFill>
                                  <a:srgbClr val="64748B"/>
                                </a:solidFill>
                                <a:latin typeface="Calibri" pitchFamily="34" charset="0"/>
                                <a:ea typeface="Calibri" pitchFamily="34" charset="-122"/>
                                <a:cs typeface="Calibri" pitchFamily="34" charset="-120"/>
                              </a:rPr>
                              <m:t>D</m:t>
                            </m:r>
                          </m:e>
                          <m:sub>
                            <m:r>
                              <m:rPr>
                                <m:nor/>
                              </m:rPr>
                              <a:rPr lang="en-US" sz="1133" dirty="0">
                                <a:solidFill>
                                  <a:srgbClr val="64748B"/>
                                </a:solidFill>
                                <a:latin typeface="Calibri" pitchFamily="34" charset="0"/>
                                <a:ea typeface="Calibri" pitchFamily="34" charset="-122"/>
                                <a:cs typeface="Calibri" pitchFamily="34" charset="-120"/>
                              </a:rPr>
                              <m:t>j</m:t>
                            </m:r>
                          </m:sub>
                        </m:sSub>
                      </m:sup>
                    </m:sSup>
                  </m:oMath>
                </a14:m>
                <a:r>
                  <a:rPr lang="en-US" sz="1133" dirty="0">
                    <a:solidFill>
                      <a:srgbClr val="64748B"/>
                    </a:solidFill>
                    <a:latin typeface="Calibri" pitchFamily="34" charset="0"/>
                    <a:ea typeface="Calibri" pitchFamily="34" charset="-122"/>
                    <a:cs typeface="Calibri" pitchFamily="34" charset="-120"/>
                  </a:rPr>
                  <a:t> per dimension. </a:t>
                </a:r>
              </a:p>
              <a:p>
                <a:r>
                  <a:rPr lang="en-US" sz="1133" dirty="0">
                    <a:solidFill>
                      <a:srgbClr val="64748B"/>
                    </a:solidFill>
                    <a:latin typeface="Calibri" pitchFamily="34" charset="0"/>
                    <a:ea typeface="Calibri" pitchFamily="34" charset="-122"/>
                    <a:cs typeface="Calibri" pitchFamily="34" charset="-120"/>
                  </a:rPr>
                  <a:t>Encrypt → </a:t>
                </a:r>
                <a14:m>
                  <m:oMath xmlns:m="http://schemas.openxmlformats.org/officeDocument/2006/math">
                    <m:sSub>
                      <m:sSubPr>
                        <m:ctrlPr>
                          <a:rPr lang="en-US" sz="1133" i="1">
                            <a:solidFill>
                              <a:srgbClr val="64748B"/>
                            </a:solidFill>
                            <a:latin typeface="Cambria Math" panose="02040503050406030204" pitchFamily="18" charset="0"/>
                            <a:cs typeface="Calibri" pitchFamily="34" charset="-120"/>
                          </a:rPr>
                        </m:ctrlPr>
                      </m:sSubPr>
                      <m:e>
                        <m:r>
                          <m:rPr>
                            <m:nor/>
                          </m:rPr>
                          <a:rPr lang="en-US" sz="1133" dirty="0">
                            <a:solidFill>
                              <a:srgbClr val="64748B"/>
                            </a:solidFill>
                            <a:latin typeface="Calibri" pitchFamily="34" charset="0"/>
                            <a:ea typeface="Calibri" pitchFamily="34" charset="-122"/>
                            <a:cs typeface="Calibri" pitchFamily="34" charset="-120"/>
                          </a:rPr>
                          <m:t>q</m:t>
                        </m:r>
                      </m:e>
                      <m:sub>
                        <m:r>
                          <m:rPr>
                            <m:nor/>
                          </m:rPr>
                          <a:rPr lang="en-US" sz="1133" dirty="0">
                            <a:solidFill>
                              <a:srgbClr val="64748B"/>
                            </a:solidFill>
                            <a:latin typeface="Calibri" pitchFamily="34" charset="0"/>
                            <a:ea typeface="Calibri" pitchFamily="34" charset="-122"/>
                            <a:cs typeface="Calibri" pitchFamily="34" charset="-120"/>
                          </a:rPr>
                          <m:t>j</m:t>
                        </m:r>
                      </m:sub>
                    </m:sSub>
                  </m:oMath>
                </a14:m>
                <a:r>
                  <a:rPr lang="en-US" sz="1133" dirty="0">
                    <a:solidFill>
                      <a:srgbClr val="64748B"/>
                    </a:solidFill>
                    <a:latin typeface="Calibri" pitchFamily="34" charset="0"/>
                    <a:ea typeface="Calibri" pitchFamily="34" charset="-122"/>
                    <a:cs typeface="Calibri" pitchFamily="34" charset="-120"/>
                  </a:rPr>
                  <a:t>. Send q=(q₁,…,</a:t>
                </a:r>
                <a:r>
                  <a:rPr lang="en-US" sz="1133" dirty="0">
                    <a:solidFill>
                      <a:srgbClr val="64748B"/>
                    </a:solidFill>
                    <a:cs typeface="Calibri" pitchFamily="34" charset="-120"/>
                  </a:rPr>
                  <a:t> </a:t>
                </a:r>
                <a14:m>
                  <m:oMath xmlns:m="http://schemas.openxmlformats.org/officeDocument/2006/math">
                    <m:sSub>
                      <m:sSubPr>
                        <m:ctrlPr>
                          <a:rPr lang="en-US" sz="1133" i="1" smtClean="0">
                            <a:solidFill>
                              <a:srgbClr val="64748B"/>
                            </a:solidFill>
                            <a:latin typeface="Cambria Math" panose="02040503050406030204" pitchFamily="18" charset="0"/>
                            <a:cs typeface="Calibri" pitchFamily="34" charset="-120"/>
                          </a:rPr>
                        </m:ctrlPr>
                      </m:sSubPr>
                      <m:e>
                        <m:r>
                          <m:rPr>
                            <m:nor/>
                          </m:rPr>
                          <a:rPr lang="en-US" sz="1133" dirty="0">
                            <a:solidFill>
                              <a:srgbClr val="64748B"/>
                            </a:solidFill>
                            <a:latin typeface="Calibri" pitchFamily="34" charset="0"/>
                            <a:ea typeface="Calibri" pitchFamily="34" charset="-122"/>
                            <a:cs typeface="Calibri" pitchFamily="34" charset="-120"/>
                          </a:rPr>
                          <m:t>q</m:t>
                        </m:r>
                      </m:e>
                      <m:sub>
                        <m:r>
                          <m:rPr>
                            <m:nor/>
                          </m:rPr>
                          <a:rPr lang="en-US" sz="1133" dirty="0">
                            <a:solidFill>
                              <a:srgbClr val="64748B"/>
                            </a:solidFill>
                            <a:latin typeface="Calibri" pitchFamily="34" charset="0"/>
                            <a:ea typeface="Calibri" pitchFamily="34" charset="-122"/>
                            <a:cs typeface="Calibri" pitchFamily="34" charset="-120"/>
                          </a:rPr>
                          <m:t>d</m:t>
                        </m:r>
                      </m:sub>
                    </m:sSub>
                  </m:oMath>
                </a14:m>
                <a:r>
                  <a:rPr lang="en-US" sz="1133" dirty="0">
                    <a:solidFill>
                      <a:srgbClr val="64748B"/>
                    </a:solidFill>
                    <a:latin typeface="Calibri" pitchFamily="34" charset="0"/>
                    <a:ea typeface="Calibri" pitchFamily="34" charset="-122"/>
                    <a:cs typeface="Calibri" pitchFamily="34" charset="-120"/>
                  </a:rPr>
                  <a:t>).</a:t>
                </a:r>
                <a:endParaRPr lang="en-US" sz="1133" dirty="0"/>
              </a:p>
            </p:txBody>
          </p:sp>
        </mc:Choice>
        <mc:Fallback xmlns="">
          <p:sp>
            <p:nvSpPr>
              <p:cNvPr id="37" name="Text 35"/>
              <p:cNvSpPr>
                <a:spLocks noRot="1" noChangeAspect="1" noMove="1" noResize="1" noEditPoints="1" noAdjustHandles="1" noChangeArrowheads="1" noChangeShapeType="1" noTextEdit="1"/>
              </p:cNvSpPr>
              <p:nvPr/>
            </p:nvSpPr>
            <p:spPr>
              <a:xfrm>
                <a:off x="6742176" y="2773177"/>
                <a:ext cx="4998720" cy="487680"/>
              </a:xfrm>
              <a:prstGeom prst="rect">
                <a:avLst/>
              </a:prstGeom>
              <a:blipFill>
                <a:blip r:embed="rId7"/>
                <a:stretch>
                  <a:fillRect l="-1829" t="-6250" b="-3750"/>
                </a:stretch>
              </a:blipFill>
              <a:ln/>
            </p:spPr>
            <p:txBody>
              <a:bodyPr/>
              <a:lstStyle/>
              <a:p>
                <a:r>
                  <a:rPr lang="en-US">
                    <a:noFill/>
                  </a:rPr>
                  <a:t> </a:t>
                </a:r>
              </a:p>
            </p:txBody>
          </p:sp>
        </mc:Fallback>
      </mc:AlternateContent>
      <p:sp>
        <p:nvSpPr>
          <p:cNvPr id="38" name="Shape 36"/>
          <p:cNvSpPr/>
          <p:nvPr/>
        </p:nvSpPr>
        <p:spPr>
          <a:xfrm>
            <a:off x="6217920" y="3431545"/>
            <a:ext cx="5608320" cy="92659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39" name="Shape 37"/>
          <p:cNvSpPr/>
          <p:nvPr/>
        </p:nvSpPr>
        <p:spPr>
          <a:xfrm>
            <a:off x="6217920" y="3431545"/>
            <a:ext cx="438912" cy="926592"/>
          </a:xfrm>
          <a:prstGeom prst="rect">
            <a:avLst/>
          </a:prstGeom>
          <a:solidFill>
            <a:srgbClr val="1E293B"/>
          </a:solidFill>
          <a:ln w="12700">
            <a:solidFill>
              <a:srgbClr val="1E293B"/>
            </a:solidFill>
            <a:prstDash val="solid"/>
          </a:ln>
        </p:spPr>
      </p:sp>
      <p:sp>
        <p:nvSpPr>
          <p:cNvPr id="40" name="Text 38"/>
          <p:cNvSpPr/>
          <p:nvPr/>
        </p:nvSpPr>
        <p:spPr>
          <a:xfrm>
            <a:off x="6217920" y="3724153"/>
            <a:ext cx="438912" cy="34137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3</a:t>
            </a:r>
            <a:endParaRPr lang="en-US" sz="1733" dirty="0"/>
          </a:p>
        </p:txBody>
      </p:sp>
      <p:sp>
        <p:nvSpPr>
          <p:cNvPr id="41" name="Text 39"/>
          <p:cNvSpPr/>
          <p:nvPr/>
        </p:nvSpPr>
        <p:spPr>
          <a:xfrm>
            <a:off x="6742176" y="3516889"/>
            <a:ext cx="4998720" cy="268224"/>
          </a:xfrm>
          <a:prstGeom prst="rect">
            <a:avLst/>
          </a:prstGeom>
          <a:noFill/>
          <a:ln/>
        </p:spPr>
        <p:txBody>
          <a:bodyPr wrap="square" lIns="0" tIns="0" rIns="0" bIns="0" rtlCol="0" anchor="ctr"/>
          <a:lstStyle/>
          <a:p>
            <a:r>
              <a:rPr lang="en-US" sz="1333" b="1" dirty="0">
                <a:solidFill>
                  <a:srgbClr val="1E293B"/>
                </a:solidFill>
                <a:latin typeface="Calibri" pitchFamily="34" charset="0"/>
                <a:ea typeface="Calibri" pitchFamily="34" charset="-122"/>
                <a:cs typeface="Calibri" pitchFamily="34" charset="-120"/>
              </a:rPr>
              <a:t>Server Computation  ·  Server</a:t>
            </a:r>
            <a:endParaRPr lang="en-US" sz="1333" dirty="0"/>
          </a:p>
        </p:txBody>
      </p:sp>
      <mc:AlternateContent xmlns:mc="http://schemas.openxmlformats.org/markup-compatibility/2006" xmlns:a14="http://schemas.microsoft.com/office/drawing/2010/main">
        <mc:Choice Requires="a14">
          <p:sp>
            <p:nvSpPr>
              <p:cNvPr id="42" name="Text 40"/>
              <p:cNvSpPr/>
              <p:nvPr/>
            </p:nvSpPr>
            <p:spPr>
              <a:xfrm>
                <a:off x="6742176" y="3797305"/>
                <a:ext cx="4998720" cy="487680"/>
              </a:xfrm>
              <a:prstGeom prst="rect">
                <a:avLst/>
              </a:prstGeom>
              <a:noFill/>
              <a:ln/>
            </p:spPr>
            <p:txBody>
              <a:bodyPr wrap="square" lIns="0" tIns="0" rIns="0" bIns="0" rtlCol="0" anchor="t"/>
              <a:lstStyle/>
              <a:p>
                <a:r>
                  <a:rPr lang="en-US" sz="1133" dirty="0">
                    <a:solidFill>
                      <a:srgbClr val="64748B"/>
                    </a:solidFill>
                    <a:latin typeface="Calibri" pitchFamily="34" charset="0"/>
                    <a:ea typeface="Calibri" pitchFamily="34" charset="-122"/>
                    <a:cs typeface="Calibri" pitchFamily="34" charset="-120"/>
                  </a:rPr>
                  <a:t>Iterative matrix-vector products: apply q₁ across D₁-dimension, then q₂,…,</a:t>
                </a:r>
                <a:r>
                  <a:rPr lang="en-US" sz="1133" dirty="0">
                    <a:solidFill>
                      <a:srgbClr val="64748B"/>
                    </a:solidFill>
                    <a:cs typeface="Calibri" pitchFamily="34" charset="-120"/>
                  </a:rPr>
                  <a:t> </a:t>
                </a:r>
                <a14:m>
                  <m:oMath xmlns:m="http://schemas.openxmlformats.org/officeDocument/2006/math">
                    <m:sSub>
                      <m:sSubPr>
                        <m:ctrlPr>
                          <a:rPr lang="en-US" sz="1133" i="1" smtClean="0">
                            <a:solidFill>
                              <a:srgbClr val="64748B"/>
                            </a:solidFill>
                            <a:latin typeface="Cambria Math" panose="02040503050406030204" pitchFamily="18" charset="0"/>
                            <a:cs typeface="Calibri" pitchFamily="34" charset="-120"/>
                          </a:rPr>
                        </m:ctrlPr>
                      </m:sSubPr>
                      <m:e>
                        <m:r>
                          <m:rPr>
                            <m:nor/>
                          </m:rPr>
                          <a:rPr lang="en-US" sz="1133" dirty="0">
                            <a:solidFill>
                              <a:srgbClr val="64748B"/>
                            </a:solidFill>
                            <a:latin typeface="Calibri" pitchFamily="34" charset="0"/>
                            <a:ea typeface="Calibri" pitchFamily="34" charset="-122"/>
                            <a:cs typeface="Calibri" pitchFamily="34" charset="-120"/>
                          </a:rPr>
                          <m:t>q</m:t>
                        </m:r>
                      </m:e>
                      <m:sub>
                        <m:r>
                          <m:rPr>
                            <m:nor/>
                          </m:rPr>
                          <a:rPr lang="en-US" sz="1133" dirty="0">
                            <a:solidFill>
                              <a:srgbClr val="64748B"/>
                            </a:solidFill>
                            <a:latin typeface="Calibri" pitchFamily="34" charset="0"/>
                            <a:ea typeface="Calibri" pitchFamily="34" charset="-122"/>
                            <a:cs typeface="Calibri" pitchFamily="34" charset="-120"/>
                          </a:rPr>
                          <m:t>d</m:t>
                        </m:r>
                      </m:sub>
                    </m:sSub>
                  </m:oMath>
                </a14:m>
                <a:r>
                  <a:rPr lang="en-US" sz="1133" dirty="0">
                    <a:solidFill>
                      <a:srgbClr val="64748B"/>
                    </a:solidFill>
                    <a:latin typeface="Calibri" pitchFamily="34" charset="0"/>
                    <a:ea typeface="Calibri" pitchFamily="34" charset="-122"/>
                    <a:cs typeface="Calibri" pitchFamily="34" charset="-120"/>
                  </a:rPr>
                  <a:t> over remaining dimensions. Return ciphertext(s) R.</a:t>
                </a:r>
                <a:endParaRPr lang="en-US" sz="1133" dirty="0"/>
              </a:p>
            </p:txBody>
          </p:sp>
        </mc:Choice>
        <mc:Fallback xmlns="">
          <p:sp>
            <p:nvSpPr>
              <p:cNvPr id="42" name="Text 40"/>
              <p:cNvSpPr>
                <a:spLocks noRot="1" noChangeAspect="1" noMove="1" noResize="1" noEditPoints="1" noAdjustHandles="1" noChangeArrowheads="1" noChangeShapeType="1" noTextEdit="1"/>
              </p:cNvSpPr>
              <p:nvPr/>
            </p:nvSpPr>
            <p:spPr>
              <a:xfrm>
                <a:off x="6742176" y="3797305"/>
                <a:ext cx="4998720" cy="487680"/>
              </a:xfrm>
              <a:prstGeom prst="rect">
                <a:avLst/>
              </a:prstGeom>
              <a:blipFill>
                <a:blip r:embed="rId8"/>
                <a:stretch>
                  <a:fillRect l="-1829" t="-11250"/>
                </a:stretch>
              </a:blipFill>
              <a:ln/>
            </p:spPr>
            <p:txBody>
              <a:bodyPr/>
              <a:lstStyle/>
              <a:p>
                <a:r>
                  <a:rPr lang="en-US">
                    <a:noFill/>
                  </a:rPr>
                  <a:t> </a:t>
                </a:r>
              </a:p>
            </p:txBody>
          </p:sp>
        </mc:Fallback>
      </mc:AlternateContent>
      <p:sp>
        <p:nvSpPr>
          <p:cNvPr id="43" name="Shape 41"/>
          <p:cNvSpPr/>
          <p:nvPr/>
        </p:nvSpPr>
        <p:spPr>
          <a:xfrm>
            <a:off x="6217920" y="4455673"/>
            <a:ext cx="5608320" cy="92659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44" name="Shape 42"/>
          <p:cNvSpPr/>
          <p:nvPr/>
        </p:nvSpPr>
        <p:spPr>
          <a:xfrm>
            <a:off x="6217920" y="4455673"/>
            <a:ext cx="438912" cy="926592"/>
          </a:xfrm>
          <a:prstGeom prst="rect">
            <a:avLst/>
          </a:prstGeom>
          <a:solidFill>
            <a:srgbClr val="1E293B"/>
          </a:solidFill>
          <a:ln w="12700">
            <a:solidFill>
              <a:srgbClr val="1E293B"/>
            </a:solidFill>
            <a:prstDash val="solid"/>
          </a:ln>
        </p:spPr>
      </p:sp>
      <p:sp>
        <p:nvSpPr>
          <p:cNvPr id="45" name="Text 43"/>
          <p:cNvSpPr/>
          <p:nvPr/>
        </p:nvSpPr>
        <p:spPr>
          <a:xfrm>
            <a:off x="6217920" y="4748281"/>
            <a:ext cx="438912" cy="341376"/>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4</a:t>
            </a:r>
            <a:endParaRPr lang="en-US" sz="1733" dirty="0"/>
          </a:p>
        </p:txBody>
      </p:sp>
      <p:sp>
        <p:nvSpPr>
          <p:cNvPr id="46" name="Text 44"/>
          <p:cNvSpPr/>
          <p:nvPr/>
        </p:nvSpPr>
        <p:spPr>
          <a:xfrm>
            <a:off x="6742176" y="4541017"/>
            <a:ext cx="4998720" cy="268224"/>
          </a:xfrm>
          <a:prstGeom prst="rect">
            <a:avLst/>
          </a:prstGeom>
          <a:noFill/>
          <a:ln/>
        </p:spPr>
        <p:txBody>
          <a:bodyPr wrap="square" lIns="0" tIns="0" rIns="0" bIns="0" rtlCol="0" anchor="ctr"/>
          <a:lstStyle/>
          <a:p>
            <a:r>
              <a:rPr lang="en-US" sz="1333" b="1" dirty="0">
                <a:solidFill>
                  <a:srgbClr val="1E293B"/>
                </a:solidFill>
                <a:latin typeface="Calibri" pitchFamily="34" charset="0"/>
                <a:ea typeface="Calibri" pitchFamily="34" charset="-122"/>
                <a:cs typeface="Calibri" pitchFamily="34" charset="-120"/>
              </a:rPr>
              <a:t>Response Decoding  ·  Client</a:t>
            </a:r>
            <a:endParaRPr lang="en-US" sz="1333" dirty="0"/>
          </a:p>
        </p:txBody>
      </p:sp>
      <mc:AlternateContent xmlns:mc="http://schemas.openxmlformats.org/markup-compatibility/2006" xmlns:a14="http://schemas.microsoft.com/office/drawing/2010/main">
        <mc:Choice Requires="a14">
          <p:sp>
            <p:nvSpPr>
              <p:cNvPr id="47" name="Text 45"/>
              <p:cNvSpPr/>
              <p:nvPr/>
            </p:nvSpPr>
            <p:spPr>
              <a:xfrm>
                <a:off x="6742176" y="4821433"/>
                <a:ext cx="4998720" cy="487680"/>
              </a:xfrm>
              <a:prstGeom prst="rect">
                <a:avLst/>
              </a:prstGeom>
              <a:noFill/>
              <a:ln/>
            </p:spPr>
            <p:txBody>
              <a:bodyPr wrap="square" lIns="0" tIns="0" rIns="0" bIns="0" rtlCol="0" anchor="t"/>
              <a:lstStyle/>
              <a:p>
                <a:r>
                  <a:rPr lang="en-US" sz="1133" dirty="0">
                    <a:solidFill>
                      <a:srgbClr val="64748B"/>
                    </a:solidFill>
                    <a:latin typeface="Calibri" pitchFamily="34" charset="0"/>
                    <a:ea typeface="Calibri" pitchFamily="34" charset="-122"/>
                    <a:cs typeface="Calibri" pitchFamily="34" charset="-120"/>
                  </a:rPr>
                  <a:t>Decrypt R under sk. Recover DB[i] = concat of FHE.Dec(</a:t>
                </a:r>
                <a14:m>
                  <m:oMath xmlns:m="http://schemas.openxmlformats.org/officeDocument/2006/math">
                    <m:sSub>
                      <m:sSubPr>
                        <m:ctrlPr>
                          <a:rPr lang="en-US" sz="1133" i="1" smtClean="0">
                            <a:solidFill>
                              <a:srgbClr val="64748B"/>
                            </a:solidFill>
                            <a:latin typeface="Cambria Math" panose="02040503050406030204" pitchFamily="18" charset="0"/>
                            <a:cs typeface="Calibri" pitchFamily="34" charset="-120"/>
                          </a:rPr>
                        </m:ctrlPr>
                      </m:sSubPr>
                      <m:e>
                        <m:r>
                          <m:rPr>
                            <m:nor/>
                          </m:rPr>
                          <a:rPr lang="en-US" sz="1133" dirty="0">
                            <a:solidFill>
                              <a:srgbClr val="64748B"/>
                            </a:solidFill>
                            <a:latin typeface="Calibri" pitchFamily="34" charset="0"/>
                            <a:ea typeface="Calibri" pitchFamily="34" charset="-122"/>
                            <a:cs typeface="Calibri" pitchFamily="34" charset="-120"/>
                          </a:rPr>
                          <m:t>R</m:t>
                        </m:r>
                      </m:e>
                      <m:sub>
                        <m:r>
                          <m:rPr>
                            <m:nor/>
                          </m:rPr>
                          <a:rPr lang="en-US" sz="1133" dirty="0">
                            <a:solidFill>
                              <a:srgbClr val="64748B"/>
                            </a:solidFill>
                            <a:latin typeface="Calibri" pitchFamily="34" charset="0"/>
                            <a:ea typeface="Calibri" pitchFamily="34" charset="-122"/>
                            <a:cs typeface="Calibri" pitchFamily="34" charset="-120"/>
                          </a:rPr>
                          <m:t>j</m:t>
                        </m:r>
                      </m:sub>
                    </m:sSub>
                  </m:oMath>
                </a14:m>
                <a:r>
                  <a:rPr lang="en-US" sz="1133" dirty="0">
                    <a:solidFill>
                      <a:srgbClr val="64748B"/>
                    </a:solidFill>
                    <a:latin typeface="Calibri" pitchFamily="34" charset="0"/>
                    <a:ea typeface="Calibri" pitchFamily="34" charset="-122"/>
                    <a:cs typeface="Calibri" pitchFamily="34" charset="-120"/>
                  </a:rPr>
                  <a:t>, sk) for each chunk j.</a:t>
                </a:r>
                <a:endParaRPr lang="en-US" sz="1133" dirty="0"/>
              </a:p>
            </p:txBody>
          </p:sp>
        </mc:Choice>
        <mc:Fallback xmlns="">
          <p:sp>
            <p:nvSpPr>
              <p:cNvPr id="47" name="Text 45"/>
              <p:cNvSpPr>
                <a:spLocks noRot="1" noChangeAspect="1" noMove="1" noResize="1" noEditPoints="1" noAdjustHandles="1" noChangeArrowheads="1" noChangeShapeType="1" noTextEdit="1"/>
              </p:cNvSpPr>
              <p:nvPr/>
            </p:nvSpPr>
            <p:spPr>
              <a:xfrm>
                <a:off x="6742176" y="4821433"/>
                <a:ext cx="4998720" cy="487680"/>
              </a:xfrm>
              <a:prstGeom prst="rect">
                <a:avLst/>
              </a:prstGeom>
              <a:blipFill>
                <a:blip r:embed="rId9"/>
                <a:stretch>
                  <a:fillRect l="-1829" t="-11250"/>
                </a:stretch>
              </a:blipFill>
              <a:ln/>
            </p:spPr>
            <p:txBody>
              <a:bodyPr/>
              <a:lstStyle/>
              <a:p>
                <a:r>
                  <a:rPr lang="en-US">
                    <a:noFill/>
                  </a:rPr>
                  <a:t> </a:t>
                </a:r>
              </a:p>
            </p:txBody>
          </p:sp>
        </mc:Fallback>
      </mc:AlternateContent>
      <p:sp>
        <p:nvSpPr>
          <p:cNvPr id="48" name="Shape 46"/>
          <p:cNvSpPr/>
          <p:nvPr/>
        </p:nvSpPr>
        <p:spPr>
          <a:xfrm>
            <a:off x="6437376" y="2334265"/>
            <a:ext cx="0" cy="73152"/>
          </a:xfrm>
          <a:prstGeom prst="line">
            <a:avLst/>
          </a:prstGeom>
          <a:noFill/>
          <a:ln w="19050">
            <a:solidFill>
              <a:srgbClr val="2563EB"/>
            </a:solidFill>
            <a:prstDash val="solid"/>
          </a:ln>
        </p:spPr>
      </p:sp>
      <p:sp>
        <p:nvSpPr>
          <p:cNvPr id="49" name="Text 47"/>
          <p:cNvSpPr/>
          <p:nvPr/>
        </p:nvSpPr>
        <p:spPr>
          <a:xfrm>
            <a:off x="6289450" y="2370841"/>
            <a:ext cx="292608" cy="182880"/>
          </a:xfrm>
          <a:prstGeom prst="rect">
            <a:avLst/>
          </a:prstGeom>
          <a:noFill/>
          <a:ln/>
        </p:spPr>
        <p:txBody>
          <a:bodyPr wrap="square" lIns="0" tIns="0" rIns="0" bIns="0" rtlCol="0" anchor="ctr"/>
          <a:lstStyle/>
          <a:p>
            <a:pPr algn="ctr"/>
            <a:r>
              <a:rPr lang="en-US" sz="1067" dirty="0">
                <a:solidFill>
                  <a:srgbClr val="2563EB"/>
                </a:solidFill>
              </a:rPr>
              <a:t>▼</a:t>
            </a:r>
            <a:endParaRPr lang="en-US" sz="1067" dirty="0"/>
          </a:p>
        </p:txBody>
      </p:sp>
      <p:sp>
        <p:nvSpPr>
          <p:cNvPr id="50" name="Shape 48"/>
          <p:cNvSpPr/>
          <p:nvPr/>
        </p:nvSpPr>
        <p:spPr>
          <a:xfrm>
            <a:off x="6437376" y="3358393"/>
            <a:ext cx="0" cy="73152"/>
          </a:xfrm>
          <a:prstGeom prst="line">
            <a:avLst/>
          </a:prstGeom>
          <a:noFill/>
          <a:ln w="19050">
            <a:solidFill>
              <a:srgbClr val="2563EB"/>
            </a:solidFill>
            <a:prstDash val="solid"/>
          </a:ln>
        </p:spPr>
      </p:sp>
      <p:sp>
        <p:nvSpPr>
          <p:cNvPr id="51" name="Text 49"/>
          <p:cNvSpPr/>
          <p:nvPr/>
        </p:nvSpPr>
        <p:spPr>
          <a:xfrm>
            <a:off x="6289450" y="3394969"/>
            <a:ext cx="292608" cy="182880"/>
          </a:xfrm>
          <a:prstGeom prst="rect">
            <a:avLst/>
          </a:prstGeom>
          <a:noFill/>
          <a:ln/>
        </p:spPr>
        <p:txBody>
          <a:bodyPr wrap="square" lIns="0" tIns="0" rIns="0" bIns="0" rtlCol="0" anchor="ctr"/>
          <a:lstStyle/>
          <a:p>
            <a:pPr algn="ctr"/>
            <a:r>
              <a:rPr lang="en-US" sz="1067" dirty="0">
                <a:solidFill>
                  <a:srgbClr val="2563EB"/>
                </a:solidFill>
              </a:rPr>
              <a:t>▼</a:t>
            </a:r>
            <a:endParaRPr lang="en-US" sz="1067" dirty="0"/>
          </a:p>
        </p:txBody>
      </p:sp>
      <p:sp>
        <p:nvSpPr>
          <p:cNvPr id="52" name="Shape 50"/>
          <p:cNvSpPr/>
          <p:nvPr/>
        </p:nvSpPr>
        <p:spPr>
          <a:xfrm>
            <a:off x="6437376" y="4382521"/>
            <a:ext cx="0" cy="73152"/>
          </a:xfrm>
          <a:prstGeom prst="line">
            <a:avLst/>
          </a:prstGeom>
          <a:noFill/>
          <a:ln w="19050">
            <a:solidFill>
              <a:srgbClr val="2563EB"/>
            </a:solidFill>
            <a:prstDash val="solid"/>
          </a:ln>
        </p:spPr>
      </p:sp>
      <p:sp>
        <p:nvSpPr>
          <p:cNvPr id="53" name="Text 51"/>
          <p:cNvSpPr/>
          <p:nvPr/>
        </p:nvSpPr>
        <p:spPr>
          <a:xfrm>
            <a:off x="6289450" y="4419097"/>
            <a:ext cx="292608" cy="182880"/>
          </a:xfrm>
          <a:prstGeom prst="rect">
            <a:avLst/>
          </a:prstGeom>
          <a:noFill/>
          <a:ln/>
        </p:spPr>
        <p:txBody>
          <a:bodyPr wrap="square" lIns="0" tIns="0" rIns="0" bIns="0" rtlCol="0" anchor="ctr"/>
          <a:lstStyle/>
          <a:p>
            <a:pPr algn="ctr"/>
            <a:r>
              <a:rPr lang="en-US" sz="1067" dirty="0">
                <a:solidFill>
                  <a:srgbClr val="2563EB"/>
                </a:solidFill>
              </a:rPr>
              <a:t>▼</a:t>
            </a:r>
            <a:endParaRPr lang="en-US" sz="1067"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121920"/>
            <a:ext cx="11216640" cy="487680"/>
          </a:xfrm>
          <a:prstGeom prst="rect">
            <a:avLst/>
          </a:prstGeom>
          <a:noFill/>
          <a:ln/>
        </p:spPr>
        <p:txBody>
          <a:bodyPr wrap="square" rtlCol="0" anchor="ctr"/>
          <a:lstStyle/>
          <a:p>
            <a:r>
              <a:rPr lang="en-US" sz="2533" b="1" dirty="0">
                <a:solidFill>
                  <a:srgbClr val="1E293B"/>
                </a:solidFill>
                <a:latin typeface="Calibri" pitchFamily="34" charset="0"/>
                <a:ea typeface="Calibri" pitchFamily="34" charset="-122"/>
                <a:cs typeface="Calibri" pitchFamily="34" charset="-120"/>
              </a:rPr>
              <a:t>Hypercube PIR — (1) Setup  &amp;  (2) Query Generation / </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 设置</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&amp;</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）查询生成</a:t>
            </a:r>
            <a:endPar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Shape 1"/>
          <p:cNvSpPr/>
          <p:nvPr/>
        </p:nvSpPr>
        <p:spPr>
          <a:xfrm>
            <a:off x="487680" y="707136"/>
            <a:ext cx="11216640" cy="256032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4" name="Shape 2"/>
          <p:cNvSpPr/>
          <p:nvPr/>
        </p:nvSpPr>
        <p:spPr>
          <a:xfrm>
            <a:off x="487680" y="707136"/>
            <a:ext cx="11216640" cy="512064"/>
          </a:xfrm>
          <a:prstGeom prst="rect">
            <a:avLst/>
          </a:prstGeom>
          <a:solidFill>
            <a:srgbClr val="1E293B"/>
          </a:solidFill>
          <a:ln w="12700">
            <a:solidFill>
              <a:srgbClr val="1E293B"/>
            </a:solidFill>
            <a:prstDash val="solid"/>
          </a:ln>
        </p:spPr>
      </p:sp>
      <p:sp>
        <p:nvSpPr>
          <p:cNvPr id="5" name="Text 3"/>
          <p:cNvSpPr/>
          <p:nvPr/>
        </p:nvSpPr>
        <p:spPr>
          <a:xfrm>
            <a:off x="670560" y="780288"/>
            <a:ext cx="6096000" cy="341376"/>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(1)  Setup / </a:t>
            </a:r>
            <a:r>
              <a:rPr lang="zh-CN" altLang="en-US" sz="1600" b="1" dirty="0">
                <a:solidFill>
                  <a:srgbClr val="FFFFFF"/>
                </a:solidFill>
                <a:latin typeface="Calibri" pitchFamily="34" charset="0"/>
                <a:ea typeface="Calibri" pitchFamily="34" charset="-122"/>
                <a:cs typeface="Calibri" pitchFamily="34" charset="-120"/>
              </a:rPr>
              <a:t>安装程序</a:t>
            </a:r>
            <a:endParaRPr lang="en-US" sz="1600" dirty="0"/>
          </a:p>
        </p:txBody>
      </p:sp>
      <p:sp>
        <p:nvSpPr>
          <p:cNvPr id="6" name="Text 4"/>
          <p:cNvSpPr/>
          <p:nvPr/>
        </p:nvSpPr>
        <p:spPr>
          <a:xfrm>
            <a:off x="9509760" y="780288"/>
            <a:ext cx="2011680" cy="341376"/>
          </a:xfrm>
          <a:prstGeom prst="rect">
            <a:avLst/>
          </a:prstGeom>
          <a:noFill/>
          <a:ln/>
        </p:spPr>
        <p:txBody>
          <a:bodyPr wrap="square" lIns="0" tIns="0" rIns="0" bIns="0" rtlCol="0" anchor="ctr"/>
          <a:lstStyle/>
          <a:p>
            <a:pPr algn="r"/>
            <a:r>
              <a:rPr lang="en-US" sz="1267" i="1" dirty="0">
                <a:solidFill>
                  <a:srgbClr val="93C5FD"/>
                </a:solidFill>
                <a:latin typeface="Calibri" pitchFamily="34" charset="0"/>
                <a:ea typeface="Calibri" pitchFamily="34" charset="-122"/>
                <a:cs typeface="Calibri" pitchFamily="34" charset="-120"/>
              </a:rPr>
              <a:t>Actor: Server</a:t>
            </a:r>
            <a:endParaRPr lang="en-US" sz="1267" dirty="0"/>
          </a:p>
        </p:txBody>
      </p:sp>
      <p:sp>
        <p:nvSpPr>
          <p:cNvPr id="7" name="Text 5"/>
          <p:cNvSpPr/>
          <p:nvPr/>
        </p:nvSpPr>
        <p:spPr>
          <a:xfrm>
            <a:off x="670560" y="1292352"/>
            <a:ext cx="5486400"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Algorithm</a:t>
            </a:r>
            <a:endParaRPr lang="en-US" sz="1267" dirty="0"/>
          </a:p>
        </p:txBody>
      </p:sp>
      <mc:AlternateContent xmlns:mc="http://schemas.openxmlformats.org/markup-compatibility/2006" xmlns:a14="http://schemas.microsoft.com/office/drawing/2010/main">
        <mc:Choice Requires="a14">
          <p:sp>
            <p:nvSpPr>
              <p:cNvPr id="8" name="Text 6"/>
              <p:cNvSpPr/>
              <p:nvPr/>
            </p:nvSpPr>
            <p:spPr>
              <a:xfrm>
                <a:off x="670560" y="1536192"/>
                <a:ext cx="5608320" cy="1584960"/>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1.  Determine number of dimensions </a:t>
                </a:r>
                <a:r>
                  <a:rPr lang="en-US" sz="1200" b="1" dirty="0">
                    <a:solidFill>
                      <a:srgbClr val="1E293B"/>
                    </a:solidFill>
                    <a:latin typeface="Consolas" pitchFamily="34" charset="0"/>
                    <a:ea typeface="Consolas" pitchFamily="34" charset="-122"/>
                    <a:cs typeface="Consolas" pitchFamily="34" charset="-120"/>
                  </a:rPr>
                  <a:t>d</a:t>
                </a:r>
                <a:r>
                  <a:rPr lang="en-US" sz="1200" dirty="0">
                    <a:solidFill>
                      <a:srgbClr val="1E293B"/>
                    </a:solidFill>
                    <a:latin typeface="Calibri" pitchFamily="34" charset="0"/>
                    <a:ea typeface="Calibri" pitchFamily="34" charset="-122"/>
                    <a:cs typeface="Calibri" pitchFamily="34" charset="-120"/>
                  </a:rPr>
                  <a:t> from database size n and FHE params
2.  Choose dimension sizes </a:t>
                </a:r>
                <a:r>
                  <a:rPr lang="en-US" sz="1200" dirty="0">
                    <a:solidFill>
                      <a:srgbClr val="1E293B"/>
                    </a:solidFill>
                    <a:latin typeface="Consolas" pitchFamily="34" charset="0"/>
                    <a:ea typeface="Consolas" pitchFamily="34" charset="-122"/>
                    <a:cs typeface="Consolas" pitchFamily="34" charset="-120"/>
                  </a:rPr>
                  <a:t>D₁, D₂, …, </a:t>
                </a:r>
                <a14:m>
                  <m:oMath xmlns:m="http://schemas.openxmlformats.org/officeDocument/2006/math">
                    <m:sSub>
                      <m:sSubPr>
                        <m:ctrlPr>
                          <a:rPr lang="en-US" sz="1200" i="1" smtClean="0">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d</m:t>
                        </m:r>
                      </m:sub>
                    </m:sSub>
                  </m:oMath>
                </a14:m>
                <a:r>
                  <a:rPr lang="en-US" sz="1200" dirty="0">
                    <a:solidFill>
                      <a:srgbClr val="1E293B"/>
                    </a:solidFill>
                    <a:latin typeface="Calibri" pitchFamily="34" charset="0"/>
                    <a:ea typeface="Calibri" pitchFamily="34" charset="-122"/>
                    <a:cs typeface="Calibri" pitchFamily="34" charset="-120"/>
                  </a:rPr>
                  <a:t> such that  D₁·D₂·…·</a:t>
                </a:r>
                <a:r>
                  <a:rPr lang="en-US" sz="1200" dirty="0">
                    <a:solidFill>
                      <a:srgbClr val="1E293B"/>
                    </a:solidFill>
                  </a:rPr>
                  <a:t>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d</m:t>
                        </m:r>
                      </m:sub>
                    </m:sSub>
                  </m:oMath>
                </a14:m>
                <a:r>
                  <a:rPr lang="en-US" sz="1200" dirty="0">
                    <a:solidFill>
                      <a:srgbClr val="1E293B"/>
                    </a:solidFill>
                    <a:latin typeface="Calibri" pitchFamily="34" charset="0"/>
                    <a:ea typeface="Calibri" pitchFamily="34" charset="-122"/>
                    <a:cs typeface="Calibri" pitchFamily="34" charset="-120"/>
                  </a:rPr>
                  <a:t> = n
3.  Reshape DB:  for each element </a:t>
                </a:r>
                <a:r>
                  <a:rPr lang="en-US" sz="1200" dirty="0">
                    <a:solidFill>
                      <a:srgbClr val="1E293B"/>
                    </a:solidFill>
                    <a:latin typeface="Consolas" pitchFamily="34" charset="0"/>
                    <a:ea typeface="Consolas" pitchFamily="34" charset="-122"/>
                    <a:cs typeface="Consolas" pitchFamily="34" charset="-120"/>
                  </a:rPr>
                  <a:t>DB[i]</a:t>
                </a:r>
                <a:r>
                  <a:rPr lang="en-US" sz="1200" dirty="0">
                    <a:solidFill>
                      <a:srgbClr val="1E293B"/>
                    </a:solidFill>
                    <a:latin typeface="Calibri" pitchFamily="34" charset="0"/>
                    <a:ea typeface="Calibri" pitchFamily="34" charset="-122"/>
                    <a:cs typeface="Calibri" pitchFamily="34" charset="-120"/>
                  </a:rPr>
                  <a:t>, compute multi-index  </a:t>
                </a:r>
                <a:r>
                  <a:rPr lang="en-US" sz="1200" dirty="0">
                    <a:solidFill>
                      <a:srgbClr val="1E293B"/>
                    </a:solidFill>
                    <a:latin typeface="Consolas" pitchFamily="34" charset="0"/>
                    <a:ea typeface="Consolas" pitchFamily="34" charset="-122"/>
                    <a:cs typeface="Consolas" pitchFamily="34" charset="-120"/>
                  </a:rPr>
                  <a:t>(i₁,…,</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i</m:t>
                        </m:r>
                      </m:e>
                      <m:sub>
                        <m:r>
                          <m:rPr>
                            <m:nor/>
                          </m:rPr>
                          <a:rPr lang="en-US" sz="1200" dirty="0">
                            <a:solidFill>
                              <a:srgbClr val="1E293B"/>
                            </a:solidFill>
                            <a:latin typeface="Consolas" pitchFamily="34" charset="0"/>
                            <a:ea typeface="Consolas" pitchFamily="34" charset="-122"/>
                            <a:cs typeface="Consolas" pitchFamily="34" charset="-120"/>
                          </a:rPr>
                          <m:t>d</m:t>
                        </m:r>
                      </m:sub>
                    </m:sSub>
                  </m:oMath>
                </a14:m>
                <a:r>
                  <a:rPr lang="en-US" sz="1200" dirty="0">
                    <a:solidFill>
                      <a:srgbClr val="1E293B"/>
                    </a:solidFill>
                    <a:latin typeface="Consolas" pitchFamily="34" charset="0"/>
                    <a:ea typeface="Consolas" pitchFamily="34" charset="-122"/>
                    <a:cs typeface="Consolas" pitchFamily="34" charset="-120"/>
                  </a:rPr>
                  <a:t>)  </a:t>
                </a:r>
              </a:p>
              <a:p>
                <a:r>
                  <a:rPr lang="en-US" sz="1200" dirty="0">
                    <a:solidFill>
                      <a:srgbClr val="1E293B"/>
                    </a:solidFill>
                    <a:latin typeface="Consolas" pitchFamily="34" charset="0"/>
                    <a:ea typeface="Consolas" pitchFamily="34" charset="-122"/>
                    <a:cs typeface="Consolas" pitchFamily="34" charset="-120"/>
                  </a:rPr>
                  <a:t>where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i</m:t>
                        </m:r>
                      </m:e>
                      <m:sub>
                        <m:r>
                          <m:rPr>
                            <m:nor/>
                          </m:rPr>
                          <a:rPr lang="en-US" sz="1200" dirty="0">
                            <a:solidFill>
                              <a:srgbClr val="1E293B"/>
                            </a:solidFill>
                            <a:latin typeface="Consolas" pitchFamily="34" charset="0"/>
                            <a:ea typeface="Consolas" pitchFamily="34" charset="-122"/>
                            <a:cs typeface="Consolas" pitchFamily="34" charset="-120"/>
                          </a:rPr>
                          <m:t>j</m:t>
                        </m:r>
                      </m:sub>
                    </m:sSub>
                  </m:oMath>
                </a14:m>
                <a:r>
                  <a:rPr lang="en-US" sz="1200" dirty="0">
                    <a:solidFill>
                      <a:srgbClr val="1E293B"/>
                    </a:solidFill>
                    <a:latin typeface="Consolas" pitchFamily="34" charset="0"/>
                    <a:ea typeface="Consolas" pitchFamily="34" charset="-122"/>
                    <a:cs typeface="Consolas" pitchFamily="34" charset="-120"/>
                  </a:rPr>
                  <a:t> = ⌊i /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j</m:t>
                        </m:r>
                        <m:r>
                          <m:rPr>
                            <m:nor/>
                          </m:rPr>
                          <a:rPr lang="en-US" sz="1200" dirty="0">
                            <a:solidFill>
                              <a:srgbClr val="1E293B"/>
                            </a:solidFill>
                            <a:latin typeface="Consolas" pitchFamily="34" charset="0"/>
                            <a:ea typeface="Consolas" pitchFamily="34" charset="-122"/>
                            <a:cs typeface="Consolas" pitchFamily="34" charset="-120"/>
                          </a:rPr>
                          <m:t>+1</m:t>
                        </m:r>
                      </m:sub>
                    </m:sSub>
                  </m:oMath>
                </a14:m>
                <a:r>
                  <a:rPr lang="en-US" sz="1200" dirty="0">
                    <a:solidFill>
                      <a:srgbClr val="1E293B"/>
                    </a:solidFill>
                    <a:latin typeface="Consolas" pitchFamily="34" charset="0"/>
                    <a:ea typeface="Consolas" pitchFamily="34" charset="-122"/>
                    <a:cs typeface="Consolas" pitchFamily="34" charset="-120"/>
                  </a:rPr>
                  <a:t>·…·</a:t>
                </a:r>
                <a:r>
                  <a:rPr lang="en-US" sz="1200" dirty="0">
                    <a:solidFill>
                      <a:srgbClr val="1E293B"/>
                    </a:solidFill>
                  </a:rPr>
                  <a:t>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d</m:t>
                        </m:r>
                      </m:sub>
                    </m:sSub>
                  </m:oMath>
                </a14:m>
                <a:r>
                  <a:rPr lang="en-US" sz="1200" dirty="0">
                    <a:solidFill>
                      <a:srgbClr val="1E293B"/>
                    </a:solidFill>
                    <a:latin typeface="Calibri" pitchFamily="34" charset="0"/>
                    <a:ea typeface="Calibri" pitchFamily="34" charset="-122"/>
                    <a:cs typeface="Calibri" pitchFamily="34" charset="-120"/>
                  </a:rPr>
                  <a:t> </a:t>
                </a:r>
                <a:r>
                  <a:rPr lang="en-US" sz="1200" dirty="0">
                    <a:solidFill>
                      <a:srgbClr val="1E293B"/>
                    </a:solidFill>
                    <a:latin typeface="Consolas" pitchFamily="34" charset="0"/>
                    <a:ea typeface="Consolas" pitchFamily="34" charset="-122"/>
                    <a:cs typeface="Consolas" pitchFamily="34" charset="-120"/>
                  </a:rPr>
                  <a:t>)⌋ mod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j</m:t>
                        </m:r>
                      </m:sub>
                    </m:sSub>
                  </m:oMath>
                </a14:m>
                <a:r>
                  <a:rPr lang="en-US" sz="1200" dirty="0">
                    <a:solidFill>
                      <a:srgbClr val="1E293B"/>
                    </a:solidFill>
                    <a:latin typeface="Consolas" pitchFamily="34" charset="0"/>
                    <a:ea typeface="Consolas" pitchFamily="34" charset="-122"/>
                    <a:cs typeface="Consolas" pitchFamily="34" charset="-120"/>
                  </a:rPr>
                  <a:t>
</a:t>
                </a:r>
                <a:r>
                  <a:rPr lang="en-US" sz="1200" dirty="0">
                    <a:solidFill>
                      <a:srgbClr val="1E293B"/>
                    </a:solidFill>
                    <a:latin typeface="Calibri" pitchFamily="34" charset="0"/>
                    <a:ea typeface="Calibri" pitchFamily="34" charset="-122"/>
                    <a:cs typeface="Calibri" pitchFamily="34" charset="-120"/>
                  </a:rPr>
                  <a:t>4.  Publish configuration  </a:t>
                </a:r>
                <a:r>
                  <a:rPr lang="en-US" sz="1200" dirty="0">
                    <a:solidFill>
                      <a:srgbClr val="1E293B"/>
                    </a:solidFill>
                    <a:latin typeface="Consolas" pitchFamily="34" charset="0"/>
                    <a:ea typeface="Consolas" pitchFamily="34" charset="-122"/>
                    <a:cs typeface="Consolas" pitchFamily="34" charset="-120"/>
                  </a:rPr>
                  <a:t>(d, D₁, D₂, …,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d</m:t>
                        </m:r>
                      </m:sub>
                    </m:sSub>
                  </m:oMath>
                </a14:m>
                <a:r>
                  <a:rPr lang="en-US" sz="1200" dirty="0">
                    <a:solidFill>
                      <a:srgbClr val="1E293B"/>
                    </a:solidFill>
                    <a:latin typeface="Consolas" pitchFamily="34" charset="0"/>
                    <a:ea typeface="Consolas" pitchFamily="34" charset="-122"/>
                    <a:cs typeface="Consolas" pitchFamily="34" charset="-120"/>
                  </a:rPr>
                  <a:t>)</a:t>
                </a:r>
                <a:r>
                  <a:rPr lang="en-US" sz="1200" dirty="0">
                    <a:solidFill>
                      <a:srgbClr val="1E293B"/>
                    </a:solidFill>
                    <a:latin typeface="Calibri" pitchFamily="34" charset="0"/>
                    <a:ea typeface="Calibri" pitchFamily="34" charset="-122"/>
                    <a:cs typeface="Calibri" pitchFamily="34" charset="-120"/>
                  </a:rPr>
                  <a:t>  to client</a:t>
                </a:r>
                <a:endParaRPr lang="en-US" sz="1200" dirty="0"/>
              </a:p>
            </p:txBody>
          </p:sp>
        </mc:Choice>
        <mc:Fallback xmlns="">
          <p:sp>
            <p:nvSpPr>
              <p:cNvPr id="8" name="Text 6"/>
              <p:cNvSpPr>
                <a:spLocks noRot="1" noChangeAspect="1" noMove="1" noResize="1" noEditPoints="1" noAdjustHandles="1" noChangeArrowheads="1" noChangeShapeType="1" noTextEdit="1"/>
              </p:cNvSpPr>
              <p:nvPr/>
            </p:nvSpPr>
            <p:spPr>
              <a:xfrm>
                <a:off x="670560" y="1536192"/>
                <a:ext cx="5608320" cy="1584960"/>
              </a:xfrm>
              <a:prstGeom prst="rect">
                <a:avLst/>
              </a:prstGeom>
              <a:blipFill>
                <a:blip r:embed="rId3"/>
                <a:stretch>
                  <a:fillRect t="-385"/>
                </a:stretch>
              </a:blipFill>
              <a:ln/>
            </p:spPr>
            <p:txBody>
              <a:bodyPr/>
              <a:lstStyle/>
              <a:p>
                <a:r>
                  <a:rPr lang="en-US">
                    <a:noFill/>
                  </a:rPr>
                  <a:t> </a:t>
                </a:r>
              </a:p>
            </p:txBody>
          </p:sp>
        </mc:Fallback>
      </mc:AlternateContent>
      <p:sp>
        <p:nvSpPr>
          <p:cNvPr id="9" name="Text 7"/>
          <p:cNvSpPr/>
          <p:nvPr/>
        </p:nvSpPr>
        <p:spPr>
          <a:xfrm>
            <a:off x="6522720" y="1292352"/>
            <a:ext cx="4998720"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Notes</a:t>
            </a:r>
            <a:endParaRPr lang="en-US" sz="1267" dirty="0"/>
          </a:p>
        </p:txBody>
      </p:sp>
      <p:sp>
        <p:nvSpPr>
          <p:cNvPr id="10" name="Text 8"/>
          <p:cNvSpPr/>
          <p:nvPr/>
        </p:nvSpPr>
        <p:spPr>
          <a:xfrm>
            <a:off x="6522720" y="1536192"/>
            <a:ext cx="4998720" cy="1584960"/>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  Classical choice: </a:t>
            </a:r>
            <a:r>
              <a:rPr lang="en-US" sz="1200" dirty="0">
                <a:solidFill>
                  <a:srgbClr val="1E293B"/>
                </a:solidFill>
                <a:latin typeface="Consolas" pitchFamily="34" charset="0"/>
                <a:ea typeface="Consolas" pitchFamily="34" charset="-122"/>
                <a:cs typeface="Consolas" pitchFamily="34" charset="-120"/>
              </a:rPr>
              <a:t>d=2</a:t>
            </a:r>
            <a:r>
              <a:rPr lang="en-US" sz="1200" dirty="0">
                <a:solidFill>
                  <a:srgbClr val="1E293B"/>
                </a:solidFill>
                <a:latin typeface="Calibri" pitchFamily="34" charset="0"/>
                <a:ea typeface="Calibri" pitchFamily="34" charset="-122"/>
                <a:cs typeface="Calibri" pitchFamily="34" charset="-120"/>
              </a:rPr>
              <a:t> (√n × √n matrix), giving O(√n) query size  →  XPIR / SealPIR
•  Optimal choice: </a:t>
            </a:r>
            <a:r>
              <a:rPr lang="en-US" sz="1200" dirty="0">
                <a:solidFill>
                  <a:srgbClr val="1E293B"/>
                </a:solidFill>
                <a:latin typeface="Consolas" pitchFamily="34" charset="0"/>
                <a:ea typeface="Consolas" pitchFamily="34" charset="-122"/>
                <a:cs typeface="Consolas" pitchFamily="34" charset="-120"/>
              </a:rPr>
              <a:t>d = O(log n)</a:t>
            </a:r>
            <a:r>
              <a:rPr lang="en-US" sz="1200" dirty="0">
                <a:solidFill>
                  <a:srgbClr val="1E293B"/>
                </a:solidFill>
                <a:latin typeface="Calibri" pitchFamily="34" charset="0"/>
                <a:ea typeface="Calibri" pitchFamily="34" charset="-122"/>
                <a:cs typeface="Calibri" pitchFamily="34" charset="-120"/>
              </a:rPr>
              <a:t>, each dimension size O(1)  →  OnionPIR
•  Larger </a:t>
            </a:r>
            <a:r>
              <a:rPr lang="en-US" sz="1200" dirty="0">
                <a:solidFill>
                  <a:srgbClr val="1E293B"/>
                </a:solidFill>
                <a:latin typeface="Consolas" pitchFamily="34" charset="0"/>
                <a:ea typeface="Consolas" pitchFamily="34" charset="-122"/>
                <a:cs typeface="Consolas" pitchFamily="34" charset="-120"/>
              </a:rPr>
              <a:t>d</a:t>
            </a:r>
            <a:r>
              <a:rPr lang="en-US" sz="1200" dirty="0">
                <a:solidFill>
                  <a:srgbClr val="1E293B"/>
                </a:solidFill>
                <a:latin typeface="Calibri" pitchFamily="34" charset="0"/>
                <a:ea typeface="Calibri" pitchFamily="34" charset="-122"/>
                <a:cs typeface="Calibri" pitchFamily="34" charset="-120"/>
              </a:rPr>
              <a:t> → smaller query, but deeper multiplicative circuit and higher noise growth
•  No client hint downloaded; purely server-side initialization</a:t>
            </a:r>
            <a:endParaRPr lang="en-US" sz="1200" dirty="0"/>
          </a:p>
        </p:txBody>
      </p:sp>
      <p:sp>
        <p:nvSpPr>
          <p:cNvPr id="11" name="Shape 9"/>
          <p:cNvSpPr/>
          <p:nvPr/>
        </p:nvSpPr>
        <p:spPr>
          <a:xfrm>
            <a:off x="487680" y="3438144"/>
            <a:ext cx="11216640" cy="323088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487680" y="3438144"/>
            <a:ext cx="11216640" cy="512064"/>
          </a:xfrm>
          <a:prstGeom prst="rect">
            <a:avLst/>
          </a:prstGeom>
          <a:solidFill>
            <a:srgbClr val="1E293B"/>
          </a:solidFill>
          <a:ln w="12700">
            <a:solidFill>
              <a:srgbClr val="1E293B"/>
            </a:solidFill>
            <a:prstDash val="solid"/>
          </a:ln>
        </p:spPr>
      </p:sp>
      <p:sp>
        <p:nvSpPr>
          <p:cNvPr id="13" name="Text 11"/>
          <p:cNvSpPr/>
          <p:nvPr/>
        </p:nvSpPr>
        <p:spPr>
          <a:xfrm>
            <a:off x="670560" y="3511296"/>
            <a:ext cx="6096000" cy="341376"/>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(2)  Query Generation / </a:t>
            </a:r>
            <a:r>
              <a:rPr lang="zh-CN" altLang="en-US" sz="1600" b="1" dirty="0">
                <a:solidFill>
                  <a:srgbClr val="FFFFFF"/>
                </a:solidFill>
                <a:latin typeface="Calibri" pitchFamily="34" charset="0"/>
                <a:ea typeface="Calibri" pitchFamily="34" charset="-122"/>
                <a:cs typeface="Calibri" pitchFamily="34" charset="-120"/>
              </a:rPr>
              <a:t>查询生成</a:t>
            </a:r>
            <a:endParaRPr lang="en-US" sz="1600" dirty="0"/>
          </a:p>
        </p:txBody>
      </p:sp>
      <p:sp>
        <p:nvSpPr>
          <p:cNvPr id="14" name="Text 12"/>
          <p:cNvSpPr/>
          <p:nvPr/>
        </p:nvSpPr>
        <p:spPr>
          <a:xfrm>
            <a:off x="9509760" y="3511296"/>
            <a:ext cx="2011680" cy="341376"/>
          </a:xfrm>
          <a:prstGeom prst="rect">
            <a:avLst/>
          </a:prstGeom>
          <a:noFill/>
          <a:ln/>
        </p:spPr>
        <p:txBody>
          <a:bodyPr wrap="square" lIns="0" tIns="0" rIns="0" bIns="0" rtlCol="0" anchor="ctr"/>
          <a:lstStyle/>
          <a:p>
            <a:pPr algn="r"/>
            <a:r>
              <a:rPr lang="en-US" sz="1267" i="1" dirty="0">
                <a:solidFill>
                  <a:srgbClr val="93C5FD"/>
                </a:solidFill>
                <a:latin typeface="Calibri" pitchFamily="34" charset="0"/>
                <a:ea typeface="Calibri" pitchFamily="34" charset="-122"/>
                <a:cs typeface="Calibri" pitchFamily="34" charset="-120"/>
              </a:rPr>
              <a:t>Actor: Client</a:t>
            </a:r>
            <a:endParaRPr lang="en-US" sz="1267" dirty="0"/>
          </a:p>
        </p:txBody>
      </p:sp>
      <p:sp>
        <p:nvSpPr>
          <p:cNvPr id="15" name="Text 13"/>
          <p:cNvSpPr/>
          <p:nvPr/>
        </p:nvSpPr>
        <p:spPr>
          <a:xfrm>
            <a:off x="670560" y="4023360"/>
            <a:ext cx="5486400"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Algorithm</a:t>
            </a:r>
            <a:endParaRPr lang="en-US" sz="1267" dirty="0"/>
          </a:p>
        </p:txBody>
      </p:sp>
      <mc:AlternateContent xmlns:mc="http://schemas.openxmlformats.org/markup-compatibility/2006" xmlns:a14="http://schemas.microsoft.com/office/drawing/2010/main">
        <mc:Choice Requires="a14">
          <p:sp>
            <p:nvSpPr>
              <p:cNvPr id="16" name="Text 14"/>
              <p:cNvSpPr/>
              <p:nvPr/>
            </p:nvSpPr>
            <p:spPr>
              <a:xfrm>
                <a:off x="670560" y="4267200"/>
                <a:ext cx="5608320" cy="2255520"/>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1.  Hold target index </a:t>
                </a:r>
                <a:r>
                  <a:rPr lang="en-US" sz="1200" dirty="0">
                    <a:solidFill>
                      <a:srgbClr val="1E293B"/>
                    </a:solidFill>
                    <a:latin typeface="Consolas" pitchFamily="34" charset="0"/>
                    <a:ea typeface="Consolas" pitchFamily="34" charset="-122"/>
                    <a:cs typeface="Consolas" pitchFamily="34" charset="-120"/>
                  </a:rPr>
                  <a:t>i ∈ [n]</a:t>
                </a:r>
                <a:r>
                  <a:rPr lang="en-US" sz="1200" dirty="0">
                    <a:solidFill>
                      <a:srgbClr val="1E293B"/>
                    </a:solidFill>
                    <a:latin typeface="Calibri" pitchFamily="34" charset="0"/>
                    <a:ea typeface="Calibri" pitchFamily="34" charset="-122"/>
                    <a:cs typeface="Calibri" pitchFamily="34" charset="-120"/>
                  </a:rPr>
                  <a:t>.  Decompose into tuple  </a:t>
                </a:r>
                <a:r>
                  <a:rPr lang="en-US" sz="1200" dirty="0">
                    <a:solidFill>
                      <a:srgbClr val="1E293B"/>
                    </a:solidFill>
                    <a:latin typeface="Consolas" pitchFamily="34" charset="0"/>
                    <a:ea typeface="Consolas" pitchFamily="34" charset="-122"/>
                    <a:cs typeface="Consolas" pitchFamily="34" charset="-120"/>
                  </a:rPr>
                  <a:t>(i₁, i₂, …, </a:t>
                </a:r>
                <a14:m>
                  <m:oMath xmlns:m="http://schemas.openxmlformats.org/officeDocument/2006/math">
                    <m:sSub>
                      <m:sSubPr>
                        <m:ctrlPr>
                          <a:rPr lang="en-US" sz="1200" i="1" smtClean="0">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i</m:t>
                        </m:r>
                      </m:e>
                      <m:sub>
                        <m:r>
                          <m:rPr>
                            <m:nor/>
                          </m:rPr>
                          <a:rPr lang="en-US" sz="1200" dirty="0">
                            <a:solidFill>
                              <a:srgbClr val="1E293B"/>
                            </a:solidFill>
                            <a:latin typeface="Consolas" pitchFamily="34" charset="0"/>
                            <a:ea typeface="Consolas" pitchFamily="34" charset="-122"/>
                            <a:cs typeface="Consolas" pitchFamily="34" charset="-120"/>
                          </a:rPr>
                          <m:t>d</m:t>
                        </m:r>
                      </m:sub>
                    </m:sSub>
                  </m:oMath>
                </a14:m>
                <a:r>
                  <a:rPr lang="en-US" sz="1200"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i</m:t>
                        </m:r>
                      </m:e>
                      <m:sub>
                        <m:r>
                          <m:rPr>
                            <m:nor/>
                          </m:rPr>
                          <a:rPr lang="en-US" sz="1200" dirty="0">
                            <a:solidFill>
                              <a:srgbClr val="1E293B"/>
                            </a:solidFill>
                            <a:latin typeface="Consolas" pitchFamily="34" charset="0"/>
                            <a:ea typeface="Consolas" pitchFamily="34" charset="-122"/>
                            <a:cs typeface="Consolas" pitchFamily="34" charset="-120"/>
                          </a:rPr>
                          <m:t>j</m:t>
                        </m:r>
                      </m:sub>
                    </m:sSub>
                  </m:oMath>
                </a14:m>
                <a:r>
                  <a:rPr lang="en-US" sz="1200" dirty="0">
                    <a:solidFill>
                      <a:srgbClr val="1E293B"/>
                    </a:solidFill>
                    <a:latin typeface="Consolas" pitchFamily="34" charset="0"/>
                    <a:ea typeface="Consolas" pitchFamily="34" charset="-122"/>
                    <a:cs typeface="Consolas" pitchFamily="34" charset="-120"/>
                  </a:rPr>
                  <a:t> ∈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j</m:t>
                        </m:r>
                      </m:sub>
                    </m:sSub>
                  </m:oMath>
                </a14:m>
                <a:r>
                  <a:rPr lang="en-US" sz="1200" dirty="0">
                    <a:solidFill>
                      <a:srgbClr val="1E293B"/>
                    </a:solidFill>
                    <a:latin typeface="Consolas" pitchFamily="34" charset="0"/>
                    <a:ea typeface="Consolas" pitchFamily="34" charset="-122"/>
                    <a:cs typeface="Consolas" pitchFamily="34" charset="-120"/>
                  </a:rPr>
                  <a:t>]
</a:t>
                </a:r>
                <a:r>
                  <a:rPr lang="en-US" sz="1200" dirty="0">
                    <a:solidFill>
                      <a:srgbClr val="1E293B"/>
                    </a:solidFill>
                    <a:latin typeface="Calibri" pitchFamily="34" charset="0"/>
                    <a:ea typeface="Calibri" pitchFamily="34" charset="-122"/>
                    <a:cs typeface="Calibri" pitchFamily="34" charset="-120"/>
                  </a:rPr>
                  <a:t>2.  For each dimension </a:t>
                </a:r>
                <a:r>
                  <a:rPr lang="en-US" sz="1200" dirty="0">
                    <a:solidFill>
                      <a:srgbClr val="1E293B"/>
                    </a:solidFill>
                    <a:latin typeface="Consolas" pitchFamily="34" charset="0"/>
                    <a:ea typeface="Consolas" pitchFamily="34" charset="-122"/>
                    <a:cs typeface="Consolas" pitchFamily="34" charset="-120"/>
                  </a:rPr>
                  <a:t>j ∈ [d]</a:t>
                </a:r>
                <a:r>
                  <a:rPr lang="en-US" sz="1200" dirty="0">
                    <a:solidFill>
                      <a:srgbClr val="1E293B"/>
                    </a:solidFill>
                    <a:latin typeface="Calibri" pitchFamily="34" charset="0"/>
                    <a:ea typeface="Calibri" pitchFamily="34" charset="-122"/>
                    <a:cs typeface="Calibri" pitchFamily="34" charset="-120"/>
                  </a:rPr>
                  <a:t>, construct unit vector:
</a:t>
                </a:r>
                <a:r>
                  <a:rPr lang="en-US" sz="1200"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I</m:t>
                        </m:r>
                      </m:e>
                      <m:sub>
                        <m:r>
                          <m:rPr>
                            <m:nor/>
                          </m:rPr>
                          <a:rPr lang="en-US" sz="1200" dirty="0">
                            <a:solidFill>
                              <a:srgbClr val="1E293B"/>
                            </a:solidFill>
                            <a:latin typeface="Consolas" pitchFamily="34" charset="0"/>
                            <a:ea typeface="Consolas" pitchFamily="34" charset="-122"/>
                            <a:cs typeface="Consolas" pitchFamily="34" charset="-120"/>
                          </a:rPr>
                          <m:t>j</m:t>
                        </m:r>
                      </m:sub>
                    </m:sSub>
                    <m:r>
                      <m:rPr>
                        <m:nor/>
                      </m:rPr>
                      <a:rPr lang="en-US" sz="1200" b="0" i="0" dirty="0" smtClean="0">
                        <a:solidFill>
                          <a:srgbClr val="1E293B"/>
                        </a:solidFill>
                        <a:latin typeface="Cambria Math" panose="02040503050406030204" pitchFamily="18" charset="0"/>
                        <a:ea typeface="Consolas" pitchFamily="34" charset="-122"/>
                        <a:cs typeface="Consolas" pitchFamily="34" charset="-120"/>
                      </a:rPr>
                      <m:t> </m:t>
                    </m:r>
                    <m:r>
                      <m:rPr>
                        <m:nor/>
                      </m:rPr>
                      <a:rPr lang="en-US" sz="1200" dirty="0">
                        <a:solidFill>
                          <a:srgbClr val="1E293B"/>
                        </a:solidFill>
                        <a:latin typeface="Consolas" pitchFamily="34" charset="0"/>
                        <a:ea typeface="Consolas" pitchFamily="34" charset="-122"/>
                        <a:cs typeface="Consolas" pitchFamily="34" charset="-120"/>
                      </a:rPr>
                      <m:t>∈ </m:t>
                    </m:r>
                    <m:sSup>
                      <m:sSupPr>
                        <m:ctrlPr>
                          <a:rPr lang="en-US" sz="1200" i="1">
                            <a:solidFill>
                              <a:srgbClr val="1E293B"/>
                            </a:solidFill>
                            <a:latin typeface="Cambria Math" panose="02040503050406030204" pitchFamily="18" charset="0"/>
                          </a:rPr>
                        </m:ctrlPr>
                      </m:sSupPr>
                      <m:e>
                        <m:r>
                          <m:rPr>
                            <m:nor/>
                          </m:rPr>
                          <a:rPr lang="en-US" sz="1200" dirty="0">
                            <a:solidFill>
                              <a:srgbClr val="1E293B"/>
                            </a:solidFill>
                            <a:latin typeface="Consolas" pitchFamily="34" charset="0"/>
                            <a:ea typeface="Consolas" pitchFamily="34" charset="-122"/>
                            <a:cs typeface="Consolas" pitchFamily="34" charset="-120"/>
                          </a:rPr>
                          <m:t>{0,1}</m:t>
                        </m:r>
                      </m:e>
                      <m:sup>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j</m:t>
                            </m:r>
                          </m:sub>
                        </m:sSub>
                      </m:sup>
                    </m:sSup>
                  </m:oMath>
                </a14:m>
                <a:r>
                  <a:rPr lang="en-US" sz="1200"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I</m:t>
                        </m:r>
                      </m:e>
                      <m:sub>
                        <m:r>
                          <m:rPr>
                            <m:nor/>
                          </m:rPr>
                          <a:rPr lang="en-US" sz="1200" dirty="0">
                            <a:solidFill>
                              <a:srgbClr val="1E293B"/>
                            </a:solidFill>
                            <a:latin typeface="Consolas" pitchFamily="34" charset="0"/>
                            <a:ea typeface="Consolas" pitchFamily="34" charset="-122"/>
                            <a:cs typeface="Consolas" pitchFamily="34" charset="-120"/>
                          </a:rPr>
                          <m:t>j</m:t>
                        </m:r>
                      </m:sub>
                    </m:sSub>
                  </m:oMath>
                </a14:m>
                <a:r>
                  <a:rPr lang="en-US" sz="1200" dirty="0">
                    <a:solidFill>
                      <a:srgbClr val="1E293B"/>
                    </a:solidFill>
                    <a:latin typeface="Consolas" pitchFamily="34" charset="0"/>
                    <a:ea typeface="Consolas" pitchFamily="34" charset="-122"/>
                    <a:cs typeface="Consolas" pitchFamily="34" charset="-120"/>
                  </a:rPr>
                  <a:t>)[k] = 1 if k =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i</m:t>
                        </m:r>
                      </m:e>
                      <m:sub>
                        <m:r>
                          <m:rPr>
                            <m:nor/>
                          </m:rPr>
                          <a:rPr lang="en-US" sz="1200" dirty="0">
                            <a:solidFill>
                              <a:srgbClr val="1E293B"/>
                            </a:solidFill>
                            <a:latin typeface="Consolas" pitchFamily="34" charset="0"/>
                            <a:ea typeface="Consolas" pitchFamily="34" charset="-122"/>
                            <a:cs typeface="Consolas" pitchFamily="34" charset="-120"/>
                          </a:rPr>
                          <m:t>j</m:t>
                        </m:r>
                      </m:sub>
                    </m:sSub>
                  </m:oMath>
                </a14:m>
                <a:r>
                  <a:rPr lang="en-US" sz="1200" dirty="0">
                    <a:solidFill>
                      <a:srgbClr val="1E293B"/>
                    </a:solidFill>
                    <a:latin typeface="Consolas" pitchFamily="34" charset="0"/>
                    <a:ea typeface="Consolas" pitchFamily="34" charset="-122"/>
                    <a:cs typeface="Consolas" pitchFamily="34" charset="-120"/>
                  </a:rPr>
                  <a:t>,  else 0
</a:t>
                </a:r>
                <a:r>
                  <a:rPr lang="en-US" sz="1200" dirty="0">
                    <a:solidFill>
                      <a:srgbClr val="1E293B"/>
                    </a:solidFill>
                    <a:latin typeface="Calibri" pitchFamily="34" charset="0"/>
                    <a:ea typeface="Calibri" pitchFamily="34" charset="-122"/>
                    <a:cs typeface="Calibri" pitchFamily="34" charset="-120"/>
                  </a:rPr>
                  <a:t>3.  Encrypt each position of each unit vector:
</a:t>
                </a:r>
                <a:r>
                  <a:rPr lang="en-US" sz="1200"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q</m:t>
                        </m:r>
                      </m:e>
                      <m:sub>
                        <m:r>
                          <m:rPr>
                            <m:nor/>
                          </m:rPr>
                          <a:rPr lang="en-US" sz="1200" dirty="0">
                            <a:solidFill>
                              <a:srgbClr val="1E293B"/>
                            </a:solidFill>
                            <a:latin typeface="Consolas" pitchFamily="34" charset="0"/>
                            <a:ea typeface="Consolas" pitchFamily="34" charset="-122"/>
                            <a:cs typeface="Consolas" pitchFamily="34" charset="-120"/>
                          </a:rPr>
                          <m:t>j</m:t>
                        </m:r>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k</m:t>
                        </m:r>
                      </m:sub>
                    </m:sSub>
                    <m:r>
                      <a:rPr lang="en-US" sz="1200" b="0" i="1" dirty="0" smtClean="0">
                        <a:solidFill>
                          <a:srgbClr val="1E293B"/>
                        </a:solidFill>
                        <a:latin typeface="Cambria Math" panose="02040503050406030204" pitchFamily="18" charset="0"/>
                        <a:ea typeface="Consolas" pitchFamily="34" charset="-122"/>
                        <a:cs typeface="Consolas" pitchFamily="34" charset="-120"/>
                      </a:rPr>
                      <m:t> </m:t>
                    </m:r>
                    <m:r>
                      <m:rPr>
                        <m:nor/>
                      </m:rPr>
                      <a:rPr lang="en-US" sz="1200" dirty="0">
                        <a:solidFill>
                          <a:srgbClr val="1E293B"/>
                        </a:solidFill>
                        <a:latin typeface="Consolas" pitchFamily="34" charset="0"/>
                        <a:ea typeface="Consolas" pitchFamily="34" charset="-122"/>
                        <a:cs typeface="Consolas" pitchFamily="34" charset="-120"/>
                      </a:rPr>
                      <m:t>= </m:t>
                    </m:r>
                    <m:r>
                      <m:rPr>
                        <m:nor/>
                      </m:rPr>
                      <a:rPr lang="en-US" sz="1200" dirty="0">
                        <a:solidFill>
                          <a:srgbClr val="1E293B"/>
                        </a:solidFill>
                        <a:latin typeface="Consolas" pitchFamily="34" charset="0"/>
                        <a:ea typeface="Consolas" pitchFamily="34" charset="-122"/>
                        <a:cs typeface="Consolas" pitchFamily="34" charset="-120"/>
                      </a:rPr>
                      <m:t>FHE</m:t>
                    </m:r>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RLWE</m:t>
                    </m:r>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Enc</m:t>
                    </m:r>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sk</m:t>
                    </m:r>
                    <m:r>
                      <m:rPr>
                        <m:nor/>
                      </m:rPr>
                      <a:rPr lang="en-US" sz="1200" dirty="0">
                        <a:solidFill>
                          <a:srgbClr val="1E293B"/>
                        </a:solidFill>
                        <a:latin typeface="Consolas" pitchFamily="34" charset="0"/>
                        <a:ea typeface="Consolas" pitchFamily="34" charset="-122"/>
                        <a:cs typeface="Consolas" pitchFamily="34" charset="-120"/>
                      </a:rPr>
                      <m:t>, </m:t>
                    </m:r>
                    <m:r>
                      <m:rPr>
                        <m:nor/>
                      </m:rPr>
                      <a:rPr lang="en-US" sz="1200" dirty="0">
                        <a:solidFill>
                          <a:srgbClr val="1E293B"/>
                        </a:solidFill>
                        <a:latin typeface="Consolas" pitchFamily="34" charset="0"/>
                        <a:ea typeface="Consolas" pitchFamily="34" charset="-122"/>
                        <a:cs typeface="Consolas" pitchFamily="34" charset="-120"/>
                      </a:rPr>
                      <m:t>Δ</m:t>
                    </m:r>
                    <m:r>
                      <m:rPr>
                        <m:nor/>
                      </m:rPr>
                      <a:rPr lang="en-US" sz="1200" dirty="0">
                        <a:solidFill>
                          <a:srgbClr val="1E293B"/>
                        </a:solidFill>
                        <a:latin typeface="Consolas" pitchFamily="34" charset="0"/>
                        <a:ea typeface="Consolas" pitchFamily="34" charset="-122"/>
                        <a:cs typeface="Consolas" pitchFamily="34" charset="-120"/>
                      </a:rPr>
                      <m:t>·(</m:t>
                    </m:r>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I</m:t>
                        </m:r>
                      </m:e>
                      <m:sub>
                        <m:r>
                          <m:rPr>
                            <m:nor/>
                          </m:rPr>
                          <a:rPr lang="en-US" sz="1200" dirty="0">
                            <a:solidFill>
                              <a:srgbClr val="1E293B"/>
                            </a:solidFill>
                            <a:latin typeface="Consolas" pitchFamily="34" charset="0"/>
                            <a:ea typeface="Consolas" pitchFamily="34" charset="-122"/>
                            <a:cs typeface="Consolas" pitchFamily="34" charset="-120"/>
                          </a:rPr>
                          <m:t>j</m:t>
                        </m:r>
                      </m:sub>
                    </m:sSub>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k</m:t>
                    </m:r>
                    <m:r>
                      <m:rPr>
                        <m:nor/>
                      </m:rPr>
                      <a:rPr lang="en-US" sz="1200" dirty="0">
                        <a:solidFill>
                          <a:srgbClr val="1E293B"/>
                        </a:solidFill>
                        <a:latin typeface="Consolas" pitchFamily="34" charset="0"/>
                        <a:ea typeface="Consolas" pitchFamily="34" charset="-122"/>
                        <a:cs typeface="Consolas" pitchFamily="34" charset="-120"/>
                      </a:rPr>
                      <m:t>])   </m:t>
                    </m:r>
                    <m:r>
                      <m:rPr>
                        <m:nor/>
                      </m:rPr>
                      <a:rPr lang="en-US" sz="1200" dirty="0">
                        <a:solidFill>
                          <a:srgbClr val="1E293B"/>
                        </a:solidFill>
                        <a:latin typeface="Consolas" pitchFamily="34" charset="0"/>
                        <a:ea typeface="Consolas" pitchFamily="34" charset="-122"/>
                        <a:cs typeface="Consolas" pitchFamily="34" charset="-120"/>
                      </a:rPr>
                      <m:t>for</m:t>
                    </m:r>
                    <m:r>
                      <m:rPr>
                        <m:nor/>
                      </m:rPr>
                      <a:rPr lang="en-US" sz="1200" dirty="0">
                        <a:solidFill>
                          <a:srgbClr val="1E293B"/>
                        </a:solidFill>
                        <a:latin typeface="Consolas" pitchFamily="34" charset="0"/>
                        <a:ea typeface="Consolas" pitchFamily="34" charset="-122"/>
                        <a:cs typeface="Consolas" pitchFamily="34" charset="-120"/>
                      </a:rPr>
                      <m:t> </m:t>
                    </m:r>
                    <m:r>
                      <m:rPr>
                        <m:nor/>
                      </m:rPr>
                      <a:rPr lang="en-US" sz="1200" dirty="0">
                        <a:solidFill>
                          <a:srgbClr val="1E293B"/>
                        </a:solidFill>
                        <a:latin typeface="Consolas" pitchFamily="34" charset="0"/>
                        <a:ea typeface="Consolas" pitchFamily="34" charset="-122"/>
                        <a:cs typeface="Consolas" pitchFamily="34" charset="-120"/>
                      </a:rPr>
                      <m:t>k</m:t>
                    </m:r>
                    <m:r>
                      <m:rPr>
                        <m:nor/>
                      </m:rPr>
                      <a:rPr lang="en-US" sz="1200" dirty="0">
                        <a:solidFill>
                          <a:srgbClr val="1E293B"/>
                        </a:solidFill>
                        <a:latin typeface="Consolas" pitchFamily="34" charset="0"/>
                        <a:ea typeface="Consolas" pitchFamily="34" charset="-122"/>
                        <a:cs typeface="Consolas" pitchFamily="34" charset="-120"/>
                      </a:rPr>
                      <m:t> ∈ [</m:t>
                    </m:r>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j</m:t>
                        </m:r>
                      </m:sub>
                    </m:sSub>
                    <m:r>
                      <m:rPr>
                        <m:nor/>
                      </m:rPr>
                      <a:rPr lang="en-US" sz="1200" dirty="0">
                        <a:solidFill>
                          <a:srgbClr val="1E293B"/>
                        </a:solidFill>
                        <a:latin typeface="Consolas" pitchFamily="34" charset="0"/>
                        <a:ea typeface="Consolas" pitchFamily="34" charset="-122"/>
                        <a:cs typeface="Consolas" pitchFamily="34" charset="-120"/>
                      </a:rPr>
                      <m:t>]</m:t>
                    </m:r>
                  </m:oMath>
                </a14:m>
                <a:r>
                  <a:rPr lang="en-US" sz="1200" dirty="0">
                    <a:solidFill>
                      <a:srgbClr val="1E293B"/>
                    </a:solidFill>
                    <a:latin typeface="Consolas" pitchFamily="34" charset="0"/>
                    <a:ea typeface="Consolas" pitchFamily="34" charset="-122"/>
                    <a:cs typeface="Consolas" pitchFamily="34" charset="-120"/>
                  </a:rPr>
                  <a:t>
</a:t>
                </a:r>
                <a:r>
                  <a:rPr lang="en-US" sz="1200" i="1" dirty="0">
                    <a:solidFill>
                      <a:srgbClr val="1E293B"/>
                    </a:solidFill>
                    <a:latin typeface="Calibri" pitchFamily="34" charset="0"/>
                    <a:ea typeface="Calibri" pitchFamily="34" charset="-122"/>
                    <a:cs typeface="Calibri" pitchFamily="34" charset="-120"/>
                  </a:rPr>
                  <a:t>     → one ciphertext encrypting 1 (at </a:t>
                </a:r>
                <a14:m>
                  <m:oMath xmlns:m="http://schemas.openxmlformats.org/officeDocument/2006/math">
                    <m:r>
                      <m:rPr>
                        <m:nor/>
                      </m:rPr>
                      <a:rPr lang="en-US" sz="1200" i="1" dirty="0">
                        <a:solidFill>
                          <a:srgbClr val="1E293B"/>
                        </a:solidFill>
                        <a:latin typeface="Calibri" pitchFamily="34" charset="0"/>
                        <a:ea typeface="Calibri" pitchFamily="34" charset="-122"/>
                        <a:cs typeface="Calibri" pitchFamily="34" charset="-120"/>
                      </a:rPr>
                      <m:t>k</m:t>
                    </m:r>
                    <m:r>
                      <m:rPr>
                        <m:nor/>
                      </m:rPr>
                      <a:rPr lang="en-US" sz="1200" i="1" dirty="0">
                        <a:solidFill>
                          <a:srgbClr val="1E293B"/>
                        </a:solidFill>
                        <a:latin typeface="Calibri" pitchFamily="34" charset="0"/>
                        <a:ea typeface="Calibri" pitchFamily="34" charset="-122"/>
                        <a:cs typeface="Calibri" pitchFamily="34" charset="-120"/>
                      </a:rPr>
                      <m:t>=</m:t>
                    </m:r>
                    <m:sSub>
                      <m:sSubPr>
                        <m:ctrlPr>
                          <a:rPr lang="en-US" sz="1200" i="1">
                            <a:solidFill>
                              <a:srgbClr val="1E293B"/>
                            </a:solidFill>
                            <a:latin typeface="Cambria Math" panose="02040503050406030204" pitchFamily="18" charset="0"/>
                          </a:rPr>
                        </m:ctrlPr>
                      </m:sSubPr>
                      <m:e>
                        <m:r>
                          <m:rPr>
                            <m:nor/>
                          </m:rPr>
                          <a:rPr lang="en-US" sz="1200" i="1" dirty="0">
                            <a:solidFill>
                              <a:srgbClr val="1E293B"/>
                            </a:solidFill>
                            <a:latin typeface="Calibri" pitchFamily="34" charset="0"/>
                            <a:ea typeface="Calibri" pitchFamily="34" charset="-122"/>
                            <a:cs typeface="Calibri" pitchFamily="34" charset="-120"/>
                          </a:rPr>
                          <m:t>i</m:t>
                        </m:r>
                      </m:e>
                      <m:sub>
                        <m:r>
                          <m:rPr>
                            <m:nor/>
                          </m:rPr>
                          <a:rPr lang="en-US" sz="1200" i="1" dirty="0">
                            <a:solidFill>
                              <a:srgbClr val="1E293B"/>
                            </a:solidFill>
                            <a:latin typeface="Calibri" pitchFamily="34" charset="0"/>
                            <a:ea typeface="Calibri" pitchFamily="34" charset="-122"/>
                            <a:cs typeface="Calibri" pitchFamily="34" charset="-120"/>
                          </a:rPr>
                          <m:t>j</m:t>
                        </m:r>
                      </m:sub>
                    </m:sSub>
                  </m:oMath>
                </a14:m>
                <a:r>
                  <a:rPr lang="en-US" sz="1200" i="1" dirty="0">
                    <a:solidFill>
                      <a:srgbClr val="1E293B"/>
                    </a:solidFill>
                    <a:latin typeface="Calibri" pitchFamily="34" charset="0"/>
                    <a:ea typeface="Calibri" pitchFamily="34" charset="-122"/>
                    <a:cs typeface="Calibri" pitchFamily="34" charset="-120"/>
                  </a:rPr>
                  <a:t>), all others encrypting 0
</a:t>
                </a:r>
                <a:r>
                  <a:rPr lang="en-US" sz="1200" dirty="0">
                    <a:solidFill>
                      <a:srgbClr val="1E293B"/>
                    </a:solidFill>
                    <a:latin typeface="Calibri" pitchFamily="34" charset="0"/>
                    <a:ea typeface="Calibri" pitchFamily="34" charset="-122"/>
                    <a:cs typeface="Calibri" pitchFamily="34" charset="-120"/>
                  </a:rPr>
                  <a:t>4.  Send query  </a:t>
                </a:r>
                <a:r>
                  <a:rPr lang="en-US" sz="1200" dirty="0">
                    <a:solidFill>
                      <a:srgbClr val="1E293B"/>
                    </a:solidFill>
                    <a:latin typeface="Consolas" pitchFamily="34" charset="0"/>
                    <a:ea typeface="Consolas" pitchFamily="34" charset="-122"/>
                    <a:cs typeface="Consolas" pitchFamily="34" charset="-120"/>
                  </a:rPr>
                  <a:t>q = (q₁, q₂, …,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q</m:t>
                        </m:r>
                      </m:e>
                      <m:sub>
                        <m:r>
                          <m:rPr>
                            <m:nor/>
                          </m:rPr>
                          <a:rPr lang="en-US" sz="1200" dirty="0">
                            <a:solidFill>
                              <a:srgbClr val="1E293B"/>
                            </a:solidFill>
                            <a:latin typeface="Consolas" pitchFamily="34" charset="0"/>
                            <a:ea typeface="Consolas" pitchFamily="34" charset="-122"/>
                            <a:cs typeface="Consolas" pitchFamily="34" charset="-120"/>
                          </a:rPr>
                          <m:t>d</m:t>
                        </m:r>
                      </m:sub>
                    </m:sSub>
                  </m:oMath>
                </a14:m>
                <a:r>
                  <a:rPr lang="en-US" sz="1200" dirty="0">
                    <a:solidFill>
                      <a:srgbClr val="1E293B"/>
                    </a:solidFill>
                    <a:latin typeface="Consolas" pitchFamily="34" charset="0"/>
                    <a:ea typeface="Consolas" pitchFamily="34" charset="-122"/>
                    <a:cs typeface="Consolas" pitchFamily="34" charset="-120"/>
                  </a:rPr>
                  <a:t>)</a:t>
                </a:r>
                <a:r>
                  <a:rPr lang="en-US" sz="1200" dirty="0">
                    <a:solidFill>
                      <a:srgbClr val="1E293B"/>
                    </a:solidFill>
                    <a:latin typeface="Calibri" pitchFamily="34" charset="0"/>
                    <a:ea typeface="Calibri" pitchFamily="34" charset="-122"/>
                    <a:cs typeface="Calibri" pitchFamily="34" charset="-120"/>
                  </a:rPr>
                  <a:t>  to server</a:t>
                </a:r>
                <a:endParaRPr lang="en-US" sz="1200" dirty="0"/>
              </a:p>
            </p:txBody>
          </p:sp>
        </mc:Choice>
        <mc:Fallback xmlns="">
          <p:sp>
            <p:nvSpPr>
              <p:cNvPr id="16" name="Text 14"/>
              <p:cNvSpPr>
                <a:spLocks noRot="1" noChangeAspect="1" noMove="1" noResize="1" noEditPoints="1" noAdjustHandles="1" noChangeArrowheads="1" noChangeShapeType="1" noTextEdit="1"/>
              </p:cNvSpPr>
              <p:nvPr/>
            </p:nvSpPr>
            <p:spPr>
              <a:xfrm>
                <a:off x="670560" y="4267200"/>
                <a:ext cx="5608320" cy="2255520"/>
              </a:xfrm>
              <a:prstGeom prst="rect">
                <a:avLst/>
              </a:prstGeom>
              <a:blipFill>
                <a:blip r:embed="rId4"/>
                <a:stretch>
                  <a:fillRect/>
                </a:stretch>
              </a:blipFill>
              <a:ln/>
            </p:spPr>
            <p:txBody>
              <a:bodyPr/>
              <a:lstStyle/>
              <a:p>
                <a:r>
                  <a:rPr lang="en-US">
                    <a:noFill/>
                  </a:rPr>
                  <a:t> </a:t>
                </a:r>
              </a:p>
            </p:txBody>
          </p:sp>
        </mc:Fallback>
      </mc:AlternateContent>
      <p:sp>
        <p:nvSpPr>
          <p:cNvPr id="17" name="Text 15"/>
          <p:cNvSpPr/>
          <p:nvPr/>
        </p:nvSpPr>
        <p:spPr>
          <a:xfrm>
            <a:off x="6522720" y="4023360"/>
            <a:ext cx="4998720"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Query Size</a:t>
            </a:r>
            <a:endParaRPr lang="en-US" sz="1267" dirty="0"/>
          </a:p>
        </p:txBody>
      </p:sp>
      <mc:AlternateContent xmlns:mc="http://schemas.openxmlformats.org/markup-compatibility/2006" xmlns:a14="http://schemas.microsoft.com/office/drawing/2010/main">
        <mc:Choice Requires="a14">
          <p:sp>
            <p:nvSpPr>
              <p:cNvPr id="18" name="Text 16"/>
              <p:cNvSpPr/>
              <p:nvPr/>
            </p:nvSpPr>
            <p:spPr>
              <a:xfrm>
                <a:off x="6522720" y="4267200"/>
                <a:ext cx="4998720" cy="2255520"/>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Baseline (XPIR, d=2):
</a:t>
                </a:r>
                <a:r>
                  <a:rPr lang="en-US" sz="1200" dirty="0">
                    <a:solidFill>
                      <a:srgbClr val="1E293B"/>
                    </a:solidFill>
                    <a:latin typeface="Consolas" pitchFamily="34" charset="0"/>
                    <a:ea typeface="Consolas" pitchFamily="34" charset="-122"/>
                    <a:cs typeface="Consolas" pitchFamily="34" charset="-120"/>
                  </a:rPr>
                  <a:t>  D₁+D₂ = 2√n  cts  →  O(√n)
</a:t>
                </a:r>
                <a:r>
                  <a:rPr lang="en-US" sz="1200" dirty="0">
                    <a:solidFill>
                      <a:srgbClr val="1E293B"/>
                    </a:solidFill>
                    <a:latin typeface="Calibri" pitchFamily="34" charset="0"/>
                    <a:ea typeface="Calibri" pitchFamily="34" charset="-122"/>
                    <a:cs typeface="Calibri" pitchFamily="34" charset="-120"/>
                  </a:rPr>
                  <a:t>After SealPIR monomial encoding:
</a:t>
                </a:r>
                <a:r>
                  <a:rPr lang="en-US" sz="1200" dirty="0">
                    <a:solidFill>
                      <a:srgbClr val="1E293B"/>
                    </a:solidFill>
                    <a:latin typeface="Consolas" pitchFamily="34" charset="0"/>
                    <a:ea typeface="Consolas" pitchFamily="34" charset="-122"/>
                    <a:cs typeface="Consolas" pitchFamily="34" charset="-120"/>
                  </a:rPr>
                  <a:t>  d  cts (1 per dim, packs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j</m:t>
                        </m:r>
                      </m:sub>
                    </m:sSub>
                  </m:oMath>
                </a14:m>
                <a:r>
                  <a:rPr lang="en-US" sz="1200" dirty="0">
                    <a:solidFill>
                      <a:srgbClr val="1E293B"/>
                    </a:solidFill>
                    <a:latin typeface="Consolas" pitchFamily="34" charset="0"/>
                    <a:ea typeface="Consolas" pitchFamily="34" charset="-122"/>
                    <a:cs typeface="Consolas" pitchFamily="34" charset="-120"/>
                  </a:rPr>
                  <a:t> bits)
  requires  N ≥ </a:t>
                </a:r>
                <a14:m>
                  <m:oMath xmlns:m="http://schemas.openxmlformats.org/officeDocument/2006/math">
                    <m:sSub>
                      <m:sSubPr>
                        <m:ctrlPr>
                          <a:rPr lang="en-US" sz="1200" i="1" smtClean="0">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D</m:t>
                        </m:r>
                      </m:e>
                      <m:sub>
                        <m:r>
                          <m:rPr>
                            <m:nor/>
                          </m:rPr>
                          <a:rPr lang="en-US" sz="1200" dirty="0">
                            <a:solidFill>
                              <a:srgbClr val="1E293B"/>
                            </a:solidFill>
                            <a:latin typeface="Consolas" pitchFamily="34" charset="0"/>
                            <a:ea typeface="Consolas" pitchFamily="34" charset="-122"/>
                            <a:cs typeface="Consolas" pitchFamily="34" charset="-120"/>
                          </a:rPr>
                          <m:t>j</m:t>
                        </m:r>
                      </m:sub>
                    </m:sSub>
                    <m:r>
                      <a:rPr lang="en-US" sz="1200" i="1" dirty="0">
                        <a:solidFill>
                          <a:srgbClr val="1E293B"/>
                        </a:solidFill>
                        <a:latin typeface="Cambria Math" panose="02040503050406030204" pitchFamily="18" charset="0"/>
                        <a:ea typeface="Consolas" pitchFamily="34" charset="-122"/>
                        <a:cs typeface="Consolas" pitchFamily="34" charset="-120"/>
                      </a:rPr>
                      <m:t> </m:t>
                    </m:r>
                  </m:oMath>
                </a14:m>
                <a:r>
                  <a:rPr lang="en-US" sz="1200" dirty="0">
                    <a:solidFill>
                      <a:srgbClr val="1E293B"/>
                    </a:solidFill>
                    <a:latin typeface="Consolas" pitchFamily="34" charset="0"/>
                    <a:ea typeface="Consolas" pitchFamily="34" charset="-122"/>
                    <a:cs typeface="Consolas" pitchFamily="34" charset="-120"/>
                  </a:rPr>
                  <a:t>
</a:t>
                </a:r>
                <a:r>
                  <a:rPr lang="en-US" sz="1200" dirty="0">
                    <a:solidFill>
                      <a:srgbClr val="1E293B"/>
                    </a:solidFill>
                    <a:latin typeface="Calibri" pitchFamily="34" charset="0"/>
                    <a:ea typeface="Calibri" pitchFamily="34" charset="-122"/>
                    <a:cs typeface="Calibri" pitchFamily="34" charset="-120"/>
                  </a:rPr>
                  <a:t>After OnionPIR (d=O(log n), RGSW query):
</a:t>
                </a:r>
                <a:r>
                  <a:rPr lang="en-US" sz="1200" dirty="0">
                    <a:solidFill>
                      <a:srgbClr val="1E293B"/>
                    </a:solidFill>
                    <a:latin typeface="Consolas" pitchFamily="34" charset="0"/>
                    <a:ea typeface="Consolas" pitchFamily="34" charset="-122"/>
                    <a:cs typeface="Consolas" pitchFamily="34" charset="-120"/>
                  </a:rPr>
                  <a:t>  O(log n) RGSW cts  →  O(log n/N) packed</a:t>
                </a:r>
                <a:endParaRPr lang="en-US" sz="1200" dirty="0"/>
              </a:p>
            </p:txBody>
          </p:sp>
        </mc:Choice>
        <mc:Fallback xmlns="">
          <p:sp>
            <p:nvSpPr>
              <p:cNvPr id="18" name="Text 16"/>
              <p:cNvSpPr>
                <a:spLocks noRot="1" noChangeAspect="1" noMove="1" noResize="1" noEditPoints="1" noAdjustHandles="1" noChangeArrowheads="1" noChangeShapeType="1" noTextEdit="1"/>
              </p:cNvSpPr>
              <p:nvPr/>
            </p:nvSpPr>
            <p:spPr>
              <a:xfrm>
                <a:off x="6522720" y="4267200"/>
                <a:ext cx="4998720" cy="2255520"/>
              </a:xfrm>
              <a:prstGeom prst="rect">
                <a:avLst/>
              </a:prstGeom>
              <a:blipFill>
                <a:blip r:embed="rId5"/>
                <a:stretch>
                  <a:fillRect/>
                </a:stretch>
              </a:blipFill>
              <a:ln/>
            </p:spPr>
            <p:txBody>
              <a:bodyPr/>
              <a:lstStyle/>
              <a:p>
                <a:r>
                  <a:rPr 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148653"/>
            <a:ext cx="11216640" cy="487680"/>
          </a:xfrm>
          <a:prstGeom prst="rect">
            <a:avLst/>
          </a:prstGeom>
          <a:noFill/>
          <a:ln/>
        </p:spPr>
        <p:txBody>
          <a:bodyPr wrap="square" rtlCol="0" anchor="ctr"/>
          <a:lstStyle/>
          <a:p>
            <a:r>
              <a:rPr lang="en-US" sz="2533" b="1" dirty="0">
                <a:solidFill>
                  <a:srgbClr val="1E293B"/>
                </a:solidFill>
                <a:latin typeface="Calibri" pitchFamily="34" charset="0"/>
                <a:ea typeface="Calibri" pitchFamily="34" charset="-122"/>
                <a:cs typeface="Calibri" pitchFamily="34" charset="-120"/>
              </a:rPr>
              <a:t>Hypercube PIR — (3) Server Computation  &amp;  (4) Response Decoding / </a:t>
            </a:r>
          </a:p>
          <a:p>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 服务器计算（</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）响应解码</a:t>
            </a:r>
            <a:endPar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Shape 1"/>
          <p:cNvSpPr/>
          <p:nvPr/>
        </p:nvSpPr>
        <p:spPr>
          <a:xfrm>
            <a:off x="487680" y="900083"/>
            <a:ext cx="11216640" cy="35966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4" name="Shape 2"/>
          <p:cNvSpPr/>
          <p:nvPr/>
        </p:nvSpPr>
        <p:spPr>
          <a:xfrm>
            <a:off x="487680" y="900083"/>
            <a:ext cx="11216640" cy="512064"/>
          </a:xfrm>
          <a:prstGeom prst="rect">
            <a:avLst/>
          </a:prstGeom>
          <a:solidFill>
            <a:srgbClr val="1E293B"/>
          </a:solidFill>
          <a:ln w="12700">
            <a:solidFill>
              <a:srgbClr val="1E293B"/>
            </a:solidFill>
            <a:prstDash val="solid"/>
          </a:ln>
        </p:spPr>
      </p:sp>
      <p:sp>
        <p:nvSpPr>
          <p:cNvPr id="5" name="Text 3"/>
          <p:cNvSpPr/>
          <p:nvPr/>
        </p:nvSpPr>
        <p:spPr>
          <a:xfrm>
            <a:off x="670560" y="973235"/>
            <a:ext cx="6096000" cy="341376"/>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(3)  Server Computation / </a:t>
            </a:r>
            <a:r>
              <a:rPr lang="zh-CN" altLang="en-US" sz="1600" b="1" dirty="0">
                <a:solidFill>
                  <a:srgbClr val="FFFFFF"/>
                </a:solidFill>
                <a:latin typeface="Calibri" pitchFamily="34" charset="0"/>
                <a:ea typeface="Calibri" pitchFamily="34" charset="-122"/>
                <a:cs typeface="Calibri" pitchFamily="34" charset="-120"/>
              </a:rPr>
              <a:t>服务器计算</a:t>
            </a:r>
            <a:endParaRPr lang="en-US" sz="1600" dirty="0"/>
          </a:p>
        </p:txBody>
      </p:sp>
      <p:sp>
        <p:nvSpPr>
          <p:cNvPr id="6" name="Text 4"/>
          <p:cNvSpPr/>
          <p:nvPr/>
        </p:nvSpPr>
        <p:spPr>
          <a:xfrm>
            <a:off x="9509760" y="973235"/>
            <a:ext cx="2011680" cy="341376"/>
          </a:xfrm>
          <a:prstGeom prst="rect">
            <a:avLst/>
          </a:prstGeom>
          <a:noFill/>
          <a:ln/>
        </p:spPr>
        <p:txBody>
          <a:bodyPr wrap="square" lIns="0" tIns="0" rIns="0" bIns="0" rtlCol="0" anchor="ctr"/>
          <a:lstStyle/>
          <a:p>
            <a:pPr algn="r"/>
            <a:r>
              <a:rPr lang="en-US" sz="1267" i="1" dirty="0">
                <a:solidFill>
                  <a:srgbClr val="93C5FD"/>
                </a:solidFill>
                <a:latin typeface="Calibri" pitchFamily="34" charset="0"/>
                <a:ea typeface="Calibri" pitchFamily="34" charset="-122"/>
                <a:cs typeface="Calibri" pitchFamily="34" charset="-120"/>
              </a:rPr>
              <a:t>Actor: Server</a:t>
            </a:r>
            <a:endParaRPr lang="en-US" sz="1267" dirty="0"/>
          </a:p>
        </p:txBody>
      </p:sp>
      <p:sp>
        <p:nvSpPr>
          <p:cNvPr id="7" name="Text 5"/>
          <p:cNvSpPr/>
          <p:nvPr/>
        </p:nvSpPr>
        <p:spPr>
          <a:xfrm>
            <a:off x="670560" y="1485299"/>
            <a:ext cx="5486400"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Algorithm</a:t>
            </a:r>
            <a:endParaRPr lang="en-US" sz="1267" dirty="0"/>
          </a:p>
        </p:txBody>
      </p:sp>
      <mc:AlternateContent xmlns:mc="http://schemas.openxmlformats.org/markup-compatibility/2006" xmlns:a14="http://schemas.microsoft.com/office/drawing/2010/main">
        <mc:Choice Requires="a14">
          <p:sp>
            <p:nvSpPr>
              <p:cNvPr id="8" name="Text 6"/>
              <p:cNvSpPr/>
              <p:nvPr/>
            </p:nvSpPr>
            <p:spPr>
              <a:xfrm>
                <a:off x="670560" y="1729139"/>
                <a:ext cx="5608320" cy="2621280"/>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1.  Split each DB element into chunks of ℓ₀ plaintext bits:
</a:t>
                </a:r>
                <a:r>
                  <a:rPr lang="en-US" sz="1200"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200" i="1" smtClean="0">
                            <a:solidFill>
                              <a:srgbClr val="1E293B"/>
                            </a:solidFill>
                            <a:latin typeface="Cambria Math" panose="02040503050406030204" pitchFamily="18" charset="0"/>
                          </a:rPr>
                        </m:ctrlPr>
                      </m:sSubPr>
                      <m:e>
                        <m:r>
                          <m:rPr>
                            <m:nor/>
                          </m:rPr>
                          <a:rPr lang="en-US" sz="1200" dirty="0">
                            <a:solidFill>
                              <a:srgbClr val="1E293B"/>
                            </a:solidFill>
                            <a:latin typeface="Consolas" panose="020B0609020204030204" pitchFamily="49" charset="0"/>
                            <a:ea typeface="Consolas" pitchFamily="34" charset="-122"/>
                            <a:cs typeface="Consolas" pitchFamily="34" charset="-120"/>
                          </a:rPr>
                          <m:t>m</m:t>
                        </m:r>
                      </m:e>
                      <m:sub>
                        <m:r>
                          <m:rPr>
                            <m:nor/>
                          </m:rPr>
                          <a:rPr lang="en-US" sz="1200" dirty="0">
                            <a:solidFill>
                              <a:srgbClr val="1E293B"/>
                            </a:solidFill>
                            <a:latin typeface="Consolas" panose="020B0609020204030204" pitchFamily="49" charset="0"/>
                            <a:ea typeface="Consolas" pitchFamily="34" charset="-122"/>
                            <a:cs typeface="Consolas" pitchFamily="34" charset="-120"/>
                          </a:rPr>
                          <m:t>k</m:t>
                        </m:r>
                        <m:r>
                          <m:rPr>
                            <m:nor/>
                          </m:rPr>
                          <a:rPr lang="en-US" sz="1200" dirty="0">
                            <a:solidFill>
                              <a:srgbClr val="1E293B"/>
                            </a:solidFill>
                            <a:latin typeface="Consolas" panose="020B0609020204030204" pitchFamily="49" charset="0"/>
                            <a:ea typeface="Consolas" pitchFamily="34" charset="-122"/>
                            <a:cs typeface="Consolas" pitchFamily="34" charset="-120"/>
                          </a:rPr>
                          <m:t>,</m:t>
                        </m:r>
                        <m:r>
                          <m:rPr>
                            <m:nor/>
                          </m:rPr>
                          <a:rPr lang="en-US" sz="1200" dirty="0">
                            <a:solidFill>
                              <a:srgbClr val="1E293B"/>
                            </a:solidFill>
                            <a:latin typeface="Consolas" panose="020B0609020204030204" pitchFamily="49" charset="0"/>
                            <a:ea typeface="Consolas" pitchFamily="34" charset="-122"/>
                            <a:cs typeface="Consolas" pitchFamily="34" charset="-120"/>
                          </a:rPr>
                          <m:t>j</m:t>
                        </m:r>
                      </m:sub>
                    </m:sSub>
                    <m:r>
                      <a:rPr lang="en-US" sz="1200" i="1" dirty="0">
                        <a:solidFill>
                          <a:srgbClr val="1E293B"/>
                        </a:solidFill>
                        <a:latin typeface="Cambria Math" panose="02040503050406030204" pitchFamily="18" charset="0"/>
                        <a:ea typeface="Consolas" pitchFamily="34" charset="-122"/>
                        <a:cs typeface="Consolas" pitchFamily="34" charset="-120"/>
                      </a:rPr>
                      <m:t> </m:t>
                    </m:r>
                  </m:oMath>
                </a14:m>
                <a:r>
                  <a:rPr lang="en-US" sz="1200" dirty="0">
                    <a:solidFill>
                      <a:srgbClr val="1E293B"/>
                    </a:solidFill>
                    <a:latin typeface="Consolas" pitchFamily="34" charset="0"/>
                    <a:ea typeface="Consolas" pitchFamily="34" charset="-122"/>
                    <a:cs typeface="Consolas" pitchFamily="34" charset="-120"/>
                  </a:rPr>
                  <a:t>  for  j ∈ [ceil(ℓ/ℓ₀)]
</a:t>
                </a:r>
                <a:r>
                  <a:rPr lang="en-US" sz="1200" dirty="0">
                    <a:solidFill>
                      <a:srgbClr val="1E293B"/>
                    </a:solidFill>
                    <a:latin typeface="Calibri" pitchFamily="34" charset="0"/>
                    <a:ea typeface="Calibri" pitchFamily="34" charset="-122"/>
                    <a:cs typeface="Calibri" pitchFamily="34" charset="-120"/>
                  </a:rPr>
                  <a:t>2.  First dimension — plaintext×ciphertext products:
</a:t>
                </a:r>
                <a:r>
                  <a:rPr lang="en-US" sz="1200" dirty="0">
                    <a:solidFill>
                      <a:srgbClr val="1E293B"/>
                    </a:solidFill>
                    <a:latin typeface="Consolas" pitchFamily="34" charset="0"/>
                    <a:ea typeface="Consolas" pitchFamily="34" charset="-122"/>
                    <a:cs typeface="Consolas" pitchFamily="34" charset="-120"/>
                  </a:rPr>
                  <a:t>     </a:t>
                </a:r>
                <a14:m>
                  <m:oMath xmlns:m="http://schemas.openxmlformats.org/officeDocument/2006/math">
                    <m:sSubSup>
                      <m:sSubSupPr>
                        <m:ctrlPr>
                          <a:rPr lang="en-US" sz="1200" i="1">
                            <a:solidFill>
                              <a:srgbClr val="1E293B"/>
                            </a:solidFill>
                            <a:latin typeface="Cambria Math" panose="02040503050406030204" pitchFamily="18" charset="0"/>
                          </a:rPr>
                        </m:ctrlPr>
                      </m:sSubSupPr>
                      <m:e>
                        <m:r>
                          <m:rPr>
                            <m:nor/>
                          </m:rPr>
                          <a:rPr lang="en-US" sz="1200" dirty="0">
                            <a:solidFill>
                              <a:srgbClr val="1E293B"/>
                            </a:solidFill>
                            <a:latin typeface="Consolas" pitchFamily="34" charset="0"/>
                            <a:ea typeface="Consolas" pitchFamily="34" charset="-122"/>
                            <a:cs typeface="Consolas" pitchFamily="34" charset="-120"/>
                          </a:rPr>
                          <m:t>R</m:t>
                        </m:r>
                      </m:e>
                      <m:sub>
                        <m:r>
                          <m:rPr>
                            <m:nor/>
                          </m:rPr>
                          <a:rPr lang="en-US" sz="1200" dirty="0">
                            <a:solidFill>
                              <a:srgbClr val="1E293B"/>
                            </a:solidFill>
                            <a:latin typeface="Consolas" pitchFamily="34" charset="0"/>
                            <a:ea typeface="Consolas" pitchFamily="34" charset="-122"/>
                            <a:cs typeface="Consolas" pitchFamily="34" charset="-120"/>
                          </a:rPr>
                          <m:t>j</m:t>
                        </m:r>
                      </m:sub>
                      <m:sup>
                        <m:r>
                          <m:rPr>
                            <m:nor/>
                          </m:rPr>
                          <a:rPr lang="en-US" sz="1200" dirty="0">
                            <a:solidFill>
                              <a:srgbClr val="1E293B"/>
                            </a:solidFill>
                            <a:latin typeface="Consolas" pitchFamily="34" charset="0"/>
                            <a:ea typeface="Consolas" pitchFamily="34" charset="-122"/>
                            <a:cs typeface="Consolas" pitchFamily="34" charset="-120"/>
                          </a:rPr>
                          <m:t>1</m:t>
                        </m:r>
                      </m:sup>
                    </m:sSubSup>
                    <m:r>
                      <a:rPr lang="en-US" sz="1200" b="0" i="0" smtClean="0">
                        <a:solidFill>
                          <a:srgbClr val="1E293B"/>
                        </a:solidFill>
                        <a:latin typeface="Cambria Math" panose="02040503050406030204" pitchFamily="18" charset="0"/>
                      </a:rPr>
                      <m:t>=</m:t>
                    </m:r>
                    <m:nary>
                      <m:naryPr>
                        <m:chr m:val="∑"/>
                        <m:limLoc m:val="subSup"/>
                        <m:supHide m:val="on"/>
                        <m:ctrlPr>
                          <a:rPr lang="en-US" sz="1200" i="1" smtClean="0">
                            <a:solidFill>
                              <a:srgbClr val="1E293B"/>
                            </a:solidFill>
                            <a:latin typeface="Cambria Math" panose="02040503050406030204" pitchFamily="18" charset="0"/>
                          </a:rPr>
                        </m:ctrlPr>
                      </m:naryPr>
                      <m:sub>
                        <m:r>
                          <m:rPr>
                            <m:nor/>
                          </m:rPr>
                          <a:rPr lang="en-US" sz="1200" dirty="0">
                            <a:solidFill>
                              <a:srgbClr val="1E293B"/>
                            </a:solidFill>
                            <a:latin typeface="Consolas" pitchFamily="34" charset="0"/>
                            <a:ea typeface="Consolas" pitchFamily="34" charset="-122"/>
                            <a:cs typeface="Consolas" pitchFamily="34" charset="-120"/>
                          </a:rPr>
                          <m:t>k</m:t>
                        </m:r>
                      </m:sub>
                      <m:sup/>
                      <m:e>
                        <m:r>
                          <m:rPr>
                            <m:nor/>
                          </m:rPr>
                          <a:rPr lang="en-US" sz="1200" dirty="0">
                            <a:solidFill>
                              <a:srgbClr val="1E293B"/>
                            </a:solidFill>
                            <a:latin typeface="Consolas" pitchFamily="34" charset="0"/>
                            <a:ea typeface="Consolas" pitchFamily="34" charset="-122"/>
                            <a:cs typeface="Consolas" pitchFamily="34" charset="-120"/>
                          </a:rPr>
                          <m:t>FHE</m:t>
                        </m:r>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PlainMult</m:t>
                        </m:r>
                        <m:r>
                          <m:rPr>
                            <m:nor/>
                          </m:rPr>
                          <a:rPr lang="en-US" sz="1200" dirty="0">
                            <a:solidFill>
                              <a:srgbClr val="1E293B"/>
                            </a:solidFill>
                            <a:latin typeface="Consolas" pitchFamily="34" charset="0"/>
                            <a:ea typeface="Consolas" pitchFamily="34" charset="-122"/>
                            <a:cs typeface="Consolas" pitchFamily="34" charset="-120"/>
                          </a:rPr>
                          <m:t>(</m:t>
                        </m:r>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q</m:t>
                            </m:r>
                          </m:e>
                          <m:sub>
                            <m:r>
                              <m:rPr>
                                <m:nor/>
                              </m:rPr>
                              <a:rPr lang="en-US" sz="1200" dirty="0">
                                <a:solidFill>
                                  <a:srgbClr val="1E293B"/>
                                </a:solidFill>
                                <a:latin typeface="Consolas" pitchFamily="34" charset="0"/>
                                <a:ea typeface="Consolas" pitchFamily="34" charset="-122"/>
                                <a:cs typeface="Consolas" pitchFamily="34" charset="-120"/>
                              </a:rPr>
                              <m:t>1</m:t>
                            </m:r>
                            <m:r>
                              <m:rPr>
                                <m:nor/>
                              </m:rPr>
                              <a:rPr lang="en-US" sz="1200" dirty="0">
                                <a:solidFill>
                                  <a:srgbClr val="1E293B"/>
                                </a:solidFill>
                                <a:latin typeface="Consolas" panose="020B0609020204030204" pitchFamily="49"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k</m:t>
                            </m:r>
                          </m:sub>
                        </m:sSub>
                        <m:r>
                          <m:rPr>
                            <m:nor/>
                          </m:rPr>
                          <a:rPr lang="en-US" sz="1200" dirty="0">
                            <a:solidFill>
                              <a:srgbClr val="1E293B"/>
                            </a:solidFill>
                            <a:latin typeface="Consolas" pitchFamily="34" charset="0"/>
                            <a:ea typeface="Consolas" pitchFamily="34" charset="-122"/>
                            <a:cs typeface="Consolas" pitchFamily="34" charset="-120"/>
                          </a:rPr>
                          <m:t>,</m:t>
                        </m:r>
                        <m:r>
                          <a:rPr lang="en-US" sz="1200" b="0" i="1" dirty="0" smtClean="0">
                            <a:solidFill>
                              <a:srgbClr val="1E293B"/>
                            </a:solidFill>
                            <a:latin typeface="Cambria Math" panose="02040503050406030204" pitchFamily="18" charset="0"/>
                            <a:ea typeface="Consolas" pitchFamily="34" charset="-122"/>
                            <a:cs typeface="Consolas" pitchFamily="34" charset="-120"/>
                          </a:rPr>
                          <m:t>   </m:t>
                        </m:r>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anose="020B0609020204030204" pitchFamily="49" charset="0"/>
                                <a:ea typeface="Consolas" pitchFamily="34" charset="-122"/>
                                <a:cs typeface="Consolas" pitchFamily="34" charset="-120"/>
                              </a:rPr>
                              <m:t>m</m:t>
                            </m:r>
                          </m:e>
                          <m:sub>
                            <m:r>
                              <m:rPr>
                                <m:nor/>
                              </m:rPr>
                              <a:rPr lang="en-US" sz="1200" dirty="0">
                                <a:solidFill>
                                  <a:srgbClr val="1E293B"/>
                                </a:solidFill>
                                <a:latin typeface="Consolas" panose="020B0609020204030204" pitchFamily="49" charset="0"/>
                                <a:ea typeface="Consolas" pitchFamily="34" charset="-122"/>
                                <a:cs typeface="Consolas" pitchFamily="34" charset="-120"/>
                              </a:rPr>
                              <m:t>k</m:t>
                            </m:r>
                            <m:r>
                              <m:rPr>
                                <m:nor/>
                              </m:rPr>
                              <a:rPr lang="en-US" sz="1200" dirty="0">
                                <a:solidFill>
                                  <a:srgbClr val="1E293B"/>
                                </a:solidFill>
                                <a:latin typeface="Consolas" panose="020B0609020204030204" pitchFamily="49" charset="0"/>
                                <a:ea typeface="Consolas" pitchFamily="34" charset="-122"/>
                                <a:cs typeface="Consolas" pitchFamily="34" charset="-120"/>
                              </a:rPr>
                              <m:t>,</m:t>
                            </m:r>
                            <m:r>
                              <m:rPr>
                                <m:nor/>
                              </m:rPr>
                              <a:rPr lang="en-US" sz="1200" dirty="0">
                                <a:solidFill>
                                  <a:srgbClr val="1E293B"/>
                                </a:solidFill>
                                <a:latin typeface="Consolas" panose="020B0609020204030204" pitchFamily="49" charset="0"/>
                                <a:ea typeface="Consolas" pitchFamily="34" charset="-122"/>
                                <a:cs typeface="Consolas" pitchFamily="34" charset="-120"/>
                              </a:rPr>
                              <m:t>j</m:t>
                            </m:r>
                          </m:sub>
                        </m:sSub>
                        <m:r>
                          <m:rPr>
                            <m:nor/>
                          </m:rPr>
                          <a:rPr lang="en-US" sz="1200" dirty="0">
                            <a:solidFill>
                              <a:srgbClr val="1E293B"/>
                            </a:solidFill>
                            <a:latin typeface="Consolas" pitchFamily="34" charset="0"/>
                            <a:ea typeface="Consolas" pitchFamily="34" charset="-122"/>
                            <a:cs typeface="Consolas" pitchFamily="34" charset="-120"/>
                          </a:rPr>
                          <m:t>)</m:t>
                        </m:r>
                      </m:e>
                    </m:nary>
                  </m:oMath>
                </a14:m>
                <a:r>
                  <a:rPr lang="en-US" sz="1200" dirty="0">
                    <a:solidFill>
                      <a:srgbClr val="1E293B"/>
                    </a:solidFill>
                    <a:latin typeface="Consolas" pitchFamily="34" charset="0"/>
                    <a:ea typeface="Consolas" pitchFamily="34" charset="-122"/>
                    <a:cs typeface="Consolas" pitchFamily="34" charset="-120"/>
                  </a:rPr>
                  <a:t>
</a:t>
                </a:r>
                <a:r>
                  <a:rPr lang="en-US" sz="1200" dirty="0">
                    <a:solidFill>
                      <a:srgbClr val="1E293B"/>
                    </a:solidFill>
                    <a:latin typeface="Calibri" pitchFamily="34" charset="0"/>
                    <a:ea typeface="Calibri" pitchFamily="34" charset="-122"/>
                    <a:cs typeface="Calibri" pitchFamily="34" charset="-120"/>
                  </a:rPr>
                  <a:t>3.  Dimensions 2 to d — iterate remaining dimensions:
</a:t>
                </a:r>
                <a:r>
                  <a:rPr lang="en-US" sz="1200" dirty="0">
                    <a:solidFill>
                      <a:srgbClr val="1E293B"/>
                    </a:solidFill>
                    <a:latin typeface="Consolas" pitchFamily="34" charset="0"/>
                    <a:ea typeface="Consolas" pitchFamily="34" charset="-122"/>
                    <a:cs typeface="Consolas" pitchFamily="34" charset="-120"/>
                  </a:rPr>
                  <a:t>     </a:t>
                </a:r>
                <a14:m>
                  <m:oMath xmlns:m="http://schemas.openxmlformats.org/officeDocument/2006/math">
                    <m:sSubSup>
                      <m:sSubSupPr>
                        <m:ctrlPr>
                          <a:rPr lang="en-US" sz="1200" i="1">
                            <a:solidFill>
                              <a:srgbClr val="1E293B"/>
                            </a:solidFill>
                            <a:latin typeface="Cambria Math" panose="02040503050406030204" pitchFamily="18" charset="0"/>
                          </a:rPr>
                        </m:ctrlPr>
                      </m:sSubSupPr>
                      <m:e>
                        <m:r>
                          <m:rPr>
                            <m:nor/>
                          </m:rPr>
                          <a:rPr lang="en-US" sz="1200" dirty="0">
                            <a:solidFill>
                              <a:srgbClr val="1E293B"/>
                            </a:solidFill>
                            <a:latin typeface="Consolas" pitchFamily="34" charset="0"/>
                            <a:ea typeface="Consolas" pitchFamily="34" charset="-122"/>
                            <a:cs typeface="Consolas" pitchFamily="34" charset="-120"/>
                          </a:rPr>
                          <m:t>R</m:t>
                        </m:r>
                      </m:e>
                      <m:sub>
                        <m:r>
                          <m:rPr>
                            <m:nor/>
                          </m:rPr>
                          <a:rPr lang="en-US" sz="1200" dirty="0">
                            <a:solidFill>
                              <a:srgbClr val="1E293B"/>
                            </a:solidFill>
                            <a:latin typeface="Consolas" pitchFamily="34" charset="0"/>
                            <a:ea typeface="Consolas" pitchFamily="34" charset="-122"/>
                            <a:cs typeface="Consolas" pitchFamily="34" charset="-120"/>
                          </a:rPr>
                          <m:t>j</m:t>
                        </m:r>
                      </m:sub>
                      <m:sup>
                        <m:r>
                          <m:rPr>
                            <m:nor/>
                          </m:rPr>
                          <a:rPr lang="en-US" sz="1200" dirty="0">
                            <a:solidFill>
                              <a:srgbClr val="1E293B"/>
                            </a:solidFill>
                            <a:latin typeface="Calibri" pitchFamily="34" charset="0"/>
                            <a:ea typeface="Calibri" pitchFamily="34" charset="-122"/>
                            <a:cs typeface="Calibri" pitchFamily="34" charset="-120"/>
                          </a:rPr>
                          <m:t>d</m:t>
                        </m:r>
                      </m:sup>
                    </m:sSubSup>
                    <m:r>
                      <a:rPr lang="en-US" sz="1200" b="0" i="0" dirty="0" smtClean="0">
                        <a:solidFill>
                          <a:srgbClr val="1E293B"/>
                        </a:solidFill>
                        <a:latin typeface="Cambria Math" panose="02040503050406030204" pitchFamily="18" charset="0"/>
                        <a:ea typeface="Consolas" pitchFamily="34" charset="-122"/>
                        <a:cs typeface="Consolas" pitchFamily="34" charset="-120"/>
                      </a:rPr>
                      <m:t>=</m:t>
                    </m:r>
                    <m:nary>
                      <m:naryPr>
                        <m:chr m:val="∑"/>
                        <m:limLoc m:val="subSup"/>
                        <m:supHide m:val="on"/>
                        <m:ctrlPr>
                          <a:rPr lang="en-US" sz="1200" i="1">
                            <a:solidFill>
                              <a:srgbClr val="1E293B"/>
                            </a:solidFill>
                            <a:latin typeface="Cambria Math" panose="02040503050406030204" pitchFamily="18" charset="0"/>
                          </a:rPr>
                        </m:ctrlPr>
                      </m:naryPr>
                      <m:sub>
                        <m:r>
                          <m:rPr>
                            <m:nor/>
                          </m:rPr>
                          <a:rPr lang="en-US" sz="1200" dirty="0">
                            <a:solidFill>
                              <a:srgbClr val="1E293B"/>
                            </a:solidFill>
                            <a:latin typeface="Consolas" pitchFamily="34" charset="0"/>
                            <a:ea typeface="Consolas" pitchFamily="34" charset="-122"/>
                            <a:cs typeface="Consolas" pitchFamily="34" charset="-120"/>
                          </a:rPr>
                          <m:t>k</m:t>
                        </m:r>
                      </m:sub>
                      <m:sup/>
                      <m:e>
                        <m:r>
                          <m:rPr>
                            <m:nor/>
                          </m:rPr>
                          <a:rPr lang="en-US" sz="1200" dirty="0">
                            <a:solidFill>
                              <a:srgbClr val="1E293B"/>
                            </a:solidFill>
                            <a:latin typeface="Consolas" pitchFamily="34" charset="0"/>
                            <a:ea typeface="Consolas" pitchFamily="34" charset="-122"/>
                            <a:cs typeface="Consolas" pitchFamily="34" charset="-120"/>
                          </a:rPr>
                          <m:t>FHE</m:t>
                        </m:r>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PlainMult</m:t>
                        </m:r>
                        <m:r>
                          <m:rPr>
                            <m:nor/>
                          </m:rPr>
                          <a:rPr lang="en-US" sz="1200" dirty="0">
                            <a:solidFill>
                              <a:srgbClr val="1E293B"/>
                            </a:solidFill>
                            <a:latin typeface="Consolas" pitchFamily="34" charset="0"/>
                            <a:ea typeface="Consolas" pitchFamily="34" charset="-122"/>
                            <a:cs typeface="Consolas" pitchFamily="34" charset="-120"/>
                          </a:rPr>
                          <m:t>(</m:t>
                        </m:r>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q</m:t>
                            </m:r>
                          </m:e>
                          <m:sub>
                            <m:r>
                              <m:rPr>
                                <m:nor/>
                              </m:rPr>
                              <a:rPr lang="en-US" sz="1200" dirty="0">
                                <a:solidFill>
                                  <a:srgbClr val="1E293B"/>
                                </a:solidFill>
                                <a:latin typeface="Calibri" pitchFamily="34" charset="0"/>
                                <a:ea typeface="Calibri" pitchFamily="34" charset="-122"/>
                                <a:cs typeface="Calibri" pitchFamily="34" charset="-120"/>
                              </a:rPr>
                              <m:t>d</m:t>
                            </m:r>
                            <m:r>
                              <m:rPr>
                                <m:nor/>
                              </m:rPr>
                              <a:rPr lang="en-US" sz="1200" dirty="0">
                                <a:solidFill>
                                  <a:srgbClr val="1E293B"/>
                                </a:solidFill>
                                <a:latin typeface="Consolas" panose="020B0609020204030204" pitchFamily="49"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k</m:t>
                            </m:r>
                          </m:sub>
                        </m:sSub>
                        <m:r>
                          <m:rPr>
                            <m:nor/>
                          </m:rPr>
                          <a:rPr lang="en-US" sz="1200" dirty="0">
                            <a:solidFill>
                              <a:srgbClr val="1E293B"/>
                            </a:solidFill>
                            <a:latin typeface="Consolas" pitchFamily="34" charset="0"/>
                            <a:ea typeface="Consolas" pitchFamily="34" charset="-122"/>
                            <a:cs typeface="Consolas" pitchFamily="34" charset="-120"/>
                          </a:rPr>
                          <m:t>,</m:t>
                        </m:r>
                        <m:sSubSup>
                          <m:sSubSupPr>
                            <m:ctrlPr>
                              <a:rPr lang="en-US" sz="1200" i="1">
                                <a:solidFill>
                                  <a:srgbClr val="1E293B"/>
                                </a:solidFill>
                                <a:latin typeface="Cambria Math" panose="02040503050406030204" pitchFamily="18" charset="0"/>
                              </a:rPr>
                            </m:ctrlPr>
                          </m:sSubSupPr>
                          <m:e>
                            <m:r>
                              <m:rPr>
                                <m:nor/>
                              </m:rPr>
                              <a:rPr lang="en-US" sz="1200" b="0" i="0" smtClean="0">
                                <a:solidFill>
                                  <a:srgbClr val="1E293B"/>
                                </a:solidFill>
                                <a:latin typeface="Cambria Math" panose="02040503050406030204" pitchFamily="18" charset="0"/>
                              </a:rPr>
                              <m:t> </m:t>
                            </m:r>
                            <m:r>
                              <m:rPr>
                                <m:nor/>
                              </m:rPr>
                              <a:rPr lang="en-US" sz="1200" dirty="0">
                                <a:solidFill>
                                  <a:srgbClr val="1E293B"/>
                                </a:solidFill>
                                <a:latin typeface="Consolas" pitchFamily="34" charset="0"/>
                                <a:ea typeface="Consolas" pitchFamily="34" charset="-122"/>
                                <a:cs typeface="Consolas" pitchFamily="34" charset="-120"/>
                              </a:rPr>
                              <m:t>R</m:t>
                            </m:r>
                          </m:e>
                          <m:sub>
                            <m:r>
                              <m:rPr>
                                <m:nor/>
                              </m:rPr>
                              <a:rPr lang="en-US" sz="1200" dirty="0">
                                <a:solidFill>
                                  <a:srgbClr val="1E293B"/>
                                </a:solidFill>
                                <a:latin typeface="Consolas" pitchFamily="34" charset="0"/>
                                <a:ea typeface="Consolas" pitchFamily="34" charset="-122"/>
                                <a:cs typeface="Consolas" pitchFamily="34" charset="-120"/>
                              </a:rPr>
                              <m:t>j</m:t>
                            </m:r>
                          </m:sub>
                          <m:sup>
                            <m:r>
                              <m:rPr>
                                <m:nor/>
                              </m:rPr>
                              <a:rPr lang="en-US" sz="1200" dirty="0">
                                <a:solidFill>
                                  <a:srgbClr val="1E293B"/>
                                </a:solidFill>
                                <a:latin typeface="Calibri" pitchFamily="34" charset="0"/>
                                <a:ea typeface="Calibri" pitchFamily="34" charset="-122"/>
                                <a:cs typeface="Calibri" pitchFamily="34" charset="-120"/>
                              </a:rPr>
                              <m:t>d</m:t>
                            </m:r>
                            <m:r>
                              <m:rPr>
                                <m:nor/>
                              </m:rPr>
                              <a:rPr lang="en-US" sz="1200" dirty="0">
                                <a:solidFill>
                                  <a:srgbClr val="1E293B"/>
                                </a:solidFill>
                                <a:latin typeface="Consolas" pitchFamily="34" charset="0"/>
                                <a:ea typeface="Consolas" pitchFamily="34" charset="-122"/>
                                <a:cs typeface="Consolas" pitchFamily="34" charset="-120"/>
                              </a:rPr>
                              <m:t>−1</m:t>
                            </m:r>
                          </m:sup>
                        </m:sSubSup>
                        <m:r>
                          <m:rPr>
                            <m:nor/>
                          </m:rPr>
                          <a:rPr lang="en-US" sz="1200" dirty="0">
                            <a:solidFill>
                              <a:srgbClr val="1E293B"/>
                            </a:solidFill>
                            <a:latin typeface="Consolas" pitchFamily="34" charset="0"/>
                            <a:ea typeface="Consolas" pitchFamily="34" charset="-122"/>
                            <a:cs typeface="Consolas" pitchFamily="34" charset="-120"/>
                          </a:rPr>
                          <m:t>)</m:t>
                        </m:r>
                      </m:e>
                    </m:nary>
                  </m:oMath>
                </a14:m>
                <a:r>
                  <a:rPr lang="en-US" sz="1200" dirty="0">
                    <a:solidFill>
                      <a:srgbClr val="1E293B"/>
                    </a:solidFill>
                    <a:latin typeface="Consolas" pitchFamily="34" charset="0"/>
                    <a:ea typeface="Consolas" pitchFamily="34" charset="-122"/>
                    <a:cs typeface="Consolas" pitchFamily="34" charset="-120"/>
                  </a:rPr>
                  <a:t>
</a:t>
                </a:r>
                <a:r>
                  <a:rPr lang="en-US" sz="1200" dirty="0">
                    <a:solidFill>
                      <a:srgbClr val="1E293B"/>
                    </a:solidFill>
                    <a:latin typeface="Calibri" pitchFamily="34" charset="0"/>
                    <a:ea typeface="Calibri" pitchFamily="34" charset="-122"/>
                    <a:cs typeface="Calibri" pitchFamily="34" charset="-120"/>
                  </a:rPr>
                  <a:t>4.  Return  </a:t>
                </a:r>
                <a:r>
                  <a:rPr lang="en-US" sz="1200" dirty="0">
                    <a:solidFill>
                      <a:srgbClr val="1E293B"/>
                    </a:solidFill>
                    <a:latin typeface="Consolas" pitchFamily="34" charset="0"/>
                    <a:ea typeface="Consolas" pitchFamily="34" charset="-122"/>
                    <a:cs typeface="Consolas" pitchFamily="34" charset="-120"/>
                  </a:rPr>
                  <a:t>R = (</a:t>
                </a:r>
                <a14:m>
                  <m:oMath xmlns:m="http://schemas.openxmlformats.org/officeDocument/2006/math">
                    <m:sSubSup>
                      <m:sSubSupPr>
                        <m:ctrlPr>
                          <a:rPr lang="en-US" sz="1200" i="1">
                            <a:solidFill>
                              <a:srgbClr val="1E293B"/>
                            </a:solidFill>
                            <a:latin typeface="Cambria Math" panose="02040503050406030204" pitchFamily="18" charset="0"/>
                          </a:rPr>
                        </m:ctrlPr>
                      </m:sSubSupPr>
                      <m:e>
                        <m:r>
                          <m:rPr>
                            <m:nor/>
                          </m:rPr>
                          <a:rPr lang="en-US" sz="1200" dirty="0">
                            <a:solidFill>
                              <a:srgbClr val="1E293B"/>
                            </a:solidFill>
                            <a:latin typeface="Consolas" pitchFamily="34" charset="0"/>
                            <a:ea typeface="Consolas" pitchFamily="34" charset="-122"/>
                            <a:cs typeface="Consolas" pitchFamily="34" charset="-120"/>
                          </a:rPr>
                          <m:t>R</m:t>
                        </m:r>
                      </m:e>
                      <m:sub>
                        <m:r>
                          <m:rPr>
                            <m:nor/>
                          </m:rPr>
                          <a:rPr lang="en-US" sz="1200" dirty="0">
                            <a:solidFill>
                              <a:srgbClr val="1E293B"/>
                            </a:solidFill>
                            <a:latin typeface="Consolas" pitchFamily="34" charset="0"/>
                            <a:ea typeface="Consolas" pitchFamily="34" charset="-122"/>
                            <a:cs typeface="Consolas" pitchFamily="34" charset="-120"/>
                          </a:rPr>
                          <m:t>1</m:t>
                        </m:r>
                      </m:sub>
                      <m:sup>
                        <m:r>
                          <m:rPr>
                            <m:nor/>
                          </m:rPr>
                          <a:rPr lang="en-US" sz="1200" dirty="0">
                            <a:solidFill>
                              <a:srgbClr val="1E293B"/>
                            </a:solidFill>
                            <a:latin typeface="Consolas" pitchFamily="34" charset="0"/>
                            <a:ea typeface="Consolas" pitchFamily="34" charset="-122"/>
                            <a:cs typeface="Consolas" pitchFamily="34" charset="-120"/>
                          </a:rPr>
                          <m:t>d</m:t>
                        </m:r>
                      </m:sup>
                    </m:sSubSup>
                  </m:oMath>
                </a14:m>
                <a:r>
                  <a:rPr lang="en-US" sz="1200" dirty="0">
                    <a:solidFill>
                      <a:srgbClr val="1E293B"/>
                    </a:solidFill>
                    <a:latin typeface="Consolas" pitchFamily="34" charset="0"/>
                    <a:ea typeface="Consolas" pitchFamily="34" charset="-122"/>
                    <a:cs typeface="Consolas" pitchFamily="34" charset="-120"/>
                  </a:rPr>
                  <a:t>, …, </a:t>
                </a:r>
                <a14:m>
                  <m:oMath xmlns:m="http://schemas.openxmlformats.org/officeDocument/2006/math">
                    <m:sSubSup>
                      <m:sSubSupPr>
                        <m:ctrlPr>
                          <a:rPr lang="en-US" sz="1200" i="1">
                            <a:solidFill>
                              <a:srgbClr val="1E293B"/>
                            </a:solidFill>
                            <a:latin typeface="Cambria Math" panose="02040503050406030204" pitchFamily="18" charset="0"/>
                          </a:rPr>
                        </m:ctrlPr>
                      </m:sSubSupPr>
                      <m:e>
                        <m:r>
                          <m:rPr>
                            <m:nor/>
                          </m:rPr>
                          <a:rPr lang="en-US" sz="1200" dirty="0">
                            <a:solidFill>
                              <a:srgbClr val="1E293B"/>
                            </a:solidFill>
                            <a:latin typeface="Consolas" pitchFamily="34" charset="0"/>
                            <a:ea typeface="Consolas" pitchFamily="34" charset="-122"/>
                            <a:cs typeface="Consolas" pitchFamily="34" charset="-120"/>
                          </a:rPr>
                          <m:t>R</m:t>
                        </m:r>
                      </m:e>
                      <m:sub>
                        <m:r>
                          <m:rPr>
                            <m:nor/>
                          </m:rPr>
                          <a:rPr lang="en-US" sz="1200" dirty="0">
                            <a:solidFill>
                              <a:srgbClr val="1E293B"/>
                            </a:solidFill>
                            <a:latin typeface="Consolas" pitchFamily="34" charset="0"/>
                            <a:ea typeface="Consolas" pitchFamily="34" charset="-122"/>
                            <a:cs typeface="Consolas" pitchFamily="34" charset="-120"/>
                          </a:rPr>
                          <m:t>ceil</m:t>
                        </m:r>
                        <m:r>
                          <m:rPr>
                            <m:nor/>
                          </m:rPr>
                          <a:rPr lang="en-US" sz="1200" dirty="0">
                            <a:solidFill>
                              <a:srgbClr val="1E293B"/>
                            </a:solidFill>
                            <a:latin typeface="Consolas" pitchFamily="34" charset="0"/>
                            <a:ea typeface="Consolas" pitchFamily="34" charset="-122"/>
                            <a:cs typeface="Consolas" pitchFamily="34" charset="-120"/>
                          </a:rPr>
                          <m:t>(ℓ/ℓ₀)</m:t>
                        </m:r>
                      </m:sub>
                      <m:sup>
                        <m:r>
                          <m:rPr>
                            <m:nor/>
                          </m:rPr>
                          <a:rPr lang="en-US" sz="1200" dirty="0">
                            <a:solidFill>
                              <a:srgbClr val="1E293B"/>
                            </a:solidFill>
                            <a:latin typeface="Consolas" pitchFamily="34" charset="0"/>
                            <a:ea typeface="Consolas" pitchFamily="34" charset="-122"/>
                            <a:cs typeface="Consolas" pitchFamily="34" charset="-120"/>
                          </a:rPr>
                          <m:t>d</m:t>
                        </m:r>
                      </m:sup>
                    </m:sSubSup>
                  </m:oMath>
                </a14:m>
                <a:r>
                  <a:rPr lang="en-US" sz="1200" dirty="0">
                    <a:solidFill>
                      <a:srgbClr val="1E293B"/>
                    </a:solidFill>
                    <a:latin typeface="Consolas" pitchFamily="34" charset="0"/>
                    <a:ea typeface="Consolas" pitchFamily="34" charset="-122"/>
                    <a:cs typeface="Consolas" pitchFamily="34" charset="-120"/>
                  </a:rPr>
                  <a:t>)</a:t>
                </a:r>
                <a:endParaRPr lang="en-US" sz="1200" dirty="0"/>
              </a:p>
            </p:txBody>
          </p:sp>
        </mc:Choice>
        <mc:Fallback xmlns="">
          <p:sp>
            <p:nvSpPr>
              <p:cNvPr id="8" name="Text 6"/>
              <p:cNvSpPr>
                <a:spLocks noRot="1" noChangeAspect="1" noMove="1" noResize="1" noEditPoints="1" noAdjustHandles="1" noChangeArrowheads="1" noChangeShapeType="1" noTextEdit="1"/>
              </p:cNvSpPr>
              <p:nvPr/>
            </p:nvSpPr>
            <p:spPr>
              <a:xfrm>
                <a:off x="670560" y="1729139"/>
                <a:ext cx="5608320" cy="2621280"/>
              </a:xfrm>
              <a:prstGeom prst="rect">
                <a:avLst/>
              </a:prstGeom>
              <a:blipFill>
                <a:blip r:embed="rId3"/>
                <a:stretch>
                  <a:fillRect t="-233"/>
                </a:stretch>
              </a:blipFill>
              <a:ln/>
            </p:spPr>
            <p:txBody>
              <a:bodyPr/>
              <a:lstStyle/>
              <a:p>
                <a:r>
                  <a:rPr lang="en-US">
                    <a:noFill/>
                  </a:rPr>
                  <a:t> </a:t>
                </a:r>
              </a:p>
            </p:txBody>
          </p:sp>
        </mc:Fallback>
      </mc:AlternateContent>
      <p:sp>
        <p:nvSpPr>
          <p:cNvPr id="9" name="Text 7"/>
          <p:cNvSpPr/>
          <p:nvPr/>
        </p:nvSpPr>
        <p:spPr>
          <a:xfrm>
            <a:off x="6522720" y="1485299"/>
            <a:ext cx="4998720"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Computation &amp; Reply Size</a:t>
            </a:r>
            <a:endParaRPr lang="en-US" sz="1267" dirty="0"/>
          </a:p>
        </p:txBody>
      </p:sp>
      <mc:AlternateContent xmlns:mc="http://schemas.openxmlformats.org/markup-compatibility/2006" xmlns:a14="http://schemas.microsoft.com/office/drawing/2010/main">
        <mc:Choice Requires="a14">
          <p:sp>
            <p:nvSpPr>
              <p:cNvPr id="10" name="Text 8"/>
              <p:cNvSpPr/>
              <p:nvPr/>
            </p:nvSpPr>
            <p:spPr>
              <a:xfrm>
                <a:off x="6522720" y="1729139"/>
                <a:ext cx="4998720" cy="2621280"/>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Absorption (dominant cost):
</a:t>
                </a:r>
                <a:r>
                  <a:rPr lang="en-US" sz="1200" dirty="0">
                    <a:solidFill>
                      <a:srgbClr val="1E293B"/>
                    </a:solidFill>
                    <a:latin typeface="Consolas" pitchFamily="34" charset="0"/>
                    <a:ea typeface="Consolas" pitchFamily="34" charset="-122"/>
                    <a:cs typeface="Consolas" pitchFamily="34" charset="-120"/>
                  </a:rPr>
                  <a:t>  n × ceil(ℓ/ℓ₀)  PlainMult ops
</a:t>
                </a:r>
                <a:r>
                  <a:rPr lang="en-US" sz="1200" dirty="0">
                    <a:solidFill>
                      <a:srgbClr val="1E293B"/>
                    </a:solidFill>
                    <a:latin typeface="Calibri" pitchFamily="34" charset="0"/>
                    <a:ea typeface="Calibri" pitchFamily="34" charset="-122"/>
                    <a:cs typeface="Calibri" pitchFamily="34" charset="-120"/>
                  </a:rPr>
                  <a:t>Reply size  (per chunk):
</a:t>
                </a:r>
                <a:r>
                  <a:rPr lang="en-US" sz="1200" dirty="0">
                    <a:solidFill>
                      <a:srgbClr val="1E293B"/>
                    </a:solidFill>
                    <a:latin typeface="Consolas" pitchFamily="34" charset="0"/>
                    <a:ea typeface="Consolas" pitchFamily="34" charset="-122"/>
                    <a:cs typeface="Consolas" pitchFamily="34" charset="-120"/>
                  </a:rPr>
                  <a:t>  XPIR/SealPIR (d=2): F cts, </a:t>
                </a:r>
                <a14:m>
                  <m:oMath xmlns:m="http://schemas.openxmlformats.org/officeDocument/2006/math">
                    <m:sSup>
                      <m:sSupPr>
                        <m:ctrlPr>
                          <a:rPr lang="en-US" sz="1200" i="1" smtClean="0">
                            <a:solidFill>
                              <a:srgbClr val="1E293B"/>
                            </a:solidFill>
                            <a:latin typeface="Cambria Math" panose="02040503050406030204" pitchFamily="18" charset="0"/>
                          </a:rPr>
                        </m:ctrlPr>
                      </m:sSupPr>
                      <m:e>
                        <m:r>
                          <m:rPr>
                            <m:nor/>
                          </m:rPr>
                          <a:rPr lang="en-US" sz="1200" dirty="0">
                            <a:solidFill>
                              <a:srgbClr val="1E293B"/>
                            </a:solidFill>
                            <a:latin typeface="Consolas" pitchFamily="34" charset="0"/>
                            <a:ea typeface="Consolas" pitchFamily="34" charset="-122"/>
                            <a:cs typeface="Consolas" pitchFamily="34" charset="-120"/>
                          </a:rPr>
                          <m:t>O</m:t>
                        </m:r>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F</m:t>
                        </m:r>
                      </m:e>
                      <m:sup>
                        <m:r>
                          <m:rPr>
                            <m:nor/>
                          </m:rPr>
                          <a:rPr lang="en-US" sz="1200" dirty="0">
                            <a:solidFill>
                              <a:srgbClr val="1E293B"/>
                            </a:solidFill>
                            <a:latin typeface="Consolas" pitchFamily="34" charset="0"/>
                            <a:ea typeface="Consolas" pitchFamily="34" charset="-122"/>
                            <a:cs typeface="Consolas" pitchFamily="34" charset="-120"/>
                          </a:rPr>
                          <m:t>d</m:t>
                        </m:r>
                        <m:r>
                          <m:rPr>
                            <m:nor/>
                          </m:rPr>
                          <a:rPr lang="en-US" sz="1200" dirty="0">
                            <a:solidFill>
                              <a:srgbClr val="1E293B"/>
                            </a:solidFill>
                            <a:latin typeface="Consolas" pitchFamily="34" charset="0"/>
                            <a:ea typeface="Consolas" pitchFamily="34" charset="-122"/>
                            <a:cs typeface="Consolas" pitchFamily="34" charset="-120"/>
                          </a:rPr>
                          <m:t>−1</m:t>
                        </m:r>
                      </m:sup>
                    </m:sSup>
                  </m:oMath>
                </a14:m>
                <a:r>
                  <a:rPr lang="en-US" sz="1200" dirty="0">
                    <a:solidFill>
                      <a:srgbClr val="1E293B"/>
                    </a:solidFill>
                    <a:latin typeface="Consolas" pitchFamily="34" charset="0"/>
                    <a:ea typeface="Consolas" pitchFamily="34" charset="-122"/>
                    <a:cs typeface="Consolas" pitchFamily="34" charset="-120"/>
                  </a:rPr>
                  <a:t>)
  General depth d: </a:t>
                </a:r>
                <a14:m>
                  <m:oMath xmlns:m="http://schemas.openxmlformats.org/officeDocument/2006/math">
                    <m:sSup>
                      <m:sSupPr>
                        <m:ctrlPr>
                          <a:rPr lang="en-US" sz="1200" i="1">
                            <a:solidFill>
                              <a:srgbClr val="1E293B"/>
                            </a:solidFill>
                            <a:latin typeface="Cambria Math" panose="02040503050406030204" pitchFamily="18" charset="0"/>
                          </a:rPr>
                        </m:ctrlPr>
                      </m:sSupPr>
                      <m:e>
                        <m:r>
                          <m:rPr>
                            <m:nor/>
                          </m:rPr>
                          <a:rPr lang="en-US" sz="1200" dirty="0">
                            <a:solidFill>
                              <a:srgbClr val="1E293B"/>
                            </a:solidFill>
                            <a:latin typeface="Consolas" pitchFamily="34" charset="0"/>
                            <a:ea typeface="Consolas" pitchFamily="34" charset="-122"/>
                            <a:cs typeface="Consolas" pitchFamily="34" charset="-120"/>
                          </a:rPr>
                          <m:t>O</m:t>
                        </m:r>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F</m:t>
                        </m:r>
                      </m:e>
                      <m:sup>
                        <m:r>
                          <m:rPr>
                            <m:nor/>
                          </m:rPr>
                          <a:rPr lang="en-US" sz="1200" dirty="0">
                            <a:solidFill>
                              <a:srgbClr val="1E293B"/>
                            </a:solidFill>
                            <a:latin typeface="Consolas" pitchFamily="34" charset="0"/>
                            <a:ea typeface="Consolas" pitchFamily="34" charset="-122"/>
                            <a:cs typeface="Consolas" pitchFamily="34" charset="-120"/>
                          </a:rPr>
                          <m:t>d</m:t>
                        </m:r>
                        <m:r>
                          <m:rPr>
                            <m:nor/>
                          </m:rPr>
                          <a:rPr lang="en-US" sz="1200" dirty="0">
                            <a:solidFill>
                              <a:srgbClr val="1E293B"/>
                            </a:solidFill>
                            <a:latin typeface="Consolas" pitchFamily="34" charset="0"/>
                            <a:ea typeface="Consolas" pitchFamily="34" charset="-122"/>
                            <a:cs typeface="Consolas" pitchFamily="34" charset="-120"/>
                          </a:rPr>
                          <m:t>−1</m:t>
                        </m:r>
                      </m:sup>
                    </m:sSup>
                  </m:oMath>
                </a14:m>
                <a:r>
                  <a:rPr lang="en-US" sz="1200" dirty="0">
                    <a:solidFill>
                      <a:srgbClr val="1E293B"/>
                    </a:solidFill>
                    <a:latin typeface="Consolas" pitchFamily="34" charset="0"/>
                    <a:ea typeface="Consolas" pitchFamily="34" charset="-122"/>
                    <a:cs typeface="Consolas" pitchFamily="34" charset="-120"/>
                  </a:rPr>
                  <a:t>)
</a:t>
                </a:r>
                <a:r>
                  <a:rPr lang="en-US" sz="1200" dirty="0">
                    <a:solidFill>
                      <a:srgbClr val="1E293B"/>
                    </a:solidFill>
                    <a:latin typeface="Calibri" pitchFamily="34" charset="0"/>
                    <a:ea typeface="Calibri" pitchFamily="34" charset="-122"/>
                    <a:cs typeface="Calibri" pitchFamily="34" charset="-120"/>
                  </a:rPr>
                  <a:t>  F ≈ 5–6 for typical Ring-LWE params
  Each recursion level multiplies reply by F
OnionPIR fix:
  FHE.ExternalProd  (RLWE×RGSW→RLWE)
</a:t>
                </a:r>
                <a:r>
                  <a:rPr lang="en-US" sz="1200" dirty="0">
                    <a:solidFill>
                      <a:srgbClr val="1E293B"/>
                    </a:solidFill>
                    <a:latin typeface="Consolas" pitchFamily="34" charset="0"/>
                    <a:ea typeface="Consolas" pitchFamily="34" charset="-122"/>
                    <a:cs typeface="Consolas" pitchFamily="34" charset="-120"/>
                  </a:rPr>
                  <a:t>  Additive noise  →  reply = O(1)</a:t>
                </a:r>
                <a:endParaRPr lang="en-US" sz="1200" dirty="0"/>
              </a:p>
            </p:txBody>
          </p:sp>
        </mc:Choice>
        <mc:Fallback xmlns="">
          <p:sp>
            <p:nvSpPr>
              <p:cNvPr id="10" name="Text 8"/>
              <p:cNvSpPr>
                <a:spLocks noRot="1" noChangeAspect="1" noMove="1" noResize="1" noEditPoints="1" noAdjustHandles="1" noChangeArrowheads="1" noChangeShapeType="1" noTextEdit="1"/>
              </p:cNvSpPr>
              <p:nvPr/>
            </p:nvSpPr>
            <p:spPr>
              <a:xfrm>
                <a:off x="6522720" y="1729139"/>
                <a:ext cx="4998720" cy="2621280"/>
              </a:xfrm>
              <a:prstGeom prst="rect">
                <a:avLst/>
              </a:prstGeom>
              <a:blipFill>
                <a:blip r:embed="rId4"/>
                <a:stretch>
                  <a:fillRect t="-233"/>
                </a:stretch>
              </a:blipFill>
              <a:ln/>
            </p:spPr>
            <p:txBody>
              <a:bodyPr/>
              <a:lstStyle/>
              <a:p>
                <a:r>
                  <a:rPr lang="en-US">
                    <a:noFill/>
                  </a:rPr>
                  <a:t> </a:t>
                </a:r>
              </a:p>
            </p:txBody>
          </p:sp>
        </mc:Fallback>
      </mc:AlternateContent>
      <p:sp>
        <p:nvSpPr>
          <p:cNvPr id="11" name="Shape 9"/>
          <p:cNvSpPr/>
          <p:nvPr/>
        </p:nvSpPr>
        <p:spPr>
          <a:xfrm>
            <a:off x="487680" y="4643027"/>
            <a:ext cx="11216640" cy="20726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487680" y="4643027"/>
            <a:ext cx="11216640" cy="512064"/>
          </a:xfrm>
          <a:prstGeom prst="rect">
            <a:avLst/>
          </a:prstGeom>
          <a:solidFill>
            <a:srgbClr val="1E293B"/>
          </a:solidFill>
          <a:ln w="12700">
            <a:solidFill>
              <a:srgbClr val="1E293B"/>
            </a:solidFill>
            <a:prstDash val="solid"/>
          </a:ln>
        </p:spPr>
      </p:sp>
      <p:sp>
        <p:nvSpPr>
          <p:cNvPr id="13" name="Text 11"/>
          <p:cNvSpPr/>
          <p:nvPr/>
        </p:nvSpPr>
        <p:spPr>
          <a:xfrm>
            <a:off x="670560" y="4716179"/>
            <a:ext cx="6096000" cy="341376"/>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(4)  Response Decoding / </a:t>
            </a:r>
            <a:r>
              <a:rPr lang="zh-CN" altLang="en-US" sz="1600" b="1" dirty="0">
                <a:solidFill>
                  <a:srgbClr val="FFFFFF"/>
                </a:solidFill>
                <a:latin typeface="Calibri" pitchFamily="34" charset="0"/>
                <a:ea typeface="Calibri" pitchFamily="34" charset="-122"/>
                <a:cs typeface="Calibri" pitchFamily="34" charset="-120"/>
              </a:rPr>
              <a:t>响应解码</a:t>
            </a:r>
            <a:endParaRPr lang="en-US" sz="1600" dirty="0"/>
          </a:p>
        </p:txBody>
      </p:sp>
      <p:sp>
        <p:nvSpPr>
          <p:cNvPr id="14" name="Text 12"/>
          <p:cNvSpPr/>
          <p:nvPr/>
        </p:nvSpPr>
        <p:spPr>
          <a:xfrm>
            <a:off x="9509760" y="4716179"/>
            <a:ext cx="2011680" cy="341376"/>
          </a:xfrm>
          <a:prstGeom prst="rect">
            <a:avLst/>
          </a:prstGeom>
          <a:noFill/>
          <a:ln/>
        </p:spPr>
        <p:txBody>
          <a:bodyPr wrap="square" lIns="0" tIns="0" rIns="0" bIns="0" rtlCol="0" anchor="ctr"/>
          <a:lstStyle/>
          <a:p>
            <a:pPr algn="r"/>
            <a:r>
              <a:rPr lang="en-US" sz="1267" i="1" dirty="0">
                <a:solidFill>
                  <a:srgbClr val="93C5FD"/>
                </a:solidFill>
                <a:latin typeface="Calibri" pitchFamily="34" charset="0"/>
                <a:ea typeface="Calibri" pitchFamily="34" charset="-122"/>
                <a:cs typeface="Calibri" pitchFamily="34" charset="-120"/>
              </a:rPr>
              <a:t>Actor: Client</a:t>
            </a:r>
            <a:endParaRPr lang="en-US" sz="1267" dirty="0"/>
          </a:p>
        </p:txBody>
      </p:sp>
      <p:sp>
        <p:nvSpPr>
          <p:cNvPr id="15" name="Text 13"/>
          <p:cNvSpPr/>
          <p:nvPr/>
        </p:nvSpPr>
        <p:spPr>
          <a:xfrm>
            <a:off x="670560" y="5228243"/>
            <a:ext cx="5486400"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Algorithm</a:t>
            </a:r>
            <a:endParaRPr lang="en-US" sz="1267" dirty="0"/>
          </a:p>
        </p:txBody>
      </p:sp>
      <mc:AlternateContent xmlns:mc="http://schemas.openxmlformats.org/markup-compatibility/2006" xmlns:a14="http://schemas.microsoft.com/office/drawing/2010/main">
        <mc:Choice Requires="a14">
          <p:sp>
            <p:nvSpPr>
              <p:cNvPr id="16" name="Text 14"/>
              <p:cNvSpPr/>
              <p:nvPr/>
            </p:nvSpPr>
            <p:spPr>
              <a:xfrm>
                <a:off x="670560" y="5472083"/>
                <a:ext cx="5608320" cy="1158240"/>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1.  Receive  </a:t>
                </a:r>
                <a:r>
                  <a:rPr lang="en-US" sz="1200" dirty="0">
                    <a:solidFill>
                      <a:srgbClr val="1E293B"/>
                    </a:solidFill>
                    <a:latin typeface="Consolas" pitchFamily="34" charset="0"/>
                    <a:ea typeface="Consolas" pitchFamily="34" charset="-122"/>
                    <a:cs typeface="Consolas" pitchFamily="34" charset="-120"/>
                  </a:rPr>
                  <a:t>R = (</a:t>
                </a:r>
                <a14:m>
                  <m:oMath xmlns:m="http://schemas.openxmlformats.org/officeDocument/2006/math">
                    <m:sSub>
                      <m:sSubPr>
                        <m:ctrlPr>
                          <a:rPr lang="en-US" sz="1200" i="1" smtClean="0">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R</m:t>
                        </m:r>
                      </m:e>
                      <m:sub>
                        <m:r>
                          <m:rPr>
                            <m:nor/>
                          </m:rPr>
                          <a:rPr lang="en-US" sz="1200" dirty="0">
                            <a:solidFill>
                              <a:srgbClr val="1E293B"/>
                            </a:solidFill>
                            <a:latin typeface="Consolas" pitchFamily="34" charset="0"/>
                            <a:ea typeface="Consolas" pitchFamily="34" charset="-122"/>
                            <a:cs typeface="Consolas" pitchFamily="34" charset="-120"/>
                          </a:rPr>
                          <m:t>1</m:t>
                        </m:r>
                      </m:sub>
                    </m:sSub>
                  </m:oMath>
                </a14:m>
                <a:r>
                  <a:rPr lang="en-US" sz="1200" dirty="0">
                    <a:solidFill>
                      <a:srgbClr val="1E293B"/>
                    </a:solidFill>
                    <a:latin typeface="Consolas" pitchFamily="34" charset="0"/>
                    <a:ea typeface="Consolas" pitchFamily="34" charset="-122"/>
                    <a:cs typeface="Consolas" pitchFamily="34" charset="-120"/>
                  </a:rPr>
                  <a:t>, …,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R</m:t>
                        </m:r>
                      </m:e>
                      <m:sub>
                        <m:r>
                          <m:rPr>
                            <m:nor/>
                          </m:rPr>
                          <a:rPr lang="en-US" sz="1200" dirty="0">
                            <a:solidFill>
                              <a:srgbClr val="1E293B"/>
                            </a:solidFill>
                            <a:latin typeface="Consolas" pitchFamily="34" charset="0"/>
                            <a:ea typeface="Consolas" pitchFamily="34" charset="-122"/>
                            <a:cs typeface="Consolas" pitchFamily="34" charset="-120"/>
                          </a:rPr>
                          <m:t>ceil</m:t>
                        </m:r>
                        <m:r>
                          <m:rPr>
                            <m:nor/>
                          </m:rPr>
                          <a:rPr lang="en-US" sz="1200" dirty="0">
                            <a:solidFill>
                              <a:srgbClr val="1E293B"/>
                            </a:solidFill>
                            <a:latin typeface="Consolas" pitchFamily="34" charset="0"/>
                            <a:ea typeface="Consolas" pitchFamily="34" charset="-122"/>
                            <a:cs typeface="Consolas" pitchFamily="34" charset="-120"/>
                          </a:rPr>
                          <m:t>(ℓ/ℓ₀)</m:t>
                        </m:r>
                      </m:sub>
                    </m:sSub>
                  </m:oMath>
                </a14:m>
                <a:r>
                  <a:rPr lang="en-US" sz="1200" dirty="0">
                    <a:solidFill>
                      <a:srgbClr val="1E293B"/>
                    </a:solidFill>
                    <a:latin typeface="Consolas" pitchFamily="34" charset="0"/>
                    <a:ea typeface="Consolas" pitchFamily="34" charset="-122"/>
                    <a:cs typeface="Consolas" pitchFamily="34" charset="-120"/>
                  </a:rPr>
                  <a:t>)</a:t>
                </a:r>
                <a:r>
                  <a:rPr lang="en-US" sz="1200" dirty="0">
                    <a:solidFill>
                      <a:srgbClr val="1E293B"/>
                    </a:solidFill>
                    <a:latin typeface="Calibri" pitchFamily="34" charset="0"/>
                    <a:ea typeface="Calibri" pitchFamily="34" charset="-122"/>
                    <a:cs typeface="Calibri" pitchFamily="34" charset="-120"/>
                  </a:rPr>
                  <a:t>  from server
2.  Decrypt each ciphertext chunk:
</a:t>
                </a:r>
                <a:r>
                  <a:rPr lang="en-US" sz="1200"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anose="020B0609020204030204" pitchFamily="49" charset="0"/>
                            <a:ea typeface="Consolas" pitchFamily="34" charset="-122"/>
                            <a:cs typeface="Consolas" pitchFamily="34" charset="-120"/>
                          </a:rPr>
                          <m:t>m</m:t>
                        </m:r>
                      </m:e>
                      <m:sub>
                        <m:r>
                          <m:rPr>
                            <m:nor/>
                          </m:rPr>
                          <a:rPr lang="en-US" sz="1200" dirty="0">
                            <a:solidFill>
                              <a:srgbClr val="1E293B"/>
                            </a:solidFill>
                            <a:latin typeface="Consolas" panose="020B0609020204030204" pitchFamily="49" charset="0"/>
                            <a:ea typeface="Consolas" pitchFamily="34" charset="-122"/>
                            <a:cs typeface="Consolas" pitchFamily="34" charset="-120"/>
                          </a:rPr>
                          <m:t>k</m:t>
                        </m:r>
                        <m:r>
                          <m:rPr>
                            <m:nor/>
                          </m:rPr>
                          <a:rPr lang="en-US" sz="1200" dirty="0">
                            <a:solidFill>
                              <a:srgbClr val="1E293B"/>
                            </a:solidFill>
                            <a:latin typeface="Consolas" panose="020B0609020204030204" pitchFamily="49" charset="0"/>
                            <a:ea typeface="Consolas" pitchFamily="34" charset="-122"/>
                            <a:cs typeface="Consolas" pitchFamily="34" charset="-120"/>
                          </a:rPr>
                          <m:t>,</m:t>
                        </m:r>
                        <m:r>
                          <m:rPr>
                            <m:nor/>
                          </m:rPr>
                          <a:rPr lang="en-US" sz="1200" dirty="0">
                            <a:solidFill>
                              <a:srgbClr val="1E293B"/>
                            </a:solidFill>
                            <a:latin typeface="Consolas" panose="020B0609020204030204" pitchFamily="49" charset="0"/>
                            <a:ea typeface="Consolas" pitchFamily="34" charset="-122"/>
                            <a:cs typeface="Consolas" pitchFamily="34" charset="-120"/>
                          </a:rPr>
                          <m:t>j</m:t>
                        </m:r>
                      </m:sub>
                    </m:sSub>
                    <m:r>
                      <a:rPr lang="en-US" sz="1200" i="1" dirty="0">
                        <a:solidFill>
                          <a:srgbClr val="1E293B"/>
                        </a:solidFill>
                        <a:latin typeface="Cambria Math" panose="02040503050406030204" pitchFamily="18" charset="0"/>
                        <a:ea typeface="Consolas" pitchFamily="34" charset="-122"/>
                        <a:cs typeface="Consolas" pitchFamily="34" charset="-120"/>
                      </a:rPr>
                      <m:t> </m:t>
                    </m:r>
                  </m:oMath>
                </a14:m>
                <a:r>
                  <a:rPr lang="en-US" sz="1200" dirty="0">
                    <a:solidFill>
                      <a:srgbClr val="1E293B"/>
                    </a:solidFill>
                    <a:latin typeface="Consolas" pitchFamily="34" charset="0"/>
                    <a:ea typeface="Consolas" pitchFamily="34" charset="-122"/>
                    <a:cs typeface="Consolas" pitchFamily="34" charset="-120"/>
                  </a:rPr>
                  <a:t>  =  </a:t>
                </a:r>
                <a:r>
                  <a:rPr lang="en-US" sz="1200" dirty="0" err="1">
                    <a:solidFill>
                      <a:srgbClr val="1E293B"/>
                    </a:solidFill>
                    <a:latin typeface="Consolas" pitchFamily="34" charset="0"/>
                    <a:ea typeface="Consolas" pitchFamily="34" charset="-122"/>
                    <a:cs typeface="Consolas" pitchFamily="34" charset="-120"/>
                  </a:rPr>
                  <a:t>FHE.Dec</a:t>
                </a:r>
                <a:r>
                  <a:rPr lang="en-US" sz="1200" dirty="0">
                    <a:solidFill>
                      <a:srgbClr val="1E293B"/>
                    </a:solidFill>
                    <a:latin typeface="Consolas" pitchFamily="34" charset="0"/>
                    <a:ea typeface="Consolas" pitchFamily="34" charset="-122"/>
                    <a:cs typeface="Consolas" pitchFamily="34" charset="-120"/>
                  </a:rPr>
                  <a:t>(</a:t>
                </a:r>
                <a14:m>
                  <m:oMath xmlns:m="http://schemas.openxmlformats.org/officeDocument/2006/math">
                    <m:sSub>
                      <m:sSubPr>
                        <m:ctrlPr>
                          <a:rPr lang="en-US" sz="1200" i="1" smtClean="0">
                            <a:solidFill>
                              <a:srgbClr val="1E293B"/>
                            </a:solidFill>
                            <a:latin typeface="Cambria Math" panose="02040503050406030204" pitchFamily="18" charset="0"/>
                          </a:rPr>
                        </m:ctrlPr>
                      </m:sSubPr>
                      <m:e>
                        <m:r>
                          <m:rPr>
                            <m:nor/>
                          </m:rPr>
                          <a:rPr lang="en-US" sz="1200" dirty="0">
                            <a:solidFill>
                              <a:srgbClr val="1E293B"/>
                            </a:solidFill>
                            <a:latin typeface="Consolas" pitchFamily="34" charset="0"/>
                            <a:ea typeface="Consolas" pitchFamily="34" charset="-122"/>
                            <a:cs typeface="Consolas" pitchFamily="34" charset="-120"/>
                          </a:rPr>
                          <m:t>R</m:t>
                        </m:r>
                      </m:e>
                      <m:sub>
                        <m:r>
                          <m:rPr>
                            <m:nor/>
                          </m:rPr>
                          <a:rPr lang="en-US" sz="1200" dirty="0">
                            <a:solidFill>
                              <a:srgbClr val="1E293B"/>
                            </a:solidFill>
                            <a:latin typeface="Consolas" pitchFamily="34" charset="0"/>
                            <a:ea typeface="Consolas" pitchFamily="34" charset="-122"/>
                            <a:cs typeface="Consolas" pitchFamily="34" charset="-120"/>
                          </a:rPr>
                          <m:t>j</m:t>
                        </m:r>
                      </m:sub>
                    </m:sSub>
                  </m:oMath>
                </a14:m>
                <a:r>
                  <a:rPr lang="en-US" sz="1200" dirty="0">
                    <a:solidFill>
                      <a:srgbClr val="1E293B"/>
                    </a:solidFill>
                    <a:latin typeface="Consolas" pitchFamily="34" charset="0"/>
                    <a:ea typeface="Consolas" pitchFamily="34" charset="-122"/>
                    <a:cs typeface="Consolas" pitchFamily="34" charset="-120"/>
                  </a:rPr>
                  <a:t>, sk)
</a:t>
                </a:r>
                <a:r>
                  <a:rPr lang="en-US" sz="1200" dirty="0">
                    <a:solidFill>
                      <a:srgbClr val="1E293B"/>
                    </a:solidFill>
                    <a:latin typeface="Calibri" pitchFamily="34" charset="0"/>
                    <a:ea typeface="Calibri" pitchFamily="34" charset="-122"/>
                    <a:cs typeface="Calibri" pitchFamily="34" charset="-120"/>
                  </a:rPr>
                  <a:t>3.  Recover  </a:t>
                </a:r>
                <a:r>
                  <a:rPr lang="en-US" sz="1200" dirty="0">
                    <a:solidFill>
                      <a:srgbClr val="1E293B"/>
                    </a:solidFill>
                    <a:latin typeface="Consolas" pitchFamily="34" charset="0"/>
                    <a:ea typeface="Consolas" pitchFamily="34" charset="-122"/>
                    <a:cs typeface="Consolas" pitchFamily="34" charset="-120"/>
                  </a:rPr>
                  <a:t>DB[i] =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anose="020B0609020204030204" pitchFamily="49" charset="0"/>
                            <a:ea typeface="Consolas" pitchFamily="34" charset="-122"/>
                            <a:cs typeface="Consolas" pitchFamily="34" charset="-120"/>
                          </a:rPr>
                          <m:t>m</m:t>
                        </m:r>
                      </m:e>
                      <m:sub>
                        <m:r>
                          <m:rPr>
                            <m:nor/>
                          </m:rPr>
                          <a:rPr lang="en-US" sz="1200" dirty="0">
                            <a:solidFill>
                              <a:srgbClr val="1E293B"/>
                            </a:solidFill>
                            <a:latin typeface="Consolas" panose="020B0609020204030204" pitchFamily="49" charset="0"/>
                            <a:ea typeface="Consolas" pitchFamily="34" charset="-122"/>
                            <a:cs typeface="Consolas" pitchFamily="34" charset="-120"/>
                          </a:rPr>
                          <m:t>k</m:t>
                        </m:r>
                        <m:r>
                          <m:rPr>
                            <m:nor/>
                          </m:rPr>
                          <a:rPr lang="en-US" sz="1200" dirty="0">
                            <a:solidFill>
                              <a:srgbClr val="1E293B"/>
                            </a:solidFill>
                            <a:latin typeface="Consolas" panose="020B0609020204030204" pitchFamily="49" charset="0"/>
                            <a:ea typeface="Consolas" pitchFamily="34" charset="-122"/>
                            <a:cs typeface="Consolas" pitchFamily="34" charset="-120"/>
                          </a:rPr>
                          <m:t>,1</m:t>
                        </m:r>
                      </m:sub>
                    </m:sSub>
                    <m:r>
                      <a:rPr lang="en-US" sz="1200" i="1" dirty="0">
                        <a:solidFill>
                          <a:srgbClr val="1E293B"/>
                        </a:solidFill>
                        <a:latin typeface="Cambria Math" panose="02040503050406030204" pitchFamily="18" charset="0"/>
                        <a:ea typeface="Consolas" pitchFamily="34" charset="-122"/>
                        <a:cs typeface="Consolas" pitchFamily="34" charset="-120"/>
                      </a:rPr>
                      <m:t> </m:t>
                    </m:r>
                  </m:oMath>
                </a14:m>
                <a:r>
                  <a:rPr lang="en-US" sz="1200"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anose="020B0609020204030204" pitchFamily="49" charset="0"/>
                            <a:ea typeface="Consolas" pitchFamily="34" charset="-122"/>
                            <a:cs typeface="Consolas" pitchFamily="34" charset="-120"/>
                          </a:rPr>
                          <m:t>m</m:t>
                        </m:r>
                      </m:e>
                      <m:sub>
                        <m:r>
                          <m:rPr>
                            <m:nor/>
                          </m:rPr>
                          <a:rPr lang="en-US" sz="1200" dirty="0">
                            <a:solidFill>
                              <a:srgbClr val="1E293B"/>
                            </a:solidFill>
                            <a:latin typeface="Consolas" panose="020B0609020204030204" pitchFamily="49" charset="0"/>
                            <a:ea typeface="Consolas" pitchFamily="34" charset="-122"/>
                            <a:cs typeface="Consolas" pitchFamily="34" charset="-120"/>
                          </a:rPr>
                          <m:t>k</m:t>
                        </m:r>
                        <m:r>
                          <m:rPr>
                            <m:nor/>
                          </m:rPr>
                          <a:rPr lang="en-US" sz="1200" dirty="0">
                            <a:solidFill>
                              <a:srgbClr val="1E293B"/>
                            </a:solidFill>
                            <a:latin typeface="Consolas" panose="020B0609020204030204" pitchFamily="49" charset="0"/>
                            <a:ea typeface="Consolas" pitchFamily="34" charset="-122"/>
                            <a:cs typeface="Consolas" pitchFamily="34" charset="-120"/>
                          </a:rPr>
                          <m:t>,2</m:t>
                        </m:r>
                      </m:sub>
                    </m:sSub>
                    <m:r>
                      <a:rPr lang="en-US" sz="1200" i="1" dirty="0">
                        <a:solidFill>
                          <a:srgbClr val="1E293B"/>
                        </a:solidFill>
                        <a:latin typeface="Cambria Math" panose="02040503050406030204" pitchFamily="18" charset="0"/>
                        <a:ea typeface="Consolas" pitchFamily="34" charset="-122"/>
                        <a:cs typeface="Consolas" pitchFamily="34" charset="-120"/>
                      </a:rPr>
                      <m:t> </m:t>
                    </m:r>
                  </m:oMath>
                </a14:m>
                <a:r>
                  <a:rPr lang="en-US" sz="1200" dirty="0">
                    <a:solidFill>
                      <a:srgbClr val="1E293B"/>
                    </a:solidFill>
                    <a:latin typeface="Consolas" pitchFamily="34" charset="0"/>
                    <a:ea typeface="Consolas" pitchFamily="34" charset="-122"/>
                    <a:cs typeface="Consolas" pitchFamily="34" charset="-120"/>
                  </a:rPr>
                  <a:t>|| … || </a:t>
                </a:r>
                <a14:m>
                  <m:oMath xmlns:m="http://schemas.openxmlformats.org/officeDocument/2006/math">
                    <m:sSub>
                      <m:sSubPr>
                        <m:ctrlPr>
                          <a:rPr lang="en-US" sz="1200" i="1">
                            <a:solidFill>
                              <a:srgbClr val="1E293B"/>
                            </a:solidFill>
                            <a:latin typeface="Cambria Math" panose="02040503050406030204" pitchFamily="18" charset="0"/>
                          </a:rPr>
                        </m:ctrlPr>
                      </m:sSubPr>
                      <m:e>
                        <m:r>
                          <m:rPr>
                            <m:nor/>
                          </m:rPr>
                          <a:rPr lang="en-US" sz="1200" dirty="0">
                            <a:solidFill>
                              <a:srgbClr val="1E293B"/>
                            </a:solidFill>
                            <a:latin typeface="Consolas" panose="020B0609020204030204" pitchFamily="49" charset="0"/>
                            <a:ea typeface="Consolas" pitchFamily="34" charset="-122"/>
                            <a:cs typeface="Consolas" pitchFamily="34" charset="-120"/>
                          </a:rPr>
                          <m:t>m</m:t>
                        </m:r>
                      </m:e>
                      <m:sub>
                        <m:r>
                          <m:rPr>
                            <m:nor/>
                          </m:rPr>
                          <a:rPr lang="en-US" sz="1200" dirty="0">
                            <a:solidFill>
                              <a:srgbClr val="1E293B"/>
                            </a:solidFill>
                            <a:latin typeface="Consolas" pitchFamily="34" charset="0"/>
                            <a:ea typeface="Consolas" pitchFamily="34" charset="-122"/>
                            <a:cs typeface="Consolas" pitchFamily="34" charset="-120"/>
                          </a:rPr>
                          <m:t>k</m:t>
                        </m:r>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ceil</m:t>
                        </m:r>
                        <m:r>
                          <m:rPr>
                            <m:nor/>
                          </m:rPr>
                          <a:rPr lang="en-US" sz="1200" dirty="0">
                            <a:solidFill>
                              <a:srgbClr val="1E293B"/>
                            </a:solidFill>
                            <a:latin typeface="Consolas" pitchFamily="34" charset="0"/>
                            <a:ea typeface="Consolas" pitchFamily="34" charset="-122"/>
                            <a:cs typeface="Consolas" pitchFamily="34" charset="-120"/>
                          </a:rPr>
                          <m:t>(ℓ/ℓ₀)</m:t>
                        </m:r>
                      </m:sub>
                    </m:sSub>
                  </m:oMath>
                </a14:m>
                <a:endParaRPr lang="en-US" sz="1200" dirty="0"/>
              </a:p>
            </p:txBody>
          </p:sp>
        </mc:Choice>
        <mc:Fallback xmlns="">
          <p:sp>
            <p:nvSpPr>
              <p:cNvPr id="16" name="Text 14"/>
              <p:cNvSpPr>
                <a:spLocks noRot="1" noChangeAspect="1" noMove="1" noResize="1" noEditPoints="1" noAdjustHandles="1" noChangeArrowheads="1" noChangeShapeType="1" noTextEdit="1"/>
              </p:cNvSpPr>
              <p:nvPr/>
            </p:nvSpPr>
            <p:spPr>
              <a:xfrm>
                <a:off x="670560" y="5472083"/>
                <a:ext cx="5608320" cy="1158240"/>
              </a:xfrm>
              <a:prstGeom prst="rect">
                <a:avLst/>
              </a:prstGeom>
              <a:blipFill>
                <a:blip r:embed="rId5"/>
                <a:stretch>
                  <a:fillRect t="-526"/>
                </a:stretch>
              </a:blipFill>
              <a:ln/>
            </p:spPr>
            <p:txBody>
              <a:bodyPr/>
              <a:lstStyle/>
              <a:p>
                <a:r>
                  <a:rPr lang="en-US">
                    <a:noFill/>
                  </a:rPr>
                  <a:t> </a:t>
                </a:r>
              </a:p>
            </p:txBody>
          </p:sp>
        </mc:Fallback>
      </mc:AlternateContent>
      <p:sp>
        <p:nvSpPr>
          <p:cNvPr id="17" name="Text 15"/>
          <p:cNvSpPr/>
          <p:nvPr/>
        </p:nvSpPr>
        <p:spPr>
          <a:xfrm>
            <a:off x="6522720" y="5228243"/>
            <a:ext cx="4998720"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Security &amp; Correctness</a:t>
            </a:r>
            <a:endParaRPr lang="en-US" sz="1267" dirty="0"/>
          </a:p>
        </p:txBody>
      </p:sp>
      <p:sp>
        <p:nvSpPr>
          <p:cNvPr id="18" name="Text 16"/>
          <p:cNvSpPr/>
          <p:nvPr/>
        </p:nvSpPr>
        <p:spPr>
          <a:xfrm>
            <a:off x="6522720" y="5472083"/>
            <a:ext cx="4998720" cy="1158240"/>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  IND-CPA of the underlying FHE guarantees query privacy
•  Correctness: noise after </a:t>
            </a:r>
            <a:r>
              <a:rPr lang="en-US" sz="1200" dirty="0">
                <a:solidFill>
                  <a:srgbClr val="1E293B"/>
                </a:solidFill>
                <a:latin typeface="Consolas" pitchFamily="34" charset="0"/>
                <a:ea typeface="Consolas" pitchFamily="34" charset="-122"/>
                <a:cs typeface="Consolas" pitchFamily="34" charset="-120"/>
              </a:rPr>
              <a:t>d</a:t>
            </a:r>
            <a:r>
              <a:rPr lang="en-US" sz="1200" dirty="0">
                <a:solidFill>
                  <a:srgbClr val="1E293B"/>
                </a:solidFill>
                <a:latin typeface="Calibri" pitchFamily="34" charset="0"/>
                <a:ea typeface="Calibri" pitchFamily="34" charset="-122"/>
                <a:cs typeface="Calibri" pitchFamily="34" charset="-120"/>
              </a:rPr>
              <a:t> sequential mult. levels must remain below decryption threshold
•  Correctness depends on gadget params </a:t>
            </a:r>
            <a:r>
              <a:rPr lang="en-US" sz="1200" dirty="0">
                <a:solidFill>
                  <a:srgbClr val="1E293B"/>
                </a:solidFill>
                <a:latin typeface="Consolas" pitchFamily="34" charset="0"/>
                <a:ea typeface="Consolas" pitchFamily="34" charset="-122"/>
                <a:cs typeface="Consolas" pitchFamily="34" charset="-120"/>
              </a:rPr>
              <a:t>(g, ℓ)</a:t>
            </a:r>
            <a:r>
              <a:rPr lang="en-US" sz="1200" dirty="0">
                <a:solidFill>
                  <a:srgbClr val="1E293B"/>
                </a:solidFill>
                <a:latin typeface="Calibri" pitchFamily="34" charset="0"/>
                <a:ea typeface="Calibri" pitchFamily="34" charset="-122"/>
                <a:cs typeface="Calibri" pitchFamily="34" charset="-120"/>
              </a:rPr>
              <a:t> — must be chosen carefully (see §6, PIR Revisited)</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38912"/>
          </a:xfrm>
          <a:prstGeom prst="rect">
            <a:avLst/>
          </a:prstGeom>
          <a:noFill/>
          <a:ln/>
        </p:spPr>
        <p:txBody>
          <a:bodyPr wrap="square" rtlCol="0" anchor="ctr"/>
          <a:lstStyle/>
          <a:p>
            <a:r>
              <a:rPr lang="en-US" sz="2533" b="1" dirty="0">
                <a:solidFill>
                  <a:srgbClr val="1E293B"/>
                </a:solidFill>
                <a:latin typeface="Calibri" pitchFamily="34" charset="0"/>
                <a:ea typeface="Calibri" pitchFamily="34" charset="-122"/>
                <a:cs typeface="Calibri" pitchFamily="34" charset="-120"/>
              </a:rPr>
              <a:t>Worked Example — Setup &amp; Query Generation / </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工作示例</a:t>
            </a:r>
            <a:endPar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 1"/>
          <p:cNvSpPr/>
          <p:nvPr/>
        </p:nvSpPr>
        <p:spPr>
          <a:xfrm>
            <a:off x="487680" y="499872"/>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n=9, d=2, D₁=D₂=3, ℓ=8 bits, ℓ₀=8 bits  ·  target i=7, DB[7]=0x22  ·  query size: D₁+D₂=6 cts (2√n ✓)</a:t>
            </a:r>
            <a:endParaRPr lang="en-US" sz="1133" dirty="0"/>
          </a:p>
        </p:txBody>
      </p:sp>
      <p:sp>
        <p:nvSpPr>
          <p:cNvPr id="4" name="Shape 2"/>
          <p:cNvSpPr/>
          <p:nvPr/>
        </p:nvSpPr>
        <p:spPr>
          <a:xfrm>
            <a:off x="487680" y="768096"/>
            <a:ext cx="5547360" cy="341376"/>
          </a:xfrm>
          <a:prstGeom prst="rect">
            <a:avLst/>
          </a:prstGeom>
          <a:solidFill>
            <a:srgbClr val="1E293B"/>
          </a:solidFill>
          <a:ln w="12700">
            <a:solidFill>
              <a:srgbClr val="1E293B"/>
            </a:solidFill>
            <a:prstDash val="solid"/>
          </a:ln>
        </p:spPr>
      </p:sp>
      <p:sp>
        <p:nvSpPr>
          <p:cNvPr id="5" name="Text 3"/>
          <p:cNvSpPr/>
          <p:nvPr/>
        </p:nvSpPr>
        <p:spPr>
          <a:xfrm>
            <a:off x="633984" y="768096"/>
            <a:ext cx="3901440" cy="341376"/>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(1)  Setup /</a:t>
            </a:r>
            <a:r>
              <a:rPr lang="zh-CN" altLang="en-US" sz="1400" b="1" dirty="0">
                <a:solidFill>
                  <a:srgbClr val="FFFFFF"/>
                </a:solidFill>
                <a:latin typeface="Calibri" pitchFamily="34" charset="0"/>
                <a:ea typeface="Calibri" pitchFamily="34" charset="-122"/>
                <a:cs typeface="Calibri" pitchFamily="34" charset="-120"/>
              </a:rPr>
              <a:t>安装程序</a:t>
            </a:r>
            <a:endParaRPr lang="en-US" sz="1333" dirty="0"/>
          </a:p>
        </p:txBody>
      </p:sp>
      <p:sp>
        <p:nvSpPr>
          <p:cNvPr id="6" name="Text 4"/>
          <p:cNvSpPr/>
          <p:nvPr/>
        </p:nvSpPr>
        <p:spPr>
          <a:xfrm>
            <a:off x="4511040" y="768096"/>
            <a:ext cx="1402080" cy="341376"/>
          </a:xfrm>
          <a:prstGeom prst="rect">
            <a:avLst/>
          </a:prstGeom>
          <a:noFill/>
          <a:ln/>
        </p:spPr>
        <p:txBody>
          <a:bodyPr wrap="square" lIns="0" tIns="0" rIns="0" bIns="0" rtlCol="0" anchor="ctr"/>
          <a:lstStyle/>
          <a:p>
            <a:pPr algn="r"/>
            <a:r>
              <a:rPr lang="en-US" sz="1067" i="1" dirty="0">
                <a:solidFill>
                  <a:srgbClr val="93C5FD"/>
                </a:solidFill>
                <a:latin typeface="Calibri" pitchFamily="34" charset="0"/>
                <a:ea typeface="Calibri" pitchFamily="34" charset="-122"/>
                <a:cs typeface="Calibri" pitchFamily="34" charset="-120"/>
              </a:rPr>
              <a:t>Actor: Server</a:t>
            </a:r>
            <a:endParaRPr lang="en-US" sz="1067" dirty="0"/>
          </a:p>
        </p:txBody>
      </p:sp>
      <p:sp>
        <p:nvSpPr>
          <p:cNvPr id="7" name="Shape 5"/>
          <p:cNvSpPr/>
          <p:nvPr/>
        </p:nvSpPr>
        <p:spPr>
          <a:xfrm>
            <a:off x="487680" y="1109472"/>
            <a:ext cx="5547360" cy="1365504"/>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8" name="Text 6"/>
          <p:cNvSpPr/>
          <p:nvPr/>
        </p:nvSpPr>
        <p:spPr>
          <a:xfrm>
            <a:off x="658368" y="1182624"/>
            <a:ext cx="5218176" cy="1219200"/>
          </a:xfrm>
          <a:prstGeom prst="rect">
            <a:avLst/>
          </a:prstGeom>
          <a:noFill/>
          <a:ln/>
        </p:spPr>
        <p:txBody>
          <a:bodyPr wrap="square" rtlCol="0" anchor="t"/>
          <a:lstStyle/>
          <a:p>
            <a:r>
              <a:rPr lang="en-US" sz="1133" dirty="0">
                <a:solidFill>
                  <a:srgbClr val="1E293B"/>
                </a:solidFill>
                <a:latin typeface="Consolas" pitchFamily="34" charset="0"/>
                <a:ea typeface="Consolas" pitchFamily="34" charset="-122"/>
                <a:cs typeface="Consolas" pitchFamily="34" charset="-120"/>
              </a:rPr>
              <a:t>d=2,  D₁=D₂=3  →  D₁·D₂=9=n  ✓</a:t>
            </a:r>
            <a:endParaRPr lang="en-US" sz="1133" dirty="0"/>
          </a:p>
          <a:p>
            <a:r>
              <a:rPr lang="en-US" sz="1133" dirty="0">
                <a:solidFill>
                  <a:srgbClr val="1E293B"/>
                </a:solidFill>
                <a:latin typeface="Consolas" pitchFamily="34" charset="0"/>
                <a:ea typeface="Consolas" pitchFamily="34" charset="-122"/>
                <a:cs typeface="Consolas" pitchFamily="34" charset="-120"/>
              </a:rPr>
              <a:t>i₁ = ⌊i/D₂⌋ mod D₁  =  ⌊i/3⌋ mod 3   (row)</a:t>
            </a:r>
            <a:endParaRPr lang="en-US" sz="1133" dirty="0"/>
          </a:p>
          <a:p>
            <a:r>
              <a:rPr lang="en-US" sz="1133" dirty="0">
                <a:solidFill>
                  <a:srgbClr val="1E293B"/>
                </a:solidFill>
                <a:latin typeface="Consolas" pitchFamily="34" charset="0"/>
                <a:ea typeface="Consolas" pitchFamily="34" charset="-122"/>
                <a:cs typeface="Consolas" pitchFamily="34" charset="-120"/>
              </a:rPr>
              <a:t>i₂ = i mod D₂         =  i mod 3    (col)</a:t>
            </a:r>
            <a:endParaRPr lang="en-US" sz="1133" dirty="0"/>
          </a:p>
          <a:p>
            <a:r>
              <a:rPr lang="en-US" sz="1133" dirty="0">
                <a:solidFill>
                  <a:srgbClr val="1E293B"/>
                </a:solidFill>
                <a:latin typeface="Consolas" pitchFamily="34" charset="0"/>
                <a:ea typeface="Consolas" pitchFamily="34" charset="-122"/>
                <a:cs typeface="Consolas" pitchFamily="34" charset="-120"/>
              </a:rPr>
              <a:t>Publish (d=2, D₁=3, D₂=3) to client</a:t>
            </a:r>
            <a:endParaRPr lang="en-US" sz="1133" dirty="0"/>
          </a:p>
        </p:txBody>
      </p:sp>
      <p:sp>
        <p:nvSpPr>
          <p:cNvPr id="9" name="Shape 7"/>
          <p:cNvSpPr/>
          <p:nvPr/>
        </p:nvSpPr>
        <p:spPr>
          <a:xfrm>
            <a:off x="487680" y="2535936"/>
            <a:ext cx="5547360" cy="341376"/>
          </a:xfrm>
          <a:prstGeom prst="rect">
            <a:avLst/>
          </a:prstGeom>
          <a:solidFill>
            <a:srgbClr val="1E293B"/>
          </a:solidFill>
          <a:ln w="12700">
            <a:solidFill>
              <a:srgbClr val="1E293B"/>
            </a:solidFill>
            <a:prstDash val="solid"/>
          </a:ln>
        </p:spPr>
      </p:sp>
      <p:sp>
        <p:nvSpPr>
          <p:cNvPr id="10" name="Text 8"/>
          <p:cNvSpPr/>
          <p:nvPr/>
        </p:nvSpPr>
        <p:spPr>
          <a:xfrm>
            <a:off x="633984" y="2535936"/>
            <a:ext cx="3901440" cy="341376"/>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(2)  Query Generation /</a:t>
            </a:r>
            <a:r>
              <a:rPr lang="zh-CN" altLang="en-US" sz="1400" b="1" dirty="0">
                <a:solidFill>
                  <a:srgbClr val="FFFFFF"/>
                </a:solidFill>
                <a:latin typeface="Calibri" pitchFamily="34" charset="0"/>
                <a:ea typeface="Calibri" pitchFamily="34" charset="-122"/>
                <a:cs typeface="Calibri" pitchFamily="34" charset="-120"/>
              </a:rPr>
              <a:t>查询生成</a:t>
            </a:r>
            <a:endParaRPr lang="en-US" sz="1333" dirty="0"/>
          </a:p>
        </p:txBody>
      </p:sp>
      <p:sp>
        <p:nvSpPr>
          <p:cNvPr id="11" name="Text 9"/>
          <p:cNvSpPr/>
          <p:nvPr/>
        </p:nvSpPr>
        <p:spPr>
          <a:xfrm>
            <a:off x="4511040" y="2535936"/>
            <a:ext cx="1402080" cy="341376"/>
          </a:xfrm>
          <a:prstGeom prst="rect">
            <a:avLst/>
          </a:prstGeom>
          <a:noFill/>
          <a:ln/>
        </p:spPr>
        <p:txBody>
          <a:bodyPr wrap="square" lIns="0" tIns="0" rIns="0" bIns="0" rtlCol="0" anchor="ctr"/>
          <a:lstStyle/>
          <a:p>
            <a:pPr algn="r"/>
            <a:r>
              <a:rPr lang="en-US" sz="1067" i="1" dirty="0">
                <a:solidFill>
                  <a:srgbClr val="93C5FD"/>
                </a:solidFill>
                <a:latin typeface="Calibri" pitchFamily="34" charset="0"/>
                <a:ea typeface="Calibri" pitchFamily="34" charset="-122"/>
                <a:cs typeface="Calibri" pitchFamily="34" charset="-120"/>
              </a:rPr>
              <a:t>Actor: Client</a:t>
            </a:r>
            <a:endParaRPr lang="en-US" sz="1067" dirty="0"/>
          </a:p>
        </p:txBody>
      </p:sp>
      <p:sp>
        <p:nvSpPr>
          <p:cNvPr id="12" name="Shape 10"/>
          <p:cNvSpPr/>
          <p:nvPr/>
        </p:nvSpPr>
        <p:spPr>
          <a:xfrm>
            <a:off x="487680" y="2877312"/>
            <a:ext cx="5547360" cy="385267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3" name="Text 11"/>
          <p:cNvSpPr/>
          <p:nvPr/>
        </p:nvSpPr>
        <p:spPr>
          <a:xfrm>
            <a:off x="658368" y="2950464"/>
            <a:ext cx="5218176" cy="243840"/>
          </a:xfrm>
          <a:prstGeom prst="rect">
            <a:avLst/>
          </a:prstGeom>
          <a:noFill/>
          <a:ln/>
        </p:spPr>
        <p:txBody>
          <a:bodyPr wrap="square" rtlCol="0" anchor="ctr"/>
          <a:lstStyle/>
          <a:p>
            <a:r>
              <a:rPr lang="en-US" sz="1200" b="1" dirty="0">
                <a:solidFill>
                  <a:srgbClr val="2563EB"/>
                </a:solidFill>
                <a:latin typeface="Calibri" pitchFamily="34" charset="0"/>
                <a:ea typeface="Calibri" pitchFamily="34" charset="-122"/>
                <a:cs typeface="Calibri" pitchFamily="34" charset="-120"/>
              </a:rPr>
              <a:t>Decompose target i=7 :</a:t>
            </a:r>
            <a:endParaRPr lang="en-US" sz="1200" dirty="0"/>
          </a:p>
        </p:txBody>
      </p:sp>
      <p:sp>
        <p:nvSpPr>
          <p:cNvPr id="14" name="Text 12"/>
          <p:cNvSpPr/>
          <p:nvPr/>
        </p:nvSpPr>
        <p:spPr>
          <a:xfrm>
            <a:off x="658368" y="3182112"/>
            <a:ext cx="5218176" cy="536448"/>
          </a:xfrm>
          <a:prstGeom prst="rect">
            <a:avLst/>
          </a:prstGeom>
          <a:noFill/>
          <a:ln/>
        </p:spPr>
        <p:txBody>
          <a:bodyPr wrap="square" rtlCol="0" anchor="t"/>
          <a:lstStyle/>
          <a:p>
            <a:r>
              <a:rPr lang="en-US" sz="1200" dirty="0">
                <a:solidFill>
                  <a:srgbClr val="1E293B"/>
                </a:solidFill>
                <a:latin typeface="Consolas" pitchFamily="34" charset="0"/>
                <a:ea typeface="Consolas" pitchFamily="34" charset="-122"/>
                <a:cs typeface="Consolas" pitchFamily="34" charset="-120"/>
              </a:rPr>
              <a:t>i₁ = ⌊7/3⌋ mod 3  =  2   →  row 2</a:t>
            </a:r>
            <a:endParaRPr lang="en-US" sz="1200" dirty="0"/>
          </a:p>
          <a:p>
            <a:r>
              <a:rPr lang="en-US" sz="1200" dirty="0">
                <a:solidFill>
                  <a:srgbClr val="1E293B"/>
                </a:solidFill>
                <a:latin typeface="Consolas" pitchFamily="34" charset="0"/>
                <a:ea typeface="Consolas" pitchFamily="34" charset="-122"/>
                <a:cs typeface="Consolas" pitchFamily="34" charset="-120"/>
              </a:rPr>
              <a:t>i₂ = 7 mod 3        =  1   →  col 1</a:t>
            </a:r>
            <a:endParaRPr lang="en-US" sz="1200" dirty="0"/>
          </a:p>
        </p:txBody>
      </p:sp>
      <p:sp>
        <p:nvSpPr>
          <p:cNvPr id="15" name="Text 13"/>
          <p:cNvSpPr/>
          <p:nvPr/>
        </p:nvSpPr>
        <p:spPr>
          <a:xfrm>
            <a:off x="658368" y="3779520"/>
            <a:ext cx="5218176" cy="243840"/>
          </a:xfrm>
          <a:prstGeom prst="rect">
            <a:avLst/>
          </a:prstGeom>
          <a:noFill/>
          <a:ln/>
        </p:spPr>
        <p:txBody>
          <a:bodyPr wrap="square" rtlCol="0" anchor="ctr"/>
          <a:lstStyle/>
          <a:p>
            <a:r>
              <a:rPr lang="en-US" sz="1200" b="1" dirty="0">
                <a:solidFill>
                  <a:srgbClr val="2563EB"/>
                </a:solidFill>
                <a:latin typeface="Calibri" pitchFamily="34" charset="0"/>
                <a:ea typeface="Calibri" pitchFamily="34" charset="-122"/>
                <a:cs typeface="Calibri" pitchFamily="34" charset="-120"/>
              </a:rPr>
              <a:t>Unit vectors Iⱼ  (“hot” at k=iⱼ, zero elsewhere):</a:t>
            </a:r>
            <a:endParaRPr lang="en-US" sz="1200" dirty="0"/>
          </a:p>
        </p:txBody>
      </p:sp>
      <p:sp>
        <p:nvSpPr>
          <p:cNvPr id="16" name="Text 14"/>
          <p:cNvSpPr/>
          <p:nvPr/>
        </p:nvSpPr>
        <p:spPr>
          <a:xfrm>
            <a:off x="658368" y="4059936"/>
            <a:ext cx="487680" cy="365760"/>
          </a:xfrm>
          <a:prstGeom prst="rect">
            <a:avLst/>
          </a:prstGeom>
          <a:noFill/>
          <a:ln/>
        </p:spPr>
        <p:txBody>
          <a:bodyPr wrap="square" rtlCol="0" anchor="ctr"/>
          <a:lstStyle/>
          <a:p>
            <a:r>
              <a:rPr lang="en-US" sz="1200" dirty="0">
                <a:solidFill>
                  <a:srgbClr val="1E293B"/>
                </a:solidFill>
                <a:latin typeface="Consolas" pitchFamily="34" charset="0"/>
                <a:ea typeface="Consolas" pitchFamily="34" charset="-122"/>
                <a:cs typeface="Consolas" pitchFamily="34" charset="-120"/>
              </a:rPr>
              <a:t>I₁=</a:t>
            </a:r>
            <a:endParaRPr lang="en-US" sz="1200" dirty="0"/>
          </a:p>
        </p:txBody>
      </p:sp>
      <p:sp>
        <p:nvSpPr>
          <p:cNvPr id="17" name="Shape 15"/>
          <p:cNvSpPr/>
          <p:nvPr/>
        </p:nvSpPr>
        <p:spPr>
          <a:xfrm>
            <a:off x="1170432" y="4059936"/>
            <a:ext cx="463296" cy="365760"/>
          </a:xfrm>
          <a:prstGeom prst="rect">
            <a:avLst/>
          </a:prstGeom>
          <a:solidFill>
            <a:srgbClr val="FFFFFF"/>
          </a:solidFill>
          <a:ln w="19050">
            <a:solidFill>
              <a:srgbClr val="CBD5E1"/>
            </a:solidFill>
            <a:prstDash val="solid"/>
          </a:ln>
        </p:spPr>
      </p:sp>
      <p:sp>
        <p:nvSpPr>
          <p:cNvPr id="18" name="Text 16"/>
          <p:cNvSpPr/>
          <p:nvPr/>
        </p:nvSpPr>
        <p:spPr>
          <a:xfrm>
            <a:off x="1170432" y="4059936"/>
            <a:ext cx="463296" cy="365760"/>
          </a:xfrm>
          <a:prstGeom prst="rect">
            <a:avLst/>
          </a:prstGeom>
          <a:noFill/>
          <a:ln/>
        </p:spPr>
        <p:txBody>
          <a:bodyPr wrap="square" lIns="0" tIns="0" rIns="0" bIns="0" rtlCol="0" anchor="ctr"/>
          <a:lstStyle/>
          <a:p>
            <a:pPr algn="ctr"/>
            <a:r>
              <a:rPr lang="en-US" sz="1333" b="1" dirty="0">
                <a:solidFill>
                  <a:srgbClr val="1E293B"/>
                </a:solidFill>
                <a:latin typeface="Consolas" pitchFamily="34" charset="0"/>
                <a:ea typeface="Consolas" pitchFamily="34" charset="-122"/>
                <a:cs typeface="Consolas" pitchFamily="34" charset="-120"/>
              </a:rPr>
              <a:t>0</a:t>
            </a:r>
            <a:endParaRPr lang="en-US" sz="1333" dirty="0"/>
          </a:p>
        </p:txBody>
      </p:sp>
      <p:sp>
        <p:nvSpPr>
          <p:cNvPr id="19" name="Shape 17"/>
          <p:cNvSpPr/>
          <p:nvPr/>
        </p:nvSpPr>
        <p:spPr>
          <a:xfrm>
            <a:off x="1682496" y="4059936"/>
            <a:ext cx="463296" cy="365760"/>
          </a:xfrm>
          <a:prstGeom prst="rect">
            <a:avLst/>
          </a:prstGeom>
          <a:solidFill>
            <a:srgbClr val="FFFFFF"/>
          </a:solidFill>
          <a:ln w="19050">
            <a:solidFill>
              <a:srgbClr val="CBD5E1"/>
            </a:solidFill>
            <a:prstDash val="solid"/>
          </a:ln>
        </p:spPr>
      </p:sp>
      <p:sp>
        <p:nvSpPr>
          <p:cNvPr id="20" name="Text 18"/>
          <p:cNvSpPr/>
          <p:nvPr/>
        </p:nvSpPr>
        <p:spPr>
          <a:xfrm>
            <a:off x="1682496" y="4059936"/>
            <a:ext cx="463296" cy="365760"/>
          </a:xfrm>
          <a:prstGeom prst="rect">
            <a:avLst/>
          </a:prstGeom>
          <a:noFill/>
          <a:ln/>
        </p:spPr>
        <p:txBody>
          <a:bodyPr wrap="square" lIns="0" tIns="0" rIns="0" bIns="0" rtlCol="0" anchor="ctr"/>
          <a:lstStyle/>
          <a:p>
            <a:pPr algn="ctr"/>
            <a:r>
              <a:rPr lang="en-US" sz="1333" b="1" dirty="0">
                <a:solidFill>
                  <a:srgbClr val="1E293B"/>
                </a:solidFill>
                <a:latin typeface="Consolas" pitchFamily="34" charset="0"/>
                <a:ea typeface="Consolas" pitchFamily="34" charset="-122"/>
                <a:cs typeface="Consolas" pitchFamily="34" charset="-120"/>
              </a:rPr>
              <a:t>0</a:t>
            </a:r>
            <a:endParaRPr lang="en-US" sz="1333" dirty="0"/>
          </a:p>
        </p:txBody>
      </p:sp>
      <p:sp>
        <p:nvSpPr>
          <p:cNvPr id="21" name="Shape 19"/>
          <p:cNvSpPr/>
          <p:nvPr/>
        </p:nvSpPr>
        <p:spPr>
          <a:xfrm>
            <a:off x="2194560" y="4059936"/>
            <a:ext cx="463296" cy="365760"/>
          </a:xfrm>
          <a:prstGeom prst="rect">
            <a:avLst/>
          </a:prstGeom>
          <a:solidFill>
            <a:srgbClr val="2563EB"/>
          </a:solidFill>
          <a:ln w="19050">
            <a:solidFill>
              <a:srgbClr val="2563EB"/>
            </a:solidFill>
            <a:prstDash val="solid"/>
          </a:ln>
        </p:spPr>
      </p:sp>
      <p:sp>
        <p:nvSpPr>
          <p:cNvPr id="22" name="Text 20"/>
          <p:cNvSpPr/>
          <p:nvPr/>
        </p:nvSpPr>
        <p:spPr>
          <a:xfrm>
            <a:off x="2194560" y="4059936"/>
            <a:ext cx="463296" cy="365760"/>
          </a:xfrm>
          <a:prstGeom prst="rect">
            <a:avLst/>
          </a:prstGeom>
          <a:noFill/>
          <a:ln/>
        </p:spPr>
        <p:txBody>
          <a:bodyPr wrap="square" lIns="0" tIns="0" rIns="0" bIns="0" rtlCol="0" anchor="ctr"/>
          <a:lstStyle/>
          <a:p>
            <a:pPr algn="ctr"/>
            <a:r>
              <a:rPr lang="en-US" sz="1333" b="1" dirty="0">
                <a:solidFill>
                  <a:srgbClr val="FFFFFF"/>
                </a:solidFill>
                <a:latin typeface="Consolas" pitchFamily="34" charset="0"/>
                <a:ea typeface="Consolas" pitchFamily="34" charset="-122"/>
                <a:cs typeface="Consolas" pitchFamily="34" charset="-120"/>
              </a:rPr>
              <a:t>1</a:t>
            </a:r>
            <a:endParaRPr lang="en-US" sz="1333" dirty="0"/>
          </a:p>
        </p:txBody>
      </p:sp>
      <p:sp>
        <p:nvSpPr>
          <p:cNvPr id="23" name="Text 21"/>
          <p:cNvSpPr/>
          <p:nvPr/>
        </p:nvSpPr>
        <p:spPr>
          <a:xfrm>
            <a:off x="1170432" y="4437888"/>
            <a:ext cx="1536192" cy="195072"/>
          </a:xfrm>
          <a:prstGeom prst="rect">
            <a:avLst/>
          </a:prstGeom>
          <a:noFill/>
          <a:ln/>
        </p:spPr>
        <p:txBody>
          <a:bodyPr wrap="square" rtlCol="0" anchor="ctr"/>
          <a:lstStyle/>
          <a:p>
            <a:r>
              <a:rPr lang="en-US" sz="933" dirty="0">
                <a:solidFill>
                  <a:srgbClr val="64748B"/>
                </a:solidFill>
                <a:latin typeface="Calibri" pitchFamily="34" charset="0"/>
                <a:ea typeface="Calibri" pitchFamily="34" charset="-122"/>
                <a:cs typeface="Calibri" pitchFamily="34" charset="-120"/>
              </a:rPr>
              <a:t>k=0  k=1  k=2</a:t>
            </a:r>
            <a:endParaRPr lang="en-US" sz="933" dirty="0"/>
          </a:p>
        </p:txBody>
      </p:sp>
      <p:sp>
        <p:nvSpPr>
          <p:cNvPr id="24" name="Text 22"/>
          <p:cNvSpPr/>
          <p:nvPr/>
        </p:nvSpPr>
        <p:spPr>
          <a:xfrm>
            <a:off x="2731008" y="4120896"/>
            <a:ext cx="1828800" cy="243840"/>
          </a:xfrm>
          <a:prstGeom prst="rect">
            <a:avLst/>
          </a:prstGeom>
          <a:noFill/>
          <a:ln/>
        </p:spPr>
        <p:txBody>
          <a:bodyPr wrap="square" rtlCol="0" anchor="ctr"/>
          <a:lstStyle/>
          <a:p>
            <a:r>
              <a:rPr lang="en-US" sz="1000" i="1" dirty="0">
                <a:solidFill>
                  <a:srgbClr val="2563EB"/>
                </a:solidFill>
                <a:latin typeface="Calibri" pitchFamily="34" charset="0"/>
                <a:ea typeface="Calibri" pitchFamily="34" charset="-122"/>
                <a:cs typeface="Calibri" pitchFamily="34" charset="-120"/>
              </a:rPr>
              <a:t>← hot at k=i₁=2</a:t>
            </a:r>
            <a:endParaRPr lang="en-US" sz="1000" dirty="0"/>
          </a:p>
        </p:txBody>
      </p:sp>
      <p:sp>
        <p:nvSpPr>
          <p:cNvPr id="25" name="Text 23"/>
          <p:cNvSpPr/>
          <p:nvPr/>
        </p:nvSpPr>
        <p:spPr>
          <a:xfrm>
            <a:off x="658368" y="4681728"/>
            <a:ext cx="487680" cy="365760"/>
          </a:xfrm>
          <a:prstGeom prst="rect">
            <a:avLst/>
          </a:prstGeom>
          <a:noFill/>
          <a:ln/>
        </p:spPr>
        <p:txBody>
          <a:bodyPr wrap="square" rtlCol="0" anchor="ctr"/>
          <a:lstStyle/>
          <a:p>
            <a:r>
              <a:rPr lang="en-US" sz="1200" dirty="0">
                <a:solidFill>
                  <a:srgbClr val="1E293B"/>
                </a:solidFill>
                <a:latin typeface="Consolas" pitchFamily="34" charset="0"/>
                <a:ea typeface="Consolas" pitchFamily="34" charset="-122"/>
                <a:cs typeface="Consolas" pitchFamily="34" charset="-120"/>
              </a:rPr>
              <a:t>I₂=</a:t>
            </a:r>
            <a:endParaRPr lang="en-US" sz="1200" dirty="0"/>
          </a:p>
        </p:txBody>
      </p:sp>
      <p:sp>
        <p:nvSpPr>
          <p:cNvPr id="26" name="Shape 24"/>
          <p:cNvSpPr/>
          <p:nvPr/>
        </p:nvSpPr>
        <p:spPr>
          <a:xfrm>
            <a:off x="1170432" y="4681728"/>
            <a:ext cx="463296" cy="365760"/>
          </a:xfrm>
          <a:prstGeom prst="rect">
            <a:avLst/>
          </a:prstGeom>
          <a:solidFill>
            <a:srgbClr val="FFFFFF"/>
          </a:solidFill>
          <a:ln w="19050">
            <a:solidFill>
              <a:srgbClr val="CBD5E1"/>
            </a:solidFill>
            <a:prstDash val="solid"/>
          </a:ln>
        </p:spPr>
      </p:sp>
      <p:sp>
        <p:nvSpPr>
          <p:cNvPr id="27" name="Text 25"/>
          <p:cNvSpPr/>
          <p:nvPr/>
        </p:nvSpPr>
        <p:spPr>
          <a:xfrm>
            <a:off x="1170432" y="4681728"/>
            <a:ext cx="463296" cy="365760"/>
          </a:xfrm>
          <a:prstGeom prst="rect">
            <a:avLst/>
          </a:prstGeom>
          <a:noFill/>
          <a:ln/>
        </p:spPr>
        <p:txBody>
          <a:bodyPr wrap="square" lIns="0" tIns="0" rIns="0" bIns="0" rtlCol="0" anchor="ctr"/>
          <a:lstStyle/>
          <a:p>
            <a:pPr algn="ctr"/>
            <a:r>
              <a:rPr lang="en-US" sz="1333" b="1" dirty="0">
                <a:solidFill>
                  <a:srgbClr val="1E293B"/>
                </a:solidFill>
                <a:latin typeface="Consolas" pitchFamily="34" charset="0"/>
                <a:ea typeface="Consolas" pitchFamily="34" charset="-122"/>
                <a:cs typeface="Consolas" pitchFamily="34" charset="-120"/>
              </a:rPr>
              <a:t>0</a:t>
            </a:r>
            <a:endParaRPr lang="en-US" sz="1333" dirty="0"/>
          </a:p>
        </p:txBody>
      </p:sp>
      <p:sp>
        <p:nvSpPr>
          <p:cNvPr id="28" name="Shape 26"/>
          <p:cNvSpPr/>
          <p:nvPr/>
        </p:nvSpPr>
        <p:spPr>
          <a:xfrm>
            <a:off x="1682496" y="4681728"/>
            <a:ext cx="463296" cy="365760"/>
          </a:xfrm>
          <a:prstGeom prst="rect">
            <a:avLst/>
          </a:prstGeom>
          <a:solidFill>
            <a:srgbClr val="16A34A"/>
          </a:solidFill>
          <a:ln w="19050">
            <a:solidFill>
              <a:srgbClr val="16A34A"/>
            </a:solidFill>
            <a:prstDash val="solid"/>
          </a:ln>
        </p:spPr>
      </p:sp>
      <p:sp>
        <p:nvSpPr>
          <p:cNvPr id="29" name="Text 27"/>
          <p:cNvSpPr/>
          <p:nvPr/>
        </p:nvSpPr>
        <p:spPr>
          <a:xfrm>
            <a:off x="1682496" y="4681728"/>
            <a:ext cx="463296" cy="365760"/>
          </a:xfrm>
          <a:prstGeom prst="rect">
            <a:avLst/>
          </a:prstGeom>
          <a:noFill/>
          <a:ln/>
        </p:spPr>
        <p:txBody>
          <a:bodyPr wrap="square" lIns="0" tIns="0" rIns="0" bIns="0" rtlCol="0" anchor="ctr"/>
          <a:lstStyle/>
          <a:p>
            <a:pPr algn="ctr"/>
            <a:r>
              <a:rPr lang="en-US" sz="1333" b="1" dirty="0">
                <a:solidFill>
                  <a:srgbClr val="FFFFFF"/>
                </a:solidFill>
                <a:latin typeface="Consolas" pitchFamily="34" charset="0"/>
                <a:ea typeface="Consolas" pitchFamily="34" charset="-122"/>
                <a:cs typeface="Consolas" pitchFamily="34" charset="-120"/>
              </a:rPr>
              <a:t>1</a:t>
            </a:r>
            <a:endParaRPr lang="en-US" sz="1333" dirty="0"/>
          </a:p>
        </p:txBody>
      </p:sp>
      <p:sp>
        <p:nvSpPr>
          <p:cNvPr id="30" name="Shape 28"/>
          <p:cNvSpPr/>
          <p:nvPr/>
        </p:nvSpPr>
        <p:spPr>
          <a:xfrm>
            <a:off x="2194560" y="4681728"/>
            <a:ext cx="463296" cy="365760"/>
          </a:xfrm>
          <a:prstGeom prst="rect">
            <a:avLst/>
          </a:prstGeom>
          <a:solidFill>
            <a:srgbClr val="FFFFFF"/>
          </a:solidFill>
          <a:ln w="19050">
            <a:solidFill>
              <a:srgbClr val="CBD5E1"/>
            </a:solidFill>
            <a:prstDash val="solid"/>
          </a:ln>
        </p:spPr>
      </p:sp>
      <p:sp>
        <p:nvSpPr>
          <p:cNvPr id="31" name="Text 29"/>
          <p:cNvSpPr/>
          <p:nvPr/>
        </p:nvSpPr>
        <p:spPr>
          <a:xfrm>
            <a:off x="2194560" y="4681728"/>
            <a:ext cx="463296" cy="365760"/>
          </a:xfrm>
          <a:prstGeom prst="rect">
            <a:avLst/>
          </a:prstGeom>
          <a:noFill/>
          <a:ln/>
        </p:spPr>
        <p:txBody>
          <a:bodyPr wrap="square" lIns="0" tIns="0" rIns="0" bIns="0" rtlCol="0" anchor="ctr"/>
          <a:lstStyle/>
          <a:p>
            <a:pPr algn="ctr"/>
            <a:r>
              <a:rPr lang="en-US" sz="1333" b="1" dirty="0">
                <a:solidFill>
                  <a:srgbClr val="1E293B"/>
                </a:solidFill>
                <a:latin typeface="Consolas" pitchFamily="34" charset="0"/>
                <a:ea typeface="Consolas" pitchFamily="34" charset="-122"/>
                <a:cs typeface="Consolas" pitchFamily="34" charset="-120"/>
              </a:rPr>
              <a:t>0</a:t>
            </a:r>
            <a:endParaRPr lang="en-US" sz="1333" dirty="0"/>
          </a:p>
        </p:txBody>
      </p:sp>
      <p:sp>
        <p:nvSpPr>
          <p:cNvPr id="32" name="Text 30"/>
          <p:cNvSpPr/>
          <p:nvPr/>
        </p:nvSpPr>
        <p:spPr>
          <a:xfrm>
            <a:off x="1170432" y="5059680"/>
            <a:ext cx="1536192" cy="195072"/>
          </a:xfrm>
          <a:prstGeom prst="rect">
            <a:avLst/>
          </a:prstGeom>
          <a:noFill/>
          <a:ln/>
        </p:spPr>
        <p:txBody>
          <a:bodyPr wrap="square" rtlCol="0" anchor="ctr"/>
          <a:lstStyle/>
          <a:p>
            <a:r>
              <a:rPr lang="en-US" sz="933" dirty="0">
                <a:solidFill>
                  <a:srgbClr val="64748B"/>
                </a:solidFill>
                <a:latin typeface="Calibri" pitchFamily="34" charset="0"/>
                <a:ea typeface="Calibri" pitchFamily="34" charset="-122"/>
                <a:cs typeface="Calibri" pitchFamily="34" charset="-120"/>
              </a:rPr>
              <a:t>k=0  k=1  k=2</a:t>
            </a:r>
            <a:endParaRPr lang="en-US" sz="933" dirty="0"/>
          </a:p>
        </p:txBody>
      </p:sp>
      <p:sp>
        <p:nvSpPr>
          <p:cNvPr id="33" name="Text 31"/>
          <p:cNvSpPr/>
          <p:nvPr/>
        </p:nvSpPr>
        <p:spPr>
          <a:xfrm>
            <a:off x="2731008" y="4742688"/>
            <a:ext cx="1828800" cy="243840"/>
          </a:xfrm>
          <a:prstGeom prst="rect">
            <a:avLst/>
          </a:prstGeom>
          <a:noFill/>
          <a:ln/>
        </p:spPr>
        <p:txBody>
          <a:bodyPr wrap="square" rtlCol="0" anchor="ctr"/>
          <a:lstStyle/>
          <a:p>
            <a:r>
              <a:rPr lang="en-US" sz="1000" i="1" dirty="0">
                <a:solidFill>
                  <a:srgbClr val="16A34A"/>
                </a:solidFill>
                <a:latin typeface="Calibri" pitchFamily="34" charset="0"/>
                <a:ea typeface="Calibri" pitchFamily="34" charset="-122"/>
                <a:cs typeface="Calibri" pitchFamily="34" charset="-120"/>
              </a:rPr>
              <a:t>← hot at k=i₂=1</a:t>
            </a:r>
            <a:endParaRPr lang="en-US" sz="1000" dirty="0"/>
          </a:p>
        </p:txBody>
      </p:sp>
      <p:sp>
        <p:nvSpPr>
          <p:cNvPr id="34" name="Text 32"/>
          <p:cNvSpPr/>
          <p:nvPr/>
        </p:nvSpPr>
        <p:spPr>
          <a:xfrm>
            <a:off x="658368" y="5340096"/>
            <a:ext cx="5218176" cy="243840"/>
          </a:xfrm>
          <a:prstGeom prst="rect">
            <a:avLst/>
          </a:prstGeom>
          <a:noFill/>
          <a:ln/>
        </p:spPr>
        <p:txBody>
          <a:bodyPr wrap="square" rtlCol="0" anchor="ctr"/>
          <a:lstStyle/>
          <a:p>
            <a:r>
              <a:rPr lang="en-US" sz="1200" b="1" dirty="0">
                <a:solidFill>
                  <a:srgbClr val="2563EB"/>
                </a:solidFill>
                <a:latin typeface="Calibri" pitchFamily="34" charset="0"/>
                <a:ea typeface="Calibri" pitchFamily="34" charset="-122"/>
                <a:cs typeface="Calibri" pitchFamily="34" charset="-120"/>
              </a:rPr>
              <a:t>Encrypt:  FHE.RLWE.Enc(sk, Δ·Iⱼ[k]) :</a:t>
            </a:r>
            <a:endParaRPr lang="en-US" sz="1200" dirty="0"/>
          </a:p>
        </p:txBody>
      </p:sp>
      <p:sp>
        <p:nvSpPr>
          <p:cNvPr id="35" name="Text 33"/>
          <p:cNvSpPr/>
          <p:nvPr/>
        </p:nvSpPr>
        <p:spPr>
          <a:xfrm>
            <a:off x="658368" y="5571744"/>
            <a:ext cx="5218176" cy="682752"/>
          </a:xfrm>
          <a:prstGeom prst="rect">
            <a:avLst/>
          </a:prstGeom>
          <a:noFill/>
          <a:ln/>
        </p:spPr>
        <p:txBody>
          <a:bodyPr wrap="square" rtlCol="0" anchor="t"/>
          <a:lstStyle/>
          <a:p>
            <a:r>
              <a:rPr lang="en-US" sz="1067" dirty="0">
                <a:solidFill>
                  <a:srgbClr val="1E293B"/>
                </a:solidFill>
                <a:latin typeface="Consolas" pitchFamily="34" charset="0"/>
                <a:ea typeface="Consolas" pitchFamily="34" charset="-122"/>
                <a:cs typeface="Consolas" pitchFamily="34" charset="-120"/>
              </a:rPr>
              <a:t>q₍₁₎₍₀₎=Enc(Δ·0)  q₍₁₎₍₁₎=Enc(Δ·0)  q₍₁₎₍₂₎=Enc(Δ·1) ← hot</a:t>
            </a:r>
            <a:endParaRPr lang="en-US" sz="1067" dirty="0"/>
          </a:p>
          <a:p>
            <a:r>
              <a:rPr lang="en-US" sz="1067" dirty="0">
                <a:solidFill>
                  <a:srgbClr val="1E293B"/>
                </a:solidFill>
                <a:latin typeface="Consolas" pitchFamily="34" charset="0"/>
                <a:ea typeface="Consolas" pitchFamily="34" charset="-122"/>
                <a:cs typeface="Consolas" pitchFamily="34" charset="-120"/>
              </a:rPr>
              <a:t>q₍₂₎₍₀₎=Enc(Δ·0)  q₍₂₎₍₁₎=Enc(Δ·1) ← hot  q₍₂₎₍₂₎=Enc(Δ·0)</a:t>
            </a:r>
            <a:endParaRPr lang="en-US" sz="1067" dirty="0"/>
          </a:p>
        </p:txBody>
      </p:sp>
      <p:sp>
        <p:nvSpPr>
          <p:cNvPr id="36" name="Text 34"/>
          <p:cNvSpPr/>
          <p:nvPr/>
        </p:nvSpPr>
        <p:spPr>
          <a:xfrm>
            <a:off x="658368" y="6315456"/>
            <a:ext cx="5218176" cy="268224"/>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Send q=(q₁,q₂) to server  —  6 ciphertexts total</a:t>
            </a:r>
            <a:endParaRPr lang="en-US" sz="1133" dirty="0"/>
          </a:p>
        </p:txBody>
      </p:sp>
      <p:pic>
        <p:nvPicPr>
          <p:cNvPr id="37" name="Image 0" descr="preencoded.png"/>
          <p:cNvPicPr>
            <a:picLocks noChangeAspect="1"/>
          </p:cNvPicPr>
          <p:nvPr/>
        </p:nvPicPr>
        <p:blipFill>
          <a:blip r:embed="rId2"/>
          <a:stretch>
            <a:fillRect/>
          </a:stretch>
        </p:blipFill>
        <p:spPr>
          <a:xfrm>
            <a:off x="6217920" y="1510913"/>
            <a:ext cx="5486400" cy="421843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38912"/>
          </a:xfrm>
          <a:prstGeom prst="rect">
            <a:avLst/>
          </a:prstGeom>
          <a:noFill/>
          <a:ln/>
        </p:spPr>
        <p:txBody>
          <a:bodyPr wrap="square" rtlCol="0" anchor="ctr"/>
          <a:lstStyle/>
          <a:p>
            <a:r>
              <a:rPr lang="en-US" sz="2533" b="1" dirty="0">
                <a:solidFill>
                  <a:srgbClr val="1E293B"/>
                </a:solidFill>
                <a:latin typeface="Calibri" pitchFamily="34" charset="0"/>
                <a:ea typeface="Calibri" pitchFamily="34" charset="-122"/>
                <a:cs typeface="Calibri" pitchFamily="34" charset="-120"/>
              </a:rPr>
              <a:t>Worked Example — Server Computation &amp; Response Decoding / </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工作示例</a:t>
            </a:r>
            <a:endPar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 1"/>
          <p:cNvSpPr/>
          <p:nvPr/>
        </p:nvSpPr>
        <p:spPr>
          <a:xfrm>
            <a:off x="487680" y="499872"/>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server holds 6 ciphertexts  ·  must return Enc(0x22) without learning i=7  ·  client decrypts to recover DB[7]</a:t>
            </a:r>
            <a:endParaRPr lang="en-US" sz="1133" dirty="0"/>
          </a:p>
        </p:txBody>
      </p:sp>
      <p:sp>
        <p:nvSpPr>
          <p:cNvPr id="4" name="Shape 2"/>
          <p:cNvSpPr/>
          <p:nvPr/>
        </p:nvSpPr>
        <p:spPr>
          <a:xfrm>
            <a:off x="487680" y="768096"/>
            <a:ext cx="5547360" cy="341376"/>
          </a:xfrm>
          <a:prstGeom prst="rect">
            <a:avLst/>
          </a:prstGeom>
          <a:solidFill>
            <a:srgbClr val="1E293B"/>
          </a:solidFill>
          <a:ln w="12700">
            <a:solidFill>
              <a:srgbClr val="1E293B"/>
            </a:solidFill>
            <a:prstDash val="solid"/>
          </a:ln>
        </p:spPr>
      </p:sp>
      <p:sp>
        <p:nvSpPr>
          <p:cNvPr id="5" name="Text 3"/>
          <p:cNvSpPr/>
          <p:nvPr/>
        </p:nvSpPr>
        <p:spPr>
          <a:xfrm>
            <a:off x="633984" y="768096"/>
            <a:ext cx="3901440" cy="341376"/>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(3)  Server Computation /</a:t>
            </a:r>
            <a:r>
              <a:rPr lang="zh-CN" altLang="en-US" sz="1400" b="1" dirty="0">
                <a:solidFill>
                  <a:srgbClr val="FFFFFF"/>
                </a:solidFill>
                <a:latin typeface="Calibri" pitchFamily="34" charset="0"/>
                <a:ea typeface="Calibri" pitchFamily="34" charset="-122"/>
                <a:cs typeface="Calibri" pitchFamily="34" charset="-120"/>
              </a:rPr>
              <a:t>服务器计算</a:t>
            </a:r>
            <a:endParaRPr lang="en-US" sz="1333" dirty="0"/>
          </a:p>
        </p:txBody>
      </p:sp>
      <p:sp>
        <p:nvSpPr>
          <p:cNvPr id="6" name="Text 4"/>
          <p:cNvSpPr/>
          <p:nvPr/>
        </p:nvSpPr>
        <p:spPr>
          <a:xfrm>
            <a:off x="4511040" y="768096"/>
            <a:ext cx="1402080" cy="341376"/>
          </a:xfrm>
          <a:prstGeom prst="rect">
            <a:avLst/>
          </a:prstGeom>
          <a:noFill/>
          <a:ln/>
        </p:spPr>
        <p:txBody>
          <a:bodyPr wrap="square" lIns="0" tIns="0" rIns="0" bIns="0" rtlCol="0" anchor="ctr"/>
          <a:lstStyle/>
          <a:p>
            <a:pPr algn="r"/>
            <a:r>
              <a:rPr lang="en-US" sz="1067" i="1" dirty="0">
                <a:solidFill>
                  <a:srgbClr val="93C5FD"/>
                </a:solidFill>
                <a:latin typeface="Calibri" pitchFamily="34" charset="0"/>
                <a:ea typeface="Calibri" pitchFamily="34" charset="-122"/>
                <a:cs typeface="Calibri" pitchFamily="34" charset="-120"/>
              </a:rPr>
              <a:t>Actor: Server</a:t>
            </a:r>
            <a:endParaRPr lang="en-US" sz="1067" dirty="0"/>
          </a:p>
        </p:txBody>
      </p:sp>
      <p:sp>
        <p:nvSpPr>
          <p:cNvPr id="7" name="Shape 5"/>
          <p:cNvSpPr/>
          <p:nvPr/>
        </p:nvSpPr>
        <p:spPr>
          <a:xfrm>
            <a:off x="487680" y="1109472"/>
            <a:ext cx="5547360" cy="4901184"/>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8" name="Text 6"/>
          <p:cNvSpPr/>
          <p:nvPr/>
        </p:nvSpPr>
        <p:spPr>
          <a:xfrm>
            <a:off x="658368" y="1182624"/>
            <a:ext cx="5218176" cy="243840"/>
          </a:xfrm>
          <a:prstGeom prst="rect">
            <a:avLst/>
          </a:prstGeom>
          <a:noFill/>
          <a:ln/>
        </p:spPr>
        <p:txBody>
          <a:bodyPr wrap="square" rtlCol="0" anchor="ctr"/>
          <a:lstStyle/>
          <a:p>
            <a:r>
              <a:rPr lang="en-US" sz="1133" b="1" dirty="0">
                <a:solidFill>
                  <a:srgbClr val="2563EB"/>
                </a:solidFill>
                <a:latin typeface="Calibri" pitchFamily="34" charset="0"/>
                <a:ea typeface="Calibri" pitchFamily="34" charset="-122"/>
                <a:cs typeface="Calibri" pitchFamily="34" charset="-120"/>
              </a:rPr>
              <a:t>Step 1 — DB chunks  (j=1, one chunk since ℓ=ℓ₀=8 bits):</a:t>
            </a:r>
            <a:endParaRPr lang="en-US" sz="1133" dirty="0"/>
          </a:p>
        </p:txBody>
      </p:sp>
      <p:sp>
        <p:nvSpPr>
          <p:cNvPr id="9" name="Text 7"/>
          <p:cNvSpPr/>
          <p:nvPr/>
        </p:nvSpPr>
        <p:spPr>
          <a:xfrm>
            <a:off x="658368" y="1402080"/>
            <a:ext cx="5218176" cy="682752"/>
          </a:xfrm>
          <a:prstGeom prst="rect">
            <a:avLst/>
          </a:prstGeom>
          <a:noFill/>
          <a:ln/>
        </p:spPr>
        <p:txBody>
          <a:bodyPr wrap="square" rtlCol="0" anchor="t"/>
          <a:lstStyle/>
          <a:p>
            <a:r>
              <a:rPr lang="en-US" sz="1067" dirty="0">
                <a:solidFill>
                  <a:srgbClr val="1E293B"/>
                </a:solidFill>
                <a:latin typeface="Consolas" pitchFamily="34" charset="0"/>
                <a:ea typeface="Consolas" pitchFamily="34" charset="-122"/>
                <a:cs typeface="Consolas" pitchFamily="34" charset="-120"/>
              </a:rPr>
              <a:t>m₍₀₎₍₁₎=0xAA  m₍₁₎₍₁₎=0xDD  m₍₂₎₍₁₎=0x11  (col 0)</a:t>
            </a:r>
            <a:endParaRPr lang="en-US" sz="1067" dirty="0"/>
          </a:p>
          <a:p>
            <a:r>
              <a:rPr lang="en-US" sz="1067" dirty="0">
                <a:solidFill>
                  <a:srgbClr val="1E293B"/>
                </a:solidFill>
                <a:latin typeface="Consolas" pitchFamily="34" charset="0"/>
                <a:ea typeface="Consolas" pitchFamily="34" charset="-122"/>
                <a:cs typeface="Consolas" pitchFamily="34" charset="-120"/>
              </a:rPr>
              <a:t>m₍₀₎₍₁₎=0xBB  m₍₁₎₍₁₎=0xEE  m₍₂₎₍₁₎=0x22  (col 1)</a:t>
            </a:r>
            <a:endParaRPr lang="en-US" sz="1067" dirty="0"/>
          </a:p>
          <a:p>
            <a:r>
              <a:rPr lang="en-US" sz="1067" dirty="0">
                <a:solidFill>
                  <a:srgbClr val="1E293B"/>
                </a:solidFill>
                <a:latin typeface="Consolas" pitchFamily="34" charset="0"/>
                <a:ea typeface="Consolas" pitchFamily="34" charset="-122"/>
                <a:cs typeface="Consolas" pitchFamily="34" charset="-120"/>
              </a:rPr>
              <a:t>m₍₀₎₍₁₎=0xCC  m₍₁₎₍₁₎=0xFF  m₍₂₎₍₁₎=0x33  (col 2)</a:t>
            </a:r>
            <a:endParaRPr lang="en-US" sz="1067" dirty="0"/>
          </a:p>
        </p:txBody>
      </p:sp>
      <p:sp>
        <p:nvSpPr>
          <p:cNvPr id="10" name="Text 8"/>
          <p:cNvSpPr/>
          <p:nvPr/>
        </p:nvSpPr>
        <p:spPr>
          <a:xfrm>
            <a:off x="658368" y="2145792"/>
            <a:ext cx="5218176" cy="243840"/>
          </a:xfrm>
          <a:prstGeom prst="rect">
            <a:avLst/>
          </a:prstGeom>
          <a:noFill/>
          <a:ln/>
        </p:spPr>
        <p:txBody>
          <a:bodyPr wrap="square" rtlCol="0" anchor="ctr"/>
          <a:lstStyle/>
          <a:p>
            <a:r>
              <a:rPr lang="en-US" sz="1133" b="1" dirty="0">
                <a:solidFill>
                  <a:srgbClr val="2563EB"/>
                </a:solidFill>
                <a:latin typeface="Calibri" pitchFamily="34" charset="0"/>
                <a:ea typeface="Calibri" pitchFamily="34" charset="-122"/>
                <a:cs typeface="Calibri" pitchFamily="34" charset="-120"/>
              </a:rPr>
              <a:t>Step 2 — Dim 1 pass  (l=1) :</a:t>
            </a:r>
            <a:endParaRPr lang="en-US" sz="1133" dirty="0"/>
          </a:p>
        </p:txBody>
      </p:sp>
      <p:sp>
        <p:nvSpPr>
          <p:cNvPr id="11" name="Text 9"/>
          <p:cNvSpPr/>
          <p:nvPr/>
        </p:nvSpPr>
        <p:spPr>
          <a:xfrm>
            <a:off x="658368" y="2365248"/>
            <a:ext cx="5218176" cy="853440"/>
          </a:xfrm>
          <a:prstGeom prst="rect">
            <a:avLst/>
          </a:prstGeom>
          <a:noFill/>
          <a:ln/>
        </p:spPr>
        <p:txBody>
          <a:bodyPr wrap="square" rtlCol="0" anchor="t"/>
          <a:lstStyle/>
          <a:p>
            <a:r>
              <a:rPr lang="en-US" sz="1040" dirty="0">
                <a:solidFill>
                  <a:srgbClr val="1E293B"/>
                </a:solidFill>
                <a:latin typeface="Consolas" pitchFamily="34" charset="0"/>
                <a:ea typeface="Consolas" pitchFamily="34" charset="-122"/>
                <a:cs typeface="Consolas" pitchFamily="34" charset="-120"/>
              </a:rPr>
              <a:t>R⁽¹⁾₍₁₎ = Σₖ FHE.PlainMult( q₍₁₎₍ₖ₎ , m₍ₖ₎₍₁₎ )</a:t>
            </a:r>
            <a:endParaRPr lang="en-US" sz="1040" dirty="0"/>
          </a:p>
          <a:p>
            <a:r>
              <a:rPr lang="en-US" sz="1040" dirty="0">
                <a:solidFill>
                  <a:srgbClr val="1E293B"/>
                </a:solidFill>
                <a:latin typeface="Consolas" pitchFamily="34" charset="0"/>
                <a:ea typeface="Consolas" pitchFamily="34" charset="-122"/>
                <a:cs typeface="Consolas" pitchFamily="34" charset="-120"/>
              </a:rPr>
              <a:t>  col 0: PlainMult(Enc(0),0xAA)+PlainMult(Enc(0),0xDD)</a:t>
            </a:r>
            <a:endParaRPr lang="en-US" sz="1040" dirty="0"/>
          </a:p>
          <a:p>
            <a:r>
              <a:rPr lang="en-US" sz="1040" dirty="0">
                <a:solidFill>
                  <a:srgbClr val="1E293B"/>
                </a:solidFill>
                <a:latin typeface="Consolas" pitchFamily="34" charset="0"/>
                <a:ea typeface="Consolas" pitchFamily="34" charset="-122"/>
                <a:cs typeface="Consolas" pitchFamily="34" charset="-120"/>
              </a:rPr>
              <a:t>        +PlainMult(Enc(1),0x11) = Enc(0x11)</a:t>
            </a:r>
            <a:endParaRPr lang="en-US" sz="1040" dirty="0"/>
          </a:p>
          <a:p>
            <a:r>
              <a:rPr lang="en-US" sz="1040" dirty="0">
                <a:solidFill>
                  <a:srgbClr val="1E293B"/>
                </a:solidFill>
                <a:latin typeface="Consolas" pitchFamily="34" charset="0"/>
                <a:ea typeface="Consolas" pitchFamily="34" charset="-122"/>
                <a:cs typeface="Consolas" pitchFamily="34" charset="-120"/>
              </a:rPr>
              <a:t>  col 1: … = Enc(0x22)    col 2: … = Enc(0x33)</a:t>
            </a:r>
            <a:endParaRPr lang="en-US" sz="1040" dirty="0"/>
          </a:p>
        </p:txBody>
      </p:sp>
      <p:sp>
        <p:nvSpPr>
          <p:cNvPr id="12" name="Text 10"/>
          <p:cNvSpPr/>
          <p:nvPr/>
        </p:nvSpPr>
        <p:spPr>
          <a:xfrm>
            <a:off x="658368" y="3291840"/>
            <a:ext cx="5218176" cy="243840"/>
          </a:xfrm>
          <a:prstGeom prst="rect">
            <a:avLst/>
          </a:prstGeom>
          <a:noFill/>
          <a:ln/>
        </p:spPr>
        <p:txBody>
          <a:bodyPr wrap="square" rtlCol="0" anchor="ctr"/>
          <a:lstStyle/>
          <a:p>
            <a:r>
              <a:rPr lang="en-US" sz="1133" b="1" dirty="0">
                <a:solidFill>
                  <a:srgbClr val="2563EB"/>
                </a:solidFill>
                <a:latin typeface="Calibri" pitchFamily="34" charset="0"/>
                <a:ea typeface="Calibri" pitchFamily="34" charset="-122"/>
                <a:cs typeface="Calibri" pitchFamily="34" charset="-120"/>
              </a:rPr>
              <a:t>Step 3 — Dim 2 pass  (l=2, final) :</a:t>
            </a:r>
            <a:endParaRPr lang="en-US" sz="1133" dirty="0"/>
          </a:p>
        </p:txBody>
      </p:sp>
      <p:sp>
        <p:nvSpPr>
          <p:cNvPr id="13" name="Text 11"/>
          <p:cNvSpPr/>
          <p:nvPr/>
        </p:nvSpPr>
        <p:spPr>
          <a:xfrm>
            <a:off x="658368" y="3511296"/>
            <a:ext cx="5218176" cy="999744"/>
          </a:xfrm>
          <a:prstGeom prst="rect">
            <a:avLst/>
          </a:prstGeom>
          <a:noFill/>
          <a:ln/>
        </p:spPr>
        <p:txBody>
          <a:bodyPr wrap="square" rtlCol="0" anchor="t"/>
          <a:lstStyle/>
          <a:p>
            <a:r>
              <a:rPr lang="en-US" sz="1040" dirty="0">
                <a:solidFill>
                  <a:srgbClr val="1E293B"/>
                </a:solidFill>
                <a:latin typeface="Consolas" pitchFamily="34" charset="0"/>
                <a:ea typeface="Consolas" pitchFamily="34" charset="-122"/>
                <a:cs typeface="Consolas" pitchFamily="34" charset="-120"/>
              </a:rPr>
              <a:t>R⁽²⁾₍₁₎ = Σₖ FHE.PlainMult( q₍₂₎₍ₖ₎ , R⁽¹⁾₍ₖ₎ )</a:t>
            </a:r>
            <a:endParaRPr lang="en-US" sz="1040" dirty="0"/>
          </a:p>
          <a:p>
            <a:r>
              <a:rPr lang="en-US" sz="1040" dirty="0">
                <a:solidFill>
                  <a:srgbClr val="1E293B"/>
                </a:solidFill>
                <a:latin typeface="Consolas" pitchFamily="34" charset="0"/>
                <a:ea typeface="Consolas" pitchFamily="34" charset="-122"/>
                <a:cs typeface="Consolas" pitchFamily="34" charset="-120"/>
              </a:rPr>
              <a:t>  = PlainMult(Enc(0),Enc(0x11))</a:t>
            </a:r>
            <a:endParaRPr lang="en-US" sz="1040" dirty="0"/>
          </a:p>
          <a:p>
            <a:r>
              <a:rPr lang="en-US" sz="1040" dirty="0">
                <a:solidFill>
                  <a:srgbClr val="1E293B"/>
                </a:solidFill>
                <a:latin typeface="Consolas" pitchFamily="34" charset="0"/>
                <a:ea typeface="Consolas" pitchFamily="34" charset="-122"/>
                <a:cs typeface="Consolas" pitchFamily="34" charset="-120"/>
              </a:rPr>
              <a:t>  + PlainMult(Enc(1),Enc(0x22))  ← hot</a:t>
            </a:r>
            <a:endParaRPr lang="en-US" sz="1040" dirty="0"/>
          </a:p>
          <a:p>
            <a:r>
              <a:rPr lang="en-US" sz="1040" dirty="0">
                <a:solidFill>
                  <a:srgbClr val="1E293B"/>
                </a:solidFill>
                <a:latin typeface="Consolas" pitchFamily="34" charset="0"/>
                <a:ea typeface="Consolas" pitchFamily="34" charset="-122"/>
                <a:cs typeface="Consolas" pitchFamily="34" charset="-120"/>
              </a:rPr>
              <a:t>  + PlainMult(Enc(0),Enc(0x33))</a:t>
            </a:r>
            <a:endParaRPr lang="en-US" sz="1040" dirty="0"/>
          </a:p>
          <a:p>
            <a:r>
              <a:rPr lang="en-US" sz="1040" dirty="0">
                <a:solidFill>
                  <a:srgbClr val="1E293B"/>
                </a:solidFill>
                <a:latin typeface="Consolas" pitchFamily="34" charset="0"/>
                <a:ea typeface="Consolas" pitchFamily="34" charset="-122"/>
                <a:cs typeface="Consolas" pitchFamily="34" charset="-120"/>
              </a:rPr>
              <a:t>  = Enc(0)+Enc(0x22)+Enc(0) = Enc(0x22)</a:t>
            </a:r>
            <a:endParaRPr lang="en-US" sz="1040" dirty="0"/>
          </a:p>
        </p:txBody>
      </p:sp>
      <p:sp>
        <p:nvSpPr>
          <p:cNvPr id="14" name="Shape 12"/>
          <p:cNvSpPr/>
          <p:nvPr/>
        </p:nvSpPr>
        <p:spPr>
          <a:xfrm>
            <a:off x="658368" y="4584192"/>
            <a:ext cx="5218176" cy="365760"/>
          </a:xfrm>
          <a:prstGeom prst="rect">
            <a:avLst/>
          </a:prstGeom>
          <a:solidFill>
            <a:srgbClr val="F0FDF4"/>
          </a:solidFill>
          <a:ln w="19050">
            <a:solidFill>
              <a:srgbClr val="BBF7D0"/>
            </a:solidFill>
            <a:prstDash val="solid"/>
          </a:ln>
        </p:spPr>
      </p:sp>
      <p:sp>
        <p:nvSpPr>
          <p:cNvPr id="15" name="Text 13"/>
          <p:cNvSpPr/>
          <p:nvPr/>
        </p:nvSpPr>
        <p:spPr>
          <a:xfrm>
            <a:off x="658368" y="4584192"/>
            <a:ext cx="5218176" cy="365760"/>
          </a:xfrm>
          <a:prstGeom prst="rect">
            <a:avLst/>
          </a:prstGeom>
          <a:noFill/>
          <a:ln/>
        </p:spPr>
        <p:txBody>
          <a:bodyPr wrap="square" rtlCol="0" anchor="ctr"/>
          <a:lstStyle/>
          <a:p>
            <a:pPr algn="ctr"/>
            <a:r>
              <a:rPr lang="en-US" sz="1267" b="1" dirty="0">
                <a:solidFill>
                  <a:srgbClr val="16A34A"/>
                </a:solidFill>
                <a:latin typeface="Consolas" pitchFamily="34" charset="0"/>
                <a:ea typeface="Consolas" pitchFamily="34" charset="-122"/>
                <a:cs typeface="Consolas" pitchFamily="34" charset="-120"/>
              </a:rPr>
              <a:t>Return  R = (Enc(0x22))</a:t>
            </a:r>
            <a:endParaRPr lang="en-US" sz="1267" dirty="0"/>
          </a:p>
        </p:txBody>
      </p:sp>
      <p:sp>
        <p:nvSpPr>
          <p:cNvPr id="16" name="Text 14"/>
          <p:cNvSpPr/>
          <p:nvPr/>
        </p:nvSpPr>
        <p:spPr>
          <a:xfrm>
            <a:off x="658368" y="4998720"/>
            <a:ext cx="5218176" cy="268224"/>
          </a:xfrm>
          <a:prstGeom prst="rect">
            <a:avLst/>
          </a:prstGeom>
          <a:noFill/>
          <a:ln/>
        </p:spPr>
        <p:txBody>
          <a:bodyPr wrap="square" rtlCol="0" anchor="ctr"/>
          <a:lstStyle/>
          <a:p>
            <a:r>
              <a:rPr lang="en-US" sz="1000" i="1" dirty="0">
                <a:solidFill>
                  <a:srgbClr val="64748B"/>
                </a:solidFill>
                <a:latin typeface="Calibri" pitchFamily="34" charset="0"/>
                <a:ea typeface="Calibri" pitchFamily="34" charset="-122"/>
                <a:cs typeface="Calibri" pitchFamily="34" charset="-120"/>
              </a:rPr>
              <a:t>Server sees only ciphertexts — cannot distinguish i=7 from any other index (IND-CPA)</a:t>
            </a:r>
            <a:endParaRPr lang="en-US" sz="1000" dirty="0"/>
          </a:p>
        </p:txBody>
      </p:sp>
      <p:sp>
        <p:nvSpPr>
          <p:cNvPr id="17" name="Shape 15"/>
          <p:cNvSpPr/>
          <p:nvPr/>
        </p:nvSpPr>
        <p:spPr>
          <a:xfrm>
            <a:off x="487680" y="5340096"/>
            <a:ext cx="5547360" cy="829056"/>
          </a:xfrm>
          <a:prstGeom prst="rect">
            <a:avLst/>
          </a:prstGeom>
          <a:solidFill>
            <a:srgbClr val="FFFBEB"/>
          </a:solidFill>
          <a:ln w="12700">
            <a:solidFill>
              <a:srgbClr val="FDE68A"/>
            </a:solidFill>
            <a:prstDash val="solid"/>
          </a:ln>
        </p:spPr>
      </p:sp>
      <p:sp>
        <p:nvSpPr>
          <p:cNvPr id="18" name="Text 16"/>
          <p:cNvSpPr/>
          <p:nvPr/>
        </p:nvSpPr>
        <p:spPr>
          <a:xfrm>
            <a:off x="633984" y="5388864"/>
            <a:ext cx="5242560" cy="731520"/>
          </a:xfrm>
          <a:prstGeom prst="rect">
            <a:avLst/>
          </a:prstGeom>
          <a:noFill/>
          <a:ln/>
        </p:spPr>
        <p:txBody>
          <a:bodyPr wrap="square" rtlCol="0" anchor="t"/>
          <a:lstStyle/>
          <a:p>
            <a:r>
              <a:rPr lang="en-US" sz="1067" b="1" dirty="0">
                <a:solidFill>
                  <a:srgbClr val="92400E"/>
                </a:solidFill>
                <a:latin typeface="Calibri" pitchFamily="34" charset="0"/>
                <a:ea typeface="Calibri" pitchFamily="34" charset="-122"/>
                <a:cs typeface="Calibri" pitchFamily="34" charset="-120"/>
              </a:rPr>
              <a:t>Note on l in R⁽ˡ⁾ⱼ : </a:t>
            </a:r>
            <a:r>
              <a:rPr lang="en-US" sz="1067" dirty="0">
                <a:solidFill>
                  <a:srgbClr val="1E293B"/>
                </a:solidFill>
                <a:latin typeface="Calibri" pitchFamily="34" charset="0"/>
                <a:ea typeface="Calibri" pitchFamily="34" charset="-122"/>
                <a:cs typeface="Calibri" pitchFamily="34" charset="-120"/>
              </a:rPr>
              <a:t>l is the dimension-pass counter (not an exponent). </a:t>
            </a:r>
          </a:p>
          <a:p>
            <a:r>
              <a:rPr lang="en-US" sz="1067" dirty="0">
                <a:solidFill>
                  <a:srgbClr val="1E293B"/>
                </a:solidFill>
                <a:latin typeface="Calibri" pitchFamily="34" charset="0"/>
                <a:ea typeface="Calibri" pitchFamily="34" charset="-122"/>
                <a:cs typeface="Calibri" pitchFamily="34" charset="-120"/>
              </a:rPr>
              <a:t>After l=1 (dim 1 collapsed) → R⁽¹⁾. </a:t>
            </a:r>
          </a:p>
          <a:p>
            <a:r>
              <a:rPr lang="en-US" sz="1067" dirty="0">
                <a:solidFill>
                  <a:srgbClr val="1E293B"/>
                </a:solidFill>
                <a:latin typeface="Calibri" pitchFamily="34" charset="0"/>
                <a:ea typeface="Calibri" pitchFamily="34" charset="-122"/>
                <a:cs typeface="Calibri" pitchFamily="34" charset="-120"/>
              </a:rPr>
              <a:t>After l=2 (dim 2 collapsed) → R⁽²⁾ = final reply. </a:t>
            </a:r>
          </a:p>
          <a:p>
            <a:r>
              <a:rPr lang="en-US" sz="1067" dirty="0">
                <a:solidFill>
                  <a:srgbClr val="1E293B"/>
                </a:solidFill>
                <a:latin typeface="Calibri" pitchFamily="34" charset="0"/>
                <a:ea typeface="Calibri" pitchFamily="34" charset="-122"/>
                <a:cs typeface="Calibri" pitchFamily="34" charset="-120"/>
              </a:rPr>
              <a:t>For general d, final result is R⁽ᵈ⁾.</a:t>
            </a:r>
            <a:endParaRPr lang="en-US" sz="1067" dirty="0"/>
          </a:p>
        </p:txBody>
      </p:sp>
      <p:sp>
        <p:nvSpPr>
          <p:cNvPr id="19" name="Shape 17"/>
          <p:cNvSpPr/>
          <p:nvPr/>
        </p:nvSpPr>
        <p:spPr>
          <a:xfrm>
            <a:off x="6217920" y="768096"/>
            <a:ext cx="5486400" cy="341376"/>
          </a:xfrm>
          <a:prstGeom prst="rect">
            <a:avLst/>
          </a:prstGeom>
          <a:solidFill>
            <a:srgbClr val="1E293B"/>
          </a:solidFill>
          <a:ln w="12700">
            <a:solidFill>
              <a:srgbClr val="1E293B"/>
            </a:solidFill>
            <a:prstDash val="solid"/>
          </a:ln>
        </p:spPr>
      </p:sp>
      <p:sp>
        <p:nvSpPr>
          <p:cNvPr id="20" name="Text 18"/>
          <p:cNvSpPr/>
          <p:nvPr/>
        </p:nvSpPr>
        <p:spPr>
          <a:xfrm>
            <a:off x="6364224" y="768096"/>
            <a:ext cx="3901440" cy="341376"/>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(4)  Response Decoding /</a:t>
            </a:r>
            <a:r>
              <a:rPr lang="zh-CN" altLang="en-US" sz="1400" b="1" dirty="0">
                <a:solidFill>
                  <a:srgbClr val="FFFFFF"/>
                </a:solidFill>
                <a:latin typeface="Calibri" pitchFamily="34" charset="0"/>
                <a:ea typeface="Calibri" pitchFamily="34" charset="-122"/>
                <a:cs typeface="Calibri" pitchFamily="34" charset="-120"/>
              </a:rPr>
              <a:t>响应解码</a:t>
            </a:r>
            <a:endParaRPr lang="en-US" sz="1333" dirty="0"/>
          </a:p>
        </p:txBody>
      </p:sp>
      <p:sp>
        <p:nvSpPr>
          <p:cNvPr id="21" name="Text 19"/>
          <p:cNvSpPr/>
          <p:nvPr/>
        </p:nvSpPr>
        <p:spPr>
          <a:xfrm>
            <a:off x="10094976" y="768096"/>
            <a:ext cx="1402080" cy="341376"/>
          </a:xfrm>
          <a:prstGeom prst="rect">
            <a:avLst/>
          </a:prstGeom>
          <a:noFill/>
          <a:ln/>
        </p:spPr>
        <p:txBody>
          <a:bodyPr wrap="square" lIns="0" tIns="0" rIns="0" bIns="0" rtlCol="0" anchor="ctr"/>
          <a:lstStyle/>
          <a:p>
            <a:pPr algn="r"/>
            <a:r>
              <a:rPr lang="en-US" sz="1067" i="1" dirty="0">
                <a:solidFill>
                  <a:srgbClr val="93C5FD"/>
                </a:solidFill>
                <a:latin typeface="Calibri" pitchFamily="34" charset="0"/>
                <a:ea typeface="Calibri" pitchFamily="34" charset="-122"/>
                <a:cs typeface="Calibri" pitchFamily="34" charset="-120"/>
              </a:rPr>
              <a:t>Actor: Client</a:t>
            </a:r>
            <a:endParaRPr lang="en-US" sz="1067" dirty="0"/>
          </a:p>
        </p:txBody>
      </p:sp>
      <p:sp>
        <p:nvSpPr>
          <p:cNvPr id="22" name="Shape 20"/>
          <p:cNvSpPr/>
          <p:nvPr/>
        </p:nvSpPr>
        <p:spPr>
          <a:xfrm>
            <a:off x="6217920" y="1109472"/>
            <a:ext cx="5486400" cy="567537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txBody>
          <a:bodyPr/>
          <a:lstStyle/>
          <a:p>
            <a:endParaRPr lang="en-US" sz="2400" dirty="0"/>
          </a:p>
        </p:txBody>
      </p:sp>
      <p:sp>
        <p:nvSpPr>
          <p:cNvPr id="23" name="Text 21"/>
          <p:cNvSpPr/>
          <p:nvPr/>
        </p:nvSpPr>
        <p:spPr>
          <a:xfrm>
            <a:off x="6388608" y="1182624"/>
            <a:ext cx="5145024" cy="243840"/>
          </a:xfrm>
          <a:prstGeom prst="rect">
            <a:avLst/>
          </a:prstGeom>
          <a:noFill/>
          <a:ln/>
        </p:spPr>
        <p:txBody>
          <a:bodyPr wrap="square" rtlCol="0" anchor="ctr"/>
          <a:lstStyle/>
          <a:p>
            <a:r>
              <a:rPr lang="en-US" sz="1200" b="1" dirty="0">
                <a:solidFill>
                  <a:srgbClr val="2563EB"/>
                </a:solidFill>
                <a:latin typeface="Calibri" pitchFamily="34" charset="0"/>
                <a:ea typeface="Calibri" pitchFamily="34" charset="-122"/>
                <a:cs typeface="Calibri" pitchFamily="34" charset="-120"/>
              </a:rPr>
              <a:t>Receive  R = ( Enc(0x22) )  from server</a:t>
            </a:r>
            <a:endParaRPr lang="en-US" sz="1200" dirty="0"/>
          </a:p>
        </p:txBody>
      </p:sp>
      <p:sp>
        <p:nvSpPr>
          <p:cNvPr id="24" name="Text 22"/>
          <p:cNvSpPr/>
          <p:nvPr/>
        </p:nvSpPr>
        <p:spPr>
          <a:xfrm>
            <a:off x="6388608" y="1487424"/>
            <a:ext cx="5145024" cy="243840"/>
          </a:xfrm>
          <a:prstGeom prst="rect">
            <a:avLst/>
          </a:prstGeom>
          <a:noFill/>
          <a:ln/>
        </p:spPr>
        <p:txBody>
          <a:bodyPr wrap="square" rtlCol="0" anchor="ctr"/>
          <a:lstStyle/>
          <a:p>
            <a:r>
              <a:rPr lang="en-US" sz="1200" b="1" dirty="0">
                <a:solidFill>
                  <a:srgbClr val="2563EB"/>
                </a:solidFill>
                <a:latin typeface="Calibri" pitchFamily="34" charset="0"/>
                <a:ea typeface="Calibri" pitchFamily="34" charset="-122"/>
                <a:cs typeface="Calibri" pitchFamily="34" charset="-120"/>
              </a:rPr>
              <a:t>Decrypt each chunk  j ∈ [ceil(ℓ/ℓ₀)] :</a:t>
            </a:r>
            <a:endParaRPr lang="en-US" sz="1200" dirty="0"/>
          </a:p>
        </p:txBody>
      </p:sp>
      <p:sp>
        <p:nvSpPr>
          <p:cNvPr id="25" name="Text 23"/>
          <p:cNvSpPr/>
          <p:nvPr/>
        </p:nvSpPr>
        <p:spPr>
          <a:xfrm>
            <a:off x="6388608" y="1731264"/>
            <a:ext cx="5145024" cy="292608"/>
          </a:xfrm>
          <a:prstGeom prst="rect">
            <a:avLst/>
          </a:prstGeom>
          <a:noFill/>
          <a:ln/>
        </p:spPr>
        <p:txBody>
          <a:bodyPr wrap="square" rtlCol="0" anchor="t"/>
          <a:lstStyle/>
          <a:p>
            <a:r>
              <a:rPr lang="en-US" sz="1133" dirty="0" err="1">
                <a:solidFill>
                  <a:srgbClr val="1E293B"/>
                </a:solidFill>
                <a:latin typeface="Consolas" pitchFamily="34" charset="0"/>
                <a:ea typeface="Consolas" pitchFamily="34" charset="-122"/>
                <a:cs typeface="Consolas" pitchFamily="34" charset="-120"/>
              </a:rPr>
              <a:t>FHE.Dec</a:t>
            </a:r>
            <a:r>
              <a:rPr lang="en-US" sz="1133" dirty="0">
                <a:solidFill>
                  <a:srgbClr val="1E293B"/>
                </a:solidFill>
                <a:latin typeface="Consolas" pitchFamily="34" charset="0"/>
                <a:ea typeface="Consolas" pitchFamily="34" charset="-122"/>
                <a:cs typeface="Consolas" pitchFamily="34" charset="-120"/>
              </a:rPr>
              <a:t>(c, </a:t>
            </a:r>
            <a:r>
              <a:rPr lang="en-US" sz="1133" dirty="0" err="1">
                <a:solidFill>
                  <a:srgbClr val="1E293B"/>
                </a:solidFill>
                <a:latin typeface="Consolas" pitchFamily="34" charset="0"/>
                <a:ea typeface="Consolas" pitchFamily="34" charset="-122"/>
                <a:cs typeface="Consolas" pitchFamily="34" charset="-120"/>
              </a:rPr>
              <a:t>sk</a:t>
            </a:r>
            <a:r>
              <a:rPr lang="en-US" sz="1133" dirty="0">
                <a:solidFill>
                  <a:srgbClr val="1E293B"/>
                </a:solidFill>
                <a:latin typeface="Consolas" pitchFamily="34" charset="0"/>
                <a:ea typeface="Consolas" pitchFamily="34" charset="-122"/>
                <a:cs typeface="Consolas" pitchFamily="34" charset="-120"/>
              </a:rPr>
              <a:t>)  =  ⌊(1/Δ)(b − a·s)⌉</a:t>
            </a:r>
            <a:endParaRPr lang="en-US" sz="1133" dirty="0"/>
          </a:p>
        </p:txBody>
      </p:sp>
      <p:sp>
        <p:nvSpPr>
          <p:cNvPr id="26" name="Text 24"/>
          <p:cNvSpPr/>
          <p:nvPr/>
        </p:nvSpPr>
        <p:spPr>
          <a:xfrm>
            <a:off x="6388608" y="2048256"/>
            <a:ext cx="5145024" cy="292608"/>
          </a:xfrm>
          <a:prstGeom prst="rect">
            <a:avLst/>
          </a:prstGeom>
          <a:noFill/>
          <a:ln/>
        </p:spPr>
        <p:txBody>
          <a:bodyPr wrap="square" rtlCol="0" anchor="t"/>
          <a:lstStyle/>
          <a:p>
            <a:r>
              <a:rPr lang="en-US" sz="1200" b="1" dirty="0">
                <a:solidFill>
                  <a:srgbClr val="16A34A"/>
                </a:solidFill>
                <a:latin typeface="Consolas" pitchFamily="34" charset="0"/>
                <a:ea typeface="Consolas" pitchFamily="34" charset="-122"/>
                <a:cs typeface="Consolas" pitchFamily="34" charset="-120"/>
              </a:rPr>
              <a:t>FHE.Dec( Enc(0x22), sk )  =  0x22</a:t>
            </a:r>
            <a:endParaRPr lang="en-US" sz="1200" dirty="0"/>
          </a:p>
        </p:txBody>
      </p:sp>
      <p:sp>
        <p:nvSpPr>
          <p:cNvPr id="27" name="Text 25"/>
          <p:cNvSpPr/>
          <p:nvPr/>
        </p:nvSpPr>
        <p:spPr>
          <a:xfrm>
            <a:off x="6388608" y="2462784"/>
            <a:ext cx="5145024" cy="243840"/>
          </a:xfrm>
          <a:prstGeom prst="rect">
            <a:avLst/>
          </a:prstGeom>
          <a:noFill/>
          <a:ln/>
        </p:spPr>
        <p:txBody>
          <a:bodyPr wrap="square" rtlCol="0" anchor="ctr"/>
          <a:lstStyle/>
          <a:p>
            <a:r>
              <a:rPr lang="en-US" sz="1200" b="1" dirty="0">
                <a:solidFill>
                  <a:srgbClr val="2563EB"/>
                </a:solidFill>
                <a:latin typeface="Calibri" pitchFamily="34" charset="0"/>
                <a:ea typeface="Calibri" pitchFamily="34" charset="-122"/>
                <a:cs typeface="Calibri" pitchFamily="34" charset="-120"/>
              </a:rPr>
              <a:t>Recover DB[i] :</a:t>
            </a:r>
            <a:endParaRPr lang="en-US" sz="1200" dirty="0"/>
          </a:p>
        </p:txBody>
      </p:sp>
      <p:sp>
        <p:nvSpPr>
          <p:cNvPr id="28" name="Text 26"/>
          <p:cNvSpPr/>
          <p:nvPr/>
        </p:nvSpPr>
        <p:spPr>
          <a:xfrm>
            <a:off x="6388608" y="2706624"/>
            <a:ext cx="5145024" cy="487680"/>
          </a:xfrm>
          <a:prstGeom prst="rect">
            <a:avLst/>
          </a:prstGeom>
          <a:noFill/>
          <a:ln/>
        </p:spPr>
        <p:txBody>
          <a:bodyPr wrap="square" rtlCol="0" anchor="t"/>
          <a:lstStyle/>
          <a:p>
            <a:r>
              <a:rPr lang="en-US" sz="1200" dirty="0">
                <a:solidFill>
                  <a:srgbClr val="1E293B"/>
                </a:solidFill>
                <a:latin typeface="Consolas" pitchFamily="34" charset="0"/>
                <a:ea typeface="Consolas" pitchFamily="34" charset="-122"/>
                <a:cs typeface="Consolas" pitchFamily="34" charset="-120"/>
              </a:rPr>
              <a:t>DB[7] = m₍ₖ₎₍₁₎  (one chunk here)</a:t>
            </a:r>
            <a:endParaRPr lang="en-US" sz="1200" dirty="0"/>
          </a:p>
          <a:p>
            <a:r>
              <a:rPr lang="en-US" sz="1200" dirty="0">
                <a:solidFill>
                  <a:srgbClr val="1E293B"/>
                </a:solidFill>
                <a:latin typeface="Consolas" pitchFamily="34" charset="0"/>
                <a:ea typeface="Consolas" pitchFamily="34" charset="-122"/>
                <a:cs typeface="Consolas" pitchFamily="34" charset="-120"/>
              </a:rPr>
              <a:t>     = 0x22  ✓</a:t>
            </a:r>
            <a:endParaRPr lang="en-US" sz="1200" dirty="0"/>
          </a:p>
        </p:txBody>
      </p:sp>
      <p:sp>
        <p:nvSpPr>
          <p:cNvPr id="29" name="Shape 27"/>
          <p:cNvSpPr/>
          <p:nvPr/>
        </p:nvSpPr>
        <p:spPr>
          <a:xfrm>
            <a:off x="6388608" y="3340608"/>
            <a:ext cx="5145024" cy="633984"/>
          </a:xfrm>
          <a:prstGeom prst="rect">
            <a:avLst/>
          </a:prstGeom>
          <a:solidFill>
            <a:srgbClr val="F0FDF4"/>
          </a:solidFill>
          <a:ln w="25400">
            <a:solidFill>
              <a:srgbClr val="BBF7D0"/>
            </a:solidFill>
            <a:prstDash val="solid"/>
          </a:ln>
          <a:effectLst>
            <a:outerShdw blurRad="50800" dist="25400" dir="8100000" algn="bl" rotWithShape="0">
              <a:srgbClr val="000000">
                <a:alpha val="8000"/>
              </a:srgbClr>
            </a:outerShdw>
          </a:effectLst>
        </p:spPr>
      </p:sp>
      <p:sp>
        <p:nvSpPr>
          <p:cNvPr id="30" name="Text 28"/>
          <p:cNvSpPr/>
          <p:nvPr/>
        </p:nvSpPr>
        <p:spPr>
          <a:xfrm>
            <a:off x="6388608" y="3340608"/>
            <a:ext cx="5145024" cy="633984"/>
          </a:xfrm>
          <a:prstGeom prst="rect">
            <a:avLst/>
          </a:prstGeom>
          <a:noFill/>
          <a:ln/>
        </p:spPr>
        <p:txBody>
          <a:bodyPr wrap="square" rtlCol="0" anchor="ctr"/>
          <a:lstStyle/>
          <a:p>
            <a:pPr algn="ctr"/>
            <a:r>
              <a:rPr lang="en-US" sz="1333" b="1" dirty="0">
                <a:solidFill>
                  <a:srgbClr val="16A34A"/>
                </a:solidFill>
                <a:latin typeface="Consolas" pitchFamily="34" charset="0"/>
                <a:ea typeface="Consolas" pitchFamily="34" charset="-122"/>
                <a:cs typeface="Consolas" pitchFamily="34" charset="-120"/>
              </a:rPr>
              <a:t>DB[7]  =  0x22  ✓</a:t>
            </a:r>
            <a:endParaRPr lang="en-US" sz="1333" dirty="0"/>
          </a:p>
          <a:p>
            <a:pPr algn="ctr"/>
            <a:r>
              <a:rPr lang="en-US" sz="1333" b="1" dirty="0" err="1">
                <a:solidFill>
                  <a:srgbClr val="16A34A"/>
                </a:solidFill>
                <a:latin typeface="Consolas" pitchFamily="34" charset="0"/>
                <a:ea typeface="Consolas" pitchFamily="34" charset="-122"/>
                <a:cs typeface="Consolas" pitchFamily="34" charset="-120"/>
              </a:rPr>
              <a:t>FHE.Dec</a:t>
            </a:r>
            <a:r>
              <a:rPr lang="en-US" sz="1333" b="1" dirty="0">
                <a:solidFill>
                  <a:srgbClr val="16A34A"/>
                </a:solidFill>
                <a:latin typeface="Consolas" pitchFamily="34" charset="0"/>
                <a:ea typeface="Consolas" pitchFamily="34" charset="-122"/>
                <a:cs typeface="Consolas" pitchFamily="34" charset="-120"/>
              </a:rPr>
              <a:t>(Enc(0x22), </a:t>
            </a:r>
            <a:r>
              <a:rPr lang="en-US" sz="1333" b="1" dirty="0" err="1">
                <a:solidFill>
                  <a:srgbClr val="16A34A"/>
                </a:solidFill>
                <a:latin typeface="Consolas" pitchFamily="34" charset="0"/>
                <a:ea typeface="Consolas" pitchFamily="34" charset="-122"/>
                <a:cs typeface="Consolas" pitchFamily="34" charset="-120"/>
              </a:rPr>
              <a:t>sk</a:t>
            </a:r>
            <a:r>
              <a:rPr lang="en-US" sz="1333" b="1" dirty="0">
                <a:solidFill>
                  <a:srgbClr val="16A34A"/>
                </a:solidFill>
                <a:latin typeface="Consolas" pitchFamily="34" charset="0"/>
                <a:ea typeface="Consolas" pitchFamily="34" charset="-122"/>
                <a:cs typeface="Consolas" pitchFamily="34" charset="-120"/>
              </a:rPr>
              <a:t>)  =  0x22</a:t>
            </a:r>
            <a:endParaRPr lang="en-US" sz="1333" dirty="0"/>
          </a:p>
        </p:txBody>
      </p:sp>
      <p:sp>
        <p:nvSpPr>
          <p:cNvPr id="31" name="Text 29"/>
          <p:cNvSpPr/>
          <p:nvPr/>
        </p:nvSpPr>
        <p:spPr>
          <a:xfrm>
            <a:off x="6388608" y="4145280"/>
            <a:ext cx="5145024" cy="268224"/>
          </a:xfrm>
          <a:prstGeom prst="rect">
            <a:avLst/>
          </a:prstGeom>
          <a:noFill/>
          <a:ln/>
        </p:spPr>
        <p:txBody>
          <a:bodyPr wrap="square" rtlCol="0" anchor="ctr"/>
          <a:lstStyle/>
          <a:p>
            <a:r>
              <a:rPr lang="en-US" sz="1200" b="1" dirty="0">
                <a:solidFill>
                  <a:srgbClr val="1E293B"/>
                </a:solidFill>
                <a:latin typeface="Calibri" pitchFamily="34" charset="0"/>
                <a:ea typeface="Calibri" pitchFamily="34" charset="-122"/>
                <a:cs typeface="Calibri" pitchFamily="34" charset="-120"/>
              </a:rPr>
              <a:t>Key Insights</a:t>
            </a:r>
            <a:endParaRPr lang="en-US" sz="1200" dirty="0"/>
          </a:p>
        </p:txBody>
      </p:sp>
      <p:sp>
        <p:nvSpPr>
          <p:cNvPr id="32" name="Shape 30"/>
          <p:cNvSpPr/>
          <p:nvPr/>
        </p:nvSpPr>
        <p:spPr>
          <a:xfrm>
            <a:off x="6388608" y="4450080"/>
            <a:ext cx="633984" cy="438912"/>
          </a:xfrm>
          <a:prstGeom prst="rect">
            <a:avLst/>
          </a:prstGeom>
          <a:solidFill>
            <a:srgbClr val="2563EB"/>
          </a:solidFill>
          <a:ln w="12700">
            <a:solidFill>
              <a:srgbClr val="2563EB"/>
            </a:solidFill>
            <a:prstDash val="solid"/>
          </a:ln>
        </p:spPr>
      </p:sp>
      <p:sp>
        <p:nvSpPr>
          <p:cNvPr id="33" name="Text 31"/>
          <p:cNvSpPr/>
          <p:nvPr/>
        </p:nvSpPr>
        <p:spPr>
          <a:xfrm>
            <a:off x="6388608" y="4450080"/>
            <a:ext cx="633984" cy="438912"/>
          </a:xfrm>
          <a:prstGeom prst="rect">
            <a:avLst/>
          </a:prstGeom>
          <a:noFill/>
          <a:ln/>
        </p:spPr>
        <p:txBody>
          <a:bodyPr wrap="square" lIns="0" tIns="0" rIns="0" bIns="0" rtlCol="0" anchor="ctr"/>
          <a:lstStyle/>
          <a:p>
            <a:pPr algn="ctr"/>
            <a:r>
              <a:rPr lang="en-US" sz="933" b="1" dirty="0">
                <a:solidFill>
                  <a:srgbClr val="FFFFFF"/>
                </a:solidFill>
                <a:latin typeface="Calibri" pitchFamily="34" charset="0"/>
                <a:ea typeface="Calibri" pitchFamily="34" charset="-122"/>
                <a:cs typeface="Calibri" pitchFamily="34" charset="-120"/>
              </a:rPr>
              <a:t>Privacy</a:t>
            </a:r>
            <a:endParaRPr lang="en-US" sz="933" dirty="0"/>
          </a:p>
        </p:txBody>
      </p:sp>
      <p:sp>
        <p:nvSpPr>
          <p:cNvPr id="34" name="Text 32"/>
          <p:cNvSpPr/>
          <p:nvPr/>
        </p:nvSpPr>
        <p:spPr>
          <a:xfrm>
            <a:off x="7071360" y="4474464"/>
            <a:ext cx="4462272" cy="414528"/>
          </a:xfrm>
          <a:prstGeom prst="rect">
            <a:avLst/>
          </a:prstGeom>
          <a:noFill/>
          <a:ln/>
        </p:spPr>
        <p:txBody>
          <a:bodyPr wrap="square" rtlCol="0" anchor="ctr"/>
          <a:lstStyle/>
          <a:p>
            <a:r>
              <a:rPr lang="en-US" sz="1000" dirty="0">
                <a:solidFill>
                  <a:srgbClr val="1E293B"/>
                </a:solidFill>
                <a:latin typeface="Calibri" pitchFamily="34" charset="0"/>
                <a:ea typeface="Calibri" pitchFamily="34" charset="-122"/>
                <a:cs typeface="Calibri" pitchFamily="34" charset="-120"/>
              </a:rPr>
              <a:t>Server saw only Enc(0) and Enc(1) ciphertexts — IND-CPA guarantees it learns nothing about i=7</a:t>
            </a:r>
            <a:endParaRPr lang="en-US" sz="1000" dirty="0"/>
          </a:p>
        </p:txBody>
      </p:sp>
      <p:sp>
        <p:nvSpPr>
          <p:cNvPr id="35" name="Shape 33"/>
          <p:cNvSpPr/>
          <p:nvPr/>
        </p:nvSpPr>
        <p:spPr>
          <a:xfrm>
            <a:off x="6388608" y="5010912"/>
            <a:ext cx="633984" cy="438912"/>
          </a:xfrm>
          <a:prstGeom prst="rect">
            <a:avLst/>
          </a:prstGeom>
          <a:solidFill>
            <a:srgbClr val="2563EB"/>
          </a:solidFill>
          <a:ln w="12700">
            <a:solidFill>
              <a:srgbClr val="2563EB"/>
            </a:solidFill>
            <a:prstDash val="solid"/>
          </a:ln>
        </p:spPr>
      </p:sp>
      <p:sp>
        <p:nvSpPr>
          <p:cNvPr id="36" name="Text 34"/>
          <p:cNvSpPr/>
          <p:nvPr/>
        </p:nvSpPr>
        <p:spPr>
          <a:xfrm>
            <a:off x="6388608" y="5010912"/>
            <a:ext cx="633984" cy="438912"/>
          </a:xfrm>
          <a:prstGeom prst="rect">
            <a:avLst/>
          </a:prstGeom>
          <a:noFill/>
          <a:ln/>
        </p:spPr>
        <p:txBody>
          <a:bodyPr wrap="square" lIns="0" tIns="0" rIns="0" bIns="0" rtlCol="0" anchor="ctr"/>
          <a:lstStyle/>
          <a:p>
            <a:pPr algn="ctr"/>
            <a:r>
              <a:rPr lang="en-US" sz="933" b="1" dirty="0">
                <a:solidFill>
                  <a:srgbClr val="FFFFFF"/>
                </a:solidFill>
                <a:latin typeface="Calibri" pitchFamily="34" charset="0"/>
                <a:ea typeface="Calibri" pitchFamily="34" charset="-122"/>
                <a:cs typeface="Calibri" pitchFamily="34" charset="-120"/>
              </a:rPr>
              <a:t>Correctness</a:t>
            </a:r>
            <a:endParaRPr lang="en-US" sz="933" dirty="0"/>
          </a:p>
        </p:txBody>
      </p:sp>
      <p:sp>
        <p:nvSpPr>
          <p:cNvPr id="37" name="Text 35"/>
          <p:cNvSpPr/>
          <p:nvPr/>
        </p:nvSpPr>
        <p:spPr>
          <a:xfrm>
            <a:off x="7071360" y="5035296"/>
            <a:ext cx="4462272" cy="414528"/>
          </a:xfrm>
          <a:prstGeom prst="rect">
            <a:avLst/>
          </a:prstGeom>
          <a:noFill/>
          <a:ln/>
        </p:spPr>
        <p:txBody>
          <a:bodyPr wrap="square" rtlCol="0" anchor="ctr"/>
          <a:lstStyle/>
          <a:p>
            <a:r>
              <a:rPr lang="en-US" sz="1000" dirty="0">
                <a:solidFill>
                  <a:srgbClr val="1E293B"/>
                </a:solidFill>
                <a:latin typeface="Calibri" pitchFamily="34" charset="0"/>
                <a:ea typeface="Calibri" pitchFamily="34" charset="-122"/>
                <a:cs typeface="Calibri" pitchFamily="34" charset="-120"/>
              </a:rPr>
              <a:t>Each PlainMult adds noise. After d=2 passes noise must stay below the decryption threshold ⌊(1/Δ)(·)⌉</a:t>
            </a:r>
            <a:endParaRPr lang="en-US" sz="1000" dirty="0"/>
          </a:p>
        </p:txBody>
      </p:sp>
      <p:sp>
        <p:nvSpPr>
          <p:cNvPr id="38" name="Shape 36"/>
          <p:cNvSpPr/>
          <p:nvPr/>
        </p:nvSpPr>
        <p:spPr>
          <a:xfrm>
            <a:off x="6388608" y="5571744"/>
            <a:ext cx="633984" cy="438912"/>
          </a:xfrm>
          <a:prstGeom prst="rect">
            <a:avLst/>
          </a:prstGeom>
          <a:solidFill>
            <a:srgbClr val="2563EB"/>
          </a:solidFill>
          <a:ln w="12700">
            <a:solidFill>
              <a:srgbClr val="2563EB"/>
            </a:solidFill>
            <a:prstDash val="solid"/>
          </a:ln>
        </p:spPr>
      </p:sp>
      <p:sp>
        <p:nvSpPr>
          <p:cNvPr id="39" name="Text 37"/>
          <p:cNvSpPr/>
          <p:nvPr/>
        </p:nvSpPr>
        <p:spPr>
          <a:xfrm>
            <a:off x="6388608" y="5571744"/>
            <a:ext cx="633984" cy="438912"/>
          </a:xfrm>
          <a:prstGeom prst="rect">
            <a:avLst/>
          </a:prstGeom>
          <a:noFill/>
          <a:ln/>
        </p:spPr>
        <p:txBody>
          <a:bodyPr wrap="square" lIns="0" tIns="0" rIns="0" bIns="0" rtlCol="0" anchor="ctr"/>
          <a:lstStyle/>
          <a:p>
            <a:pPr algn="ctr"/>
            <a:r>
              <a:rPr lang="en-US" sz="933" b="1" dirty="0">
                <a:solidFill>
                  <a:srgbClr val="FFFFFF"/>
                </a:solidFill>
                <a:latin typeface="Calibri" pitchFamily="34" charset="0"/>
                <a:ea typeface="Calibri" pitchFamily="34" charset="-122"/>
                <a:cs typeface="Calibri" pitchFamily="34" charset="-120"/>
              </a:rPr>
              <a:t>Reply size</a:t>
            </a:r>
            <a:endParaRPr lang="en-US" sz="933" dirty="0"/>
          </a:p>
        </p:txBody>
      </p:sp>
      <p:sp>
        <p:nvSpPr>
          <p:cNvPr id="40" name="Text 38"/>
          <p:cNvSpPr/>
          <p:nvPr/>
        </p:nvSpPr>
        <p:spPr>
          <a:xfrm>
            <a:off x="7071360" y="5596128"/>
            <a:ext cx="4462272" cy="414528"/>
          </a:xfrm>
          <a:prstGeom prst="rect">
            <a:avLst/>
          </a:prstGeom>
          <a:noFill/>
          <a:ln/>
        </p:spPr>
        <p:txBody>
          <a:bodyPr wrap="square" rtlCol="0" anchor="ctr"/>
          <a:lstStyle/>
          <a:p>
            <a:r>
              <a:rPr lang="en-US" sz="1000" dirty="0">
                <a:solidFill>
                  <a:srgbClr val="1E293B"/>
                </a:solidFill>
                <a:latin typeface="Calibri" pitchFamily="34" charset="0"/>
                <a:ea typeface="Calibri" pitchFamily="34" charset="-122"/>
                <a:cs typeface="Calibri" pitchFamily="34" charset="-120"/>
              </a:rPr>
              <a:t>Here 1 ct (ℓ=ℓ₀). In general: F^(d-1)×ℓ bits  </a:t>
            </a:r>
          </a:p>
          <a:p>
            <a:r>
              <a:rPr lang="en-US" sz="1000" dirty="0">
                <a:solidFill>
                  <a:srgbClr val="1E293B"/>
                </a:solidFill>
                <a:latin typeface="Calibri" pitchFamily="34" charset="0"/>
                <a:ea typeface="Calibri" pitchFamily="34" charset="-122"/>
                <a:cs typeface="Calibri" pitchFamily="34" charset="-120"/>
              </a:rPr>
              <a:t>(F≈5 for Ring-LWE, d=2 → F cts returned)</a:t>
            </a:r>
            <a:endParaRPr lang="en-US" sz="1000" dirty="0"/>
          </a:p>
        </p:txBody>
      </p:sp>
      <p:sp>
        <p:nvSpPr>
          <p:cNvPr id="41" name="Shape 39"/>
          <p:cNvSpPr/>
          <p:nvPr/>
        </p:nvSpPr>
        <p:spPr>
          <a:xfrm>
            <a:off x="6388608" y="6132576"/>
            <a:ext cx="633984" cy="438912"/>
          </a:xfrm>
          <a:prstGeom prst="rect">
            <a:avLst/>
          </a:prstGeom>
          <a:solidFill>
            <a:srgbClr val="2563EB"/>
          </a:solidFill>
          <a:ln w="12700">
            <a:solidFill>
              <a:srgbClr val="2563EB"/>
            </a:solidFill>
            <a:prstDash val="solid"/>
          </a:ln>
        </p:spPr>
      </p:sp>
      <p:sp>
        <p:nvSpPr>
          <p:cNvPr id="42" name="Text 40"/>
          <p:cNvSpPr/>
          <p:nvPr/>
        </p:nvSpPr>
        <p:spPr>
          <a:xfrm>
            <a:off x="6388608" y="6132576"/>
            <a:ext cx="633984" cy="438912"/>
          </a:xfrm>
          <a:prstGeom prst="rect">
            <a:avLst/>
          </a:prstGeom>
          <a:noFill/>
          <a:ln/>
        </p:spPr>
        <p:txBody>
          <a:bodyPr wrap="square" lIns="0" tIns="0" rIns="0" bIns="0" rtlCol="0" anchor="ctr"/>
          <a:lstStyle/>
          <a:p>
            <a:pPr algn="ctr"/>
            <a:r>
              <a:rPr lang="en-US" sz="933" b="1" dirty="0">
                <a:solidFill>
                  <a:srgbClr val="FFFFFF"/>
                </a:solidFill>
                <a:latin typeface="Calibri" pitchFamily="34" charset="0"/>
                <a:ea typeface="Calibri" pitchFamily="34" charset="-122"/>
                <a:cs typeface="Calibri" pitchFamily="34" charset="-120"/>
              </a:rPr>
              <a:t>Why k not i</a:t>
            </a:r>
            <a:endParaRPr lang="en-US" sz="933" dirty="0"/>
          </a:p>
        </p:txBody>
      </p:sp>
      <p:sp>
        <p:nvSpPr>
          <p:cNvPr id="43" name="Text 41"/>
          <p:cNvSpPr/>
          <p:nvPr/>
        </p:nvSpPr>
        <p:spPr>
          <a:xfrm>
            <a:off x="7071360" y="6156960"/>
            <a:ext cx="4462272" cy="414528"/>
          </a:xfrm>
          <a:prstGeom prst="rect">
            <a:avLst/>
          </a:prstGeom>
          <a:noFill/>
          <a:ln/>
        </p:spPr>
        <p:txBody>
          <a:bodyPr wrap="square" rtlCol="0" anchor="ctr"/>
          <a:lstStyle/>
          <a:p>
            <a:r>
              <a:rPr lang="en-US" sz="1000" dirty="0">
                <a:solidFill>
                  <a:srgbClr val="1E293B"/>
                </a:solidFill>
                <a:latin typeface="Calibri" pitchFamily="34" charset="0"/>
                <a:ea typeface="Calibri" pitchFamily="34" charset="-122"/>
                <a:cs typeface="Calibri" pitchFamily="34" charset="-120"/>
              </a:rPr>
              <a:t>k is the DB loop index ranging over all rows/cols. i is the secret target. Using i as the loop variable would be a notation clash.</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38912"/>
          </a:xfrm>
          <a:prstGeom prst="rect">
            <a:avLst/>
          </a:prstGeom>
          <a:noFill/>
          <a:ln/>
        </p:spPr>
        <p:txBody>
          <a:bodyPr wrap="square" rtlCol="0" anchor="ctr"/>
          <a:lstStyle/>
          <a:p>
            <a:r>
              <a:rPr lang="en-US" sz="2533" b="1" dirty="0">
                <a:solidFill>
                  <a:srgbClr val="1E293B"/>
                </a:solidFill>
                <a:latin typeface="Calibri" pitchFamily="34" charset="0"/>
                <a:ea typeface="Calibri" pitchFamily="34" charset="-122"/>
                <a:cs typeface="Calibri" pitchFamily="34" charset="-120"/>
              </a:rPr>
              <a:t>Worked Example — The Two-Pass Fold  (Visual Summary) / </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工作示例</a:t>
            </a:r>
            <a:endPar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 1"/>
          <p:cNvSpPr/>
          <p:nvPr/>
        </p:nvSpPr>
        <p:spPr>
          <a:xfrm>
            <a:off x="487680" y="499872"/>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Dim 1 collapses rows using I₁=[0,0,1]  →  3 encrypted intermediates  ·  Dim 2 selects column using I₂=[0,1,0]  →  Enc(0x22)</a:t>
            </a:r>
            <a:endParaRPr lang="en-US" sz="1133" dirty="0"/>
          </a:p>
        </p:txBody>
      </p:sp>
      <p:pic>
        <p:nvPicPr>
          <p:cNvPr id="4" name="Image 0" descr="preencoded.png"/>
          <p:cNvPicPr>
            <a:picLocks noChangeAspect="1"/>
          </p:cNvPicPr>
          <p:nvPr/>
        </p:nvPicPr>
        <p:blipFill>
          <a:blip r:embed="rId2"/>
          <a:stretch>
            <a:fillRect/>
          </a:stretch>
        </p:blipFill>
        <p:spPr>
          <a:xfrm>
            <a:off x="731520" y="755904"/>
            <a:ext cx="4535424" cy="6096000"/>
          </a:xfrm>
          <a:prstGeom prst="rect">
            <a:avLst/>
          </a:prstGeom>
        </p:spPr>
      </p:pic>
      <p:sp>
        <p:nvSpPr>
          <p:cNvPr id="5" name="Shape 2"/>
          <p:cNvSpPr/>
          <p:nvPr/>
        </p:nvSpPr>
        <p:spPr>
          <a:xfrm>
            <a:off x="5608320" y="755904"/>
            <a:ext cx="6096000" cy="609600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6" name="Text 3"/>
          <p:cNvSpPr/>
          <p:nvPr/>
        </p:nvSpPr>
        <p:spPr>
          <a:xfrm>
            <a:off x="5779008" y="829056"/>
            <a:ext cx="5754624" cy="292608"/>
          </a:xfrm>
          <a:prstGeom prst="rect">
            <a:avLst/>
          </a:prstGeom>
          <a:noFill/>
          <a:ln/>
        </p:spPr>
        <p:txBody>
          <a:bodyPr wrap="square" rtlCol="0" anchor="ctr"/>
          <a:lstStyle/>
          <a:p>
            <a:r>
              <a:rPr lang="en-US" sz="1333" b="1" dirty="0">
                <a:solidFill>
                  <a:srgbClr val="1E293B"/>
                </a:solidFill>
                <a:latin typeface="Calibri" pitchFamily="34" charset="0"/>
                <a:ea typeface="Calibri" pitchFamily="34" charset="-122"/>
                <a:cs typeface="Calibri" pitchFamily="34" charset="-120"/>
              </a:rPr>
              <a:t>Concrete trace  (col 1 only, j=1)</a:t>
            </a:r>
            <a:endParaRPr lang="en-US" sz="1333" dirty="0"/>
          </a:p>
        </p:txBody>
      </p:sp>
      <p:sp>
        <p:nvSpPr>
          <p:cNvPr id="7" name="Shape 4"/>
          <p:cNvSpPr/>
          <p:nvPr/>
        </p:nvSpPr>
        <p:spPr>
          <a:xfrm>
            <a:off x="5779008" y="1243584"/>
            <a:ext cx="5754624" cy="1243584"/>
          </a:xfrm>
          <a:prstGeom prst="rect">
            <a:avLst/>
          </a:prstGeom>
          <a:solidFill>
            <a:srgbClr val="EFF6FF"/>
          </a:solidFill>
          <a:ln w="19050">
            <a:solidFill>
              <a:srgbClr val="93C5FD"/>
            </a:solidFill>
            <a:prstDash val="solid"/>
          </a:ln>
          <a:effectLst>
            <a:outerShdw blurRad="50800" dist="25400" dir="8100000" algn="bl" rotWithShape="0">
              <a:srgbClr val="000000">
                <a:alpha val="8000"/>
              </a:srgbClr>
            </a:outerShdw>
          </a:effectLst>
        </p:spPr>
      </p:sp>
      <p:sp>
        <p:nvSpPr>
          <p:cNvPr id="8" name="Text 5"/>
          <p:cNvSpPr/>
          <p:nvPr/>
        </p:nvSpPr>
        <p:spPr>
          <a:xfrm>
            <a:off x="5925312" y="1292352"/>
            <a:ext cx="5462016" cy="243840"/>
          </a:xfrm>
          <a:prstGeom prst="rect">
            <a:avLst/>
          </a:prstGeom>
          <a:noFill/>
          <a:ln/>
        </p:spPr>
        <p:txBody>
          <a:bodyPr wrap="square" rtlCol="0" anchor="ctr"/>
          <a:lstStyle/>
          <a:p>
            <a:r>
              <a:rPr lang="en-US" sz="1133" b="1" dirty="0">
                <a:solidFill>
                  <a:srgbClr val="1E293B"/>
                </a:solidFill>
                <a:latin typeface="Calibri" pitchFamily="34" charset="0"/>
                <a:ea typeface="Calibri" pitchFamily="34" charset="-122"/>
                <a:cs typeface="Calibri" pitchFamily="34" charset="-120"/>
              </a:rPr>
              <a:t>Dim 1 — col 0</a:t>
            </a:r>
            <a:endParaRPr lang="en-US" sz="1133" dirty="0"/>
          </a:p>
        </p:txBody>
      </p:sp>
      <p:sp>
        <p:nvSpPr>
          <p:cNvPr id="9" name="Text 6"/>
          <p:cNvSpPr/>
          <p:nvPr/>
        </p:nvSpPr>
        <p:spPr>
          <a:xfrm>
            <a:off x="5925312" y="1536192"/>
            <a:ext cx="5462016" cy="853440"/>
          </a:xfrm>
          <a:prstGeom prst="rect">
            <a:avLst/>
          </a:prstGeom>
          <a:noFill/>
          <a:ln/>
        </p:spPr>
        <p:txBody>
          <a:bodyPr wrap="square" rtlCol="0" anchor="t"/>
          <a:lstStyle/>
          <a:p>
            <a:r>
              <a:rPr lang="en-US" sz="1040" dirty="0">
                <a:solidFill>
                  <a:srgbClr val="1E293B"/>
                </a:solidFill>
                <a:latin typeface="Consolas" pitchFamily="34" charset="0"/>
                <a:ea typeface="Consolas" pitchFamily="34" charset="-122"/>
                <a:cs typeface="Consolas" pitchFamily="34" charset="-120"/>
              </a:rPr>
              <a:t>R⁽¹⁾₍₁₎=PlainMult(Enc(0),0xAA)+PlainMult(Enc(0),0xDD)+PlainMult(Enc(1),0x11)</a:t>
            </a:r>
            <a:endParaRPr lang="en-US" sz="1040" dirty="0"/>
          </a:p>
          <a:p>
            <a:r>
              <a:rPr lang="en-US" sz="1040" dirty="0">
                <a:solidFill>
                  <a:srgbClr val="1E293B"/>
                </a:solidFill>
                <a:latin typeface="Consolas" pitchFamily="34" charset="0"/>
                <a:ea typeface="Consolas" pitchFamily="34" charset="-122"/>
                <a:cs typeface="Consolas" pitchFamily="34" charset="-120"/>
              </a:rPr>
              <a:t>=Enc(0)+Enc(0)+Enc(0x11)=Enc(0x11)</a:t>
            </a:r>
            <a:endParaRPr lang="en-US" sz="1040" dirty="0"/>
          </a:p>
        </p:txBody>
      </p:sp>
      <p:sp>
        <p:nvSpPr>
          <p:cNvPr id="10" name="Shape 7"/>
          <p:cNvSpPr/>
          <p:nvPr/>
        </p:nvSpPr>
        <p:spPr>
          <a:xfrm>
            <a:off x="5779008" y="2609088"/>
            <a:ext cx="5754624" cy="1243584"/>
          </a:xfrm>
          <a:prstGeom prst="rect">
            <a:avLst/>
          </a:prstGeom>
          <a:solidFill>
            <a:srgbClr val="DCFCE7"/>
          </a:solidFill>
          <a:ln w="19050">
            <a:solidFill>
              <a:srgbClr val="16A34A"/>
            </a:solidFill>
            <a:prstDash val="solid"/>
          </a:ln>
          <a:effectLst>
            <a:outerShdw blurRad="50800" dist="25400" dir="8100000" algn="bl" rotWithShape="0">
              <a:srgbClr val="000000">
                <a:alpha val="8000"/>
              </a:srgbClr>
            </a:outerShdw>
          </a:effectLst>
        </p:spPr>
      </p:sp>
      <p:sp>
        <p:nvSpPr>
          <p:cNvPr id="11" name="Text 8"/>
          <p:cNvSpPr/>
          <p:nvPr/>
        </p:nvSpPr>
        <p:spPr>
          <a:xfrm>
            <a:off x="5925312" y="2657856"/>
            <a:ext cx="5462016" cy="243840"/>
          </a:xfrm>
          <a:prstGeom prst="rect">
            <a:avLst/>
          </a:prstGeom>
          <a:noFill/>
          <a:ln/>
        </p:spPr>
        <p:txBody>
          <a:bodyPr wrap="square" rtlCol="0" anchor="ctr"/>
          <a:lstStyle/>
          <a:p>
            <a:r>
              <a:rPr lang="en-US" sz="1133" b="1" dirty="0">
                <a:solidFill>
                  <a:srgbClr val="1E293B"/>
                </a:solidFill>
                <a:latin typeface="Calibri" pitchFamily="34" charset="0"/>
                <a:ea typeface="Calibri" pitchFamily="34" charset="-122"/>
                <a:cs typeface="Calibri" pitchFamily="34" charset="-120"/>
              </a:rPr>
              <a:t>Dim 1 — col 1</a:t>
            </a:r>
            <a:endParaRPr lang="en-US" sz="1133" dirty="0"/>
          </a:p>
        </p:txBody>
      </p:sp>
      <p:sp>
        <p:nvSpPr>
          <p:cNvPr id="12" name="Text 9"/>
          <p:cNvSpPr/>
          <p:nvPr/>
        </p:nvSpPr>
        <p:spPr>
          <a:xfrm>
            <a:off x="5925312" y="2901696"/>
            <a:ext cx="5462016" cy="853440"/>
          </a:xfrm>
          <a:prstGeom prst="rect">
            <a:avLst/>
          </a:prstGeom>
          <a:noFill/>
          <a:ln/>
        </p:spPr>
        <p:txBody>
          <a:bodyPr wrap="square" rtlCol="0" anchor="t"/>
          <a:lstStyle/>
          <a:p>
            <a:r>
              <a:rPr lang="en-US" sz="1040" dirty="0">
                <a:solidFill>
                  <a:srgbClr val="1E293B"/>
                </a:solidFill>
                <a:latin typeface="Consolas" pitchFamily="34" charset="0"/>
                <a:ea typeface="Consolas" pitchFamily="34" charset="-122"/>
                <a:cs typeface="Consolas" pitchFamily="34" charset="-120"/>
              </a:rPr>
              <a:t>R⁽¹⁾₍₁₎=PlainMult(Enc(0),0xBB)+PlainMult(Enc(0),0xEE)+PlainMult(Enc(1),0x22)</a:t>
            </a:r>
            <a:endParaRPr lang="en-US" sz="1040" dirty="0"/>
          </a:p>
          <a:p>
            <a:r>
              <a:rPr lang="en-US" sz="1040" dirty="0">
                <a:solidFill>
                  <a:srgbClr val="1E293B"/>
                </a:solidFill>
                <a:latin typeface="Consolas" pitchFamily="34" charset="0"/>
                <a:ea typeface="Consolas" pitchFamily="34" charset="-122"/>
                <a:cs typeface="Consolas" pitchFamily="34" charset="-120"/>
              </a:rPr>
              <a:t>=Enc(0)+Enc(0)+Enc(0x22)=Enc(0x22)</a:t>
            </a:r>
            <a:endParaRPr lang="en-US" sz="1040" dirty="0"/>
          </a:p>
        </p:txBody>
      </p:sp>
      <p:sp>
        <p:nvSpPr>
          <p:cNvPr id="13" name="Shape 10"/>
          <p:cNvSpPr/>
          <p:nvPr/>
        </p:nvSpPr>
        <p:spPr>
          <a:xfrm>
            <a:off x="5779008" y="3974592"/>
            <a:ext cx="5754624" cy="1243584"/>
          </a:xfrm>
          <a:prstGeom prst="rect">
            <a:avLst/>
          </a:prstGeom>
          <a:solidFill>
            <a:srgbClr val="EFF6FF"/>
          </a:solidFill>
          <a:ln w="19050">
            <a:solidFill>
              <a:srgbClr val="93C5FD"/>
            </a:solidFill>
            <a:prstDash val="solid"/>
          </a:ln>
          <a:effectLst>
            <a:outerShdw blurRad="50800" dist="25400" dir="8100000" algn="bl" rotWithShape="0">
              <a:srgbClr val="000000">
                <a:alpha val="8000"/>
              </a:srgbClr>
            </a:outerShdw>
          </a:effectLst>
        </p:spPr>
      </p:sp>
      <p:sp>
        <p:nvSpPr>
          <p:cNvPr id="14" name="Text 11"/>
          <p:cNvSpPr/>
          <p:nvPr/>
        </p:nvSpPr>
        <p:spPr>
          <a:xfrm>
            <a:off x="5925312" y="4023360"/>
            <a:ext cx="5462016" cy="243840"/>
          </a:xfrm>
          <a:prstGeom prst="rect">
            <a:avLst/>
          </a:prstGeom>
          <a:noFill/>
          <a:ln/>
        </p:spPr>
        <p:txBody>
          <a:bodyPr wrap="square" rtlCol="0" anchor="ctr"/>
          <a:lstStyle/>
          <a:p>
            <a:r>
              <a:rPr lang="en-US" sz="1133" b="1" dirty="0">
                <a:solidFill>
                  <a:srgbClr val="1E293B"/>
                </a:solidFill>
                <a:latin typeface="Calibri" pitchFamily="34" charset="0"/>
                <a:ea typeface="Calibri" pitchFamily="34" charset="-122"/>
                <a:cs typeface="Calibri" pitchFamily="34" charset="-120"/>
              </a:rPr>
              <a:t>Dim 1 — col 2</a:t>
            </a:r>
            <a:endParaRPr lang="en-US" sz="1133" dirty="0"/>
          </a:p>
        </p:txBody>
      </p:sp>
      <p:sp>
        <p:nvSpPr>
          <p:cNvPr id="15" name="Text 12"/>
          <p:cNvSpPr/>
          <p:nvPr/>
        </p:nvSpPr>
        <p:spPr>
          <a:xfrm>
            <a:off x="5925312" y="4267200"/>
            <a:ext cx="5462016" cy="853440"/>
          </a:xfrm>
          <a:prstGeom prst="rect">
            <a:avLst/>
          </a:prstGeom>
          <a:noFill/>
          <a:ln/>
        </p:spPr>
        <p:txBody>
          <a:bodyPr wrap="square" rtlCol="0" anchor="t"/>
          <a:lstStyle/>
          <a:p>
            <a:r>
              <a:rPr lang="en-US" sz="1040" dirty="0">
                <a:solidFill>
                  <a:srgbClr val="1E293B"/>
                </a:solidFill>
                <a:latin typeface="Consolas" pitchFamily="34" charset="0"/>
                <a:ea typeface="Consolas" pitchFamily="34" charset="-122"/>
                <a:cs typeface="Consolas" pitchFamily="34" charset="-120"/>
              </a:rPr>
              <a:t>R⁽¹⁾₍₁₎=PlainMult(Enc(0),0xCC)+PlainMult(Enc(0),0xFF)+PlainMult(Enc(1),0x33)</a:t>
            </a:r>
            <a:endParaRPr lang="en-US" sz="1040" dirty="0"/>
          </a:p>
          <a:p>
            <a:r>
              <a:rPr lang="en-US" sz="1040" dirty="0">
                <a:solidFill>
                  <a:srgbClr val="1E293B"/>
                </a:solidFill>
                <a:latin typeface="Consolas" pitchFamily="34" charset="0"/>
                <a:ea typeface="Consolas" pitchFamily="34" charset="-122"/>
                <a:cs typeface="Consolas" pitchFamily="34" charset="-120"/>
              </a:rPr>
              <a:t>=Enc(0)+Enc(0)+Enc(0x33)=Enc(0x33)</a:t>
            </a:r>
            <a:endParaRPr lang="en-US" sz="1040" dirty="0"/>
          </a:p>
        </p:txBody>
      </p:sp>
      <p:sp>
        <p:nvSpPr>
          <p:cNvPr id="16" name="Shape 13"/>
          <p:cNvSpPr/>
          <p:nvPr/>
        </p:nvSpPr>
        <p:spPr>
          <a:xfrm>
            <a:off x="5779008" y="5340096"/>
            <a:ext cx="5754624" cy="1243584"/>
          </a:xfrm>
          <a:prstGeom prst="rect">
            <a:avLst/>
          </a:prstGeom>
          <a:solidFill>
            <a:srgbClr val="DCFCE7"/>
          </a:solidFill>
          <a:ln w="19050">
            <a:solidFill>
              <a:srgbClr val="16A34A"/>
            </a:solidFill>
            <a:prstDash val="solid"/>
          </a:ln>
          <a:effectLst>
            <a:outerShdw blurRad="50800" dist="25400" dir="8100000" algn="bl" rotWithShape="0">
              <a:srgbClr val="000000">
                <a:alpha val="8000"/>
              </a:srgbClr>
            </a:outerShdw>
          </a:effectLst>
        </p:spPr>
      </p:sp>
      <p:sp>
        <p:nvSpPr>
          <p:cNvPr id="17" name="Text 14"/>
          <p:cNvSpPr/>
          <p:nvPr/>
        </p:nvSpPr>
        <p:spPr>
          <a:xfrm>
            <a:off x="5925312" y="5388864"/>
            <a:ext cx="5462016" cy="243840"/>
          </a:xfrm>
          <a:prstGeom prst="rect">
            <a:avLst/>
          </a:prstGeom>
          <a:noFill/>
          <a:ln/>
        </p:spPr>
        <p:txBody>
          <a:bodyPr wrap="square" rtlCol="0" anchor="ctr"/>
          <a:lstStyle/>
          <a:p>
            <a:r>
              <a:rPr lang="en-US" sz="1133" b="1" dirty="0">
                <a:solidFill>
                  <a:srgbClr val="1E293B"/>
                </a:solidFill>
                <a:latin typeface="Calibri" pitchFamily="34" charset="0"/>
                <a:ea typeface="Calibri" pitchFamily="34" charset="-122"/>
                <a:cs typeface="Calibri" pitchFamily="34" charset="-120"/>
              </a:rPr>
              <a:t>Dim 2</a:t>
            </a:r>
            <a:endParaRPr lang="en-US" sz="1133" dirty="0"/>
          </a:p>
        </p:txBody>
      </p:sp>
      <p:sp>
        <p:nvSpPr>
          <p:cNvPr id="18" name="Text 15"/>
          <p:cNvSpPr/>
          <p:nvPr/>
        </p:nvSpPr>
        <p:spPr>
          <a:xfrm>
            <a:off x="5925312" y="5632704"/>
            <a:ext cx="5462016" cy="853440"/>
          </a:xfrm>
          <a:prstGeom prst="rect">
            <a:avLst/>
          </a:prstGeom>
          <a:noFill/>
          <a:ln/>
        </p:spPr>
        <p:txBody>
          <a:bodyPr wrap="square" rtlCol="0" anchor="t"/>
          <a:lstStyle/>
          <a:p>
            <a:r>
              <a:rPr lang="en-US" sz="1040" dirty="0">
                <a:solidFill>
                  <a:srgbClr val="1E293B"/>
                </a:solidFill>
                <a:latin typeface="Consolas" pitchFamily="34" charset="0"/>
                <a:ea typeface="Consolas" pitchFamily="34" charset="-122"/>
                <a:cs typeface="Consolas" pitchFamily="34" charset="-120"/>
              </a:rPr>
              <a:t>R⁽²⁾₍₁₎=PlainMult(Enc(0),Enc(0x11))+PlainMult(Enc(1),Enc(0x22))+PlainMult(Enc(0),Enc(0x33))</a:t>
            </a:r>
            <a:endParaRPr lang="en-US" sz="1040" dirty="0"/>
          </a:p>
          <a:p>
            <a:r>
              <a:rPr lang="en-US" sz="1040" dirty="0">
                <a:solidFill>
                  <a:srgbClr val="1E293B"/>
                </a:solidFill>
                <a:latin typeface="Consolas" pitchFamily="34" charset="0"/>
                <a:ea typeface="Consolas" pitchFamily="34" charset="-122"/>
                <a:cs typeface="Consolas" pitchFamily="34" charset="-120"/>
              </a:rPr>
              <a:t>=Enc(0)+Enc(0x22)+Enc(0)=Enc(0x22)</a:t>
            </a:r>
            <a:endParaRPr lang="en-US" sz="1040" dirty="0"/>
          </a:p>
        </p:txBody>
      </p:sp>
      <p:sp>
        <p:nvSpPr>
          <p:cNvPr id="19" name="Shape 16"/>
          <p:cNvSpPr/>
          <p:nvPr/>
        </p:nvSpPr>
        <p:spPr>
          <a:xfrm>
            <a:off x="5608320" y="6949440"/>
            <a:ext cx="6096000" cy="438912"/>
          </a:xfrm>
          <a:prstGeom prst="rect">
            <a:avLst/>
          </a:prstGeom>
          <a:solidFill>
            <a:srgbClr val="F0FDF4"/>
          </a:solidFill>
          <a:ln w="25400">
            <a:solidFill>
              <a:srgbClr val="BBF7D0"/>
            </a:solidFill>
            <a:prstDash val="solid"/>
          </a:ln>
        </p:spPr>
      </p:sp>
      <p:sp>
        <p:nvSpPr>
          <p:cNvPr id="20" name="Text 17"/>
          <p:cNvSpPr/>
          <p:nvPr/>
        </p:nvSpPr>
        <p:spPr>
          <a:xfrm>
            <a:off x="5608320" y="6949440"/>
            <a:ext cx="6096000" cy="438912"/>
          </a:xfrm>
          <a:prstGeom prst="rect">
            <a:avLst/>
          </a:prstGeom>
          <a:noFill/>
          <a:ln/>
        </p:spPr>
        <p:txBody>
          <a:bodyPr wrap="square" rtlCol="0" anchor="ctr"/>
          <a:lstStyle/>
          <a:p>
            <a:pPr algn="ctr"/>
            <a:r>
              <a:rPr lang="en-US" sz="1333" b="1" dirty="0">
                <a:solidFill>
                  <a:srgbClr val="16A34A"/>
                </a:solidFill>
                <a:latin typeface="Consolas" pitchFamily="34" charset="0"/>
                <a:ea typeface="Consolas" pitchFamily="34" charset="-122"/>
                <a:cs typeface="Consolas" pitchFamily="34" charset="-120"/>
              </a:rPr>
              <a:t>FHE.Dec( Enc(0x22), sk )  =  0x22  =  DB[7]  ✓</a:t>
            </a:r>
            <a:endParaRPr lang="en-US" sz="1333"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121920"/>
            <a:ext cx="11216640" cy="487680"/>
          </a:xfrm>
          <a:prstGeom prst="rect">
            <a:avLst/>
          </a:prstGeom>
          <a:noFill/>
          <a:ln/>
        </p:spPr>
        <p:txBody>
          <a:bodyPr wrap="square" rtlCol="0" anchor="ctr"/>
          <a:lstStyle/>
          <a:p>
            <a:r>
              <a:rPr lang="en-US" sz="2533" b="1" dirty="0">
                <a:solidFill>
                  <a:srgbClr val="1E293B"/>
                </a:solidFill>
                <a:latin typeface="Calibri" pitchFamily="34" charset="0"/>
                <a:ea typeface="Calibri" pitchFamily="34" charset="-122"/>
                <a:cs typeface="Calibri" pitchFamily="34" charset="-120"/>
              </a:rPr>
              <a:t>Hypercube PIR — Optimization Directions / </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超立方体</a:t>
            </a:r>
            <a:r>
              <a:rPr lang="en-US" sz="2000" spc="406">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PIR—</a:t>
            </a:r>
            <a:r>
              <a:rPr lang="zh-CN" altLang="en-US" sz="2000" spc="406">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优</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化方向</a:t>
            </a:r>
            <a:endParaRPr 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Text 1"/>
          <p:cNvSpPr/>
          <p:nvPr/>
        </p:nvSpPr>
        <p:spPr>
          <a:xfrm>
            <a:off x="487680" y="585216"/>
            <a:ext cx="11216640" cy="268224"/>
          </a:xfrm>
          <a:prstGeom prst="rect">
            <a:avLst/>
          </a:prstGeom>
          <a:noFill/>
          <a:ln/>
        </p:spPr>
        <p:txBody>
          <a:bodyPr wrap="square" rtlCol="0" anchor="ctr"/>
          <a:lstStyle/>
          <a:p>
            <a:r>
              <a:rPr lang="en-US" sz="1267" i="1" dirty="0">
                <a:solidFill>
                  <a:srgbClr val="64748B"/>
                </a:solidFill>
                <a:latin typeface="Calibri" pitchFamily="34" charset="0"/>
                <a:ea typeface="Calibri" pitchFamily="34" charset="-122"/>
                <a:cs typeface="Calibri" pitchFamily="34" charset="-120"/>
              </a:rPr>
              <a:t>Two independent axes of improvement: query size  and  reply size  — each targeted by different scheme generations</a:t>
            </a:r>
            <a:endParaRPr lang="en-US" sz="1267" dirty="0"/>
          </a:p>
        </p:txBody>
      </p:sp>
      <p:sp>
        <p:nvSpPr>
          <p:cNvPr id="4" name="Shape 2"/>
          <p:cNvSpPr/>
          <p:nvPr/>
        </p:nvSpPr>
        <p:spPr>
          <a:xfrm>
            <a:off x="487680" y="950976"/>
            <a:ext cx="11216640"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5" name="Shape 3"/>
          <p:cNvSpPr/>
          <p:nvPr/>
        </p:nvSpPr>
        <p:spPr>
          <a:xfrm>
            <a:off x="487680" y="950976"/>
            <a:ext cx="97536" cy="2535936"/>
          </a:xfrm>
          <a:prstGeom prst="rect">
            <a:avLst/>
          </a:prstGeom>
          <a:solidFill>
            <a:srgbClr val="2563EB"/>
          </a:solidFill>
          <a:ln w="12700">
            <a:solidFill>
              <a:srgbClr val="2563EB"/>
            </a:solidFill>
            <a:prstDash val="solid"/>
          </a:ln>
        </p:spPr>
      </p:sp>
      <p:sp>
        <p:nvSpPr>
          <p:cNvPr id="6" name="Text 4"/>
          <p:cNvSpPr/>
          <p:nvPr/>
        </p:nvSpPr>
        <p:spPr>
          <a:xfrm>
            <a:off x="707136" y="999744"/>
            <a:ext cx="6096000" cy="341376"/>
          </a:xfrm>
          <a:prstGeom prst="rect">
            <a:avLst/>
          </a:prstGeom>
          <a:noFill/>
          <a:ln/>
        </p:spPr>
        <p:txBody>
          <a:bodyPr wrap="square" lIns="0" tIns="0" rIns="0" bIns="0" rtlCol="0" anchor="ctr"/>
          <a:lstStyle/>
          <a:p>
            <a:r>
              <a:rPr lang="en-US" sz="1600" b="1" dirty="0">
                <a:solidFill>
                  <a:srgbClr val="1E293B"/>
                </a:solidFill>
                <a:latin typeface="Calibri" pitchFamily="34" charset="0"/>
                <a:ea typeface="Calibri" pitchFamily="34" charset="-122"/>
                <a:cs typeface="Calibri" pitchFamily="34" charset="-120"/>
              </a:rPr>
              <a:t>Query Size Reduction / </a:t>
            </a:r>
            <a:r>
              <a:rPr lang="zh-CN" altLang="en-US" sz="1600" b="1" dirty="0">
                <a:solidFill>
                  <a:srgbClr val="1E293B"/>
                </a:solidFill>
                <a:latin typeface="Calibri" pitchFamily="34" charset="0"/>
                <a:ea typeface="Calibri" pitchFamily="34" charset="-122"/>
                <a:cs typeface="Calibri" pitchFamily="34" charset="-120"/>
              </a:rPr>
              <a:t>查询大小缩减</a:t>
            </a:r>
            <a:endParaRPr lang="en-US" sz="1600" dirty="0"/>
          </a:p>
        </p:txBody>
      </p:sp>
      <p:sp>
        <p:nvSpPr>
          <p:cNvPr id="7" name="Text 5"/>
          <p:cNvSpPr/>
          <p:nvPr/>
        </p:nvSpPr>
        <p:spPr>
          <a:xfrm>
            <a:off x="707136" y="1389888"/>
            <a:ext cx="3438144"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XPIR  (d = 2 or 3)</a:t>
            </a:r>
            <a:endParaRPr lang="en-US" sz="1267" dirty="0"/>
          </a:p>
        </p:txBody>
      </p:sp>
      <p:sp>
        <p:nvSpPr>
          <p:cNvPr id="8" name="Shape 6"/>
          <p:cNvSpPr/>
          <p:nvPr/>
        </p:nvSpPr>
        <p:spPr>
          <a:xfrm>
            <a:off x="707136" y="1645920"/>
            <a:ext cx="3438144" cy="341376"/>
          </a:xfrm>
          <a:prstGeom prst="rect">
            <a:avLst/>
          </a:prstGeom>
          <a:solidFill>
            <a:srgbClr val="EFF6FF"/>
          </a:solidFill>
          <a:ln w="12700">
            <a:solidFill>
              <a:srgbClr val="BFDBFE"/>
            </a:solidFill>
            <a:prstDash val="solid"/>
          </a:ln>
        </p:spPr>
      </p:sp>
      <p:sp>
        <p:nvSpPr>
          <p:cNvPr id="9" name="Text 7"/>
          <p:cNvSpPr/>
          <p:nvPr/>
        </p:nvSpPr>
        <p:spPr>
          <a:xfrm>
            <a:off x="780288" y="1670304"/>
            <a:ext cx="3291840" cy="292608"/>
          </a:xfrm>
          <a:prstGeom prst="rect">
            <a:avLst/>
          </a:prstGeom>
          <a:noFill/>
          <a:ln/>
        </p:spPr>
        <p:txBody>
          <a:bodyPr wrap="square" lIns="0" tIns="0" rIns="0" bIns="0" rtlCol="0" anchor="ctr"/>
          <a:lstStyle/>
          <a:p>
            <a:r>
              <a:rPr lang="en-US" sz="1200" b="1" dirty="0">
                <a:solidFill>
                  <a:srgbClr val="1E293B"/>
                </a:solidFill>
                <a:latin typeface="Consolas" pitchFamily="34" charset="0"/>
                <a:ea typeface="Consolas" pitchFamily="34" charset="-122"/>
                <a:cs typeface="Consolas" pitchFamily="34" charset="-120"/>
              </a:rPr>
              <a:t>O(d · √n)  ciphertexts</a:t>
            </a:r>
            <a:endParaRPr lang="en-US" sz="1200" dirty="0"/>
          </a:p>
        </p:txBody>
      </p:sp>
      <mc:AlternateContent xmlns:mc="http://schemas.openxmlformats.org/markup-compatibility/2006" xmlns:a14="http://schemas.microsoft.com/office/drawing/2010/main">
        <mc:Choice Requires="a14">
          <p:sp>
            <p:nvSpPr>
              <p:cNvPr id="10" name="Text 8"/>
              <p:cNvSpPr/>
              <p:nvPr/>
            </p:nvSpPr>
            <p:spPr>
              <a:xfrm>
                <a:off x="707136" y="2023872"/>
                <a:ext cx="3438144" cy="950976"/>
              </a:xfrm>
              <a:prstGeom prst="rect">
                <a:avLst/>
              </a:prstGeom>
              <a:noFill/>
              <a:ln/>
            </p:spPr>
            <p:txBody>
              <a:bodyPr wrap="square" rtlCol="0" anchor="t"/>
              <a:lstStyle/>
              <a:p>
                <a:r>
                  <a:rPr lang="en-US" sz="1133" dirty="0">
                    <a:solidFill>
                      <a:srgbClr val="1E293B"/>
                    </a:solidFill>
                    <a:latin typeface="Consolas" pitchFamily="34" charset="0"/>
                    <a:ea typeface="Consolas" pitchFamily="34" charset="-122"/>
                    <a:cs typeface="Consolas" pitchFamily="34" charset="-120"/>
                  </a:rPr>
                  <a:t>Unit vector per dimension:</a:t>
                </a:r>
                <a:endParaRPr lang="en-US" sz="1133" dirty="0"/>
              </a:p>
              <a:p>
                <a:r>
                  <a:rPr lang="en-US" sz="1133"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133" i="1" smtClean="0">
                            <a:solidFill>
                              <a:srgbClr val="1E293B"/>
                            </a:solidFill>
                            <a:latin typeface="Cambria Math" panose="02040503050406030204" pitchFamily="18" charset="0"/>
                          </a:rPr>
                        </m:ctrlPr>
                      </m:sSubPr>
                      <m:e>
                        <m:r>
                          <m:rPr>
                            <m:nor/>
                          </m:rPr>
                          <a:rPr lang="en-US" sz="1133" dirty="0">
                            <a:solidFill>
                              <a:srgbClr val="1E293B"/>
                            </a:solidFill>
                            <a:latin typeface="Consolas" pitchFamily="34" charset="0"/>
                            <a:ea typeface="Consolas" pitchFamily="34" charset="-122"/>
                            <a:cs typeface="Consolas" pitchFamily="34" charset="-120"/>
                          </a:rPr>
                          <m:t>I</m:t>
                        </m:r>
                      </m:e>
                      <m:sub>
                        <m:r>
                          <m:rPr>
                            <m:nor/>
                          </m:rPr>
                          <a:rPr lang="en-US" sz="1133" dirty="0">
                            <a:solidFill>
                              <a:srgbClr val="1E293B"/>
                            </a:solidFill>
                            <a:latin typeface="Consolas" pitchFamily="34" charset="0"/>
                            <a:ea typeface="Consolas" pitchFamily="34" charset="-122"/>
                            <a:cs typeface="Consolas" pitchFamily="34" charset="-120"/>
                          </a:rPr>
                          <m:t>j</m:t>
                        </m:r>
                      </m:sub>
                    </m:sSub>
                    <m:r>
                      <a:rPr lang="en-US" sz="1133" b="0" i="1" smtClean="0">
                        <a:solidFill>
                          <a:srgbClr val="1E293B"/>
                        </a:solidFill>
                        <a:latin typeface="Cambria Math" panose="02040503050406030204" pitchFamily="18" charset="0"/>
                      </a:rPr>
                      <m:t> </m:t>
                    </m:r>
                  </m:oMath>
                </a14:m>
                <a:r>
                  <a:rPr lang="en-US" sz="1133" dirty="0">
                    <a:solidFill>
                      <a:srgbClr val="1E293B"/>
                    </a:solidFill>
                    <a:latin typeface="Consolas" pitchFamily="34" charset="0"/>
                    <a:ea typeface="Consolas" pitchFamily="34" charset="-122"/>
                    <a:cs typeface="Consolas" pitchFamily="34" charset="-120"/>
                  </a:rPr>
                  <a:t>∈ </a:t>
                </a:r>
                <a14:m>
                  <m:oMath xmlns:m="http://schemas.openxmlformats.org/officeDocument/2006/math">
                    <m:sSup>
                      <m:sSupPr>
                        <m:ctrlPr>
                          <a:rPr lang="en-US" sz="1133" i="1" smtClean="0">
                            <a:solidFill>
                              <a:srgbClr val="1E293B"/>
                            </a:solidFill>
                            <a:latin typeface="Cambria Math" panose="02040503050406030204" pitchFamily="18" charset="0"/>
                          </a:rPr>
                        </m:ctrlPr>
                      </m:sSupPr>
                      <m:e>
                        <m:r>
                          <m:rPr>
                            <m:nor/>
                          </m:rPr>
                          <a:rPr lang="en-US" sz="1133" dirty="0">
                            <a:solidFill>
                              <a:srgbClr val="1E293B"/>
                            </a:solidFill>
                            <a:latin typeface="Consolas" pitchFamily="34" charset="0"/>
                            <a:ea typeface="Consolas" pitchFamily="34" charset="-122"/>
                            <a:cs typeface="Consolas" pitchFamily="34" charset="-120"/>
                          </a:rPr>
                          <m:t>{0,1}</m:t>
                        </m:r>
                      </m:e>
                      <m:sup>
                        <m:sSub>
                          <m:sSubPr>
                            <m:ctrlPr>
                              <a:rPr lang="en-US" sz="1133" i="1">
                                <a:solidFill>
                                  <a:srgbClr val="1E293B"/>
                                </a:solidFill>
                                <a:latin typeface="Cambria Math" panose="02040503050406030204" pitchFamily="18" charset="0"/>
                              </a:rPr>
                            </m:ctrlPr>
                          </m:sSubPr>
                          <m:e>
                            <m:r>
                              <m:rPr>
                                <m:nor/>
                              </m:rPr>
                              <a:rPr lang="en-US" sz="1133" dirty="0">
                                <a:solidFill>
                                  <a:srgbClr val="1E293B"/>
                                </a:solidFill>
                                <a:latin typeface="Consolas" pitchFamily="34" charset="0"/>
                                <a:ea typeface="Consolas" pitchFamily="34" charset="-122"/>
                                <a:cs typeface="Consolas" pitchFamily="34" charset="-120"/>
                              </a:rPr>
                              <m:t>D</m:t>
                            </m:r>
                          </m:e>
                          <m:sub>
                            <m:r>
                              <m:rPr>
                                <m:nor/>
                              </m:rPr>
                              <a:rPr lang="en-US" sz="1133" dirty="0">
                                <a:solidFill>
                                  <a:srgbClr val="1E293B"/>
                                </a:solidFill>
                                <a:latin typeface="Consolas" pitchFamily="34" charset="0"/>
                                <a:ea typeface="Consolas" pitchFamily="34" charset="-122"/>
                                <a:cs typeface="Consolas" pitchFamily="34" charset="-120"/>
                              </a:rPr>
                              <m:t>j</m:t>
                            </m:r>
                          </m:sub>
                        </m:sSub>
                      </m:sup>
                    </m:sSup>
                  </m:oMath>
                </a14:m>
                <a:r>
                  <a:rPr lang="en-US" sz="1133" dirty="0">
                    <a:solidFill>
                      <a:srgbClr val="1E293B"/>
                    </a:solidFill>
                    <a:latin typeface="Consolas" pitchFamily="34" charset="0"/>
                    <a:ea typeface="Consolas" pitchFamily="34" charset="-122"/>
                    <a:cs typeface="Consolas" pitchFamily="34" charset="-120"/>
                  </a:rPr>
                  <a:t>, </a:t>
                </a:r>
                <a14:m>
                  <m:oMath xmlns:m="http://schemas.openxmlformats.org/officeDocument/2006/math">
                    <m:sSub>
                      <m:sSubPr>
                        <m:ctrlPr>
                          <a:rPr lang="en-US" sz="1133" i="1">
                            <a:solidFill>
                              <a:srgbClr val="1E293B"/>
                            </a:solidFill>
                            <a:latin typeface="Cambria Math" panose="02040503050406030204" pitchFamily="18" charset="0"/>
                          </a:rPr>
                        </m:ctrlPr>
                      </m:sSubPr>
                      <m:e>
                        <m:r>
                          <m:rPr>
                            <m:nor/>
                          </m:rPr>
                          <a:rPr lang="en-US" sz="1133" dirty="0">
                            <a:solidFill>
                              <a:srgbClr val="1E293B"/>
                            </a:solidFill>
                            <a:latin typeface="Consolas" pitchFamily="34" charset="0"/>
                            <a:ea typeface="Consolas" pitchFamily="34" charset="-122"/>
                            <a:cs typeface="Consolas" pitchFamily="34" charset="-120"/>
                          </a:rPr>
                          <m:t>D</m:t>
                        </m:r>
                      </m:e>
                      <m:sub>
                        <m:r>
                          <m:rPr>
                            <m:nor/>
                          </m:rPr>
                          <a:rPr lang="en-US" sz="1133" dirty="0">
                            <a:solidFill>
                              <a:srgbClr val="1E293B"/>
                            </a:solidFill>
                            <a:latin typeface="Consolas" pitchFamily="34" charset="0"/>
                            <a:ea typeface="Consolas" pitchFamily="34" charset="-122"/>
                            <a:cs typeface="Consolas" pitchFamily="34" charset="-120"/>
                          </a:rPr>
                          <m:t>j</m:t>
                        </m:r>
                      </m:sub>
                    </m:sSub>
                  </m:oMath>
                </a14:m>
                <a:r>
                  <a:rPr lang="en-US" sz="1133" dirty="0">
                    <a:solidFill>
                      <a:srgbClr val="1E293B"/>
                    </a:solidFill>
                    <a:latin typeface="Consolas" pitchFamily="34" charset="0"/>
                    <a:ea typeface="Consolas" pitchFamily="34" charset="-122"/>
                    <a:cs typeface="Consolas" pitchFamily="34" charset="-120"/>
                  </a:rPr>
                  <a:t> = √n</a:t>
                </a:r>
                <a:endParaRPr lang="en-US" sz="1133" dirty="0"/>
              </a:p>
              <a:p>
                <a:r>
                  <a:rPr lang="en-US" sz="1133" dirty="0">
                    <a:solidFill>
                      <a:srgbClr val="1E293B"/>
                    </a:solidFill>
                    <a:latin typeface="Consolas" pitchFamily="34" charset="0"/>
                    <a:ea typeface="Consolas" pitchFamily="34" charset="-122"/>
                    <a:cs typeface="Consolas" pitchFamily="34" charset="-120"/>
                  </a:rPr>
                  <a:t>  One RLWE ct per position</a:t>
                </a:r>
                <a:endParaRPr lang="en-US" sz="1133" dirty="0"/>
              </a:p>
              <a:p>
                <a:r>
                  <a:rPr lang="en-US" sz="1133" dirty="0">
                    <a:solidFill>
                      <a:srgbClr val="1E293B"/>
                    </a:solidFill>
                    <a:latin typeface="Consolas" pitchFamily="34" charset="0"/>
                    <a:ea typeface="Consolas" pitchFamily="34" charset="-122"/>
                    <a:cs typeface="Consolas" pitchFamily="34" charset="-120"/>
                  </a:rPr>
                  <a:t>  Total:  D₁ + D₂ = 2√n  cts</a:t>
                </a:r>
                <a:endParaRPr lang="en-US" sz="1133" dirty="0"/>
              </a:p>
            </p:txBody>
          </p:sp>
        </mc:Choice>
        <mc:Fallback xmlns="">
          <p:sp>
            <p:nvSpPr>
              <p:cNvPr id="10" name="Text 8"/>
              <p:cNvSpPr>
                <a:spLocks noRot="1" noChangeAspect="1" noMove="1" noResize="1" noEditPoints="1" noAdjustHandles="1" noChangeArrowheads="1" noChangeShapeType="1" noTextEdit="1"/>
              </p:cNvSpPr>
              <p:nvPr/>
            </p:nvSpPr>
            <p:spPr>
              <a:xfrm>
                <a:off x="707136" y="2023872"/>
                <a:ext cx="3438144" cy="950976"/>
              </a:xfrm>
              <a:prstGeom prst="rect">
                <a:avLst/>
              </a:prstGeom>
              <a:blipFill>
                <a:blip r:embed="rId3"/>
                <a:stretch>
                  <a:fillRect t="-641"/>
                </a:stretch>
              </a:blipFill>
              <a:ln/>
            </p:spPr>
            <p:txBody>
              <a:bodyPr/>
              <a:lstStyle/>
              <a:p>
                <a:r>
                  <a:rPr lang="en-US">
                    <a:noFill/>
                  </a:rPr>
                  <a:t> </a:t>
                </a:r>
              </a:p>
            </p:txBody>
          </p:sp>
        </mc:Fallback>
      </mc:AlternateContent>
      <p:sp>
        <p:nvSpPr>
          <p:cNvPr id="11" name="Text 9"/>
          <p:cNvSpPr/>
          <p:nvPr/>
        </p:nvSpPr>
        <p:spPr>
          <a:xfrm>
            <a:off x="707136" y="2974848"/>
            <a:ext cx="3438144" cy="316992"/>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Baseline. Large query for big n.</a:t>
            </a:r>
            <a:endParaRPr lang="en-US" sz="1133" dirty="0"/>
          </a:p>
        </p:txBody>
      </p:sp>
      <p:sp>
        <p:nvSpPr>
          <p:cNvPr id="12" name="Text 10"/>
          <p:cNvSpPr/>
          <p:nvPr/>
        </p:nvSpPr>
        <p:spPr>
          <a:xfrm>
            <a:off x="4291584" y="1389888"/>
            <a:ext cx="3438144"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SealPIR  (d = 2 or 3)</a:t>
            </a:r>
            <a:endParaRPr lang="en-US" sz="1267" dirty="0"/>
          </a:p>
        </p:txBody>
      </p:sp>
      <p:sp>
        <p:nvSpPr>
          <p:cNvPr id="13" name="Shape 11"/>
          <p:cNvSpPr/>
          <p:nvPr/>
        </p:nvSpPr>
        <p:spPr>
          <a:xfrm>
            <a:off x="4291584" y="1645920"/>
            <a:ext cx="3438144" cy="341376"/>
          </a:xfrm>
          <a:prstGeom prst="rect">
            <a:avLst/>
          </a:prstGeom>
          <a:solidFill>
            <a:srgbClr val="EFF6FF"/>
          </a:solidFill>
          <a:ln w="12700">
            <a:solidFill>
              <a:srgbClr val="BFDBFE"/>
            </a:solidFill>
            <a:prstDash val="solid"/>
          </a:ln>
        </p:spPr>
      </p:sp>
      <p:sp>
        <p:nvSpPr>
          <p:cNvPr id="14" name="Text 12"/>
          <p:cNvSpPr/>
          <p:nvPr/>
        </p:nvSpPr>
        <p:spPr>
          <a:xfrm>
            <a:off x="4364736" y="1670304"/>
            <a:ext cx="3291840" cy="292608"/>
          </a:xfrm>
          <a:prstGeom prst="rect">
            <a:avLst/>
          </a:prstGeom>
          <a:noFill/>
          <a:ln/>
        </p:spPr>
        <p:txBody>
          <a:bodyPr wrap="square" lIns="0" tIns="0" rIns="0" bIns="0" rtlCol="0" anchor="ctr"/>
          <a:lstStyle/>
          <a:p>
            <a:r>
              <a:rPr lang="en-US" sz="1200" b="1" dirty="0">
                <a:solidFill>
                  <a:srgbClr val="1E293B"/>
                </a:solidFill>
                <a:latin typeface="Consolas" pitchFamily="34" charset="0"/>
                <a:ea typeface="Consolas" pitchFamily="34" charset="-122"/>
                <a:cs typeface="Consolas" pitchFamily="34" charset="-120"/>
              </a:rPr>
              <a:t>O(d)  ciphertexts</a:t>
            </a:r>
            <a:endParaRPr lang="en-US" sz="1200" dirty="0"/>
          </a:p>
        </p:txBody>
      </p:sp>
      <mc:AlternateContent xmlns:mc="http://schemas.openxmlformats.org/markup-compatibility/2006" xmlns:a14="http://schemas.microsoft.com/office/drawing/2010/main">
        <mc:Choice Requires="a14">
          <p:sp>
            <p:nvSpPr>
              <p:cNvPr id="15" name="Text 13"/>
              <p:cNvSpPr/>
              <p:nvPr/>
            </p:nvSpPr>
            <p:spPr>
              <a:xfrm>
                <a:off x="4291584" y="2023872"/>
                <a:ext cx="3438144" cy="950976"/>
              </a:xfrm>
              <a:prstGeom prst="rect">
                <a:avLst/>
              </a:prstGeom>
              <a:noFill/>
              <a:ln/>
            </p:spPr>
            <p:txBody>
              <a:bodyPr wrap="square" rtlCol="0" anchor="t"/>
              <a:lstStyle/>
              <a:p>
                <a:r>
                  <a:rPr lang="en-US" sz="1133" dirty="0">
                    <a:solidFill>
                      <a:srgbClr val="1E293B"/>
                    </a:solidFill>
                    <a:latin typeface="Consolas" pitchFamily="34" charset="0"/>
                    <a:ea typeface="Consolas" pitchFamily="34" charset="-122"/>
                    <a:cs typeface="Consolas" pitchFamily="34" charset="-120"/>
                  </a:rPr>
                  <a:t>Monomial encoding:</a:t>
                </a:r>
                <a:endParaRPr lang="en-US" sz="1133" dirty="0"/>
              </a:p>
              <a:p>
                <a:r>
                  <a:rPr lang="en-US" sz="1133" dirty="0">
                    <a:solidFill>
                      <a:srgbClr val="1E293B"/>
                    </a:solidFill>
                    <a:latin typeface="Consolas" pitchFamily="34" charset="0"/>
                    <a:ea typeface="Consolas" pitchFamily="34" charset="-122"/>
                    <a:cs typeface="Consolas" pitchFamily="34" charset="-120"/>
                  </a:rPr>
                  <a:t>  Encode </a:t>
                </a:r>
                <a14:m>
                  <m:oMath xmlns:m="http://schemas.openxmlformats.org/officeDocument/2006/math">
                    <m:sSub>
                      <m:sSubPr>
                        <m:ctrlPr>
                          <a:rPr lang="en-US" sz="1133" i="1" smtClean="0">
                            <a:solidFill>
                              <a:srgbClr val="1E293B"/>
                            </a:solidFill>
                            <a:latin typeface="Cambria Math" panose="02040503050406030204" pitchFamily="18" charset="0"/>
                          </a:rPr>
                        </m:ctrlPr>
                      </m:sSubPr>
                      <m:e>
                        <m:r>
                          <m:rPr>
                            <m:nor/>
                          </m:rPr>
                          <a:rPr lang="en-US" sz="1133" dirty="0">
                            <a:solidFill>
                              <a:srgbClr val="1E293B"/>
                            </a:solidFill>
                            <a:latin typeface="Consolas" pitchFamily="34" charset="0"/>
                            <a:ea typeface="Consolas" pitchFamily="34" charset="-122"/>
                            <a:cs typeface="Consolas" pitchFamily="34" charset="-120"/>
                          </a:rPr>
                          <m:t>I</m:t>
                        </m:r>
                      </m:e>
                      <m:sub>
                        <m:r>
                          <m:rPr>
                            <m:nor/>
                          </m:rPr>
                          <a:rPr lang="en-US" sz="1133" dirty="0">
                            <a:solidFill>
                              <a:srgbClr val="1E293B"/>
                            </a:solidFill>
                            <a:latin typeface="Consolas" pitchFamily="34" charset="0"/>
                            <a:ea typeface="Consolas" pitchFamily="34" charset="-122"/>
                            <a:cs typeface="Consolas" pitchFamily="34" charset="-120"/>
                          </a:rPr>
                          <m:t>j</m:t>
                        </m:r>
                      </m:sub>
                    </m:sSub>
                  </m:oMath>
                </a14:m>
                <a:r>
                  <a:rPr lang="en-US" sz="1133" dirty="0">
                    <a:solidFill>
                      <a:srgbClr val="1E293B"/>
                    </a:solidFill>
                    <a:latin typeface="Consolas" pitchFamily="34" charset="0"/>
                    <a:ea typeface="Consolas" pitchFamily="34" charset="-122"/>
                    <a:cs typeface="Consolas" pitchFamily="34" charset="-120"/>
                  </a:rPr>
                  <a:t> as </a:t>
                </a:r>
                <a14:m>
                  <m:oMath xmlns:m="http://schemas.openxmlformats.org/officeDocument/2006/math">
                    <m:sSup>
                      <m:sSupPr>
                        <m:ctrlPr>
                          <a:rPr lang="en-US" sz="1133" i="1">
                            <a:solidFill>
                              <a:srgbClr val="1E293B"/>
                            </a:solidFill>
                            <a:latin typeface="Cambria Math" panose="02040503050406030204" pitchFamily="18" charset="0"/>
                          </a:rPr>
                        </m:ctrlPr>
                      </m:sSupPr>
                      <m:e>
                        <m:r>
                          <m:rPr>
                            <m:nor/>
                          </m:rPr>
                          <a:rPr lang="en-US" sz="1133" dirty="0">
                            <a:solidFill>
                              <a:srgbClr val="1E293B"/>
                            </a:solidFill>
                            <a:latin typeface="Consolas" pitchFamily="34" charset="0"/>
                            <a:ea typeface="Consolas" pitchFamily="34" charset="-122"/>
                            <a:cs typeface="Consolas" pitchFamily="34" charset="-120"/>
                          </a:rPr>
                          <m:t>X</m:t>
                        </m:r>
                      </m:e>
                      <m:sup>
                        <m:sSub>
                          <m:sSubPr>
                            <m:ctrlPr>
                              <a:rPr lang="en-US" sz="1133" i="1">
                                <a:solidFill>
                                  <a:srgbClr val="1E293B"/>
                                </a:solidFill>
                                <a:latin typeface="Cambria Math" panose="02040503050406030204" pitchFamily="18" charset="0"/>
                              </a:rPr>
                            </m:ctrlPr>
                          </m:sSubPr>
                          <m:e>
                            <m:r>
                              <m:rPr>
                                <m:nor/>
                              </m:rPr>
                              <a:rPr lang="en-US" sz="1133" dirty="0">
                                <a:solidFill>
                                  <a:srgbClr val="1E293B"/>
                                </a:solidFill>
                                <a:latin typeface="Consolas" pitchFamily="34" charset="0"/>
                                <a:ea typeface="Consolas" pitchFamily="34" charset="-122"/>
                                <a:cs typeface="Consolas" pitchFamily="34" charset="-120"/>
                              </a:rPr>
                              <m:t>i</m:t>
                            </m:r>
                          </m:e>
                          <m:sub>
                            <m:r>
                              <m:rPr>
                                <m:nor/>
                              </m:rPr>
                              <a:rPr lang="en-US" sz="1133" dirty="0">
                                <a:solidFill>
                                  <a:srgbClr val="1E293B"/>
                                </a:solidFill>
                                <a:latin typeface="Consolas" pitchFamily="34" charset="0"/>
                                <a:ea typeface="Consolas" pitchFamily="34" charset="-122"/>
                                <a:cs typeface="Consolas" pitchFamily="34" charset="-120"/>
                              </a:rPr>
                              <m:t>j</m:t>
                            </m:r>
                          </m:sub>
                        </m:sSub>
                      </m:sup>
                    </m:sSup>
                  </m:oMath>
                </a14:m>
                <a:r>
                  <a:rPr lang="en-US" sz="1133" dirty="0">
                    <a:solidFill>
                      <a:srgbClr val="1E293B"/>
                    </a:solidFill>
                    <a:latin typeface="Consolas" pitchFamily="34" charset="0"/>
                    <a:ea typeface="Consolas" pitchFamily="34" charset="-122"/>
                    <a:cs typeface="Consolas" pitchFamily="34" charset="-120"/>
                  </a:rPr>
                  <a:t> ∈ </a:t>
                </a:r>
                <a14:m>
                  <m:oMath xmlns:m="http://schemas.openxmlformats.org/officeDocument/2006/math">
                    <m:sSub>
                      <m:sSubPr>
                        <m:ctrlPr>
                          <a:rPr lang="en-US" sz="1133" i="1">
                            <a:solidFill>
                              <a:srgbClr val="1E293B"/>
                            </a:solidFill>
                            <a:latin typeface="Cambria Math" panose="02040503050406030204" pitchFamily="18" charset="0"/>
                          </a:rPr>
                        </m:ctrlPr>
                      </m:sSubPr>
                      <m:e>
                        <m:r>
                          <m:rPr>
                            <m:nor/>
                          </m:rPr>
                          <a:rPr lang="en-US" sz="1133" dirty="0">
                            <a:solidFill>
                              <a:srgbClr val="1E293B"/>
                            </a:solidFill>
                            <a:latin typeface="Consolas" pitchFamily="34" charset="0"/>
                            <a:ea typeface="Consolas" pitchFamily="34" charset="-122"/>
                            <a:cs typeface="Consolas" pitchFamily="34" charset="-120"/>
                          </a:rPr>
                          <m:t>R</m:t>
                        </m:r>
                      </m:e>
                      <m:sub>
                        <m:r>
                          <m:rPr>
                            <m:nor/>
                          </m:rPr>
                          <a:rPr lang="en-US" sz="1133" dirty="0">
                            <a:solidFill>
                              <a:srgbClr val="1E293B"/>
                            </a:solidFill>
                            <a:latin typeface="Consolas" pitchFamily="34" charset="0"/>
                            <a:ea typeface="Consolas" pitchFamily="34" charset="-122"/>
                            <a:cs typeface="Consolas" pitchFamily="34" charset="-120"/>
                          </a:rPr>
                          <m:t>q</m:t>
                        </m:r>
                      </m:sub>
                    </m:sSub>
                  </m:oMath>
                </a14:m>
                <a:endParaRPr lang="en-US" sz="1133" dirty="0"/>
              </a:p>
              <a:p>
                <a:r>
                  <a:rPr lang="en-US" sz="1133" dirty="0">
                    <a:solidFill>
                      <a:srgbClr val="1E293B"/>
                    </a:solidFill>
                    <a:latin typeface="Consolas" pitchFamily="34" charset="0"/>
                    <a:ea typeface="Consolas" pitchFamily="34" charset="-122"/>
                    <a:cs typeface="Consolas" pitchFamily="34" charset="-120"/>
                  </a:rPr>
                  <a:t>  Pack </a:t>
                </a:r>
                <a14:m>
                  <m:oMath xmlns:m="http://schemas.openxmlformats.org/officeDocument/2006/math">
                    <m:sSub>
                      <m:sSubPr>
                        <m:ctrlPr>
                          <a:rPr lang="en-US" sz="1133" i="1" smtClean="0">
                            <a:solidFill>
                              <a:srgbClr val="1E293B"/>
                            </a:solidFill>
                            <a:latin typeface="Cambria Math" panose="02040503050406030204" pitchFamily="18" charset="0"/>
                          </a:rPr>
                        </m:ctrlPr>
                      </m:sSubPr>
                      <m:e>
                        <m:r>
                          <m:rPr>
                            <m:nor/>
                          </m:rPr>
                          <a:rPr lang="en-US" sz="1133" dirty="0">
                            <a:solidFill>
                              <a:srgbClr val="1E293B"/>
                            </a:solidFill>
                            <a:latin typeface="Consolas" pitchFamily="34" charset="0"/>
                            <a:ea typeface="Consolas" pitchFamily="34" charset="-122"/>
                            <a:cs typeface="Consolas" pitchFamily="34" charset="-120"/>
                          </a:rPr>
                          <m:t>D</m:t>
                        </m:r>
                      </m:e>
                      <m:sub>
                        <m:r>
                          <m:rPr>
                            <m:nor/>
                          </m:rPr>
                          <a:rPr lang="en-US" sz="1133" dirty="0">
                            <a:solidFill>
                              <a:srgbClr val="1E293B"/>
                            </a:solidFill>
                            <a:latin typeface="Consolas" pitchFamily="34" charset="0"/>
                            <a:ea typeface="Consolas" pitchFamily="34" charset="-122"/>
                            <a:cs typeface="Consolas" pitchFamily="34" charset="-120"/>
                          </a:rPr>
                          <m:t>j</m:t>
                        </m:r>
                      </m:sub>
                    </m:sSub>
                  </m:oMath>
                </a14:m>
                <a:r>
                  <a:rPr lang="en-US" sz="1133" dirty="0">
                    <a:solidFill>
                      <a:srgbClr val="1E293B"/>
                    </a:solidFill>
                    <a:latin typeface="Consolas" pitchFamily="34" charset="0"/>
                    <a:ea typeface="Consolas" pitchFamily="34" charset="-122"/>
                    <a:cs typeface="Consolas" pitchFamily="34" charset="-120"/>
                  </a:rPr>
                  <a:t> bits into 1 polynomial</a:t>
                </a:r>
                <a:endParaRPr lang="en-US" sz="1133" dirty="0"/>
              </a:p>
              <a:p>
                <a:r>
                  <a:rPr lang="en-US" sz="1133" dirty="0">
                    <a:solidFill>
                      <a:srgbClr val="1E293B"/>
                    </a:solidFill>
                    <a:latin typeface="Consolas" pitchFamily="34" charset="0"/>
                    <a:ea typeface="Consolas" pitchFamily="34" charset="-122"/>
                    <a:cs typeface="Consolas" pitchFamily="34" charset="-120"/>
                  </a:rPr>
                  <a:t>  Valid when N ≥ </a:t>
                </a:r>
                <a14:m>
                  <m:oMath xmlns:m="http://schemas.openxmlformats.org/officeDocument/2006/math">
                    <m:sSub>
                      <m:sSubPr>
                        <m:ctrlPr>
                          <a:rPr lang="en-US" sz="1133" i="1" smtClean="0">
                            <a:solidFill>
                              <a:srgbClr val="1E293B"/>
                            </a:solidFill>
                            <a:latin typeface="Cambria Math" panose="02040503050406030204" pitchFamily="18" charset="0"/>
                          </a:rPr>
                        </m:ctrlPr>
                      </m:sSubPr>
                      <m:e>
                        <m:r>
                          <m:rPr>
                            <m:nor/>
                          </m:rPr>
                          <a:rPr lang="en-US" sz="1133" dirty="0">
                            <a:solidFill>
                              <a:srgbClr val="1E293B"/>
                            </a:solidFill>
                            <a:latin typeface="Consolas" pitchFamily="34" charset="0"/>
                            <a:ea typeface="Consolas" pitchFamily="34" charset="-122"/>
                            <a:cs typeface="Consolas" pitchFamily="34" charset="-120"/>
                          </a:rPr>
                          <m:t>D</m:t>
                        </m:r>
                      </m:e>
                      <m:sub>
                        <m:r>
                          <m:rPr>
                            <m:nor/>
                          </m:rPr>
                          <a:rPr lang="en-US" sz="1133" dirty="0">
                            <a:solidFill>
                              <a:srgbClr val="1E293B"/>
                            </a:solidFill>
                            <a:latin typeface="Consolas" pitchFamily="34" charset="0"/>
                            <a:ea typeface="Consolas" pitchFamily="34" charset="-122"/>
                            <a:cs typeface="Consolas" pitchFamily="34" charset="-120"/>
                          </a:rPr>
                          <m:t>j</m:t>
                        </m:r>
                      </m:sub>
                    </m:sSub>
                  </m:oMath>
                </a14:m>
                <a:endParaRPr lang="en-US" sz="1133" dirty="0"/>
              </a:p>
            </p:txBody>
          </p:sp>
        </mc:Choice>
        <mc:Fallback xmlns="">
          <p:sp>
            <p:nvSpPr>
              <p:cNvPr id="15" name="Text 13"/>
              <p:cNvSpPr>
                <a:spLocks noRot="1" noChangeAspect="1" noMove="1" noResize="1" noEditPoints="1" noAdjustHandles="1" noChangeArrowheads="1" noChangeShapeType="1" noTextEdit="1"/>
              </p:cNvSpPr>
              <p:nvPr/>
            </p:nvSpPr>
            <p:spPr>
              <a:xfrm>
                <a:off x="4291584" y="2023872"/>
                <a:ext cx="3438144" cy="950976"/>
              </a:xfrm>
              <a:prstGeom prst="rect">
                <a:avLst/>
              </a:prstGeom>
              <a:blipFill>
                <a:blip r:embed="rId4"/>
                <a:stretch>
                  <a:fillRect t="-641" b="-2564"/>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 14"/>
              <p:cNvSpPr/>
              <p:nvPr/>
            </p:nvSpPr>
            <p:spPr>
              <a:xfrm>
                <a:off x="4291584" y="2974848"/>
                <a:ext cx="3438144" cy="316992"/>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Requires N ≥  </a:t>
                </a:r>
                <a14:m>
                  <m:oMath xmlns:m="http://schemas.openxmlformats.org/officeDocument/2006/math">
                    <m:sSub>
                      <m:sSubPr>
                        <m:ctrlPr>
                          <a:rPr lang="en-US" sz="1133" i="1">
                            <a:solidFill>
                              <a:srgbClr val="64748B"/>
                            </a:solidFill>
                            <a:latin typeface="Cambria Math" panose="02040503050406030204" pitchFamily="18" charset="0"/>
                            <a:ea typeface="Calibri" pitchFamily="34" charset="-122"/>
                            <a:cs typeface="Calibri" pitchFamily="34" charset="-120"/>
                          </a:rPr>
                        </m:ctrlPr>
                      </m:sSubPr>
                      <m:e>
                        <m:r>
                          <m:rPr>
                            <m:nor/>
                          </m:rPr>
                          <a:rPr lang="en-US" sz="1133" i="1" dirty="0">
                            <a:solidFill>
                              <a:srgbClr val="64748B"/>
                            </a:solidFill>
                            <a:latin typeface="Calibri" pitchFamily="34" charset="0"/>
                            <a:ea typeface="Calibri" pitchFamily="34" charset="-122"/>
                            <a:cs typeface="Calibri" pitchFamily="34" charset="-120"/>
                          </a:rPr>
                          <m:t>D</m:t>
                        </m:r>
                      </m:e>
                      <m:sub>
                        <m:r>
                          <m:rPr>
                            <m:nor/>
                          </m:rPr>
                          <a:rPr lang="en-US" sz="1133" i="1" dirty="0">
                            <a:solidFill>
                              <a:srgbClr val="64748B"/>
                            </a:solidFill>
                            <a:latin typeface="Calibri" pitchFamily="34" charset="0"/>
                            <a:ea typeface="Calibri" pitchFamily="34" charset="-122"/>
                            <a:cs typeface="Calibri" pitchFamily="34" charset="-120"/>
                          </a:rPr>
                          <m:t>j</m:t>
                        </m:r>
                      </m:sub>
                    </m:sSub>
                  </m:oMath>
                </a14:m>
                <a:r>
                  <a:rPr lang="en-US" sz="1133" i="1" dirty="0">
                    <a:solidFill>
                      <a:srgbClr val="64748B"/>
                    </a:solidFill>
                    <a:latin typeface="Calibri" pitchFamily="34" charset="0"/>
                    <a:ea typeface="Calibri" pitchFamily="34" charset="-122"/>
                    <a:cs typeface="Calibri" pitchFamily="34" charset="-120"/>
                  </a:rPr>
                  <a:t>. Reply still O(</a:t>
                </a:r>
                <a14:m>
                  <m:oMath xmlns:m="http://schemas.openxmlformats.org/officeDocument/2006/math">
                    <m:sSup>
                      <m:sSupPr>
                        <m:ctrlPr>
                          <a:rPr lang="en-US" sz="1133" i="1">
                            <a:solidFill>
                              <a:srgbClr val="1E293B"/>
                            </a:solidFill>
                            <a:latin typeface="Cambria Math" panose="02040503050406030204" pitchFamily="18" charset="0"/>
                          </a:rPr>
                        </m:ctrlPr>
                      </m:sSupPr>
                      <m:e>
                        <m:r>
                          <m:rPr>
                            <m:nor/>
                          </m:rPr>
                          <a:rPr lang="en-US" sz="1133" i="1" dirty="0">
                            <a:solidFill>
                              <a:srgbClr val="64748B"/>
                            </a:solidFill>
                            <a:latin typeface="Calibri" pitchFamily="34" charset="0"/>
                            <a:ea typeface="Calibri" pitchFamily="34" charset="-122"/>
                            <a:cs typeface="Calibri" pitchFamily="34" charset="-120"/>
                          </a:rPr>
                          <m:t>F</m:t>
                        </m:r>
                      </m:e>
                      <m:sup>
                        <m:r>
                          <m:rPr>
                            <m:nor/>
                          </m:rPr>
                          <a:rPr lang="en-US" sz="1133" b="0" i="1" dirty="0" smtClean="0">
                            <a:solidFill>
                              <a:srgbClr val="1E293B"/>
                            </a:solidFill>
                            <a:latin typeface="Cambria Math" panose="02040503050406030204" pitchFamily="18" charset="0"/>
                            <a:ea typeface="Consolas" pitchFamily="34" charset="-122"/>
                            <a:cs typeface="Consolas" pitchFamily="34" charset="-120"/>
                          </a:rPr>
                          <m:t>(</m:t>
                        </m:r>
                        <m:r>
                          <m:rPr>
                            <m:nor/>
                          </m:rPr>
                          <a:rPr lang="en-US" sz="1133" i="1" dirty="0">
                            <a:solidFill>
                              <a:srgbClr val="64748B"/>
                            </a:solidFill>
                            <a:latin typeface="Calibri" pitchFamily="34" charset="0"/>
                            <a:ea typeface="Calibri" pitchFamily="34" charset="-122"/>
                            <a:cs typeface="Calibri" pitchFamily="34" charset="-120"/>
                          </a:rPr>
                          <m:t>d</m:t>
                        </m:r>
                        <m:r>
                          <m:rPr>
                            <m:nor/>
                          </m:rPr>
                          <a:rPr lang="en-US" sz="1133" i="1" dirty="0">
                            <a:solidFill>
                              <a:srgbClr val="64748B"/>
                            </a:solidFill>
                            <a:latin typeface="Calibri" pitchFamily="34" charset="0"/>
                            <a:ea typeface="Calibri" pitchFamily="34" charset="-122"/>
                            <a:cs typeface="Calibri" pitchFamily="34" charset="-120"/>
                          </a:rPr>
                          <m:t>−1)</m:t>
                        </m:r>
                      </m:sup>
                    </m:sSup>
                  </m:oMath>
                </a14:m>
                <a:r>
                  <a:rPr lang="en-US" sz="1133" i="1" dirty="0">
                    <a:solidFill>
                      <a:srgbClr val="64748B"/>
                    </a:solidFill>
                    <a:latin typeface="Calibri" pitchFamily="34" charset="0"/>
                    <a:ea typeface="Calibri" pitchFamily="34" charset="-122"/>
                    <a:cs typeface="Calibri" pitchFamily="34" charset="-120"/>
                  </a:rPr>
                  <a:t>).</a:t>
                </a:r>
                <a:endParaRPr lang="en-US" sz="1133" dirty="0"/>
              </a:p>
            </p:txBody>
          </p:sp>
        </mc:Choice>
        <mc:Fallback xmlns="">
          <p:sp>
            <p:nvSpPr>
              <p:cNvPr id="16" name="Text 14"/>
              <p:cNvSpPr>
                <a:spLocks noRot="1" noChangeAspect="1" noMove="1" noResize="1" noEditPoints="1" noAdjustHandles="1" noChangeArrowheads="1" noChangeShapeType="1" noTextEdit="1"/>
              </p:cNvSpPr>
              <p:nvPr/>
            </p:nvSpPr>
            <p:spPr>
              <a:xfrm>
                <a:off x="4291584" y="2974848"/>
                <a:ext cx="3438144" cy="316992"/>
              </a:xfrm>
              <a:prstGeom prst="rect">
                <a:avLst/>
              </a:prstGeom>
              <a:blipFill>
                <a:blip r:embed="rId5"/>
                <a:stretch>
                  <a:fillRect b="-5769"/>
                </a:stretch>
              </a:blipFill>
              <a:ln/>
            </p:spPr>
            <p:txBody>
              <a:bodyPr/>
              <a:lstStyle/>
              <a:p>
                <a:r>
                  <a:rPr lang="en-US">
                    <a:noFill/>
                  </a:rPr>
                  <a:t> </a:t>
                </a:r>
              </a:p>
            </p:txBody>
          </p:sp>
        </mc:Fallback>
      </mc:AlternateContent>
      <p:sp>
        <p:nvSpPr>
          <p:cNvPr id="17" name="Text 15"/>
          <p:cNvSpPr/>
          <p:nvPr/>
        </p:nvSpPr>
        <p:spPr>
          <a:xfrm>
            <a:off x="7876032" y="1389888"/>
            <a:ext cx="3438144"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OnionPIR  (d = O(log n))</a:t>
            </a:r>
            <a:endParaRPr lang="en-US" sz="1267" dirty="0"/>
          </a:p>
        </p:txBody>
      </p:sp>
      <p:sp>
        <p:nvSpPr>
          <p:cNvPr id="18" name="Shape 16"/>
          <p:cNvSpPr/>
          <p:nvPr/>
        </p:nvSpPr>
        <p:spPr>
          <a:xfrm>
            <a:off x="7876032" y="1645920"/>
            <a:ext cx="3438144" cy="341376"/>
          </a:xfrm>
          <a:prstGeom prst="rect">
            <a:avLst/>
          </a:prstGeom>
          <a:solidFill>
            <a:srgbClr val="EFF6FF"/>
          </a:solidFill>
          <a:ln w="12700">
            <a:solidFill>
              <a:srgbClr val="BFDBFE"/>
            </a:solidFill>
            <a:prstDash val="solid"/>
          </a:ln>
        </p:spPr>
      </p:sp>
      <p:sp>
        <p:nvSpPr>
          <p:cNvPr id="19" name="Text 17"/>
          <p:cNvSpPr/>
          <p:nvPr/>
        </p:nvSpPr>
        <p:spPr>
          <a:xfrm>
            <a:off x="7949184" y="1670304"/>
            <a:ext cx="3291840" cy="292608"/>
          </a:xfrm>
          <a:prstGeom prst="rect">
            <a:avLst/>
          </a:prstGeom>
          <a:noFill/>
          <a:ln/>
        </p:spPr>
        <p:txBody>
          <a:bodyPr wrap="square" lIns="0" tIns="0" rIns="0" bIns="0" rtlCol="0" anchor="ctr"/>
          <a:lstStyle/>
          <a:p>
            <a:r>
              <a:rPr lang="en-US" sz="1200" b="1" dirty="0">
                <a:solidFill>
                  <a:srgbClr val="1E293B"/>
                </a:solidFill>
                <a:latin typeface="Consolas" pitchFamily="34" charset="0"/>
                <a:ea typeface="Consolas" pitchFamily="34" charset="-122"/>
                <a:cs typeface="Consolas" pitchFamily="34" charset="-120"/>
              </a:rPr>
              <a:t>O(log n / N)  ciphertexts</a:t>
            </a:r>
            <a:endParaRPr lang="en-US" sz="1200" dirty="0"/>
          </a:p>
        </p:txBody>
      </p:sp>
      <mc:AlternateContent xmlns:mc="http://schemas.openxmlformats.org/markup-compatibility/2006" xmlns:a14="http://schemas.microsoft.com/office/drawing/2010/main">
        <mc:Choice Requires="a14">
          <p:sp>
            <p:nvSpPr>
              <p:cNvPr id="20" name="Text 18"/>
              <p:cNvSpPr/>
              <p:nvPr/>
            </p:nvSpPr>
            <p:spPr>
              <a:xfrm>
                <a:off x="7876032" y="2023872"/>
                <a:ext cx="3438144" cy="950976"/>
              </a:xfrm>
              <a:prstGeom prst="rect">
                <a:avLst/>
              </a:prstGeom>
              <a:noFill/>
              <a:ln/>
            </p:spPr>
            <p:txBody>
              <a:bodyPr wrap="square" rtlCol="0" anchor="t"/>
              <a:lstStyle/>
              <a:p>
                <a:r>
                  <a:rPr lang="en-US" sz="1133" dirty="0">
                    <a:solidFill>
                      <a:srgbClr val="1E293B"/>
                    </a:solidFill>
                    <a:latin typeface="Consolas" pitchFamily="34" charset="0"/>
                    <a:ea typeface="Consolas" pitchFamily="34" charset="-122"/>
                    <a:cs typeface="Consolas" pitchFamily="34" charset="-120"/>
                  </a:rPr>
                  <a:t>High-d RGSW query:</a:t>
                </a:r>
                <a:endParaRPr lang="en-US" sz="1133" dirty="0"/>
              </a:p>
              <a:p>
                <a:r>
                  <a:rPr lang="en-US" sz="1133" dirty="0">
                    <a:solidFill>
                      <a:srgbClr val="1E293B"/>
                    </a:solidFill>
                    <a:latin typeface="Consolas" pitchFamily="34" charset="0"/>
                    <a:ea typeface="Consolas" pitchFamily="34" charset="-122"/>
                    <a:cs typeface="Consolas" pitchFamily="34" charset="-120"/>
                  </a:rPr>
                  <a:t>  D₁=128, D₂=…=</a:t>
                </a:r>
                <a:r>
                  <a:rPr lang="en-US" sz="1133" dirty="0">
                    <a:solidFill>
                      <a:srgbClr val="1E293B"/>
                    </a:solidFill>
                  </a:rPr>
                  <a:t> </a:t>
                </a:r>
                <a14:m>
                  <m:oMath xmlns:m="http://schemas.openxmlformats.org/officeDocument/2006/math">
                    <m:sSub>
                      <m:sSubPr>
                        <m:ctrlPr>
                          <a:rPr lang="en-US" sz="1133" i="1" smtClean="0">
                            <a:solidFill>
                              <a:srgbClr val="1E293B"/>
                            </a:solidFill>
                            <a:latin typeface="Cambria Math" panose="02040503050406030204" pitchFamily="18" charset="0"/>
                          </a:rPr>
                        </m:ctrlPr>
                      </m:sSubPr>
                      <m:e>
                        <m:r>
                          <m:rPr>
                            <m:nor/>
                          </m:rPr>
                          <a:rPr lang="en-US" sz="1133" dirty="0">
                            <a:solidFill>
                              <a:srgbClr val="1E293B"/>
                            </a:solidFill>
                            <a:latin typeface="Consolas" pitchFamily="34" charset="0"/>
                            <a:ea typeface="Consolas" pitchFamily="34" charset="-122"/>
                            <a:cs typeface="Consolas" pitchFamily="34" charset="-120"/>
                          </a:rPr>
                          <m:t>D</m:t>
                        </m:r>
                      </m:e>
                      <m:sub>
                        <m:r>
                          <m:rPr>
                            <m:nor/>
                          </m:rPr>
                          <a:rPr lang="en-US" sz="1133" dirty="0">
                            <a:solidFill>
                              <a:srgbClr val="1E293B"/>
                            </a:solidFill>
                            <a:latin typeface="Consolas" pitchFamily="34" charset="0"/>
                            <a:ea typeface="Consolas" pitchFamily="34" charset="-122"/>
                            <a:cs typeface="Consolas" pitchFamily="34" charset="-120"/>
                          </a:rPr>
                          <m:t>d</m:t>
                        </m:r>
                      </m:sub>
                    </m:sSub>
                  </m:oMath>
                </a14:m>
                <a:r>
                  <a:rPr lang="en-US" sz="1133" dirty="0">
                    <a:solidFill>
                      <a:srgbClr val="1E293B"/>
                    </a:solidFill>
                    <a:latin typeface="Consolas" pitchFamily="34" charset="0"/>
                    <a:ea typeface="Consolas" pitchFamily="34" charset="-122"/>
                    <a:cs typeface="Consolas" pitchFamily="34" charset="-120"/>
                  </a:rPr>
                  <a:t>=4</a:t>
                </a:r>
                <a:endParaRPr lang="en-US" sz="1133" dirty="0"/>
              </a:p>
              <a:p>
                <a:r>
                  <a:rPr lang="en-US" sz="1133" dirty="0">
                    <a:solidFill>
                      <a:srgbClr val="1E293B"/>
                    </a:solidFill>
                    <a:latin typeface="Consolas" pitchFamily="34" charset="0"/>
                    <a:ea typeface="Consolas" pitchFamily="34" charset="-122"/>
                    <a:cs typeface="Consolas" pitchFamily="34" charset="-120"/>
                  </a:rPr>
                  <a:t>  d = 1+⌈log₄(n/128)⌉</a:t>
                </a:r>
                <a:endParaRPr lang="en-US" sz="1133" dirty="0"/>
              </a:p>
              <a:p>
                <a:r>
                  <a:rPr lang="en-US" sz="1133" dirty="0">
                    <a:solidFill>
                      <a:srgbClr val="1E293B"/>
                    </a:solidFill>
                    <a:latin typeface="Consolas" pitchFamily="34" charset="0"/>
                    <a:ea typeface="Consolas" pitchFamily="34" charset="-122"/>
                    <a:cs typeface="Consolas" pitchFamily="34" charset="-120"/>
                  </a:rPr>
                  <a:t>  Q = 128+4(d-1) RGSW cts → packed</a:t>
                </a:r>
                <a:endParaRPr lang="en-US" sz="1133" dirty="0"/>
              </a:p>
            </p:txBody>
          </p:sp>
        </mc:Choice>
        <mc:Fallback xmlns="">
          <p:sp>
            <p:nvSpPr>
              <p:cNvPr id="20" name="Text 18"/>
              <p:cNvSpPr>
                <a:spLocks noRot="1" noChangeAspect="1" noMove="1" noResize="1" noEditPoints="1" noAdjustHandles="1" noChangeArrowheads="1" noChangeShapeType="1" noTextEdit="1"/>
              </p:cNvSpPr>
              <p:nvPr/>
            </p:nvSpPr>
            <p:spPr>
              <a:xfrm>
                <a:off x="7876032" y="2023872"/>
                <a:ext cx="3438144" cy="950976"/>
              </a:xfrm>
              <a:prstGeom prst="rect">
                <a:avLst/>
              </a:prstGeom>
              <a:blipFill>
                <a:blip r:embed="rId6"/>
                <a:stretch>
                  <a:fillRect t="-641"/>
                </a:stretch>
              </a:blipFill>
              <a:ln/>
            </p:spPr>
            <p:txBody>
              <a:bodyPr/>
              <a:lstStyle/>
              <a:p>
                <a:r>
                  <a:rPr lang="en-US">
                    <a:noFill/>
                  </a:rPr>
                  <a:t> </a:t>
                </a:r>
              </a:p>
            </p:txBody>
          </p:sp>
        </mc:Fallback>
      </mc:AlternateContent>
      <p:sp>
        <p:nvSpPr>
          <p:cNvPr id="21" name="Text 19"/>
          <p:cNvSpPr/>
          <p:nvPr/>
        </p:nvSpPr>
        <p:spPr>
          <a:xfrm>
            <a:off x="7876032" y="2974848"/>
            <a:ext cx="3438144" cy="316992"/>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Optimal O(log n). Needs query unpacking.</a:t>
            </a:r>
            <a:endParaRPr lang="en-US" sz="1133" dirty="0"/>
          </a:p>
        </p:txBody>
      </p:sp>
      <p:sp>
        <p:nvSpPr>
          <p:cNvPr id="22" name="Text 20"/>
          <p:cNvSpPr/>
          <p:nvPr/>
        </p:nvSpPr>
        <p:spPr>
          <a:xfrm>
            <a:off x="4108704" y="2048256"/>
            <a:ext cx="268224" cy="268224"/>
          </a:xfrm>
          <a:prstGeom prst="rect">
            <a:avLst/>
          </a:prstGeom>
          <a:noFill/>
          <a:ln/>
        </p:spPr>
        <p:txBody>
          <a:bodyPr wrap="square" lIns="0" tIns="0" rIns="0" bIns="0" rtlCol="0" anchor="ctr"/>
          <a:lstStyle/>
          <a:p>
            <a:pPr algn="ctr"/>
            <a:r>
              <a:rPr lang="en-US" sz="1733" b="1" dirty="0">
                <a:solidFill>
                  <a:srgbClr val="2563EB"/>
                </a:solidFill>
              </a:rPr>
              <a:t>→</a:t>
            </a:r>
            <a:endParaRPr lang="en-US" sz="1733" dirty="0"/>
          </a:p>
        </p:txBody>
      </p:sp>
      <p:sp>
        <p:nvSpPr>
          <p:cNvPr id="23" name="Text 21"/>
          <p:cNvSpPr/>
          <p:nvPr/>
        </p:nvSpPr>
        <p:spPr>
          <a:xfrm>
            <a:off x="7693152" y="2048256"/>
            <a:ext cx="268224" cy="268224"/>
          </a:xfrm>
          <a:prstGeom prst="rect">
            <a:avLst/>
          </a:prstGeom>
          <a:noFill/>
          <a:ln/>
        </p:spPr>
        <p:txBody>
          <a:bodyPr wrap="square" lIns="0" tIns="0" rIns="0" bIns="0" rtlCol="0" anchor="ctr"/>
          <a:lstStyle/>
          <a:p>
            <a:pPr algn="ctr"/>
            <a:r>
              <a:rPr lang="en-US" sz="1733" b="1" dirty="0">
                <a:solidFill>
                  <a:srgbClr val="2563EB"/>
                </a:solidFill>
              </a:rPr>
              <a:t>→</a:t>
            </a:r>
            <a:endParaRPr lang="en-US" sz="1733" dirty="0"/>
          </a:p>
        </p:txBody>
      </p:sp>
      <p:sp>
        <p:nvSpPr>
          <p:cNvPr id="24" name="Shape 22"/>
          <p:cNvSpPr/>
          <p:nvPr/>
        </p:nvSpPr>
        <p:spPr>
          <a:xfrm>
            <a:off x="487680" y="3633216"/>
            <a:ext cx="11216640" cy="290169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25" name="Shape 23"/>
          <p:cNvSpPr/>
          <p:nvPr/>
        </p:nvSpPr>
        <p:spPr>
          <a:xfrm>
            <a:off x="487680" y="3633216"/>
            <a:ext cx="97536" cy="2901696"/>
          </a:xfrm>
          <a:prstGeom prst="rect">
            <a:avLst/>
          </a:prstGeom>
          <a:solidFill>
            <a:srgbClr val="16A34A"/>
          </a:solidFill>
          <a:ln w="12700">
            <a:solidFill>
              <a:srgbClr val="16A34A"/>
            </a:solidFill>
            <a:prstDash val="solid"/>
          </a:ln>
        </p:spPr>
      </p:sp>
      <p:sp>
        <p:nvSpPr>
          <p:cNvPr id="26" name="Text 24"/>
          <p:cNvSpPr/>
          <p:nvPr/>
        </p:nvSpPr>
        <p:spPr>
          <a:xfrm>
            <a:off x="707136" y="3681984"/>
            <a:ext cx="6096000" cy="341376"/>
          </a:xfrm>
          <a:prstGeom prst="rect">
            <a:avLst/>
          </a:prstGeom>
          <a:noFill/>
          <a:ln/>
        </p:spPr>
        <p:txBody>
          <a:bodyPr wrap="square" lIns="0" tIns="0" rIns="0" bIns="0" rtlCol="0" anchor="ctr"/>
          <a:lstStyle/>
          <a:p>
            <a:r>
              <a:rPr lang="en-US" sz="1600" b="1" dirty="0">
                <a:solidFill>
                  <a:srgbClr val="1E293B"/>
                </a:solidFill>
                <a:latin typeface="Calibri" pitchFamily="34" charset="0"/>
                <a:ea typeface="Calibri" pitchFamily="34" charset="-122"/>
                <a:cs typeface="Calibri" pitchFamily="34" charset="-120"/>
              </a:rPr>
              <a:t>Reply Size Reduction / </a:t>
            </a:r>
            <a:r>
              <a:rPr lang="zh-CN" altLang="en-US" sz="1600" b="1" dirty="0">
                <a:solidFill>
                  <a:srgbClr val="1E293B"/>
                </a:solidFill>
                <a:latin typeface="Calibri" pitchFamily="34" charset="0"/>
                <a:ea typeface="Calibri" pitchFamily="34" charset="-122"/>
                <a:cs typeface="Calibri" pitchFamily="34" charset="-120"/>
              </a:rPr>
              <a:t>回复大小减小</a:t>
            </a:r>
            <a:endParaRPr lang="en-US" sz="1600" dirty="0"/>
          </a:p>
        </p:txBody>
      </p:sp>
      <mc:AlternateContent xmlns:mc="http://schemas.openxmlformats.org/markup-compatibility/2006" xmlns:a14="http://schemas.microsoft.com/office/drawing/2010/main">
        <mc:Choice Requires="a14">
          <p:sp>
            <p:nvSpPr>
              <p:cNvPr id="27" name="Text 25"/>
              <p:cNvSpPr/>
              <p:nvPr/>
            </p:nvSpPr>
            <p:spPr>
              <a:xfrm>
                <a:off x="707136" y="4072128"/>
                <a:ext cx="5303520" cy="268224"/>
              </a:xfrm>
              <a:prstGeom prst="rect">
                <a:avLst/>
              </a:prstGeom>
              <a:noFill/>
              <a:ln/>
            </p:spPr>
            <p:txBody>
              <a:bodyPr wrap="square" lIns="0" tIns="0" rIns="0" bIns="0" rtlCol="0" anchor="ctr"/>
              <a:lstStyle/>
              <a:p>
                <a:r>
                  <a:rPr lang="en-US" sz="1267" b="1" dirty="0">
                    <a:solidFill>
                      <a:srgbClr val="2563EB"/>
                    </a:solidFill>
                    <a:latin typeface="Calibri" pitchFamily="34" charset="0"/>
                    <a:ea typeface="Calibri" pitchFamily="34" charset="-122"/>
                    <a:cs typeface="Calibri" pitchFamily="34" charset="-120"/>
                  </a:rPr>
                  <a:t>XPIR / SealPIR  →  O(</a:t>
                </a:r>
                <a14:m>
                  <m:oMath xmlns:m="http://schemas.openxmlformats.org/officeDocument/2006/math">
                    <m:sSup>
                      <m:sSupPr>
                        <m:ctrlPr>
                          <a:rPr lang="en-US" sz="1267" b="1" i="1">
                            <a:solidFill>
                              <a:srgbClr val="2563EB"/>
                            </a:solidFill>
                            <a:latin typeface="Cambria Math" panose="02040503050406030204" pitchFamily="18" charset="0"/>
                            <a:ea typeface="Calibri" pitchFamily="34" charset="-122"/>
                            <a:cs typeface="Calibri" pitchFamily="34" charset="-120"/>
                          </a:rPr>
                        </m:ctrlPr>
                      </m:sSupPr>
                      <m:e>
                        <m:r>
                          <m:rPr>
                            <m:nor/>
                          </m:rPr>
                          <a:rPr lang="en-US" sz="1267" b="1" dirty="0">
                            <a:solidFill>
                              <a:srgbClr val="2563EB"/>
                            </a:solidFill>
                            <a:latin typeface="Calibri" pitchFamily="34" charset="0"/>
                            <a:ea typeface="Calibri" pitchFamily="34" charset="-122"/>
                            <a:cs typeface="Calibri" pitchFamily="34" charset="-120"/>
                          </a:rPr>
                          <m:t>F</m:t>
                        </m:r>
                      </m:e>
                      <m:sup>
                        <m:r>
                          <m:rPr>
                            <m:nor/>
                          </m:rPr>
                          <a:rPr lang="en-US" sz="1267" b="1" dirty="0">
                            <a:solidFill>
                              <a:srgbClr val="2563EB"/>
                            </a:solidFill>
                            <a:latin typeface="Calibri" pitchFamily="34" charset="0"/>
                            <a:ea typeface="Calibri" pitchFamily="34" charset="-122"/>
                            <a:cs typeface="Calibri" pitchFamily="34" charset="-120"/>
                          </a:rPr>
                          <m:t>(</m:t>
                        </m:r>
                        <m:r>
                          <m:rPr>
                            <m:nor/>
                          </m:rPr>
                          <a:rPr lang="en-US" sz="1267" b="1" dirty="0">
                            <a:solidFill>
                              <a:srgbClr val="2563EB"/>
                            </a:solidFill>
                            <a:latin typeface="Calibri" pitchFamily="34" charset="0"/>
                            <a:ea typeface="Calibri" pitchFamily="34" charset="-122"/>
                            <a:cs typeface="Calibri" pitchFamily="34" charset="-120"/>
                          </a:rPr>
                          <m:t>d</m:t>
                        </m:r>
                        <m:r>
                          <m:rPr>
                            <m:nor/>
                          </m:rPr>
                          <a:rPr lang="en-US" sz="1267" b="1" dirty="0">
                            <a:solidFill>
                              <a:srgbClr val="2563EB"/>
                            </a:solidFill>
                            <a:latin typeface="Calibri" pitchFamily="34" charset="0"/>
                            <a:ea typeface="Calibri" pitchFamily="34" charset="-122"/>
                            <a:cs typeface="Calibri" pitchFamily="34" charset="-120"/>
                          </a:rPr>
                          <m:t>−1)</m:t>
                        </m:r>
                      </m:sup>
                    </m:sSup>
                  </m:oMath>
                </a14:m>
                <a:r>
                  <a:rPr lang="en-US" sz="1267" b="1" dirty="0">
                    <a:solidFill>
                      <a:srgbClr val="2563EB"/>
                    </a:solidFill>
                    <a:latin typeface="Calibri" pitchFamily="34" charset="0"/>
                    <a:ea typeface="Calibri" pitchFamily="34" charset="-122"/>
                    <a:cs typeface="Calibri" pitchFamily="34" charset="-120"/>
                  </a:rPr>
                  <a:t>)</a:t>
                </a:r>
              </a:p>
            </p:txBody>
          </p:sp>
        </mc:Choice>
        <mc:Fallback xmlns="">
          <p:sp>
            <p:nvSpPr>
              <p:cNvPr id="27" name="Text 25"/>
              <p:cNvSpPr>
                <a:spLocks noRot="1" noChangeAspect="1" noMove="1" noResize="1" noEditPoints="1" noAdjustHandles="1" noChangeArrowheads="1" noChangeShapeType="1" noTextEdit="1"/>
              </p:cNvSpPr>
              <p:nvPr/>
            </p:nvSpPr>
            <p:spPr>
              <a:xfrm>
                <a:off x="707136" y="4072128"/>
                <a:ext cx="5303520" cy="268224"/>
              </a:xfrm>
              <a:prstGeom prst="rect">
                <a:avLst/>
              </a:prstGeom>
              <a:blipFill>
                <a:blip r:embed="rId7"/>
                <a:stretch>
                  <a:fillRect l="-1839" b="-29545"/>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 26"/>
              <p:cNvSpPr/>
              <p:nvPr/>
            </p:nvSpPr>
            <p:spPr>
              <a:xfrm>
                <a:off x="707136" y="4328160"/>
                <a:ext cx="5303520" cy="2048256"/>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Root cause: ciphertext-plaintext multiplication (FHE.PlainMult) expands the reply at each recursion level.
After first dimension (d=2, D₁=√n):
</a:t>
                </a:r>
                <a:r>
                  <a:rPr lang="en-US" sz="1200" dirty="0">
                    <a:solidFill>
                      <a:srgbClr val="1E293B"/>
                    </a:solidFill>
                    <a:latin typeface="Consolas" pitchFamily="34" charset="0"/>
                    <a:ea typeface="Consolas" pitchFamily="34" charset="-122"/>
                    <a:cs typeface="Consolas" pitchFamily="34" charset="-120"/>
                  </a:rPr>
                  <a:t>  intermediate = √n ciphertext polynomials
  each chunk of ℓ₀ bits split into F sub-chunks → F ciphertexts returned
</a:t>
                </a:r>
                <a:r>
                  <a:rPr lang="en-US" sz="1200" dirty="0">
                    <a:solidFill>
                      <a:srgbClr val="1E293B"/>
                    </a:solidFill>
                    <a:latin typeface="Calibri" pitchFamily="34" charset="0"/>
                    <a:ea typeface="Calibri" pitchFamily="34" charset="-122"/>
                    <a:cs typeface="Calibri" pitchFamily="34" charset="-120"/>
                  </a:rPr>
                  <a:t>For d dimensions:  reply </a:t>
                </a:r>
                <a:r>
                  <a:rPr lang="en-US" sz="1200" dirty="0">
                    <a:solidFill>
                      <a:srgbClr val="1E293B"/>
                    </a:solidFill>
                    <a:latin typeface="Consolas" pitchFamily="34" charset="0"/>
                    <a:ea typeface="Consolas" pitchFamily="34" charset="-122"/>
                    <a:cs typeface="Consolas" pitchFamily="34" charset="-120"/>
                  </a:rPr>
                  <a:t>= O(</a:t>
                </a:r>
                <a14:m>
                  <m:oMath xmlns:m="http://schemas.openxmlformats.org/officeDocument/2006/math">
                    <m:sSup>
                      <m:sSupPr>
                        <m:ctrlPr>
                          <a:rPr lang="en-US" sz="1200" i="1">
                            <a:solidFill>
                              <a:srgbClr val="1E293B"/>
                            </a:solidFill>
                            <a:latin typeface="Cambria Math" panose="02040503050406030204" pitchFamily="18" charset="0"/>
                            <a:ea typeface="Consolas" pitchFamily="34" charset="-122"/>
                            <a:cs typeface="Consolas" pitchFamily="34" charset="-120"/>
                          </a:rPr>
                        </m:ctrlPr>
                      </m:sSupPr>
                      <m:e>
                        <m:r>
                          <m:rPr>
                            <m:nor/>
                          </m:rPr>
                          <a:rPr lang="en-US" sz="1200" dirty="0">
                            <a:solidFill>
                              <a:srgbClr val="1E293B"/>
                            </a:solidFill>
                            <a:latin typeface="Consolas" pitchFamily="34" charset="0"/>
                            <a:ea typeface="Consolas" pitchFamily="34" charset="-122"/>
                            <a:cs typeface="Consolas" pitchFamily="34" charset="-120"/>
                          </a:rPr>
                          <m:t>F</m:t>
                        </m:r>
                      </m:e>
                      <m:sup>
                        <m:r>
                          <m:rPr>
                            <m:nor/>
                          </m:rPr>
                          <a:rPr lang="en-US" sz="1200" dirty="0">
                            <a:solidFill>
                              <a:srgbClr val="1E293B"/>
                            </a:solidFill>
                            <a:latin typeface="Consolas" pitchFamily="34" charset="0"/>
                            <a:ea typeface="Consolas" pitchFamily="34" charset="-122"/>
                            <a:cs typeface="Consolas" pitchFamily="34" charset="-120"/>
                          </a:rPr>
                          <m:t>(</m:t>
                        </m:r>
                        <m:r>
                          <m:rPr>
                            <m:nor/>
                          </m:rPr>
                          <a:rPr lang="en-US" sz="1200" dirty="0">
                            <a:solidFill>
                              <a:srgbClr val="1E293B"/>
                            </a:solidFill>
                            <a:latin typeface="Consolas" pitchFamily="34" charset="0"/>
                            <a:ea typeface="Consolas" pitchFamily="34" charset="-122"/>
                            <a:cs typeface="Consolas" pitchFamily="34" charset="-120"/>
                          </a:rPr>
                          <m:t>d</m:t>
                        </m:r>
                        <m:r>
                          <m:rPr>
                            <m:nor/>
                          </m:rPr>
                          <a:rPr lang="en-US" sz="1200" dirty="0">
                            <a:solidFill>
                              <a:srgbClr val="1E293B"/>
                            </a:solidFill>
                            <a:latin typeface="Consolas" pitchFamily="34" charset="0"/>
                            <a:ea typeface="Consolas" pitchFamily="34" charset="-122"/>
                            <a:cs typeface="Consolas" pitchFamily="34" charset="-120"/>
                          </a:rPr>
                          <m:t>−1)</m:t>
                        </m:r>
                      </m:sup>
                    </m:sSup>
                  </m:oMath>
                </a14:m>
                <a:r>
                  <a:rPr lang="en-US" sz="1200" dirty="0">
                    <a:solidFill>
                      <a:srgbClr val="1E293B"/>
                    </a:solidFill>
                    <a:latin typeface="Consolas" pitchFamily="34" charset="0"/>
                    <a:ea typeface="Consolas" pitchFamily="34" charset="-122"/>
                    <a:cs typeface="Consolas" pitchFamily="34" charset="-120"/>
                  </a:rPr>
                  <a:t>)</a:t>
                </a:r>
                <a:r>
                  <a:rPr lang="en-US" sz="1200" dirty="0">
                    <a:solidFill>
                      <a:srgbClr val="1E293B"/>
                    </a:solidFill>
                    <a:latin typeface="Calibri" pitchFamily="34" charset="0"/>
                    <a:ea typeface="Calibri" pitchFamily="34" charset="-122"/>
                    <a:cs typeface="Calibri" pitchFamily="34" charset="-120"/>
                  </a:rPr>
                  <a:t> × ℓ bits</a:t>
                </a:r>
                <a:endParaRPr lang="en-US" sz="1200" dirty="0"/>
              </a:p>
              <a:p>
                <a:r>
                  <a:rPr lang="en-US" sz="1200" dirty="0">
                    <a:solidFill>
                      <a:srgbClr val="1E293B"/>
                    </a:solidFill>
                    <a:latin typeface="Calibri" pitchFamily="34" charset="0"/>
                    <a:ea typeface="Calibri" pitchFamily="34" charset="-122"/>
                    <a:cs typeface="Calibri" pitchFamily="34" charset="-120"/>
                  </a:rPr>
                  <a:t>With F≈5, d=2: reply ≈ 5× element size</a:t>
                </a:r>
                <a:endParaRPr lang="en-US" sz="1200" dirty="0"/>
              </a:p>
            </p:txBody>
          </p:sp>
        </mc:Choice>
        <mc:Fallback xmlns="">
          <p:sp>
            <p:nvSpPr>
              <p:cNvPr id="28" name="Text 26"/>
              <p:cNvSpPr>
                <a:spLocks noRot="1" noChangeAspect="1" noMove="1" noResize="1" noEditPoints="1" noAdjustHandles="1" noChangeArrowheads="1" noChangeShapeType="1" noTextEdit="1"/>
              </p:cNvSpPr>
              <p:nvPr/>
            </p:nvSpPr>
            <p:spPr>
              <a:xfrm>
                <a:off x="707136" y="4328160"/>
                <a:ext cx="5303520" cy="2048256"/>
              </a:xfrm>
              <a:prstGeom prst="rect">
                <a:avLst/>
              </a:prstGeom>
              <a:blipFill>
                <a:blip r:embed="rId8"/>
                <a:stretch>
                  <a:fillRect/>
                </a:stretch>
              </a:blipFill>
              <a:ln/>
            </p:spPr>
            <p:txBody>
              <a:bodyPr/>
              <a:lstStyle/>
              <a:p>
                <a:r>
                  <a:rPr lang="en-US">
                    <a:noFill/>
                  </a:rPr>
                  <a:t> </a:t>
                </a:r>
              </a:p>
            </p:txBody>
          </p:sp>
        </mc:Fallback>
      </mc:AlternateContent>
      <p:sp>
        <p:nvSpPr>
          <p:cNvPr id="29" name="Text 27"/>
          <p:cNvSpPr/>
          <p:nvPr/>
        </p:nvSpPr>
        <p:spPr>
          <a:xfrm>
            <a:off x="6047232" y="4998720"/>
            <a:ext cx="365760" cy="365760"/>
          </a:xfrm>
          <a:prstGeom prst="rect">
            <a:avLst/>
          </a:prstGeom>
          <a:noFill/>
          <a:ln/>
        </p:spPr>
        <p:txBody>
          <a:bodyPr wrap="square" lIns="0" tIns="0" rIns="0" bIns="0" rtlCol="0" anchor="ctr"/>
          <a:lstStyle/>
          <a:p>
            <a:pPr algn="ctr"/>
            <a:r>
              <a:rPr lang="en-US" sz="2133" b="1" dirty="0">
                <a:solidFill>
                  <a:srgbClr val="16A34A"/>
                </a:solidFill>
              </a:rPr>
              <a:t>→</a:t>
            </a:r>
            <a:endParaRPr lang="en-US" sz="2133" dirty="0"/>
          </a:p>
        </p:txBody>
      </p:sp>
      <p:sp>
        <p:nvSpPr>
          <p:cNvPr id="30" name="Text 28"/>
          <p:cNvSpPr/>
          <p:nvPr/>
        </p:nvSpPr>
        <p:spPr>
          <a:xfrm>
            <a:off x="6486144" y="4072128"/>
            <a:ext cx="5059680" cy="268224"/>
          </a:xfrm>
          <a:prstGeom prst="rect">
            <a:avLst/>
          </a:prstGeom>
          <a:noFill/>
          <a:ln/>
        </p:spPr>
        <p:txBody>
          <a:bodyPr wrap="square" lIns="0" tIns="0" rIns="0" bIns="0" rtlCol="0" anchor="ctr"/>
          <a:lstStyle/>
          <a:p>
            <a:r>
              <a:rPr lang="en-US" sz="1267" b="1" dirty="0">
                <a:solidFill>
                  <a:srgbClr val="16A34A"/>
                </a:solidFill>
                <a:latin typeface="Calibri" pitchFamily="34" charset="0"/>
                <a:ea typeface="Calibri" pitchFamily="34" charset="-122"/>
                <a:cs typeface="Calibri" pitchFamily="34" charset="-120"/>
              </a:rPr>
              <a:t>OnionPIR  →  O(1)</a:t>
            </a:r>
            <a:endParaRPr lang="en-US" sz="1267" dirty="0"/>
          </a:p>
        </p:txBody>
      </p:sp>
      <p:sp>
        <p:nvSpPr>
          <p:cNvPr id="31" name="Text 29"/>
          <p:cNvSpPr/>
          <p:nvPr/>
        </p:nvSpPr>
        <p:spPr>
          <a:xfrm>
            <a:off x="6486144" y="4328160"/>
            <a:ext cx="5059680" cy="2048256"/>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Fix: replace FHE.PlainMult with FHE.ExternalProd:
</a:t>
            </a:r>
            <a:r>
              <a:rPr lang="en-US" sz="1200" dirty="0">
                <a:solidFill>
                  <a:srgbClr val="1E293B"/>
                </a:solidFill>
                <a:latin typeface="Consolas" pitchFamily="34" charset="0"/>
                <a:ea typeface="Consolas" pitchFamily="34" charset="-122"/>
                <a:cs typeface="Consolas" pitchFamily="34" charset="-120"/>
              </a:rPr>
              <a:t>  c' = G⁻¹(c) · C
  Noise growth: additive (not multiplicative)
</a:t>
            </a:r>
            <a:r>
              <a:rPr lang="en-US" sz="1200" dirty="0">
                <a:solidFill>
                  <a:srgbClr val="1E293B"/>
                </a:solidFill>
                <a:latin typeface="Calibri" pitchFamily="34" charset="0"/>
                <a:ea typeface="Calibri" pitchFamily="34" charset="-122"/>
                <a:cs typeface="Calibri" pitchFamily="34" charset="-120"/>
              </a:rPr>
              <a:t>Allows </a:t>
            </a:r>
            <a:r>
              <a:rPr lang="en-US" sz="1200" dirty="0">
                <a:solidFill>
                  <a:srgbClr val="1E293B"/>
                </a:solidFill>
                <a:latin typeface="Consolas" pitchFamily="34" charset="0"/>
                <a:ea typeface="Consolas" pitchFamily="34" charset="-122"/>
                <a:cs typeface="Consolas" pitchFamily="34" charset="-120"/>
              </a:rPr>
              <a:t>d = O(log n)</a:t>
            </a:r>
            <a:r>
              <a:rPr lang="en-US" sz="1200" dirty="0">
                <a:solidFill>
                  <a:srgbClr val="1E293B"/>
                </a:solidFill>
                <a:latin typeface="Calibri" pitchFamily="34" charset="0"/>
                <a:ea typeface="Calibri" pitchFamily="34" charset="-122"/>
                <a:cs typeface="Calibri" pitchFamily="34" charset="-120"/>
              </a:rPr>
              <a:t> sequential products without noise explosion.
Reply = single RLWE ct per chunk  →  </a:t>
            </a:r>
            <a:r>
              <a:rPr lang="en-US" sz="1200" dirty="0">
                <a:solidFill>
                  <a:srgbClr val="1E293B"/>
                </a:solidFill>
                <a:latin typeface="Consolas" pitchFamily="34" charset="0"/>
                <a:ea typeface="Consolas" pitchFamily="34" charset="-122"/>
                <a:cs typeface="Consolas" pitchFamily="34" charset="-120"/>
              </a:rPr>
              <a:t>O(1)</a:t>
            </a:r>
            <a:r>
              <a:rPr lang="en-US" sz="1200" dirty="0">
                <a:solidFill>
                  <a:srgbClr val="1E293B"/>
                </a:solidFill>
                <a:latin typeface="Calibri" pitchFamily="34" charset="0"/>
                <a:ea typeface="Calibri" pitchFamily="34" charset="-122"/>
                <a:cs typeface="Calibri" pitchFamily="34" charset="-120"/>
              </a:rPr>
              <a:t> total.
Trade-off: query must be RGSW cts (~hundreds KB each).</a:t>
            </a:r>
            <a:endParaRPr lang="en-US" sz="1200" dirty="0"/>
          </a:p>
          <a:p>
            <a:r>
              <a:rPr lang="en-US" sz="1200" dirty="0">
                <a:solidFill>
                  <a:srgbClr val="1E293B"/>
                </a:solidFill>
                <a:latin typeface="Calibri" pitchFamily="34" charset="0"/>
                <a:ea typeface="Calibri" pitchFamily="34" charset="-122"/>
                <a:cs typeface="Calibri" pitchFamily="34" charset="-120"/>
              </a:rPr>
              <a:t>Requires query packing + server-side unpacking.</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05</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2200013" y="3819092"/>
            <a:ext cx="7791974" cy="853375"/>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RLWE-based CPIR (Hypercube Database Layout)</a:t>
            </a:r>
          </a:p>
          <a:p>
            <a:pPr>
              <a:lnSpc>
                <a:spcPct val="130000"/>
              </a:lnSpc>
            </a:pP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基于</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RLWE</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的</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CPIR</a:t>
            </a:r>
            <a:r>
              <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（超立方体数据库布局</a:t>
            </a: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a:cxnSpLocks/>
          </p:cNvCxnSpPr>
          <p:nvPr/>
        </p:nvCxnSpPr>
        <p:spPr>
          <a:xfrm>
            <a:off x="2382473" y="4805036"/>
            <a:ext cx="7130643" cy="0"/>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49</a:t>
            </a:fld>
            <a:endParaRPr lang="en-US"/>
          </a:p>
        </p:txBody>
      </p:sp>
    </p:spTree>
    <p:extLst>
      <p:ext uri="{BB962C8B-B14F-4D97-AF65-F5344CB8AC3E}">
        <p14:creationId xmlns:p14="http://schemas.microsoft.com/office/powerpoint/2010/main" val="5966230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38912"/>
          </a:xfrm>
          <a:prstGeom prst="rect">
            <a:avLst/>
          </a:prstGeom>
          <a:noFill/>
          <a:ln/>
        </p:spPr>
        <p:txBody>
          <a:bodyPr wrap="square" rtlCol="0" anchor="ctr"/>
          <a:lstStyle/>
          <a:p>
            <a:r>
              <a:rPr lang="en-US" sz="2667" b="1" dirty="0">
                <a:solidFill>
                  <a:srgbClr val="1E293B"/>
                </a:solidFill>
                <a:latin typeface="Calibri" pitchFamily="34" charset="0"/>
                <a:ea typeface="Calibri" pitchFamily="34" charset="-122"/>
                <a:cs typeface="Calibri" pitchFamily="34" charset="-120"/>
              </a:rPr>
              <a:t>XPIR  —  Hypercube PIR via Ring-LWE</a:t>
            </a:r>
            <a:endParaRPr lang="en-US" sz="2667" dirty="0"/>
          </a:p>
        </p:txBody>
      </p:sp>
      <p:sp>
        <p:nvSpPr>
          <p:cNvPr id="3" name="Text 1"/>
          <p:cNvSpPr/>
          <p:nvPr/>
        </p:nvSpPr>
        <p:spPr>
          <a:xfrm>
            <a:off x="487680" y="499872"/>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Aguilar-Melchor et al. (2016)  ·  Scheme: BGV  ·  d = 2 or 3  ·  Server op: FHE.PlainMult  ·  Reply: O(F^(d-1))</a:t>
            </a:r>
            <a:endParaRPr lang="en-US" sz="1133" dirty="0"/>
          </a:p>
        </p:txBody>
      </p:sp>
      <p:sp>
        <p:nvSpPr>
          <p:cNvPr id="4" name="Shape 2"/>
          <p:cNvSpPr/>
          <p:nvPr/>
        </p:nvSpPr>
        <p:spPr>
          <a:xfrm>
            <a:off x="487680"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5" name="Shape 3"/>
          <p:cNvSpPr/>
          <p:nvPr/>
        </p:nvSpPr>
        <p:spPr>
          <a:xfrm>
            <a:off x="487680" y="755904"/>
            <a:ext cx="2706624" cy="463296"/>
          </a:xfrm>
          <a:prstGeom prst="rect">
            <a:avLst/>
          </a:prstGeom>
          <a:solidFill>
            <a:srgbClr val="1E293B"/>
          </a:solidFill>
          <a:ln w="12700">
            <a:solidFill>
              <a:srgbClr val="1E293B"/>
            </a:solidFill>
            <a:prstDash val="solid"/>
          </a:ln>
        </p:spPr>
      </p:sp>
      <p:sp>
        <p:nvSpPr>
          <p:cNvPr id="6" name="Text 4"/>
          <p:cNvSpPr/>
          <p:nvPr/>
        </p:nvSpPr>
        <p:spPr>
          <a:xfrm>
            <a:off x="487680"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1</a:t>
            </a:r>
            <a:endParaRPr lang="en-US" sz="1733" dirty="0"/>
          </a:p>
        </p:txBody>
      </p:sp>
      <p:sp>
        <p:nvSpPr>
          <p:cNvPr id="7" name="Shape 5"/>
          <p:cNvSpPr/>
          <p:nvPr/>
        </p:nvSpPr>
        <p:spPr>
          <a:xfrm>
            <a:off x="877824" y="816864"/>
            <a:ext cx="0" cy="316992"/>
          </a:xfrm>
          <a:prstGeom prst="line">
            <a:avLst/>
          </a:prstGeom>
          <a:noFill/>
          <a:ln w="6350">
            <a:solidFill>
              <a:srgbClr val="FFFFFF">
                <a:alpha val="40000"/>
              </a:srgbClr>
            </a:solidFill>
            <a:prstDash val="solid"/>
          </a:ln>
        </p:spPr>
      </p:sp>
      <p:sp>
        <p:nvSpPr>
          <p:cNvPr id="8" name="Text 6"/>
          <p:cNvSpPr/>
          <p:nvPr/>
        </p:nvSpPr>
        <p:spPr>
          <a:xfrm>
            <a:off x="926592"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Setup</a:t>
            </a:r>
            <a:endParaRPr lang="en-US" sz="1133" dirty="0"/>
          </a:p>
        </p:txBody>
      </p:sp>
      <p:sp>
        <p:nvSpPr>
          <p:cNvPr id="9" name="Text 7"/>
          <p:cNvSpPr/>
          <p:nvPr/>
        </p:nvSpPr>
        <p:spPr>
          <a:xfrm>
            <a:off x="926592"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Server</a:t>
            </a:r>
            <a:endParaRPr lang="en-US" sz="1000" dirty="0"/>
          </a:p>
        </p:txBody>
      </p:sp>
      <p:sp>
        <p:nvSpPr>
          <p:cNvPr id="10" name="Text 8"/>
          <p:cNvSpPr/>
          <p:nvPr/>
        </p:nvSpPr>
        <p:spPr>
          <a:xfrm>
            <a:off x="609600"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DB reshaped into</a:t>
            </a:r>
            <a:endParaRPr lang="en-US" sz="1067" dirty="0"/>
          </a:p>
          <a:p>
            <a:r>
              <a:rPr lang="en-US" sz="1067" dirty="0">
                <a:solidFill>
                  <a:srgbClr val="1E293B"/>
                </a:solidFill>
                <a:latin typeface="Consolas" pitchFamily="34" charset="0"/>
                <a:ea typeface="Consolas" pitchFamily="34" charset="-122"/>
                <a:cs typeface="Consolas" pitchFamily="34" charset="-120"/>
              </a:rPr>
              <a:t> D₁ × D₂  (d = 2)</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 D₁ = D₂ = √n</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Publish (d, D₁, D₂)</a:t>
            </a:r>
            <a:endParaRPr lang="en-US" sz="1067" dirty="0"/>
          </a:p>
          <a:p>
            <a:r>
              <a:rPr lang="en-US" sz="1067" dirty="0">
                <a:solidFill>
                  <a:srgbClr val="1E293B"/>
                </a:solidFill>
                <a:latin typeface="Consolas" pitchFamily="34" charset="0"/>
                <a:ea typeface="Consolas" pitchFamily="34" charset="-122"/>
                <a:cs typeface="Consolas" pitchFamily="34" charset="-120"/>
              </a:rPr>
              <a:t>to client</a:t>
            </a:r>
            <a:endParaRPr lang="en-US" sz="1067" dirty="0"/>
          </a:p>
        </p:txBody>
      </p:sp>
      <p:sp>
        <p:nvSpPr>
          <p:cNvPr id="11" name="Shape 9"/>
          <p:cNvSpPr/>
          <p:nvPr/>
        </p:nvSpPr>
        <p:spPr>
          <a:xfrm>
            <a:off x="3279648"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3279648" y="755904"/>
            <a:ext cx="2706624" cy="463296"/>
          </a:xfrm>
          <a:prstGeom prst="rect">
            <a:avLst/>
          </a:prstGeom>
          <a:solidFill>
            <a:srgbClr val="1E293B"/>
          </a:solidFill>
          <a:ln w="12700">
            <a:solidFill>
              <a:srgbClr val="1E293B"/>
            </a:solidFill>
            <a:prstDash val="solid"/>
          </a:ln>
        </p:spPr>
      </p:sp>
      <p:sp>
        <p:nvSpPr>
          <p:cNvPr id="13" name="Text 11"/>
          <p:cNvSpPr/>
          <p:nvPr/>
        </p:nvSpPr>
        <p:spPr>
          <a:xfrm>
            <a:off x="3279648"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2</a:t>
            </a:r>
            <a:endParaRPr lang="en-US" sz="1733" dirty="0"/>
          </a:p>
        </p:txBody>
      </p:sp>
      <p:sp>
        <p:nvSpPr>
          <p:cNvPr id="14" name="Shape 12"/>
          <p:cNvSpPr/>
          <p:nvPr/>
        </p:nvSpPr>
        <p:spPr>
          <a:xfrm>
            <a:off x="3669792" y="816864"/>
            <a:ext cx="0" cy="316992"/>
          </a:xfrm>
          <a:prstGeom prst="line">
            <a:avLst/>
          </a:prstGeom>
          <a:noFill/>
          <a:ln w="6350">
            <a:solidFill>
              <a:srgbClr val="FFFFFF">
                <a:alpha val="40000"/>
              </a:srgbClr>
            </a:solidFill>
            <a:prstDash val="solid"/>
          </a:ln>
        </p:spPr>
      </p:sp>
      <p:sp>
        <p:nvSpPr>
          <p:cNvPr id="15" name="Text 13"/>
          <p:cNvSpPr/>
          <p:nvPr/>
        </p:nvSpPr>
        <p:spPr>
          <a:xfrm>
            <a:off x="3718560"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Query Generation</a:t>
            </a:r>
            <a:endParaRPr lang="en-US" sz="1133" dirty="0"/>
          </a:p>
        </p:txBody>
      </p:sp>
      <p:sp>
        <p:nvSpPr>
          <p:cNvPr id="16" name="Text 14"/>
          <p:cNvSpPr/>
          <p:nvPr/>
        </p:nvSpPr>
        <p:spPr>
          <a:xfrm>
            <a:off x="3718560"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Client</a:t>
            </a:r>
            <a:endParaRPr lang="en-US" sz="1000" dirty="0"/>
          </a:p>
        </p:txBody>
      </p:sp>
      <p:sp>
        <p:nvSpPr>
          <p:cNvPr id="17" name="Text 15"/>
          <p:cNvSpPr/>
          <p:nvPr/>
        </p:nvSpPr>
        <p:spPr>
          <a:xfrm>
            <a:off x="3401568"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i → (i₁, i₂)</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For j = 1, 2:</a:t>
            </a:r>
            <a:endParaRPr lang="en-US" sz="1067" dirty="0"/>
          </a:p>
          <a:p>
            <a:r>
              <a:rPr lang="en-US" sz="1067" dirty="0">
                <a:solidFill>
                  <a:srgbClr val="1E293B"/>
                </a:solidFill>
                <a:latin typeface="Consolas" pitchFamily="34" charset="0"/>
                <a:ea typeface="Consolas" pitchFamily="34" charset="-122"/>
                <a:cs typeface="Consolas" pitchFamily="34" charset="-120"/>
              </a:rPr>
              <a:t> I_j ∈ {0,1}^√n</a:t>
            </a:r>
            <a:endParaRPr lang="en-US" sz="1067" dirty="0"/>
          </a:p>
          <a:p>
            <a:r>
              <a:rPr lang="en-US" sz="1067" dirty="0">
                <a:solidFill>
                  <a:srgbClr val="1E293B"/>
                </a:solidFill>
                <a:latin typeface="Consolas" pitchFamily="34" charset="0"/>
                <a:ea typeface="Consolas" pitchFamily="34" charset="-122"/>
                <a:cs typeface="Consolas" pitchFamily="34" charset="-120"/>
              </a:rPr>
              <a:t> I_j[k]=1 iff k=i_j</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q_{j,k}=FHE.RLWE.Enc(</a:t>
            </a:r>
            <a:endParaRPr lang="en-US" sz="1067" dirty="0"/>
          </a:p>
          <a:p>
            <a:r>
              <a:rPr lang="en-US" sz="1067" dirty="0">
                <a:solidFill>
                  <a:srgbClr val="1E293B"/>
                </a:solidFill>
                <a:latin typeface="Consolas" pitchFamily="34" charset="0"/>
                <a:ea typeface="Consolas" pitchFamily="34" charset="-122"/>
                <a:cs typeface="Consolas" pitchFamily="34" charset="-120"/>
              </a:rPr>
              <a:t>  sk, Δ·I_j[k])</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Send q: 2√n cts</a:t>
            </a:r>
            <a:endParaRPr lang="en-US" sz="1067" dirty="0"/>
          </a:p>
        </p:txBody>
      </p:sp>
      <p:sp>
        <p:nvSpPr>
          <p:cNvPr id="18" name="Shape 16"/>
          <p:cNvSpPr/>
          <p:nvPr/>
        </p:nvSpPr>
        <p:spPr>
          <a:xfrm>
            <a:off x="6071616"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9" name="Shape 17"/>
          <p:cNvSpPr/>
          <p:nvPr/>
        </p:nvSpPr>
        <p:spPr>
          <a:xfrm>
            <a:off x="6071616" y="755904"/>
            <a:ext cx="2706624" cy="463296"/>
          </a:xfrm>
          <a:prstGeom prst="rect">
            <a:avLst/>
          </a:prstGeom>
          <a:solidFill>
            <a:srgbClr val="1E293B"/>
          </a:solidFill>
          <a:ln w="12700">
            <a:solidFill>
              <a:srgbClr val="1E293B"/>
            </a:solidFill>
            <a:prstDash val="solid"/>
          </a:ln>
        </p:spPr>
      </p:sp>
      <p:sp>
        <p:nvSpPr>
          <p:cNvPr id="20" name="Text 18"/>
          <p:cNvSpPr/>
          <p:nvPr/>
        </p:nvSpPr>
        <p:spPr>
          <a:xfrm>
            <a:off x="6071616"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3</a:t>
            </a:r>
            <a:endParaRPr lang="en-US" sz="1733" dirty="0"/>
          </a:p>
        </p:txBody>
      </p:sp>
      <p:sp>
        <p:nvSpPr>
          <p:cNvPr id="21" name="Shape 19"/>
          <p:cNvSpPr/>
          <p:nvPr/>
        </p:nvSpPr>
        <p:spPr>
          <a:xfrm>
            <a:off x="6461760" y="816864"/>
            <a:ext cx="0" cy="316992"/>
          </a:xfrm>
          <a:prstGeom prst="line">
            <a:avLst/>
          </a:prstGeom>
          <a:noFill/>
          <a:ln w="6350">
            <a:solidFill>
              <a:srgbClr val="FFFFFF">
                <a:alpha val="40000"/>
              </a:srgbClr>
            </a:solidFill>
            <a:prstDash val="solid"/>
          </a:ln>
        </p:spPr>
      </p:sp>
      <p:sp>
        <p:nvSpPr>
          <p:cNvPr id="22" name="Text 20"/>
          <p:cNvSpPr/>
          <p:nvPr/>
        </p:nvSpPr>
        <p:spPr>
          <a:xfrm>
            <a:off x="6510528"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Server Computation</a:t>
            </a:r>
            <a:endParaRPr lang="en-US" sz="1133" dirty="0"/>
          </a:p>
        </p:txBody>
      </p:sp>
      <p:sp>
        <p:nvSpPr>
          <p:cNvPr id="23" name="Text 21"/>
          <p:cNvSpPr/>
          <p:nvPr/>
        </p:nvSpPr>
        <p:spPr>
          <a:xfrm>
            <a:off x="6510528"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Server</a:t>
            </a:r>
            <a:endParaRPr lang="en-US" sz="1000" dirty="0"/>
          </a:p>
        </p:txBody>
      </p:sp>
      <p:sp>
        <p:nvSpPr>
          <p:cNvPr id="24" name="Text 22"/>
          <p:cNvSpPr/>
          <p:nvPr/>
        </p:nvSpPr>
        <p:spPr>
          <a:xfrm>
            <a:off x="6193536"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Dim 1 (FHE.PlainMult):</a:t>
            </a:r>
            <a:endParaRPr lang="en-US" sz="1067" dirty="0"/>
          </a:p>
          <a:p>
            <a:r>
              <a:rPr lang="en-US" sz="1067" dirty="0">
                <a:solidFill>
                  <a:srgbClr val="1E293B"/>
                </a:solidFill>
                <a:latin typeface="Consolas" pitchFamily="34" charset="0"/>
                <a:ea typeface="Consolas" pitchFamily="34" charset="-122"/>
                <a:cs typeface="Consolas" pitchFamily="34" charset="-120"/>
              </a:rPr>
              <a:t>R^(1)_j=Σ FHE.PlainMult(</a:t>
            </a:r>
            <a:endParaRPr lang="en-US" sz="1067" dirty="0"/>
          </a:p>
          <a:p>
            <a:r>
              <a:rPr lang="en-US" sz="1067" dirty="0">
                <a:solidFill>
                  <a:srgbClr val="1E293B"/>
                </a:solidFill>
                <a:latin typeface="Consolas" pitchFamily="34" charset="0"/>
                <a:ea typeface="Consolas" pitchFamily="34" charset="-122"/>
                <a:cs typeface="Consolas" pitchFamily="34" charset="-120"/>
              </a:rPr>
              <a:t>  q_{1,k}, m_{k,j})</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Split each R^(1)_j into</a:t>
            </a:r>
            <a:endParaRPr lang="en-US" sz="1067" dirty="0"/>
          </a:p>
          <a:p>
            <a:r>
              <a:rPr lang="en-US" sz="1067" dirty="0">
                <a:solidFill>
                  <a:srgbClr val="1E293B"/>
                </a:solidFill>
                <a:latin typeface="Consolas" pitchFamily="34" charset="0"/>
                <a:ea typeface="Consolas" pitchFamily="34" charset="-122"/>
                <a:cs typeface="Consolas" pitchFamily="34" charset="-120"/>
              </a:rPr>
              <a:t>F chunks → F×√n matrix</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Dim 2 (FHE.PlainMult):</a:t>
            </a:r>
            <a:endParaRPr lang="en-US" sz="1067" dirty="0"/>
          </a:p>
          <a:p>
            <a:r>
              <a:rPr lang="en-US" sz="1067" dirty="0">
                <a:solidFill>
                  <a:srgbClr val="1E293B"/>
                </a:solidFill>
                <a:latin typeface="Consolas" pitchFamily="34" charset="0"/>
                <a:ea typeface="Consolas" pitchFamily="34" charset="-122"/>
                <a:cs typeface="Consolas" pitchFamily="34" charset="-120"/>
              </a:rPr>
              <a:t>R_j=Σ FHE.PlainMult(</a:t>
            </a:r>
            <a:endParaRPr lang="en-US" sz="1067" dirty="0"/>
          </a:p>
          <a:p>
            <a:r>
              <a:rPr lang="en-US" sz="1067" dirty="0">
                <a:solidFill>
                  <a:srgbClr val="1E293B"/>
                </a:solidFill>
                <a:latin typeface="Consolas" pitchFamily="34" charset="0"/>
                <a:ea typeface="Consolas" pitchFamily="34" charset="-122"/>
                <a:cs typeface="Consolas" pitchFamily="34" charset="-120"/>
              </a:rPr>
              <a:t>  q_{2,k}, chunk_k)</a:t>
            </a:r>
            <a:endParaRPr lang="en-US" sz="1067" dirty="0"/>
          </a:p>
        </p:txBody>
      </p:sp>
      <p:sp>
        <p:nvSpPr>
          <p:cNvPr id="25" name="Shape 23"/>
          <p:cNvSpPr/>
          <p:nvPr/>
        </p:nvSpPr>
        <p:spPr>
          <a:xfrm>
            <a:off x="8863584"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26" name="Shape 24"/>
          <p:cNvSpPr/>
          <p:nvPr/>
        </p:nvSpPr>
        <p:spPr>
          <a:xfrm>
            <a:off x="8863584" y="755904"/>
            <a:ext cx="2706624" cy="463296"/>
          </a:xfrm>
          <a:prstGeom prst="rect">
            <a:avLst/>
          </a:prstGeom>
          <a:solidFill>
            <a:srgbClr val="1E293B"/>
          </a:solidFill>
          <a:ln w="12700">
            <a:solidFill>
              <a:srgbClr val="1E293B"/>
            </a:solidFill>
            <a:prstDash val="solid"/>
          </a:ln>
        </p:spPr>
      </p:sp>
      <p:sp>
        <p:nvSpPr>
          <p:cNvPr id="27" name="Text 25"/>
          <p:cNvSpPr/>
          <p:nvPr/>
        </p:nvSpPr>
        <p:spPr>
          <a:xfrm>
            <a:off x="8863584"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4</a:t>
            </a:r>
            <a:endParaRPr lang="en-US" sz="1733" dirty="0"/>
          </a:p>
        </p:txBody>
      </p:sp>
      <p:sp>
        <p:nvSpPr>
          <p:cNvPr id="28" name="Shape 26"/>
          <p:cNvSpPr/>
          <p:nvPr/>
        </p:nvSpPr>
        <p:spPr>
          <a:xfrm>
            <a:off x="9253728" y="816864"/>
            <a:ext cx="0" cy="316992"/>
          </a:xfrm>
          <a:prstGeom prst="line">
            <a:avLst/>
          </a:prstGeom>
          <a:noFill/>
          <a:ln w="6350">
            <a:solidFill>
              <a:srgbClr val="FFFFFF">
                <a:alpha val="40000"/>
              </a:srgbClr>
            </a:solidFill>
            <a:prstDash val="solid"/>
          </a:ln>
        </p:spPr>
      </p:sp>
      <p:sp>
        <p:nvSpPr>
          <p:cNvPr id="29" name="Text 27"/>
          <p:cNvSpPr/>
          <p:nvPr/>
        </p:nvSpPr>
        <p:spPr>
          <a:xfrm>
            <a:off x="9302496"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Response Decoding</a:t>
            </a:r>
            <a:endParaRPr lang="en-US" sz="1133" dirty="0"/>
          </a:p>
        </p:txBody>
      </p:sp>
      <p:sp>
        <p:nvSpPr>
          <p:cNvPr id="30" name="Text 28"/>
          <p:cNvSpPr/>
          <p:nvPr/>
        </p:nvSpPr>
        <p:spPr>
          <a:xfrm>
            <a:off x="9302496"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Client</a:t>
            </a:r>
            <a:endParaRPr lang="en-US" sz="1000" dirty="0"/>
          </a:p>
        </p:txBody>
      </p:sp>
      <p:sp>
        <p:nvSpPr>
          <p:cNvPr id="31" name="Text 29"/>
          <p:cNvSpPr/>
          <p:nvPr/>
        </p:nvSpPr>
        <p:spPr>
          <a:xfrm>
            <a:off x="8985504"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Receive R=(R₁,…,R_F)</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DB[i] =</a:t>
            </a:r>
            <a:endParaRPr lang="en-US" sz="1067" dirty="0"/>
          </a:p>
          <a:p>
            <a:r>
              <a:rPr lang="en-US" sz="1067" dirty="0">
                <a:solidFill>
                  <a:srgbClr val="1E293B"/>
                </a:solidFill>
                <a:latin typeface="Consolas" pitchFamily="34" charset="0"/>
                <a:ea typeface="Consolas" pitchFamily="34" charset="-122"/>
                <a:cs typeface="Consolas" pitchFamily="34" charset="-120"/>
              </a:rPr>
              <a:t> concat of</a:t>
            </a:r>
            <a:endParaRPr lang="en-US" sz="1067" dirty="0"/>
          </a:p>
          <a:p>
            <a:r>
              <a:rPr lang="en-US" sz="1067" dirty="0">
                <a:solidFill>
                  <a:srgbClr val="1E293B"/>
                </a:solidFill>
                <a:latin typeface="Consolas" pitchFamily="34" charset="0"/>
                <a:ea typeface="Consolas" pitchFamily="34" charset="-122"/>
                <a:cs typeface="Consolas" pitchFamily="34" charset="-120"/>
              </a:rPr>
              <a:t> FHE.Dec(R_j, sk)</a:t>
            </a:r>
            <a:endParaRPr lang="en-US" sz="1067" dirty="0"/>
          </a:p>
          <a:p>
            <a:r>
              <a:rPr lang="en-US" sz="1067" dirty="0">
                <a:solidFill>
                  <a:srgbClr val="1E293B"/>
                </a:solidFill>
                <a:latin typeface="Consolas" pitchFamily="34" charset="0"/>
                <a:ea typeface="Consolas" pitchFamily="34" charset="-122"/>
                <a:cs typeface="Consolas" pitchFamily="34" charset="-120"/>
              </a:rPr>
              <a:t> for j ∈ [ceil(ℓ/ℓ₀)]</a:t>
            </a:r>
            <a:endParaRPr lang="en-US" sz="1067" dirty="0"/>
          </a:p>
          <a:p>
            <a:r>
              <a:rPr lang="en-US" sz="1067" dirty="0">
                <a:solidFill>
                  <a:srgbClr val="1E293B"/>
                </a:solidFill>
                <a:latin typeface="Consolas" pitchFamily="34" charset="0"/>
                <a:ea typeface="Consolas" pitchFamily="34" charset="-122"/>
                <a:cs typeface="Consolas" pitchFamily="34" charset="-120"/>
              </a:rPr>
              <a:t> ℓ₀=plaintext bits/ct</a:t>
            </a:r>
            <a:endParaRPr lang="en-US" sz="1067" dirty="0"/>
          </a:p>
        </p:txBody>
      </p:sp>
      <p:sp>
        <p:nvSpPr>
          <p:cNvPr id="32" name="Shape 30"/>
          <p:cNvSpPr/>
          <p:nvPr/>
        </p:nvSpPr>
        <p:spPr>
          <a:xfrm>
            <a:off x="487680" y="3474720"/>
            <a:ext cx="6583680" cy="316992"/>
          </a:xfrm>
          <a:prstGeom prst="rect">
            <a:avLst/>
          </a:prstGeom>
          <a:solidFill>
            <a:srgbClr val="2563EB"/>
          </a:solidFill>
          <a:ln w="12700">
            <a:solidFill>
              <a:srgbClr val="2563EB"/>
            </a:solidFill>
            <a:prstDash val="solid"/>
          </a:ln>
        </p:spPr>
      </p:sp>
      <p:sp>
        <p:nvSpPr>
          <p:cNvPr id="33" name="Text 31"/>
          <p:cNvSpPr/>
          <p:nvPr/>
        </p:nvSpPr>
        <p:spPr>
          <a:xfrm>
            <a:off x="633984" y="3474720"/>
            <a:ext cx="6412992" cy="316992"/>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XPIR Complexity Breakdown  (XPIR paper §2–3, PIR Revisited §3)</a:t>
            </a:r>
            <a:endParaRPr lang="en-US" sz="1200" dirty="0"/>
          </a:p>
        </p:txBody>
      </p:sp>
      <p:sp>
        <p:nvSpPr>
          <p:cNvPr id="34" name="Shape 32"/>
          <p:cNvSpPr/>
          <p:nvPr/>
        </p:nvSpPr>
        <p:spPr>
          <a:xfrm>
            <a:off x="7254240" y="3474720"/>
            <a:ext cx="4450080" cy="316992"/>
          </a:xfrm>
          <a:prstGeom prst="rect">
            <a:avLst/>
          </a:prstGeom>
          <a:solidFill>
            <a:srgbClr val="1E293B"/>
          </a:solidFill>
          <a:ln w="12700">
            <a:solidFill>
              <a:srgbClr val="1E293B"/>
            </a:solidFill>
            <a:prstDash val="solid"/>
          </a:ln>
        </p:spPr>
      </p:sp>
      <p:sp>
        <p:nvSpPr>
          <p:cNvPr id="35" name="Text 33"/>
          <p:cNvSpPr/>
          <p:nvPr/>
        </p:nvSpPr>
        <p:spPr>
          <a:xfrm>
            <a:off x="7400544" y="3474720"/>
            <a:ext cx="4279392" cy="316992"/>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Security Parameters  (XPIR paper, Figure 1)</a:t>
            </a:r>
            <a:endParaRPr lang="en-US" sz="1200" dirty="0"/>
          </a:p>
        </p:txBody>
      </p:sp>
      <p:graphicFrame>
        <p:nvGraphicFramePr>
          <p:cNvPr id="36" name="Table 0"/>
          <p:cNvGraphicFramePr>
            <a:graphicFrameLocks noGrp="1"/>
          </p:cNvGraphicFramePr>
          <p:nvPr/>
        </p:nvGraphicFramePr>
        <p:xfrm>
          <a:off x="487680" y="3816096"/>
          <a:ext cx="6583680" cy="2336800"/>
        </p:xfrm>
        <a:graphic>
          <a:graphicData uri="http://schemas.openxmlformats.org/drawingml/2006/table">
            <a:tbl>
              <a:tblPr/>
              <a:tblGrid>
                <a:gridCol w="2765145">
                  <a:extLst>
                    <a:ext uri="{9D8B030D-6E8A-4147-A177-3AD203B41FA5}">
                      <a16:colId xmlns:a16="http://schemas.microsoft.com/office/drawing/2014/main" val="20000"/>
                    </a:ext>
                  </a:extLst>
                </a:gridCol>
                <a:gridCol w="3818535">
                  <a:extLst>
                    <a:ext uri="{9D8B030D-6E8A-4147-A177-3AD203B41FA5}">
                      <a16:colId xmlns:a16="http://schemas.microsoft.com/office/drawing/2014/main" val="20001"/>
                    </a:ext>
                  </a:extLst>
                </a:gridCol>
              </a:tblGrid>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Dominant cost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Setup</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O(n) — reshape n elements into D₁×D₂ grid</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Query gen</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2√n FHE.RLWE.Enc calls  →  O(√n) ciphertexts uploaded</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672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Server comp</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n × ceil(ℓ/ℓ₀)  FHE.PlainMult  (Σ FHE.PlainMult(q_{1,k}, m_{k,j}))  ≈  O(n·ℓ/ℓ₀)</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Reply size</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F^(d-1) × ℓ  =  F × ℓ bits  (d=2); F per XPIR Fig. 1: ≥6.4 / ≥5.12 / ≥5.3</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Response dec</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ceil(ℓ/ℓ₀) × FHE.Dec(R_j, sk)</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bl>
          </a:graphicData>
        </a:graphic>
      </p:graphicFrame>
      <p:graphicFrame>
        <p:nvGraphicFramePr>
          <p:cNvPr id="37" name="Table 1"/>
          <p:cNvGraphicFramePr>
            <a:graphicFrameLocks noGrp="1"/>
          </p:cNvGraphicFramePr>
          <p:nvPr/>
        </p:nvGraphicFramePr>
        <p:xfrm>
          <a:off x="7254241" y="3816096"/>
          <a:ext cx="4450080" cy="1767840"/>
        </p:xfrm>
        <a:graphic>
          <a:graphicData uri="http://schemas.openxmlformats.org/drawingml/2006/table">
            <a:tbl>
              <a:tblPr/>
              <a:tblGrid>
                <a:gridCol w="1246023">
                  <a:extLst>
                    <a:ext uri="{9D8B030D-6E8A-4147-A177-3AD203B41FA5}">
                      <a16:colId xmlns:a16="http://schemas.microsoft.com/office/drawing/2014/main" val="20000"/>
                    </a:ext>
                  </a:extLst>
                </a:gridCol>
                <a:gridCol w="1068019">
                  <a:extLst>
                    <a:ext uri="{9D8B030D-6E8A-4147-A177-3AD203B41FA5}">
                      <a16:colId xmlns:a16="http://schemas.microsoft.com/office/drawing/2014/main" val="20001"/>
                    </a:ext>
                  </a:extLst>
                </a:gridCol>
                <a:gridCol w="1068019">
                  <a:extLst>
                    <a:ext uri="{9D8B030D-6E8A-4147-A177-3AD203B41FA5}">
                      <a16:colId xmlns:a16="http://schemas.microsoft.com/office/drawing/2014/main" val="20002"/>
                    </a:ext>
                  </a:extLst>
                </a:gridCol>
                <a:gridCol w="1068019">
                  <a:extLst>
                    <a:ext uri="{9D8B030D-6E8A-4147-A177-3AD203B41FA5}">
                      <a16:colId xmlns:a16="http://schemas.microsoft.com/office/drawing/2014/main" val="20003"/>
                    </a:ext>
                  </a:extLst>
                </a:gridCol>
              </a:tblGrid>
              <a:tr h="35356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(1024, 60)</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(2048, 120)</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(4096, 120)</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Security</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97 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91 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335 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Plain max</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≤20 Kbits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≤100 Kbits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≤192 Kbits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Ciphertext</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128 Kbits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512 Kbits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 Mbit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F (expan)</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≥5.12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38912"/>
          </a:xfrm>
          <a:prstGeom prst="rect">
            <a:avLst/>
          </a:prstGeom>
          <a:noFill/>
          <a:ln/>
        </p:spPr>
        <p:txBody>
          <a:bodyPr wrap="square" rtlCol="0" anchor="ctr"/>
          <a:lstStyle/>
          <a:p>
            <a:r>
              <a:rPr lang="en-US" sz="2667" b="1" dirty="0">
                <a:solidFill>
                  <a:srgbClr val="1E293B"/>
                </a:solidFill>
                <a:latin typeface="Calibri" pitchFamily="34" charset="0"/>
                <a:ea typeface="Calibri" pitchFamily="34" charset="-122"/>
                <a:cs typeface="Calibri" pitchFamily="34" charset="-120"/>
              </a:rPr>
              <a:t>SealPIR  —  Compressed-Query Hypercube PIR</a:t>
            </a:r>
            <a:endParaRPr lang="en-US" sz="2667" dirty="0"/>
          </a:p>
        </p:txBody>
      </p:sp>
      <p:sp>
        <p:nvSpPr>
          <p:cNvPr id="3" name="Text 1"/>
          <p:cNvSpPr/>
          <p:nvPr/>
        </p:nvSpPr>
        <p:spPr>
          <a:xfrm>
            <a:off x="487680" y="499872"/>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Angel et al. (2018)  ·  Scheme: FV (BFV)  ·  d = 2  ·  Key innovation: monomial encoding + EXPAND  →  O(d) query cts instead of O(d·√n)</a:t>
            </a:r>
            <a:endParaRPr lang="en-US" sz="1133" dirty="0"/>
          </a:p>
        </p:txBody>
      </p:sp>
      <p:sp>
        <p:nvSpPr>
          <p:cNvPr id="4" name="Shape 2"/>
          <p:cNvSpPr/>
          <p:nvPr/>
        </p:nvSpPr>
        <p:spPr>
          <a:xfrm>
            <a:off x="487680"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5" name="Shape 3"/>
          <p:cNvSpPr/>
          <p:nvPr/>
        </p:nvSpPr>
        <p:spPr>
          <a:xfrm>
            <a:off x="487680" y="755904"/>
            <a:ext cx="2706624" cy="463296"/>
          </a:xfrm>
          <a:prstGeom prst="rect">
            <a:avLst/>
          </a:prstGeom>
          <a:solidFill>
            <a:srgbClr val="1E293B"/>
          </a:solidFill>
          <a:ln w="12700">
            <a:solidFill>
              <a:srgbClr val="1E293B"/>
            </a:solidFill>
            <a:prstDash val="solid"/>
          </a:ln>
        </p:spPr>
      </p:sp>
      <p:sp>
        <p:nvSpPr>
          <p:cNvPr id="6" name="Text 4"/>
          <p:cNvSpPr/>
          <p:nvPr/>
        </p:nvSpPr>
        <p:spPr>
          <a:xfrm>
            <a:off x="487680"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1</a:t>
            </a:r>
            <a:endParaRPr lang="en-US" sz="1733" dirty="0"/>
          </a:p>
        </p:txBody>
      </p:sp>
      <p:sp>
        <p:nvSpPr>
          <p:cNvPr id="7" name="Shape 5"/>
          <p:cNvSpPr/>
          <p:nvPr/>
        </p:nvSpPr>
        <p:spPr>
          <a:xfrm>
            <a:off x="877824" y="816864"/>
            <a:ext cx="0" cy="316992"/>
          </a:xfrm>
          <a:prstGeom prst="line">
            <a:avLst/>
          </a:prstGeom>
          <a:noFill/>
          <a:ln w="6350">
            <a:solidFill>
              <a:srgbClr val="FFFFFF">
                <a:alpha val="40000"/>
              </a:srgbClr>
            </a:solidFill>
            <a:prstDash val="solid"/>
          </a:ln>
        </p:spPr>
      </p:sp>
      <p:sp>
        <p:nvSpPr>
          <p:cNvPr id="8" name="Text 6"/>
          <p:cNvSpPr/>
          <p:nvPr/>
        </p:nvSpPr>
        <p:spPr>
          <a:xfrm>
            <a:off x="926592"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Setup</a:t>
            </a:r>
            <a:endParaRPr lang="en-US" sz="1133" dirty="0"/>
          </a:p>
        </p:txBody>
      </p:sp>
      <p:sp>
        <p:nvSpPr>
          <p:cNvPr id="9" name="Text 7"/>
          <p:cNvSpPr/>
          <p:nvPr/>
        </p:nvSpPr>
        <p:spPr>
          <a:xfrm>
            <a:off x="926592"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Server</a:t>
            </a:r>
            <a:endParaRPr lang="en-US" sz="1000" dirty="0"/>
          </a:p>
        </p:txBody>
      </p:sp>
      <p:sp>
        <p:nvSpPr>
          <p:cNvPr id="10" name="Text 8"/>
          <p:cNvSpPr/>
          <p:nvPr/>
        </p:nvSpPr>
        <p:spPr>
          <a:xfrm>
            <a:off x="609600"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DB reshaped into</a:t>
            </a:r>
            <a:endParaRPr lang="en-US" sz="1067" dirty="0"/>
          </a:p>
          <a:p>
            <a:r>
              <a:rPr lang="en-US" sz="1067" dirty="0">
                <a:solidFill>
                  <a:srgbClr val="1E293B"/>
                </a:solidFill>
                <a:latin typeface="Consolas" pitchFamily="34" charset="0"/>
                <a:ea typeface="Consolas" pitchFamily="34" charset="-122"/>
                <a:cs typeface="Consolas" pitchFamily="34" charset="-120"/>
              </a:rPr>
              <a:t> D₁ × D₂  (d = 2)</a:t>
            </a:r>
            <a:endParaRPr lang="en-US" sz="1067" dirty="0"/>
          </a:p>
          <a:p>
            <a:r>
              <a:rPr lang="en-US" sz="1067" dirty="0">
                <a:solidFill>
                  <a:srgbClr val="1E293B"/>
                </a:solidFill>
                <a:latin typeface="Consolas" pitchFamily="34" charset="0"/>
                <a:ea typeface="Consolas" pitchFamily="34" charset="-122"/>
                <a:cs typeface="Consolas" pitchFamily="34" charset="-120"/>
              </a:rPr>
              <a:t> D₁ = D₂ = √n</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Generate Galois</a:t>
            </a:r>
            <a:endParaRPr lang="en-US" sz="1067" dirty="0"/>
          </a:p>
          <a:p>
            <a:r>
              <a:rPr lang="en-US" sz="1067" dirty="0">
                <a:solidFill>
                  <a:srgbClr val="1E293B"/>
                </a:solidFill>
                <a:latin typeface="Consolas" pitchFamily="34" charset="0"/>
                <a:ea typeface="Consolas" pitchFamily="34" charset="-122"/>
                <a:cs typeface="Consolas" pitchFamily="34" charset="-120"/>
              </a:rPr>
              <a:t>key-switching matrices</a:t>
            </a:r>
            <a:endParaRPr lang="en-US" sz="1067" dirty="0"/>
          </a:p>
          <a:p>
            <a:r>
              <a:rPr lang="en-US" sz="1067" dirty="0">
                <a:solidFill>
                  <a:srgbClr val="1E293B"/>
                </a:solidFill>
                <a:latin typeface="Consolas" pitchFamily="34" charset="0"/>
                <a:ea typeface="Consolas" pitchFamily="34" charset="-122"/>
                <a:cs typeface="Consolas" pitchFamily="34" charset="-120"/>
              </a:rPr>
              <a:t>for EXPAND (per §A.1)</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Publish: ksw matrices,</a:t>
            </a:r>
            <a:endParaRPr lang="en-US" sz="1067" dirty="0"/>
          </a:p>
          <a:p>
            <a:r>
              <a:rPr lang="en-US" sz="1067" dirty="0">
                <a:solidFill>
                  <a:srgbClr val="1E293B"/>
                </a:solidFill>
                <a:latin typeface="Consolas" pitchFamily="34" charset="0"/>
                <a:ea typeface="Consolas" pitchFamily="34" charset="-122"/>
                <a:cs typeface="Consolas" pitchFamily="34" charset="-120"/>
              </a:rPr>
              <a:t>(d, D₁, D₂)</a:t>
            </a:r>
            <a:endParaRPr lang="en-US" sz="1067" dirty="0"/>
          </a:p>
        </p:txBody>
      </p:sp>
      <p:sp>
        <p:nvSpPr>
          <p:cNvPr id="11" name="Shape 9"/>
          <p:cNvSpPr/>
          <p:nvPr/>
        </p:nvSpPr>
        <p:spPr>
          <a:xfrm>
            <a:off x="3279648"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3279648" y="755904"/>
            <a:ext cx="2706624" cy="463296"/>
          </a:xfrm>
          <a:prstGeom prst="rect">
            <a:avLst/>
          </a:prstGeom>
          <a:solidFill>
            <a:srgbClr val="1E293B"/>
          </a:solidFill>
          <a:ln w="12700">
            <a:solidFill>
              <a:srgbClr val="1E293B"/>
            </a:solidFill>
            <a:prstDash val="solid"/>
          </a:ln>
        </p:spPr>
      </p:sp>
      <p:sp>
        <p:nvSpPr>
          <p:cNvPr id="13" name="Text 11"/>
          <p:cNvSpPr/>
          <p:nvPr/>
        </p:nvSpPr>
        <p:spPr>
          <a:xfrm>
            <a:off x="3279648"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2</a:t>
            </a:r>
            <a:endParaRPr lang="en-US" sz="1733" dirty="0"/>
          </a:p>
        </p:txBody>
      </p:sp>
      <p:sp>
        <p:nvSpPr>
          <p:cNvPr id="14" name="Shape 12"/>
          <p:cNvSpPr/>
          <p:nvPr/>
        </p:nvSpPr>
        <p:spPr>
          <a:xfrm>
            <a:off x="3669792" y="816864"/>
            <a:ext cx="0" cy="316992"/>
          </a:xfrm>
          <a:prstGeom prst="line">
            <a:avLst/>
          </a:prstGeom>
          <a:noFill/>
          <a:ln w="6350">
            <a:solidFill>
              <a:srgbClr val="FFFFFF">
                <a:alpha val="40000"/>
              </a:srgbClr>
            </a:solidFill>
            <a:prstDash val="solid"/>
          </a:ln>
        </p:spPr>
      </p:sp>
      <p:sp>
        <p:nvSpPr>
          <p:cNvPr id="15" name="Text 13"/>
          <p:cNvSpPr/>
          <p:nvPr/>
        </p:nvSpPr>
        <p:spPr>
          <a:xfrm>
            <a:off x="3718560"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Query Generation</a:t>
            </a:r>
            <a:endParaRPr lang="en-US" sz="1133" dirty="0"/>
          </a:p>
        </p:txBody>
      </p:sp>
      <p:sp>
        <p:nvSpPr>
          <p:cNvPr id="16" name="Text 14"/>
          <p:cNvSpPr/>
          <p:nvPr/>
        </p:nvSpPr>
        <p:spPr>
          <a:xfrm>
            <a:off x="3718560"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Client</a:t>
            </a:r>
            <a:endParaRPr lang="en-US" sz="1000" dirty="0"/>
          </a:p>
        </p:txBody>
      </p:sp>
      <p:sp>
        <p:nvSpPr>
          <p:cNvPr id="17" name="Text 15"/>
          <p:cNvSpPr/>
          <p:nvPr/>
        </p:nvSpPr>
        <p:spPr>
          <a:xfrm>
            <a:off x="3401568"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i → (i₁, i₂)</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Encode i_j as</a:t>
            </a:r>
            <a:endParaRPr lang="en-US" sz="1067" dirty="0"/>
          </a:p>
          <a:p>
            <a:r>
              <a:rPr lang="en-US" sz="1067" dirty="0">
                <a:solidFill>
                  <a:srgbClr val="1E293B"/>
                </a:solidFill>
                <a:latin typeface="Consolas" pitchFamily="34" charset="0"/>
                <a:ea typeface="Consolas" pitchFamily="34" charset="-122"/>
                <a:cs typeface="Consolas" pitchFamily="34" charset="-120"/>
              </a:rPr>
              <a:t>monomial X^{i_j}</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c_j = FHE.RLWE.Enc(sk, X^{i_j})</a:t>
            </a:r>
            <a:endParaRPr lang="en-US" sz="1067" dirty="0"/>
          </a:p>
          <a:p>
            <a:r>
              <a:rPr lang="en-US" sz="1067" dirty="0">
                <a:solidFill>
                  <a:srgbClr val="1E293B"/>
                </a:solidFill>
                <a:latin typeface="Consolas" pitchFamily="34" charset="0"/>
                <a:ea typeface="Consolas" pitchFamily="34" charset="-122"/>
                <a:cs typeface="Consolas" pitchFamily="34" charset="-120"/>
              </a:rPr>
              <a:t>(requires N ≥ D_j)</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Send q=(c₁,c₂): 2 cts</a:t>
            </a:r>
            <a:endParaRPr lang="en-US" sz="1067" dirty="0"/>
          </a:p>
        </p:txBody>
      </p:sp>
      <p:sp>
        <p:nvSpPr>
          <p:cNvPr id="18" name="Shape 16"/>
          <p:cNvSpPr/>
          <p:nvPr/>
        </p:nvSpPr>
        <p:spPr>
          <a:xfrm>
            <a:off x="6071616"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9" name="Shape 17"/>
          <p:cNvSpPr/>
          <p:nvPr/>
        </p:nvSpPr>
        <p:spPr>
          <a:xfrm>
            <a:off x="6071616" y="755904"/>
            <a:ext cx="2706624" cy="463296"/>
          </a:xfrm>
          <a:prstGeom prst="rect">
            <a:avLst/>
          </a:prstGeom>
          <a:solidFill>
            <a:srgbClr val="1E293B"/>
          </a:solidFill>
          <a:ln w="12700">
            <a:solidFill>
              <a:srgbClr val="1E293B"/>
            </a:solidFill>
            <a:prstDash val="solid"/>
          </a:ln>
        </p:spPr>
      </p:sp>
      <p:sp>
        <p:nvSpPr>
          <p:cNvPr id="20" name="Text 18"/>
          <p:cNvSpPr/>
          <p:nvPr/>
        </p:nvSpPr>
        <p:spPr>
          <a:xfrm>
            <a:off x="6071616"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3</a:t>
            </a:r>
            <a:endParaRPr lang="en-US" sz="1733" dirty="0"/>
          </a:p>
        </p:txBody>
      </p:sp>
      <p:sp>
        <p:nvSpPr>
          <p:cNvPr id="21" name="Shape 19"/>
          <p:cNvSpPr/>
          <p:nvPr/>
        </p:nvSpPr>
        <p:spPr>
          <a:xfrm>
            <a:off x="6461760" y="816864"/>
            <a:ext cx="0" cy="316992"/>
          </a:xfrm>
          <a:prstGeom prst="line">
            <a:avLst/>
          </a:prstGeom>
          <a:noFill/>
          <a:ln w="6350">
            <a:solidFill>
              <a:srgbClr val="FFFFFF">
                <a:alpha val="40000"/>
              </a:srgbClr>
            </a:solidFill>
            <a:prstDash val="solid"/>
          </a:ln>
        </p:spPr>
      </p:sp>
      <p:sp>
        <p:nvSpPr>
          <p:cNvPr id="22" name="Text 20"/>
          <p:cNvSpPr/>
          <p:nvPr/>
        </p:nvSpPr>
        <p:spPr>
          <a:xfrm>
            <a:off x="6510528"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Server Computation</a:t>
            </a:r>
            <a:endParaRPr lang="en-US" sz="1133" dirty="0"/>
          </a:p>
        </p:txBody>
      </p:sp>
      <p:sp>
        <p:nvSpPr>
          <p:cNvPr id="23" name="Text 21"/>
          <p:cNvSpPr/>
          <p:nvPr/>
        </p:nvSpPr>
        <p:spPr>
          <a:xfrm>
            <a:off x="6510528"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Server</a:t>
            </a:r>
            <a:endParaRPr lang="en-US" sz="1000" dirty="0"/>
          </a:p>
        </p:txBody>
      </p:sp>
      <p:sp>
        <p:nvSpPr>
          <p:cNvPr id="24" name="Text 22"/>
          <p:cNvSpPr/>
          <p:nvPr/>
        </p:nvSpPr>
        <p:spPr>
          <a:xfrm>
            <a:off x="6193536"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Query unpack (EXPAND):</a:t>
            </a:r>
            <a:endParaRPr lang="en-US" sz="1067" dirty="0"/>
          </a:p>
          <a:p>
            <a:r>
              <a:rPr lang="en-US" sz="1067" dirty="0">
                <a:solidFill>
                  <a:srgbClr val="1E293B"/>
                </a:solidFill>
                <a:latin typeface="Consolas" pitchFamily="34" charset="0"/>
                <a:ea typeface="Consolas" pitchFamily="34" charset="-122"/>
                <a:cs typeface="Consolas" pitchFamily="34" charset="-120"/>
              </a:rPr>
              <a:t>c_j (1 ct) →</a:t>
            </a:r>
            <a:endParaRPr lang="en-US" sz="1067" dirty="0"/>
          </a:p>
          <a:p>
            <a:r>
              <a:rPr lang="en-US" sz="1067" dirty="0">
                <a:solidFill>
                  <a:srgbClr val="1E293B"/>
                </a:solidFill>
                <a:latin typeface="Consolas" pitchFamily="34" charset="0"/>
                <a:ea typeface="Consolas" pitchFamily="34" charset="-122"/>
                <a:cs typeface="Consolas" pitchFamily="34" charset="-120"/>
              </a:rPr>
              <a:t>{ct₁,…,ct_{Dj}}</a:t>
            </a:r>
            <a:endParaRPr lang="en-US" sz="1067" dirty="0"/>
          </a:p>
          <a:p>
            <a:r>
              <a:rPr lang="en-US" sz="1067" dirty="0">
                <a:solidFill>
                  <a:srgbClr val="1E293B"/>
                </a:solidFill>
                <a:latin typeface="Consolas" pitchFamily="34" charset="0"/>
                <a:ea typeface="Consolas" pitchFamily="34" charset="-122"/>
                <a:cs typeface="Consolas" pitchFamily="34" charset="-120"/>
              </a:rPr>
              <a:t>oblivious expansion</a:t>
            </a:r>
            <a:endParaRPr lang="en-US" sz="1067" dirty="0"/>
          </a:p>
          <a:p>
            <a:r>
              <a:rPr lang="en-US" sz="1067" dirty="0">
                <a:solidFill>
                  <a:srgbClr val="1E293B"/>
                </a:solidFill>
                <a:latin typeface="Consolas" pitchFamily="34" charset="0"/>
                <a:ea typeface="Consolas" pitchFamily="34" charset="-122"/>
                <a:cs typeface="Consolas" pitchFamily="34" charset="-120"/>
              </a:rPr>
              <a:t>(§3.3, Fig 3)</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Dim 1: Σ FHE.PlainMult(</a:t>
            </a:r>
            <a:endParaRPr lang="en-US" sz="1067" dirty="0"/>
          </a:p>
          <a:p>
            <a:r>
              <a:rPr lang="en-US" sz="1067" dirty="0">
                <a:solidFill>
                  <a:srgbClr val="1E293B"/>
                </a:solidFill>
                <a:latin typeface="Consolas" pitchFamily="34" charset="0"/>
                <a:ea typeface="Consolas" pitchFamily="34" charset="-122"/>
                <a:cs typeface="Consolas" pitchFamily="34" charset="-120"/>
              </a:rPr>
              <a:t>  ct_{1,k}, m_{k,j})</a:t>
            </a:r>
            <a:endParaRPr lang="en-US" sz="1067" dirty="0"/>
          </a:p>
          <a:p>
            <a:r>
              <a:rPr lang="en-US" sz="1067" dirty="0">
                <a:solidFill>
                  <a:srgbClr val="1E293B"/>
                </a:solidFill>
                <a:latin typeface="Consolas" pitchFamily="34" charset="0"/>
                <a:ea typeface="Consolas" pitchFamily="34" charset="-122"/>
                <a:cs typeface="Consolas" pitchFamily="34" charset="-120"/>
              </a:rPr>
              <a:t>Dim 2: Σ FHE.PlainMult(</a:t>
            </a:r>
            <a:endParaRPr lang="en-US" sz="1067" dirty="0"/>
          </a:p>
          <a:p>
            <a:r>
              <a:rPr lang="en-US" sz="1067" dirty="0">
                <a:solidFill>
                  <a:srgbClr val="1E293B"/>
                </a:solidFill>
                <a:latin typeface="Consolas" pitchFamily="34" charset="0"/>
                <a:ea typeface="Consolas" pitchFamily="34" charset="-122"/>
                <a:cs typeface="Consolas" pitchFamily="34" charset="-120"/>
              </a:rPr>
              <a:t>  R^(1)_j, m_{k,j})</a:t>
            </a:r>
            <a:endParaRPr lang="en-US" sz="1067" dirty="0"/>
          </a:p>
        </p:txBody>
      </p:sp>
      <p:sp>
        <p:nvSpPr>
          <p:cNvPr id="25" name="Shape 23"/>
          <p:cNvSpPr/>
          <p:nvPr/>
        </p:nvSpPr>
        <p:spPr>
          <a:xfrm>
            <a:off x="8863584"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26" name="Shape 24"/>
          <p:cNvSpPr/>
          <p:nvPr/>
        </p:nvSpPr>
        <p:spPr>
          <a:xfrm>
            <a:off x="8863584" y="755904"/>
            <a:ext cx="2706624" cy="463296"/>
          </a:xfrm>
          <a:prstGeom prst="rect">
            <a:avLst/>
          </a:prstGeom>
          <a:solidFill>
            <a:srgbClr val="1E293B"/>
          </a:solidFill>
          <a:ln w="12700">
            <a:solidFill>
              <a:srgbClr val="1E293B"/>
            </a:solidFill>
            <a:prstDash val="solid"/>
          </a:ln>
        </p:spPr>
      </p:sp>
      <p:sp>
        <p:nvSpPr>
          <p:cNvPr id="27" name="Text 25"/>
          <p:cNvSpPr/>
          <p:nvPr/>
        </p:nvSpPr>
        <p:spPr>
          <a:xfrm>
            <a:off x="8863584"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4</a:t>
            </a:r>
            <a:endParaRPr lang="en-US" sz="1733" dirty="0"/>
          </a:p>
        </p:txBody>
      </p:sp>
      <p:sp>
        <p:nvSpPr>
          <p:cNvPr id="28" name="Shape 26"/>
          <p:cNvSpPr/>
          <p:nvPr/>
        </p:nvSpPr>
        <p:spPr>
          <a:xfrm>
            <a:off x="9253728" y="816864"/>
            <a:ext cx="0" cy="316992"/>
          </a:xfrm>
          <a:prstGeom prst="line">
            <a:avLst/>
          </a:prstGeom>
          <a:noFill/>
          <a:ln w="6350">
            <a:solidFill>
              <a:srgbClr val="FFFFFF">
                <a:alpha val="40000"/>
              </a:srgbClr>
            </a:solidFill>
            <a:prstDash val="solid"/>
          </a:ln>
        </p:spPr>
      </p:sp>
      <p:sp>
        <p:nvSpPr>
          <p:cNvPr id="29" name="Text 27"/>
          <p:cNvSpPr/>
          <p:nvPr/>
        </p:nvSpPr>
        <p:spPr>
          <a:xfrm>
            <a:off x="9302496"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Response Decoding</a:t>
            </a:r>
            <a:endParaRPr lang="en-US" sz="1133" dirty="0"/>
          </a:p>
        </p:txBody>
      </p:sp>
      <p:sp>
        <p:nvSpPr>
          <p:cNvPr id="30" name="Text 28"/>
          <p:cNvSpPr/>
          <p:nvPr/>
        </p:nvSpPr>
        <p:spPr>
          <a:xfrm>
            <a:off x="9302496"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Client</a:t>
            </a:r>
            <a:endParaRPr lang="en-US" sz="1000" dirty="0"/>
          </a:p>
        </p:txBody>
      </p:sp>
      <p:sp>
        <p:nvSpPr>
          <p:cNvPr id="31" name="Text 29"/>
          <p:cNvSpPr/>
          <p:nvPr/>
        </p:nvSpPr>
        <p:spPr>
          <a:xfrm>
            <a:off x="8985504"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Receive R=(R₁,…,R_{ceil(ℓ/ℓ₀)})</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DB[i] =</a:t>
            </a:r>
            <a:endParaRPr lang="en-US" sz="1067" dirty="0"/>
          </a:p>
          <a:p>
            <a:r>
              <a:rPr lang="en-US" sz="1067" dirty="0">
                <a:solidFill>
                  <a:srgbClr val="1E293B"/>
                </a:solidFill>
                <a:latin typeface="Consolas" pitchFamily="34" charset="0"/>
                <a:ea typeface="Consolas" pitchFamily="34" charset="-122"/>
                <a:cs typeface="Consolas" pitchFamily="34" charset="-120"/>
              </a:rPr>
              <a:t> concat of</a:t>
            </a:r>
            <a:endParaRPr lang="en-US" sz="1067" dirty="0"/>
          </a:p>
          <a:p>
            <a:r>
              <a:rPr lang="en-US" sz="1067" dirty="0">
                <a:solidFill>
                  <a:srgbClr val="1E293B"/>
                </a:solidFill>
                <a:latin typeface="Consolas" pitchFamily="34" charset="0"/>
                <a:ea typeface="Consolas" pitchFamily="34" charset="-122"/>
                <a:cs typeface="Consolas" pitchFamily="34" charset="-120"/>
              </a:rPr>
              <a:t> FHE.Dec(R_j, sk)</a:t>
            </a:r>
            <a:endParaRPr lang="en-US" sz="1067" dirty="0"/>
          </a:p>
          <a:p>
            <a:r>
              <a:rPr lang="en-US" sz="1067" dirty="0">
                <a:solidFill>
                  <a:srgbClr val="1E293B"/>
                </a:solidFill>
                <a:latin typeface="Consolas" pitchFamily="34" charset="0"/>
                <a:ea typeface="Consolas" pitchFamily="34" charset="-122"/>
                <a:cs typeface="Consolas" pitchFamily="34" charset="-120"/>
              </a:rPr>
              <a:t> for j ∈ [ceil(ℓ/ℓ₀)]</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Reply: F cts</a:t>
            </a:r>
            <a:endParaRPr lang="en-US" sz="1067" dirty="0"/>
          </a:p>
          <a:p>
            <a:r>
              <a:rPr lang="en-US" sz="1067" dirty="0">
                <a:solidFill>
                  <a:srgbClr val="1E293B"/>
                </a:solidFill>
                <a:latin typeface="Consolas" pitchFamily="34" charset="0"/>
                <a:ea typeface="Consolas" pitchFamily="34" charset="-122"/>
                <a:cs typeface="Consolas" pitchFamily="34" charset="-120"/>
              </a:rPr>
              <a:t>(same as XPIR)</a:t>
            </a:r>
            <a:endParaRPr lang="en-US" sz="1067" dirty="0"/>
          </a:p>
        </p:txBody>
      </p:sp>
      <p:sp>
        <p:nvSpPr>
          <p:cNvPr id="32" name="Shape 30"/>
          <p:cNvSpPr/>
          <p:nvPr/>
        </p:nvSpPr>
        <p:spPr>
          <a:xfrm>
            <a:off x="487680" y="3474720"/>
            <a:ext cx="6583680" cy="316992"/>
          </a:xfrm>
          <a:prstGeom prst="rect">
            <a:avLst/>
          </a:prstGeom>
          <a:solidFill>
            <a:srgbClr val="2563EB"/>
          </a:solidFill>
          <a:ln w="12700">
            <a:solidFill>
              <a:srgbClr val="2563EB"/>
            </a:solidFill>
            <a:prstDash val="solid"/>
          </a:ln>
        </p:spPr>
      </p:sp>
      <p:sp>
        <p:nvSpPr>
          <p:cNvPr id="33" name="Text 31"/>
          <p:cNvSpPr/>
          <p:nvPr/>
        </p:nvSpPr>
        <p:spPr>
          <a:xfrm>
            <a:off x="633984" y="3474720"/>
            <a:ext cx="6412992" cy="316992"/>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SealPIR Complexity Breakdown  (SealPIR paper §3, §7 Fig 9)</a:t>
            </a:r>
            <a:endParaRPr lang="en-US" sz="1200" dirty="0"/>
          </a:p>
        </p:txBody>
      </p:sp>
      <p:sp>
        <p:nvSpPr>
          <p:cNvPr id="34" name="Shape 32"/>
          <p:cNvSpPr/>
          <p:nvPr/>
        </p:nvSpPr>
        <p:spPr>
          <a:xfrm>
            <a:off x="7254240" y="3474720"/>
            <a:ext cx="4450080" cy="316992"/>
          </a:xfrm>
          <a:prstGeom prst="rect">
            <a:avLst/>
          </a:prstGeom>
          <a:solidFill>
            <a:srgbClr val="1E293B"/>
          </a:solidFill>
          <a:ln w="12700">
            <a:solidFill>
              <a:srgbClr val="1E293B"/>
            </a:solidFill>
            <a:prstDash val="solid"/>
          </a:ln>
        </p:spPr>
      </p:sp>
      <p:sp>
        <p:nvSpPr>
          <p:cNvPr id="35" name="Text 33"/>
          <p:cNvSpPr/>
          <p:nvPr/>
        </p:nvSpPr>
        <p:spPr>
          <a:xfrm>
            <a:off x="7400544" y="3474720"/>
            <a:ext cx="4279392" cy="316992"/>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Parameters: XPIR vs SealPIR  (SealPIR paper §7, Fig 9)</a:t>
            </a:r>
            <a:endParaRPr lang="en-US" sz="1200" dirty="0"/>
          </a:p>
        </p:txBody>
      </p:sp>
      <p:graphicFrame>
        <p:nvGraphicFramePr>
          <p:cNvPr id="36" name="Table 0"/>
          <p:cNvGraphicFramePr>
            <a:graphicFrameLocks noGrp="1"/>
          </p:cNvGraphicFramePr>
          <p:nvPr/>
        </p:nvGraphicFramePr>
        <p:xfrm>
          <a:off x="487680" y="3816096"/>
          <a:ext cx="6583680" cy="2702560"/>
        </p:xfrm>
        <a:graphic>
          <a:graphicData uri="http://schemas.openxmlformats.org/drawingml/2006/table">
            <a:tbl>
              <a:tblPr/>
              <a:tblGrid>
                <a:gridCol w="2765145">
                  <a:extLst>
                    <a:ext uri="{9D8B030D-6E8A-4147-A177-3AD203B41FA5}">
                      <a16:colId xmlns:a16="http://schemas.microsoft.com/office/drawing/2014/main" val="20000"/>
                    </a:ext>
                  </a:extLst>
                </a:gridCol>
                <a:gridCol w="3818535">
                  <a:extLst>
                    <a:ext uri="{9D8B030D-6E8A-4147-A177-3AD203B41FA5}">
                      <a16:colId xmlns:a16="http://schemas.microsoft.com/office/drawing/2014/main" val="20001"/>
                    </a:ext>
                  </a:extLst>
                </a:gridCol>
              </a:tblGrid>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Dominant cost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Setup</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O(n) reshape + Galois ksw matrix gen per dim (2.9 MB, one-time)</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Query gen</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 FHE.RLWE.Enc calls  →  O(d) cts  (vs O(d·√ᵈn) in XPIR)</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Query send</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2 × ct_size bits  (constant; independent of n)</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42672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Query unpack</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EXPAND: O(n) ops per dim; 11–38% server overhead over XPIR  (SealPIR §7.1)</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Server comp</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n × ceil(ℓ/ℓ₀) FHE.PlainMult — identical to XPIR after expansion</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6576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Reply size</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F^(d-1) × ℓ = F × ℓ bits  — unchanged vs XPIR; O(1) not yet achieved</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37" name="Table 1"/>
          <p:cNvGraphicFramePr>
            <a:graphicFrameLocks noGrp="1"/>
          </p:cNvGraphicFramePr>
          <p:nvPr/>
        </p:nvGraphicFramePr>
        <p:xfrm>
          <a:off x="7254241" y="3816096"/>
          <a:ext cx="4450081" cy="2474976"/>
        </p:xfrm>
        <a:graphic>
          <a:graphicData uri="http://schemas.openxmlformats.org/drawingml/2006/table">
            <a:tbl>
              <a:tblPr/>
              <a:tblGrid>
                <a:gridCol w="1246023">
                  <a:extLst>
                    <a:ext uri="{9D8B030D-6E8A-4147-A177-3AD203B41FA5}">
                      <a16:colId xmlns:a16="http://schemas.microsoft.com/office/drawing/2014/main" val="20000"/>
                    </a:ext>
                  </a:extLst>
                </a:gridCol>
                <a:gridCol w="1602029">
                  <a:extLst>
                    <a:ext uri="{9D8B030D-6E8A-4147-A177-3AD203B41FA5}">
                      <a16:colId xmlns:a16="http://schemas.microsoft.com/office/drawing/2014/main" val="20001"/>
                    </a:ext>
                  </a:extLst>
                </a:gridCol>
                <a:gridCol w="1602029">
                  <a:extLst>
                    <a:ext uri="{9D8B030D-6E8A-4147-A177-3AD203B41FA5}">
                      <a16:colId xmlns:a16="http://schemas.microsoft.com/office/drawing/2014/main" val="20002"/>
                    </a:ext>
                  </a:extLst>
                </a:gridCol>
              </a:tblGrid>
              <a:tr h="35356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XPIR (d=2)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SealPIR (d=2)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N (poly deg)</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2048</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2048</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q (coeff mod)</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60 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60 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Security</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~115 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~115 bits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F (expan)</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≈5.2 (t=2²³) *</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Query size</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2√n cts</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2 cts (d=2)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Response</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256 KB (d=2)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256 KB (d=2)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8" name="Text 34"/>
          <p:cNvSpPr/>
          <p:nvPr/>
        </p:nvSpPr>
        <p:spPr>
          <a:xfrm>
            <a:off x="7254240" y="6303264"/>
            <a:ext cx="4450080" cy="438912"/>
          </a:xfrm>
          <a:prstGeom prst="rect">
            <a:avLst/>
          </a:prstGeom>
          <a:noFill/>
          <a:ln/>
        </p:spPr>
        <p:txBody>
          <a:bodyPr wrap="square" rtlCol="0" anchor="ctr"/>
          <a:lstStyle/>
          <a:p>
            <a:r>
              <a:rPr lang="en-US" sz="933" i="1" dirty="0">
                <a:solidFill>
                  <a:srgbClr val="64748B"/>
                </a:solidFill>
                <a:latin typeface="Calibri" pitchFamily="34" charset="0"/>
                <a:ea typeface="Calibri" pitchFamily="34" charset="-122"/>
                <a:cs typeface="Calibri" pitchFamily="34" charset="-120"/>
              </a:rPr>
              <a:t>* F = 2log(q)/log(t) (FV-specific). Standard eval: t=2²³, F≈5.2 (SealPIR §7). For n≥2²², EXPAND optimization forces t′=2¹² (SealPIR §6 Eq.1), giving F≈10 — this is a large-n edge case, not the general operating point.</a:t>
            </a:r>
            <a:endParaRPr lang="en-US" sz="933"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38912"/>
          </a:xfrm>
          <a:prstGeom prst="rect">
            <a:avLst/>
          </a:prstGeom>
          <a:noFill/>
          <a:ln/>
        </p:spPr>
        <p:txBody>
          <a:bodyPr wrap="square" rtlCol="0" anchor="ctr"/>
          <a:lstStyle/>
          <a:p>
            <a:r>
              <a:rPr lang="en-US" sz="2400" b="1" dirty="0">
                <a:solidFill>
                  <a:srgbClr val="1E293B"/>
                </a:solidFill>
                <a:latin typeface="Calibri" pitchFamily="34" charset="0"/>
                <a:ea typeface="Calibri" pitchFamily="34" charset="-122"/>
                <a:cs typeface="Calibri" pitchFamily="34" charset="-120"/>
              </a:rPr>
              <a:t>Understanding RGSW — Step 1: The Gadget Vector &amp; Matrix</a:t>
            </a:r>
            <a:endParaRPr lang="en-US" sz="2400" dirty="0"/>
          </a:p>
        </p:txBody>
      </p:sp>
      <p:sp>
        <p:nvSpPr>
          <p:cNvPr id="3" name="Text 1"/>
          <p:cNvSpPr/>
          <p:nvPr/>
        </p:nvSpPr>
        <p:spPr>
          <a:xfrm>
            <a:off x="487680" y="499872"/>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Building blocks needed before RGSW makes sense  ·  example: g=4, ℓ=3</a:t>
            </a:r>
            <a:endParaRPr lang="en-US" sz="1133" dirty="0"/>
          </a:p>
        </p:txBody>
      </p:sp>
      <p:sp>
        <p:nvSpPr>
          <p:cNvPr id="4" name="Shape 2"/>
          <p:cNvSpPr/>
          <p:nvPr/>
        </p:nvSpPr>
        <p:spPr>
          <a:xfrm>
            <a:off x="487680" y="768096"/>
            <a:ext cx="5547360" cy="316992"/>
          </a:xfrm>
          <a:prstGeom prst="rect">
            <a:avLst/>
          </a:prstGeom>
          <a:solidFill>
            <a:srgbClr val="1E293B"/>
          </a:solidFill>
          <a:ln w="12700">
            <a:solidFill>
              <a:srgbClr val="1E293B"/>
            </a:solidFill>
            <a:prstDash val="solid"/>
          </a:ln>
        </p:spPr>
      </p:sp>
      <p:sp>
        <p:nvSpPr>
          <p:cNvPr id="5" name="Text 3"/>
          <p:cNvSpPr/>
          <p:nvPr/>
        </p:nvSpPr>
        <p:spPr>
          <a:xfrm>
            <a:off x="633984" y="768096"/>
            <a:ext cx="5242560" cy="316992"/>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The gadget vector  g</a:t>
            </a:r>
            <a:endParaRPr lang="en-US" sz="1333" dirty="0"/>
          </a:p>
        </p:txBody>
      </p:sp>
      <p:sp>
        <p:nvSpPr>
          <p:cNvPr id="6" name="Shape 4"/>
          <p:cNvSpPr/>
          <p:nvPr/>
        </p:nvSpPr>
        <p:spPr>
          <a:xfrm>
            <a:off x="487680" y="1085088"/>
            <a:ext cx="5547360" cy="1633728"/>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7" name="Text 5"/>
          <p:cNvSpPr/>
          <p:nvPr/>
        </p:nvSpPr>
        <p:spPr>
          <a:xfrm>
            <a:off x="658368" y="1158240"/>
            <a:ext cx="5242560" cy="1487424"/>
          </a:xfrm>
          <a:prstGeom prst="rect">
            <a:avLst/>
          </a:prstGeom>
          <a:noFill/>
          <a:ln/>
        </p:spPr>
        <p:txBody>
          <a:bodyPr wrap="square" rtlCol="0" anchor="t"/>
          <a:lstStyle/>
          <a:p>
            <a:r>
              <a:rPr lang="en-US" sz="1267" b="1" dirty="0">
                <a:solidFill>
                  <a:srgbClr val="1E293B"/>
                </a:solidFill>
                <a:latin typeface="Consolas" pitchFamily="34" charset="0"/>
                <a:ea typeface="Consolas" pitchFamily="34" charset="-122"/>
                <a:cs typeface="Consolas" pitchFamily="34" charset="-120"/>
              </a:rPr>
              <a:t>g  =  [1,  g,  g²,  g³,  …,  g^(ℓ−1)]
</a:t>
            </a:r>
            <a:r>
              <a:rPr lang="en-US" sz="1200" dirty="0">
                <a:solidFill>
                  <a:srgbClr val="1E293B"/>
                </a:solidFill>
                <a:latin typeface="Consolas" pitchFamily="34" charset="0"/>
                <a:ea typeface="Consolas" pitchFamily="34" charset="-122"/>
                <a:cs typeface="Consolas" pitchFamily="34" charset="-120"/>
              </a:rPr>
              <a:t>e.g. g=4, ℓ=3:   g  =  [1,  4,  16]
</a:t>
            </a:r>
            <a:r>
              <a:rPr lang="en-US" sz="1133" dirty="0">
                <a:solidFill>
                  <a:srgbClr val="444441"/>
                </a:solidFill>
                <a:latin typeface="Calibri" pitchFamily="34" charset="0"/>
                <a:ea typeface="Calibri" pitchFamily="34" charset="-122"/>
                <a:cs typeface="Calibri" pitchFamily="34" charset="-120"/>
              </a:rPr>
              <a:t>Like a number system — 13=8+4+1 in binary;
m·g=[m,4m,16m] encodes m redundantly across ℓ scales.</a:t>
            </a:r>
            <a:endParaRPr lang="en-US" sz="1200" dirty="0"/>
          </a:p>
        </p:txBody>
      </p:sp>
      <p:sp>
        <p:nvSpPr>
          <p:cNvPr id="8" name="Shape 6"/>
          <p:cNvSpPr/>
          <p:nvPr/>
        </p:nvSpPr>
        <p:spPr>
          <a:xfrm>
            <a:off x="487680" y="2779776"/>
            <a:ext cx="5547360" cy="316992"/>
          </a:xfrm>
          <a:prstGeom prst="rect">
            <a:avLst/>
          </a:prstGeom>
          <a:solidFill>
            <a:srgbClr val="1E293B"/>
          </a:solidFill>
          <a:ln w="12700">
            <a:solidFill>
              <a:srgbClr val="1E293B"/>
            </a:solidFill>
            <a:prstDash val="solid"/>
          </a:ln>
        </p:spPr>
      </p:sp>
      <p:sp>
        <p:nvSpPr>
          <p:cNvPr id="9" name="Text 7"/>
          <p:cNvSpPr/>
          <p:nvPr/>
        </p:nvSpPr>
        <p:spPr>
          <a:xfrm>
            <a:off x="633984" y="2779776"/>
            <a:ext cx="5242560" cy="316992"/>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The gadget matrix  G = I₂ ⊗ gᵀ</a:t>
            </a:r>
            <a:endParaRPr lang="en-US" sz="1333" dirty="0"/>
          </a:p>
        </p:txBody>
      </p:sp>
      <p:sp>
        <p:nvSpPr>
          <p:cNvPr id="10" name="Shape 8"/>
          <p:cNvSpPr/>
          <p:nvPr/>
        </p:nvSpPr>
        <p:spPr>
          <a:xfrm>
            <a:off x="487680" y="3096768"/>
            <a:ext cx="5547360" cy="3584448"/>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1" name="Text 9"/>
          <p:cNvSpPr/>
          <p:nvPr/>
        </p:nvSpPr>
        <p:spPr>
          <a:xfrm>
            <a:off x="658368" y="3169920"/>
            <a:ext cx="5242560" cy="243840"/>
          </a:xfrm>
          <a:prstGeom prst="rect">
            <a:avLst/>
          </a:prstGeom>
          <a:noFill/>
          <a:ln/>
        </p:spPr>
        <p:txBody>
          <a:bodyPr wrap="square" rtlCol="0" anchor="ctr"/>
          <a:lstStyle/>
          <a:p>
            <a:r>
              <a:rPr lang="en-US" sz="1200" b="1" dirty="0">
                <a:solidFill>
                  <a:srgbClr val="2563EB"/>
                </a:solidFill>
                <a:latin typeface="Calibri" pitchFamily="34" charset="0"/>
                <a:ea typeface="Calibri" pitchFamily="34" charset="-122"/>
                <a:cs typeface="Calibri" pitchFamily="34" charset="-120"/>
              </a:rPr>
              <a:t>Shape: 2ℓ × 2  (here 6 × 2)</a:t>
            </a:r>
            <a:endParaRPr lang="en-US" sz="1200" dirty="0"/>
          </a:p>
        </p:txBody>
      </p:sp>
      <p:sp>
        <p:nvSpPr>
          <p:cNvPr id="12" name="Text 10"/>
          <p:cNvSpPr/>
          <p:nvPr/>
        </p:nvSpPr>
        <p:spPr>
          <a:xfrm>
            <a:off x="658368" y="3413760"/>
            <a:ext cx="5242560" cy="902208"/>
          </a:xfrm>
          <a:prstGeom prst="rect">
            <a:avLst/>
          </a:prstGeom>
          <a:noFill/>
          <a:ln/>
        </p:spPr>
        <p:txBody>
          <a:bodyPr wrap="square" rtlCol="0" anchor="t"/>
          <a:lstStyle/>
          <a:p>
            <a:r>
              <a:rPr lang="en-US" sz="1133" dirty="0">
                <a:solidFill>
                  <a:srgbClr val="1E293B"/>
                </a:solidFill>
                <a:latin typeface="Calibri" pitchFamily="34" charset="0"/>
                <a:ea typeface="Calibri" pitchFamily="34" charset="-122"/>
                <a:cs typeface="Calibri" pitchFamily="34" charset="-120"/>
              </a:rPr>
              <a:t>The ‘2’ comes from I₂ — a 2×2 identity that says:
  apply gadget independently to each of the
  2 polynomial slots (a and b) of RLWE.
  No cross-mixing between slots.
</a:t>
            </a:r>
            <a:endParaRPr lang="en-US" sz="1133" dirty="0"/>
          </a:p>
        </p:txBody>
      </p:sp>
      <p:sp>
        <p:nvSpPr>
          <p:cNvPr id="13" name="Shape 11"/>
          <p:cNvSpPr/>
          <p:nvPr/>
        </p:nvSpPr>
        <p:spPr>
          <a:xfrm>
            <a:off x="658368" y="4352544"/>
            <a:ext cx="195072" cy="219456"/>
          </a:xfrm>
          <a:prstGeom prst="rect">
            <a:avLst/>
          </a:prstGeom>
          <a:solidFill>
            <a:srgbClr val="E1F5EE"/>
          </a:solidFill>
          <a:ln w="12700">
            <a:solidFill>
              <a:srgbClr val="0F6E56"/>
            </a:solidFill>
            <a:prstDash val="solid"/>
          </a:ln>
        </p:spPr>
      </p:sp>
      <p:sp>
        <p:nvSpPr>
          <p:cNvPr id="14" name="Text 12"/>
          <p:cNvSpPr/>
          <p:nvPr/>
        </p:nvSpPr>
        <p:spPr>
          <a:xfrm>
            <a:off x="926592" y="4364736"/>
            <a:ext cx="4998720" cy="243840"/>
          </a:xfrm>
          <a:prstGeom prst="rect">
            <a:avLst/>
          </a:prstGeom>
          <a:noFill/>
          <a:ln/>
        </p:spPr>
        <p:txBody>
          <a:bodyPr wrap="square" rtlCol="0" anchor="ctr"/>
          <a:lstStyle/>
          <a:p>
            <a:r>
              <a:rPr lang="en-US" sz="1133" dirty="0">
                <a:solidFill>
                  <a:srgbClr val="085041"/>
                </a:solidFill>
                <a:latin typeface="Calibri" pitchFamily="34" charset="0"/>
                <a:ea typeface="Calibri" pitchFamily="34" charset="-122"/>
                <a:cs typeface="Calibri" pitchFamily="34" charset="-120"/>
              </a:rPr>
              <a:t>Upper ℓ rows (1–3) — scale first polynomial slot (col 1)</a:t>
            </a:r>
            <a:endParaRPr lang="en-US" sz="1133" dirty="0"/>
          </a:p>
        </p:txBody>
      </p:sp>
      <p:sp>
        <p:nvSpPr>
          <p:cNvPr id="15" name="Shape 13"/>
          <p:cNvSpPr/>
          <p:nvPr/>
        </p:nvSpPr>
        <p:spPr>
          <a:xfrm>
            <a:off x="658368" y="4718304"/>
            <a:ext cx="195072" cy="219456"/>
          </a:xfrm>
          <a:prstGeom prst="rect">
            <a:avLst/>
          </a:prstGeom>
          <a:solidFill>
            <a:srgbClr val="EEEDFE"/>
          </a:solidFill>
          <a:ln w="12700">
            <a:solidFill>
              <a:srgbClr val="534AB7"/>
            </a:solidFill>
            <a:prstDash val="solid"/>
          </a:ln>
        </p:spPr>
      </p:sp>
      <p:sp>
        <p:nvSpPr>
          <p:cNvPr id="16" name="Text 14"/>
          <p:cNvSpPr/>
          <p:nvPr/>
        </p:nvSpPr>
        <p:spPr>
          <a:xfrm>
            <a:off x="926592" y="4730496"/>
            <a:ext cx="4998720" cy="243840"/>
          </a:xfrm>
          <a:prstGeom prst="rect">
            <a:avLst/>
          </a:prstGeom>
          <a:noFill/>
          <a:ln/>
        </p:spPr>
        <p:txBody>
          <a:bodyPr wrap="square" rtlCol="0" anchor="ctr"/>
          <a:lstStyle/>
          <a:p>
            <a:r>
              <a:rPr lang="en-US" sz="1133" dirty="0">
                <a:solidFill>
                  <a:srgbClr val="3C3489"/>
                </a:solidFill>
                <a:latin typeface="Calibri" pitchFamily="34" charset="0"/>
                <a:ea typeface="Calibri" pitchFamily="34" charset="-122"/>
                <a:cs typeface="Calibri" pitchFamily="34" charset="-120"/>
              </a:rPr>
              <a:t>Lower ℓ rows (4–6) — scale second polynomial slot (col 2)</a:t>
            </a:r>
            <a:endParaRPr lang="en-US" sz="1133" dirty="0"/>
          </a:p>
        </p:txBody>
      </p:sp>
      <p:sp>
        <p:nvSpPr>
          <p:cNvPr id="17" name="Shape 15"/>
          <p:cNvSpPr/>
          <p:nvPr/>
        </p:nvSpPr>
        <p:spPr>
          <a:xfrm>
            <a:off x="658368" y="5084064"/>
            <a:ext cx="195072" cy="219456"/>
          </a:xfrm>
          <a:prstGeom prst="rect">
            <a:avLst/>
          </a:prstGeom>
          <a:solidFill>
            <a:srgbClr val="F1EFE8"/>
          </a:solidFill>
          <a:ln w="12700">
            <a:solidFill>
              <a:srgbClr val="5F5E5A"/>
            </a:solidFill>
            <a:prstDash val="solid"/>
          </a:ln>
        </p:spPr>
      </p:sp>
      <p:sp>
        <p:nvSpPr>
          <p:cNvPr id="18" name="Text 16"/>
          <p:cNvSpPr/>
          <p:nvPr/>
        </p:nvSpPr>
        <p:spPr>
          <a:xfrm>
            <a:off x="926592" y="5096256"/>
            <a:ext cx="4998720" cy="243840"/>
          </a:xfrm>
          <a:prstGeom prst="rect">
            <a:avLst/>
          </a:prstGeom>
          <a:noFill/>
          <a:ln/>
        </p:spPr>
        <p:txBody>
          <a:bodyPr wrap="square" rtlCol="0" anchor="ctr"/>
          <a:lstStyle/>
          <a:p>
            <a:r>
              <a:rPr lang="en-US" sz="1133" dirty="0">
                <a:solidFill>
                  <a:srgbClr val="444441"/>
                </a:solidFill>
                <a:latin typeface="Calibri" pitchFamily="34" charset="0"/>
                <a:ea typeface="Calibri" pitchFamily="34" charset="-122"/>
                <a:cs typeface="Calibri" pitchFamily="34" charset="-120"/>
              </a:rPr>
              <a:t>Zero entries — no cross-contamination between slots</a:t>
            </a:r>
            <a:endParaRPr lang="en-US" sz="1133" dirty="0"/>
          </a:p>
        </p:txBody>
      </p:sp>
      <p:sp>
        <p:nvSpPr>
          <p:cNvPr id="19" name="Text 17"/>
          <p:cNvSpPr/>
          <p:nvPr/>
        </p:nvSpPr>
        <p:spPr>
          <a:xfrm>
            <a:off x="658368" y="5535168"/>
            <a:ext cx="5242560" cy="243840"/>
          </a:xfrm>
          <a:prstGeom prst="rect">
            <a:avLst/>
          </a:prstGeom>
          <a:noFill/>
          <a:ln/>
        </p:spPr>
        <p:txBody>
          <a:bodyPr wrap="square" rtlCol="0" anchor="ctr"/>
          <a:lstStyle/>
          <a:p>
            <a:r>
              <a:rPr lang="en-US" sz="1067" i="1" dirty="0">
                <a:solidFill>
                  <a:srgbClr val="64748B"/>
                </a:solidFill>
                <a:latin typeface="Calibri" pitchFamily="34" charset="0"/>
                <a:ea typeface="Calibri" pitchFamily="34" charset="-122"/>
                <a:cs typeface="Calibri" pitchFamily="34" charset="-120"/>
              </a:rPr>
              <a:t>Neither I nor g alone gives G. Kronecker tiles gᵀ along the diagonal of I.</a:t>
            </a:r>
            <a:endParaRPr lang="en-US" sz="1067" dirty="0"/>
          </a:p>
        </p:txBody>
      </p:sp>
      <p:sp>
        <p:nvSpPr>
          <p:cNvPr id="20" name="Shape 18"/>
          <p:cNvSpPr/>
          <p:nvPr/>
        </p:nvSpPr>
        <p:spPr>
          <a:xfrm>
            <a:off x="487680" y="5852160"/>
            <a:ext cx="5547360" cy="512064"/>
          </a:xfrm>
          <a:prstGeom prst="rect">
            <a:avLst/>
          </a:prstGeom>
          <a:solidFill>
            <a:srgbClr val="FFFBEB"/>
          </a:solidFill>
          <a:ln w="12700">
            <a:solidFill>
              <a:srgbClr val="D97706"/>
            </a:solidFill>
            <a:prstDash val="solid"/>
          </a:ln>
        </p:spPr>
      </p:sp>
      <p:sp>
        <p:nvSpPr>
          <p:cNvPr id="21" name="Text 19"/>
          <p:cNvSpPr/>
          <p:nvPr/>
        </p:nvSpPr>
        <p:spPr>
          <a:xfrm>
            <a:off x="633984" y="5876544"/>
            <a:ext cx="5364480" cy="463296"/>
          </a:xfrm>
          <a:prstGeom prst="rect">
            <a:avLst/>
          </a:prstGeom>
          <a:noFill/>
          <a:ln/>
        </p:spPr>
        <p:txBody>
          <a:bodyPr wrap="square" rtlCol="0" anchor="ctr"/>
          <a:lstStyle/>
          <a:p>
            <a:r>
              <a:rPr lang="en-US" sz="1067" b="1" dirty="0">
                <a:solidFill>
                  <a:srgbClr val="92400E"/>
                </a:solidFill>
                <a:latin typeface="Calibri" pitchFamily="34" charset="0"/>
                <a:ea typeface="Calibri" pitchFamily="34" charset="-122"/>
                <a:cs typeface="Calibri" pitchFamily="34" charset="-120"/>
              </a:rPr>
              <a:t>ℓ is chosen so g^ℓ ≥ q</a:t>
            </a:r>
            <a:r>
              <a:rPr lang="en-US" sz="1067" dirty="0">
                <a:solidFill>
                  <a:srgbClr val="78350F"/>
                </a:solidFill>
                <a:latin typeface="Calibri" pitchFamily="34" charset="0"/>
                <a:ea typeface="Calibri" pitchFamily="34" charset="-122"/>
                <a:cs typeface="Calibri" pitchFamily="34" charset="-120"/>
              </a:rPr>
              <a:t>.  Larger ℓ = more rows, more computation, but covers wider ciphertext range.</a:t>
            </a:r>
            <a:endParaRPr lang="en-US" sz="1067" dirty="0"/>
          </a:p>
        </p:txBody>
      </p:sp>
      <p:pic>
        <p:nvPicPr>
          <p:cNvPr id="22" name="Image 0" descr="preencoded.png"/>
          <p:cNvPicPr>
            <a:picLocks noChangeAspect="1"/>
          </p:cNvPicPr>
          <p:nvPr/>
        </p:nvPicPr>
        <p:blipFill>
          <a:blip r:embed="rId3"/>
          <a:stretch>
            <a:fillRect/>
          </a:stretch>
        </p:blipFill>
        <p:spPr>
          <a:xfrm>
            <a:off x="6217920" y="755904"/>
            <a:ext cx="5486400" cy="2584704"/>
          </a:xfrm>
          <a:prstGeom prst="rect">
            <a:avLst/>
          </a:prstGeom>
        </p:spPr>
      </p:pic>
      <p:pic>
        <p:nvPicPr>
          <p:cNvPr id="23" name="Picture 22" descr="image.png"/>
          <p:cNvPicPr>
            <a:picLocks noChangeAspect="1"/>
          </p:cNvPicPr>
          <p:nvPr/>
        </p:nvPicPr>
        <p:blipFill>
          <a:blip r:embed="rId4"/>
          <a:stretch>
            <a:fillRect/>
          </a:stretch>
        </p:blipFill>
        <p:spPr>
          <a:xfrm>
            <a:off x="6217920" y="3340608"/>
            <a:ext cx="5486400" cy="304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38912"/>
          </a:xfrm>
          <a:prstGeom prst="rect">
            <a:avLst/>
          </a:prstGeom>
          <a:noFill/>
          <a:ln/>
        </p:spPr>
        <p:txBody>
          <a:bodyPr wrap="square" rtlCol="0" anchor="ctr"/>
          <a:lstStyle/>
          <a:p>
            <a:r>
              <a:rPr lang="en-US" sz="2400" b="1" dirty="0">
                <a:solidFill>
                  <a:srgbClr val="1E293B"/>
                </a:solidFill>
                <a:latin typeface="Calibri" pitchFamily="34" charset="0"/>
                <a:ea typeface="Calibri" pitchFamily="34" charset="-122"/>
                <a:cs typeface="Calibri" pitchFamily="34" charset="-120"/>
              </a:rPr>
              <a:t>Understanding RGSW — Step 2: The Ciphertext Structure</a:t>
            </a:r>
            <a:endParaRPr lang="en-US" sz="2400" dirty="0"/>
          </a:p>
        </p:txBody>
      </p:sp>
      <p:sp>
        <p:nvSpPr>
          <p:cNvPr id="3" name="Text 1"/>
          <p:cNvSpPr/>
          <p:nvPr/>
        </p:nvSpPr>
        <p:spPr>
          <a:xfrm>
            <a:off x="487680" y="499872"/>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C = Z + m·G  where Z is 2ℓ RLWE encryptions of zero  ·  g=4, ℓ=3  →  6 RLWE ciphertexts total</a:t>
            </a:r>
            <a:endParaRPr lang="en-US" sz="1133" dirty="0"/>
          </a:p>
        </p:txBody>
      </p:sp>
      <p:sp>
        <p:nvSpPr>
          <p:cNvPr id="4" name="Shape 2"/>
          <p:cNvSpPr/>
          <p:nvPr/>
        </p:nvSpPr>
        <p:spPr>
          <a:xfrm>
            <a:off x="487680" y="768096"/>
            <a:ext cx="5547360" cy="316992"/>
          </a:xfrm>
          <a:prstGeom prst="rect">
            <a:avLst/>
          </a:prstGeom>
          <a:solidFill>
            <a:srgbClr val="1E293B"/>
          </a:solidFill>
          <a:ln w="12700">
            <a:solidFill>
              <a:srgbClr val="1E293B"/>
            </a:solidFill>
            <a:prstDash val="solid"/>
          </a:ln>
        </p:spPr>
      </p:sp>
      <p:sp>
        <p:nvSpPr>
          <p:cNvPr id="5" name="Text 3"/>
          <p:cNvSpPr/>
          <p:nvPr/>
        </p:nvSpPr>
        <p:spPr>
          <a:xfrm>
            <a:off x="633984" y="768096"/>
            <a:ext cx="5242560" cy="316992"/>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How to read each row</a:t>
            </a:r>
            <a:endParaRPr lang="en-US" sz="1333" dirty="0"/>
          </a:p>
        </p:txBody>
      </p:sp>
      <p:sp>
        <p:nvSpPr>
          <p:cNvPr id="6" name="Shape 4"/>
          <p:cNvSpPr/>
          <p:nvPr/>
        </p:nvSpPr>
        <p:spPr>
          <a:xfrm>
            <a:off x="487680" y="1085088"/>
            <a:ext cx="5547360" cy="1975104"/>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7" name="Text 5"/>
          <p:cNvSpPr/>
          <p:nvPr/>
        </p:nvSpPr>
        <p:spPr>
          <a:xfrm>
            <a:off x="658368" y="1158240"/>
            <a:ext cx="5242560" cy="243840"/>
          </a:xfrm>
          <a:prstGeom prst="rect">
            <a:avLst/>
          </a:prstGeom>
          <a:noFill/>
          <a:ln/>
        </p:spPr>
        <p:txBody>
          <a:bodyPr wrap="square" rtlCol="0" anchor="ctr"/>
          <a:lstStyle/>
          <a:p>
            <a:r>
              <a:rPr lang="en-US" sz="1200" b="1" dirty="0">
                <a:solidFill>
                  <a:srgbClr val="2563EB"/>
                </a:solidFill>
                <a:latin typeface="Calibri" pitchFamily="34" charset="0"/>
                <a:ea typeface="Calibri" pitchFamily="34" charset="-122"/>
                <a:cs typeface="Calibri" pitchFamily="34" charset="-120"/>
              </a:rPr>
              <a:t>Each row of RGSW(m) is a regular RLWE ciphertext:</a:t>
            </a:r>
            <a:endParaRPr lang="en-US" sz="1200" dirty="0"/>
          </a:p>
        </p:txBody>
      </p:sp>
      <p:sp>
        <p:nvSpPr>
          <p:cNvPr id="8" name="Text 6"/>
          <p:cNvSpPr/>
          <p:nvPr/>
        </p:nvSpPr>
        <p:spPr>
          <a:xfrm>
            <a:off x="658368" y="1389888"/>
            <a:ext cx="5242560" cy="1584960"/>
          </a:xfrm>
          <a:prstGeom prst="rect">
            <a:avLst/>
          </a:prstGeom>
          <a:noFill/>
          <a:ln/>
        </p:spPr>
        <p:txBody>
          <a:bodyPr wrap="square" rtlCol="0" anchor="t"/>
          <a:lstStyle/>
          <a:p>
            <a:r>
              <a:rPr lang="en-US" sz="1133" dirty="0">
                <a:solidFill>
                  <a:srgbClr val="444441"/>
                </a:solidFill>
                <a:latin typeface="Consolas" pitchFamily="34" charset="0"/>
                <a:ea typeface="Consolas" pitchFamily="34" charset="-122"/>
                <a:cs typeface="Consolas" pitchFamily="34" charset="-120"/>
              </a:rPr>
              <a:t>row i  =  (aᵢ,  aᵢ·s + noise)       ← RLWE(0),  Z
</a:t>
            </a:r>
            <a:r>
              <a:rPr lang="en-US" sz="1133" dirty="0">
                <a:solidFill>
                  <a:srgbClr val="085041"/>
                </a:solidFill>
                <a:latin typeface="Consolas" pitchFamily="34" charset="0"/>
                <a:ea typeface="Consolas" pitchFamily="34" charset="-122"/>
                <a:cs typeface="Consolas" pitchFamily="34" charset="-120"/>
              </a:rPr>
              <a:t>          + (gʲ·m,  0)              ← scaled message
</a:t>
            </a:r>
            <a:r>
              <a:rPr lang="en-US" sz="1133" dirty="0">
                <a:solidFill>
                  <a:srgbClr val="1E293B"/>
                </a:solidFill>
                <a:latin typeface="Consolas" pitchFamily="34" charset="0"/>
                <a:ea typeface="Consolas" pitchFamily="34" charset="-122"/>
                <a:cs typeface="Consolas" pitchFamily="34" charset="-120"/>
              </a:rPr>
              <a:t>       =  (aᵢ + gʲ·m,  aᵢ·s + noise)
</a:t>
            </a:r>
            <a:r>
              <a:rPr lang="en-US" sz="1133" dirty="0">
                <a:solidFill>
                  <a:srgbClr val="1E293B"/>
                </a:solidFill>
                <a:latin typeface="Calibri" pitchFamily="34" charset="0"/>
                <a:ea typeface="Calibri" pitchFamily="34" charset="-122"/>
                <a:cs typeface="Calibri" pitchFamily="34" charset="-120"/>
              </a:rPr>
              <a:t>m is added in plaintext at scale gʲ. Noise hides it from anyone without s.</a:t>
            </a:r>
            <a:endParaRPr lang="en-US" sz="1133" dirty="0"/>
          </a:p>
        </p:txBody>
      </p:sp>
      <p:sp>
        <p:nvSpPr>
          <p:cNvPr id="9" name="Shape 7"/>
          <p:cNvSpPr/>
          <p:nvPr/>
        </p:nvSpPr>
        <p:spPr>
          <a:xfrm>
            <a:off x="487680" y="3121152"/>
            <a:ext cx="5547360" cy="316992"/>
          </a:xfrm>
          <a:prstGeom prst="rect">
            <a:avLst/>
          </a:prstGeom>
          <a:solidFill>
            <a:srgbClr val="1E293B"/>
          </a:solidFill>
          <a:ln w="12700">
            <a:solidFill>
              <a:srgbClr val="1E293B"/>
            </a:solidFill>
            <a:prstDash val="solid"/>
          </a:ln>
        </p:spPr>
      </p:sp>
      <p:sp>
        <p:nvSpPr>
          <p:cNvPr id="10" name="Text 8"/>
          <p:cNvSpPr/>
          <p:nvPr/>
        </p:nvSpPr>
        <p:spPr>
          <a:xfrm>
            <a:off x="633984" y="3121152"/>
            <a:ext cx="5242560" cy="316992"/>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Row-by-row breakdown</a:t>
            </a:r>
            <a:endParaRPr lang="en-US" sz="1333" dirty="0"/>
          </a:p>
        </p:txBody>
      </p:sp>
      <p:sp>
        <p:nvSpPr>
          <p:cNvPr id="11" name="Shape 9"/>
          <p:cNvSpPr/>
          <p:nvPr/>
        </p:nvSpPr>
        <p:spPr>
          <a:xfrm>
            <a:off x="487680" y="3438144"/>
            <a:ext cx="5547360" cy="3121152"/>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658368" y="3535680"/>
            <a:ext cx="5218176" cy="438912"/>
          </a:xfrm>
          <a:prstGeom prst="rect">
            <a:avLst/>
          </a:prstGeom>
          <a:solidFill>
            <a:srgbClr val="E1F5EE"/>
          </a:solidFill>
          <a:ln w="10160">
            <a:solidFill>
              <a:srgbClr val="0F6E56"/>
            </a:solidFill>
            <a:prstDash val="solid"/>
          </a:ln>
        </p:spPr>
      </p:sp>
      <p:sp>
        <p:nvSpPr>
          <p:cNvPr id="13" name="Text 11"/>
          <p:cNvSpPr/>
          <p:nvPr/>
        </p:nvSpPr>
        <p:spPr>
          <a:xfrm>
            <a:off x="731520" y="3560064"/>
            <a:ext cx="5071872" cy="390144"/>
          </a:xfrm>
          <a:prstGeom prst="rect">
            <a:avLst/>
          </a:prstGeom>
          <a:noFill/>
          <a:ln/>
        </p:spPr>
        <p:txBody>
          <a:bodyPr wrap="square" rtlCol="0" anchor="ctr"/>
          <a:lstStyle/>
          <a:p>
            <a:r>
              <a:rPr lang="en-US" sz="1067" dirty="0">
                <a:solidFill>
                  <a:srgbClr val="085041"/>
                </a:solidFill>
                <a:latin typeface="Consolas" pitchFamily="34" charset="0"/>
                <a:ea typeface="Consolas" pitchFamily="34" charset="-122"/>
                <a:cs typeface="Consolas" pitchFamily="34" charset="-120"/>
              </a:rPr>
              <a:t>Row 1: (a₁+1·m, b₁)   —  g⁰=1, slot 1</a:t>
            </a:r>
            <a:endParaRPr lang="en-US" sz="1067" dirty="0"/>
          </a:p>
        </p:txBody>
      </p:sp>
      <p:sp>
        <p:nvSpPr>
          <p:cNvPr id="14" name="Shape 12"/>
          <p:cNvSpPr/>
          <p:nvPr/>
        </p:nvSpPr>
        <p:spPr>
          <a:xfrm>
            <a:off x="658368" y="4023360"/>
            <a:ext cx="5218176" cy="438912"/>
          </a:xfrm>
          <a:prstGeom prst="rect">
            <a:avLst/>
          </a:prstGeom>
          <a:solidFill>
            <a:srgbClr val="E1F5EE"/>
          </a:solidFill>
          <a:ln w="10160">
            <a:solidFill>
              <a:srgbClr val="0F6E56"/>
            </a:solidFill>
            <a:prstDash val="solid"/>
          </a:ln>
        </p:spPr>
      </p:sp>
      <p:sp>
        <p:nvSpPr>
          <p:cNvPr id="15" name="Text 13"/>
          <p:cNvSpPr/>
          <p:nvPr/>
        </p:nvSpPr>
        <p:spPr>
          <a:xfrm>
            <a:off x="731520" y="4047744"/>
            <a:ext cx="5071872" cy="390144"/>
          </a:xfrm>
          <a:prstGeom prst="rect">
            <a:avLst/>
          </a:prstGeom>
          <a:noFill/>
          <a:ln/>
        </p:spPr>
        <p:txBody>
          <a:bodyPr wrap="square" rtlCol="0" anchor="ctr"/>
          <a:lstStyle/>
          <a:p>
            <a:r>
              <a:rPr lang="en-US" sz="1067" dirty="0">
                <a:solidFill>
                  <a:srgbClr val="085041"/>
                </a:solidFill>
                <a:latin typeface="Consolas" pitchFamily="34" charset="0"/>
                <a:ea typeface="Consolas" pitchFamily="34" charset="-122"/>
                <a:cs typeface="Consolas" pitchFamily="34" charset="-120"/>
              </a:rPr>
              <a:t>Row 2: (a₂+4·m, b₂)   —  g¹=4, slot 1</a:t>
            </a:r>
            <a:endParaRPr lang="en-US" sz="1067" dirty="0"/>
          </a:p>
        </p:txBody>
      </p:sp>
      <p:sp>
        <p:nvSpPr>
          <p:cNvPr id="16" name="Shape 14"/>
          <p:cNvSpPr/>
          <p:nvPr/>
        </p:nvSpPr>
        <p:spPr>
          <a:xfrm>
            <a:off x="658368" y="4511040"/>
            <a:ext cx="5218176" cy="438912"/>
          </a:xfrm>
          <a:prstGeom prst="rect">
            <a:avLst/>
          </a:prstGeom>
          <a:solidFill>
            <a:srgbClr val="E1F5EE"/>
          </a:solidFill>
          <a:ln w="10160">
            <a:solidFill>
              <a:srgbClr val="0F6E56"/>
            </a:solidFill>
            <a:prstDash val="solid"/>
          </a:ln>
        </p:spPr>
      </p:sp>
      <p:sp>
        <p:nvSpPr>
          <p:cNvPr id="17" name="Text 15"/>
          <p:cNvSpPr/>
          <p:nvPr/>
        </p:nvSpPr>
        <p:spPr>
          <a:xfrm>
            <a:off x="731520" y="4535424"/>
            <a:ext cx="5071872" cy="390144"/>
          </a:xfrm>
          <a:prstGeom prst="rect">
            <a:avLst/>
          </a:prstGeom>
          <a:noFill/>
          <a:ln/>
        </p:spPr>
        <p:txBody>
          <a:bodyPr wrap="square" rtlCol="0" anchor="ctr"/>
          <a:lstStyle/>
          <a:p>
            <a:r>
              <a:rPr lang="en-US" sz="1067" dirty="0">
                <a:solidFill>
                  <a:srgbClr val="085041"/>
                </a:solidFill>
                <a:latin typeface="Consolas" pitchFamily="34" charset="0"/>
                <a:ea typeface="Consolas" pitchFamily="34" charset="-122"/>
                <a:cs typeface="Consolas" pitchFamily="34" charset="-120"/>
              </a:rPr>
              <a:t>Row 3: (a₃+16·m, b₃)   —  g²=16, slot 1</a:t>
            </a:r>
            <a:endParaRPr lang="en-US" sz="1067" dirty="0"/>
          </a:p>
        </p:txBody>
      </p:sp>
      <p:sp>
        <p:nvSpPr>
          <p:cNvPr id="18" name="Shape 16"/>
          <p:cNvSpPr/>
          <p:nvPr/>
        </p:nvSpPr>
        <p:spPr>
          <a:xfrm>
            <a:off x="658368" y="4998720"/>
            <a:ext cx="5218176" cy="438912"/>
          </a:xfrm>
          <a:prstGeom prst="rect">
            <a:avLst/>
          </a:prstGeom>
          <a:solidFill>
            <a:srgbClr val="EEEDFE"/>
          </a:solidFill>
          <a:ln w="10160">
            <a:solidFill>
              <a:srgbClr val="534AB7"/>
            </a:solidFill>
            <a:prstDash val="solid"/>
          </a:ln>
        </p:spPr>
      </p:sp>
      <p:sp>
        <p:nvSpPr>
          <p:cNvPr id="19" name="Text 17"/>
          <p:cNvSpPr/>
          <p:nvPr/>
        </p:nvSpPr>
        <p:spPr>
          <a:xfrm>
            <a:off x="731520" y="5023104"/>
            <a:ext cx="5071872" cy="390144"/>
          </a:xfrm>
          <a:prstGeom prst="rect">
            <a:avLst/>
          </a:prstGeom>
          <a:noFill/>
          <a:ln/>
        </p:spPr>
        <p:txBody>
          <a:bodyPr wrap="square" rtlCol="0" anchor="ctr"/>
          <a:lstStyle/>
          <a:p>
            <a:r>
              <a:rPr lang="en-US" sz="1067" dirty="0">
                <a:solidFill>
                  <a:srgbClr val="3C3489"/>
                </a:solidFill>
                <a:latin typeface="Consolas" pitchFamily="34" charset="0"/>
                <a:ea typeface="Consolas" pitchFamily="34" charset="-122"/>
                <a:cs typeface="Consolas" pitchFamily="34" charset="-120"/>
              </a:rPr>
              <a:t>Row 4: (a₄, b₄+1·m)   —  g⁰=1, slot 2</a:t>
            </a:r>
            <a:endParaRPr lang="en-US" sz="1067" dirty="0"/>
          </a:p>
        </p:txBody>
      </p:sp>
      <p:sp>
        <p:nvSpPr>
          <p:cNvPr id="20" name="Shape 18"/>
          <p:cNvSpPr/>
          <p:nvPr/>
        </p:nvSpPr>
        <p:spPr>
          <a:xfrm>
            <a:off x="658368" y="5486400"/>
            <a:ext cx="5218176" cy="438912"/>
          </a:xfrm>
          <a:prstGeom prst="rect">
            <a:avLst/>
          </a:prstGeom>
          <a:solidFill>
            <a:srgbClr val="EEEDFE"/>
          </a:solidFill>
          <a:ln w="10160">
            <a:solidFill>
              <a:srgbClr val="534AB7"/>
            </a:solidFill>
            <a:prstDash val="solid"/>
          </a:ln>
        </p:spPr>
      </p:sp>
      <p:sp>
        <p:nvSpPr>
          <p:cNvPr id="21" name="Text 19"/>
          <p:cNvSpPr/>
          <p:nvPr/>
        </p:nvSpPr>
        <p:spPr>
          <a:xfrm>
            <a:off x="731520" y="5510784"/>
            <a:ext cx="5071872" cy="390144"/>
          </a:xfrm>
          <a:prstGeom prst="rect">
            <a:avLst/>
          </a:prstGeom>
          <a:noFill/>
          <a:ln/>
        </p:spPr>
        <p:txBody>
          <a:bodyPr wrap="square" rtlCol="0" anchor="ctr"/>
          <a:lstStyle/>
          <a:p>
            <a:r>
              <a:rPr lang="en-US" sz="1067" dirty="0">
                <a:solidFill>
                  <a:srgbClr val="3C3489"/>
                </a:solidFill>
                <a:latin typeface="Consolas" pitchFamily="34" charset="0"/>
                <a:ea typeface="Consolas" pitchFamily="34" charset="-122"/>
                <a:cs typeface="Consolas" pitchFamily="34" charset="-120"/>
              </a:rPr>
              <a:t>Row 5: (a₅, b₅+4·m)   —  g¹=4, slot 2</a:t>
            </a:r>
            <a:endParaRPr lang="en-US" sz="1067" dirty="0"/>
          </a:p>
        </p:txBody>
      </p:sp>
      <p:sp>
        <p:nvSpPr>
          <p:cNvPr id="22" name="Shape 20"/>
          <p:cNvSpPr/>
          <p:nvPr/>
        </p:nvSpPr>
        <p:spPr>
          <a:xfrm>
            <a:off x="658368" y="5974080"/>
            <a:ext cx="5218176" cy="438912"/>
          </a:xfrm>
          <a:prstGeom prst="rect">
            <a:avLst/>
          </a:prstGeom>
          <a:solidFill>
            <a:srgbClr val="EEEDFE"/>
          </a:solidFill>
          <a:ln w="10160">
            <a:solidFill>
              <a:srgbClr val="534AB7"/>
            </a:solidFill>
            <a:prstDash val="solid"/>
          </a:ln>
        </p:spPr>
      </p:sp>
      <p:sp>
        <p:nvSpPr>
          <p:cNvPr id="23" name="Text 21"/>
          <p:cNvSpPr/>
          <p:nvPr/>
        </p:nvSpPr>
        <p:spPr>
          <a:xfrm>
            <a:off x="731520" y="5998464"/>
            <a:ext cx="5071872" cy="390144"/>
          </a:xfrm>
          <a:prstGeom prst="rect">
            <a:avLst/>
          </a:prstGeom>
          <a:noFill/>
          <a:ln/>
        </p:spPr>
        <p:txBody>
          <a:bodyPr wrap="square" rtlCol="0" anchor="ctr"/>
          <a:lstStyle/>
          <a:p>
            <a:r>
              <a:rPr lang="en-US" sz="1067" dirty="0">
                <a:solidFill>
                  <a:srgbClr val="3C3489"/>
                </a:solidFill>
                <a:latin typeface="Consolas" pitchFamily="34" charset="0"/>
                <a:ea typeface="Consolas" pitchFamily="34" charset="-122"/>
                <a:cs typeface="Consolas" pitchFamily="34" charset="-120"/>
              </a:rPr>
              <a:t>Row 6: (a₆, b₆+16·m)   —  g²=16, slot 2</a:t>
            </a:r>
            <a:endParaRPr lang="en-US" sz="1067" dirty="0"/>
          </a:p>
        </p:txBody>
      </p:sp>
      <p:sp>
        <p:nvSpPr>
          <p:cNvPr id="24" name="Text 22"/>
          <p:cNvSpPr/>
          <p:nvPr/>
        </p:nvSpPr>
        <p:spPr>
          <a:xfrm>
            <a:off x="487680" y="6608064"/>
            <a:ext cx="5547360" cy="219456"/>
          </a:xfrm>
          <a:prstGeom prst="rect">
            <a:avLst/>
          </a:prstGeom>
          <a:noFill/>
          <a:ln/>
        </p:spPr>
        <p:txBody>
          <a:bodyPr wrap="square" rtlCol="0" anchor="ctr"/>
          <a:lstStyle/>
          <a:p>
            <a:r>
              <a:rPr lang="en-US" sz="1000" i="1" dirty="0">
                <a:solidFill>
                  <a:srgbClr val="64748B"/>
                </a:solidFill>
                <a:latin typeface="Calibri" pitchFamily="34" charset="0"/>
                <a:ea typeface="Calibri" pitchFamily="34" charset="-122"/>
                <a:cs typeface="Calibri" pitchFamily="34" charset="-120"/>
              </a:rPr>
              <a:t>2ℓ=6 RLWE ciphertexts. Teal=first poly slot. Purple=second.</a:t>
            </a:r>
            <a:endParaRPr lang="en-US" sz="1000" dirty="0"/>
          </a:p>
        </p:txBody>
      </p:sp>
      <p:pic>
        <p:nvPicPr>
          <p:cNvPr id="25" name="Image 0" descr="preencoded.png"/>
          <p:cNvPicPr>
            <a:picLocks noChangeAspect="1"/>
          </p:cNvPicPr>
          <p:nvPr/>
        </p:nvPicPr>
        <p:blipFill>
          <a:blip r:embed="rId3"/>
          <a:stretch>
            <a:fillRect/>
          </a:stretch>
        </p:blipFill>
        <p:spPr>
          <a:xfrm>
            <a:off x="6217920" y="755904"/>
            <a:ext cx="5486400" cy="3389376"/>
          </a:xfrm>
          <a:prstGeom prst="rect">
            <a:avLst/>
          </a:prstGeom>
        </p:spPr>
      </p:pic>
      <p:sp>
        <p:nvSpPr>
          <p:cNvPr id="26" name="Shape 23"/>
          <p:cNvSpPr/>
          <p:nvPr/>
        </p:nvSpPr>
        <p:spPr>
          <a:xfrm>
            <a:off x="6217920" y="4267200"/>
            <a:ext cx="5486400" cy="633984"/>
          </a:xfrm>
          <a:prstGeom prst="rect">
            <a:avLst/>
          </a:prstGeom>
          <a:solidFill>
            <a:srgbClr val="E1F5EE"/>
          </a:solidFill>
          <a:ln w="12700">
            <a:solidFill>
              <a:srgbClr val="0F6E56"/>
            </a:solidFill>
            <a:prstDash val="solid"/>
          </a:ln>
        </p:spPr>
      </p:sp>
      <p:sp>
        <p:nvSpPr>
          <p:cNvPr id="27" name="Text 24"/>
          <p:cNvSpPr/>
          <p:nvPr/>
        </p:nvSpPr>
        <p:spPr>
          <a:xfrm>
            <a:off x="6364224" y="4315968"/>
            <a:ext cx="5193792" cy="536448"/>
          </a:xfrm>
          <a:prstGeom prst="rect">
            <a:avLst/>
          </a:prstGeom>
          <a:noFill/>
          <a:ln/>
        </p:spPr>
        <p:txBody>
          <a:bodyPr wrap="square" rtlCol="0" anchor="ctr"/>
          <a:lstStyle/>
          <a:p>
            <a:r>
              <a:rPr lang="en-US" sz="1067" b="1" dirty="0">
                <a:solidFill>
                  <a:srgbClr val="085041"/>
                </a:solidFill>
                <a:latin typeface="Calibri" pitchFamily="34" charset="0"/>
                <a:ea typeface="Calibri" pitchFamily="34" charset="-122"/>
                <a:cs typeface="Calibri" pitchFamily="34" charset="-120"/>
              </a:rPr>
              <a:t>Teal rows (1–3): </a:t>
            </a:r>
            <a:r>
              <a:rPr lang="en-US" sz="1067" dirty="0">
                <a:solidFill>
                  <a:srgbClr val="085041"/>
                </a:solidFill>
                <a:latin typeface="Calibri" pitchFamily="34" charset="0"/>
                <a:ea typeface="Calibri" pitchFamily="34" charset="-122"/>
                <a:cs typeface="Calibri" pitchFamily="34" charset="-120"/>
              </a:rPr>
              <a:t>message m added to the first polynomial component (a) of each RLWE pair, at scales 1, 4, 16.</a:t>
            </a:r>
            <a:endParaRPr lang="en-US" sz="1067" dirty="0"/>
          </a:p>
        </p:txBody>
      </p:sp>
      <p:sp>
        <p:nvSpPr>
          <p:cNvPr id="28" name="Shape 25"/>
          <p:cNvSpPr/>
          <p:nvPr/>
        </p:nvSpPr>
        <p:spPr>
          <a:xfrm>
            <a:off x="6217920" y="4998720"/>
            <a:ext cx="5486400" cy="633984"/>
          </a:xfrm>
          <a:prstGeom prst="rect">
            <a:avLst/>
          </a:prstGeom>
          <a:solidFill>
            <a:srgbClr val="EEEDFE"/>
          </a:solidFill>
          <a:ln w="12700">
            <a:solidFill>
              <a:srgbClr val="534AB7"/>
            </a:solidFill>
            <a:prstDash val="solid"/>
          </a:ln>
        </p:spPr>
      </p:sp>
      <p:sp>
        <p:nvSpPr>
          <p:cNvPr id="29" name="Text 26"/>
          <p:cNvSpPr/>
          <p:nvPr/>
        </p:nvSpPr>
        <p:spPr>
          <a:xfrm>
            <a:off x="6364224" y="5047488"/>
            <a:ext cx="5193792" cy="536448"/>
          </a:xfrm>
          <a:prstGeom prst="rect">
            <a:avLst/>
          </a:prstGeom>
          <a:noFill/>
          <a:ln/>
        </p:spPr>
        <p:txBody>
          <a:bodyPr wrap="square" rtlCol="0" anchor="ctr"/>
          <a:lstStyle/>
          <a:p>
            <a:r>
              <a:rPr lang="en-US" sz="1067" b="1" dirty="0">
                <a:solidFill>
                  <a:srgbClr val="3C3489"/>
                </a:solidFill>
                <a:latin typeface="Calibri" pitchFamily="34" charset="0"/>
                <a:ea typeface="Calibri" pitchFamily="34" charset="-122"/>
                <a:cs typeface="Calibri" pitchFamily="34" charset="-120"/>
              </a:rPr>
              <a:t>Purple rows (4–6): </a:t>
            </a:r>
            <a:r>
              <a:rPr lang="en-US" sz="1067" dirty="0">
                <a:solidFill>
                  <a:srgbClr val="3C3489"/>
                </a:solidFill>
                <a:latin typeface="Calibri" pitchFamily="34" charset="0"/>
                <a:ea typeface="Calibri" pitchFamily="34" charset="-122"/>
                <a:cs typeface="Calibri" pitchFamily="34" charset="-120"/>
              </a:rPr>
              <a:t>message m added to the second polynomial component (b) of each RLWE pair, at scales 1, 4, 16.</a:t>
            </a:r>
            <a:endParaRPr lang="en-US" sz="1067" dirty="0"/>
          </a:p>
        </p:txBody>
      </p:sp>
      <p:sp>
        <p:nvSpPr>
          <p:cNvPr id="30" name="Shape 27"/>
          <p:cNvSpPr/>
          <p:nvPr/>
        </p:nvSpPr>
        <p:spPr>
          <a:xfrm>
            <a:off x="6217920" y="5730240"/>
            <a:ext cx="5486400" cy="633984"/>
          </a:xfrm>
          <a:prstGeom prst="rect">
            <a:avLst/>
          </a:prstGeom>
          <a:solidFill>
            <a:srgbClr val="FFFBEB"/>
          </a:solidFill>
          <a:ln w="12700">
            <a:solidFill>
              <a:srgbClr val="D97706"/>
            </a:solidFill>
            <a:prstDash val="solid"/>
          </a:ln>
        </p:spPr>
      </p:sp>
      <p:sp>
        <p:nvSpPr>
          <p:cNvPr id="31" name="Text 28"/>
          <p:cNvSpPr/>
          <p:nvPr/>
        </p:nvSpPr>
        <p:spPr>
          <a:xfrm>
            <a:off x="6364224" y="5779008"/>
            <a:ext cx="5193792" cy="536448"/>
          </a:xfrm>
          <a:prstGeom prst="rect">
            <a:avLst/>
          </a:prstGeom>
          <a:noFill/>
          <a:ln/>
        </p:spPr>
        <p:txBody>
          <a:bodyPr wrap="square" rtlCol="0" anchor="ctr"/>
          <a:lstStyle/>
          <a:p>
            <a:r>
              <a:rPr lang="en-US" sz="1067" b="1" dirty="0">
                <a:solidFill>
                  <a:srgbClr val="92400E"/>
                </a:solidFill>
                <a:latin typeface="Calibri" pitchFamily="34" charset="0"/>
                <a:ea typeface="Calibri" pitchFamily="34" charset="-122"/>
                <a:cs typeface="Calibri" pitchFamily="34" charset="-120"/>
              </a:rPr>
              <a:t>Privacy: </a:t>
            </a:r>
            <a:r>
              <a:rPr lang="en-US" sz="1067" dirty="0">
                <a:solidFill>
                  <a:srgbClr val="78350F"/>
                </a:solidFill>
                <a:latin typeface="Calibri" pitchFamily="34" charset="0"/>
                <a:ea typeface="Calibri" pitchFamily="34" charset="-122"/>
                <a:cs typeface="Calibri" pitchFamily="34" charset="-120"/>
              </a:rPr>
              <a:t>each row looks like a normal RLWE encryption of zero. Without the secret key s, the embedded m is completely hidden.</a:t>
            </a:r>
            <a:endParaRPr lang="en-US" sz="1067"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38912"/>
          </a:xfrm>
          <a:prstGeom prst="rect">
            <a:avLst/>
          </a:prstGeom>
          <a:noFill/>
          <a:ln/>
        </p:spPr>
        <p:txBody>
          <a:bodyPr wrap="square" rtlCol="0" anchor="ctr"/>
          <a:lstStyle/>
          <a:p>
            <a:r>
              <a:rPr lang="en-US" sz="2400" b="1" dirty="0">
                <a:solidFill>
                  <a:srgbClr val="1E293B"/>
                </a:solidFill>
                <a:latin typeface="Calibri" pitchFamily="34" charset="0"/>
                <a:ea typeface="Calibri" pitchFamily="34" charset="-122"/>
                <a:cs typeface="Calibri" pitchFamily="34" charset="-120"/>
              </a:rPr>
              <a:t>FHE.ExternalProduct(c, C)  =  G⁻¹(c) · C</a:t>
            </a:r>
            <a:endParaRPr lang="en-US" sz="2400" dirty="0"/>
          </a:p>
        </p:txBody>
      </p:sp>
      <p:sp>
        <p:nvSpPr>
          <p:cNvPr id="3" name="Text 1"/>
          <p:cNvSpPr/>
          <p:nvPr/>
        </p:nvSpPr>
        <p:spPr>
          <a:xfrm>
            <a:off x="487680" y="499872"/>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RLWE c × RGSW C → RLWE c′   ·   encrypts m₁·m₂   ·   noise growth: additive (not quadratic)</a:t>
            </a:r>
            <a:endParaRPr lang="en-US" sz="1133" dirty="0"/>
          </a:p>
        </p:txBody>
      </p:sp>
      <p:sp>
        <p:nvSpPr>
          <p:cNvPr id="4" name="Shape 2"/>
          <p:cNvSpPr/>
          <p:nvPr/>
        </p:nvSpPr>
        <p:spPr>
          <a:xfrm>
            <a:off x="487680" y="768096"/>
            <a:ext cx="5547360" cy="316992"/>
          </a:xfrm>
          <a:prstGeom prst="rect">
            <a:avLst/>
          </a:prstGeom>
          <a:solidFill>
            <a:srgbClr val="1E293B"/>
          </a:solidFill>
          <a:ln w="12700">
            <a:solidFill>
              <a:srgbClr val="1E293B"/>
            </a:solidFill>
            <a:prstDash val="solid"/>
          </a:ln>
        </p:spPr>
        <p:txBody>
          <a:bodyPr/>
          <a:lstStyle/>
          <a:p>
            <a:endParaRPr sz="2400"/>
          </a:p>
        </p:txBody>
      </p:sp>
      <p:sp>
        <p:nvSpPr>
          <p:cNvPr id="5" name="Shape 3"/>
          <p:cNvSpPr/>
          <p:nvPr/>
        </p:nvSpPr>
        <p:spPr>
          <a:xfrm>
            <a:off x="487680" y="780288"/>
            <a:ext cx="292608" cy="292608"/>
          </a:xfrm>
          <a:prstGeom prst="rect">
            <a:avLst/>
          </a:prstGeom>
          <a:solidFill>
            <a:srgbClr val="E1F5EE"/>
          </a:solidFill>
          <a:ln w="10160">
            <a:solidFill>
              <a:srgbClr val="0F6E56"/>
            </a:solidFill>
            <a:prstDash val="solid"/>
          </a:ln>
        </p:spPr>
        <p:txBody>
          <a:bodyPr/>
          <a:lstStyle/>
          <a:p>
            <a:endParaRPr sz="2400"/>
          </a:p>
        </p:txBody>
      </p:sp>
      <p:sp>
        <p:nvSpPr>
          <p:cNvPr id="6" name="Text 4"/>
          <p:cNvSpPr/>
          <p:nvPr/>
        </p:nvSpPr>
        <p:spPr>
          <a:xfrm>
            <a:off x="487680" y="780288"/>
            <a:ext cx="292608" cy="292608"/>
          </a:xfrm>
          <a:prstGeom prst="rect">
            <a:avLst/>
          </a:prstGeom>
          <a:noFill/>
          <a:ln/>
        </p:spPr>
        <p:txBody>
          <a:bodyPr wrap="square" lIns="0" tIns="0" rIns="0" bIns="0" rtlCol="0" anchor="ctr"/>
          <a:lstStyle/>
          <a:p>
            <a:pPr algn="ctr"/>
            <a:r>
              <a:rPr lang="en-US" sz="1200" b="1" dirty="0">
                <a:solidFill>
                  <a:srgbClr val="085041"/>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829056" y="768096"/>
            <a:ext cx="5047488" cy="316992"/>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Decompose  G⁻¹(c)</a:t>
            </a:r>
            <a:endParaRPr lang="en-US" sz="1333" dirty="0"/>
          </a:p>
        </p:txBody>
      </p:sp>
      <p:sp>
        <p:nvSpPr>
          <p:cNvPr id="8" name="Shape 6"/>
          <p:cNvSpPr/>
          <p:nvPr/>
        </p:nvSpPr>
        <p:spPr>
          <a:xfrm>
            <a:off x="487680" y="1085088"/>
            <a:ext cx="5547360" cy="1877568"/>
          </a:xfrm>
          <a:prstGeom prst="rect">
            <a:avLst/>
          </a:prstGeom>
          <a:solidFill>
            <a:srgbClr val="E1F5EE"/>
          </a:solidFill>
          <a:ln w="10160">
            <a:solidFill>
              <a:srgbClr val="0F6E56"/>
            </a:solidFill>
            <a:prstDash val="solid"/>
          </a:ln>
          <a:effectLst>
            <a:outerShdw blurRad="50800" dist="25400" dir="8100000" algn="bl" rotWithShape="0">
              <a:srgbClr val="000000">
                <a:alpha val="8000"/>
              </a:srgbClr>
            </a:outerShdw>
          </a:effectLst>
        </p:spPr>
        <p:txBody>
          <a:bodyPr/>
          <a:lstStyle/>
          <a:p>
            <a:endParaRPr sz="2400"/>
          </a:p>
        </p:txBody>
      </p:sp>
      <p:sp>
        <p:nvSpPr>
          <p:cNvPr id="9" name="Text 7"/>
          <p:cNvSpPr/>
          <p:nvPr/>
        </p:nvSpPr>
        <p:spPr>
          <a:xfrm>
            <a:off x="658368" y="1082717"/>
            <a:ext cx="5218176" cy="1828800"/>
          </a:xfrm>
          <a:prstGeom prst="rect">
            <a:avLst/>
          </a:prstGeom>
          <a:noFill/>
          <a:ln/>
        </p:spPr>
        <p:txBody>
          <a:bodyPr wrap="square" rtlCol="0" anchor="t"/>
          <a:lstStyle/>
          <a:p>
            <a:r>
              <a:rPr lang="en-US" sz="1133" b="1" dirty="0">
                <a:solidFill>
                  <a:srgbClr val="2563EB"/>
                </a:solidFill>
              </a:rPr>
              <a:t>Step 1a — decompose each coefficient:</a:t>
            </a:r>
          </a:p>
          <a:p>
            <a:pPr marL="268217" indent="-121917"/>
            <a:r>
              <a:rPr lang="en-US" sz="1067" dirty="0">
                <a:latin typeface="Consolas"/>
              </a:rPr>
              <a:t>For every coeff aⱼ of polynomial a(X):</a:t>
            </a:r>
          </a:p>
          <a:p>
            <a:pPr marL="268217" indent="-121917"/>
            <a:r>
              <a:rPr lang="en-US" sz="1067" dirty="0">
                <a:latin typeface="Consolas"/>
              </a:rPr>
              <a:t>  aⱼ = a₀ⱼ + a₁ⱼ·g + a₂ⱼ·g²  where each aᵢⱼ ∈ {0,…,g−1}</a:t>
            </a:r>
          </a:p>
          <a:p>
            <a:pPr marL="268217" indent="-121917"/>
            <a:r>
              <a:rPr lang="en-US" sz="1067" dirty="0">
                <a:solidFill>
                  <a:srgbClr val="444441"/>
                </a:solidFill>
              </a:rPr>
              <a:t>Same for every coefficient of b(X).</a:t>
            </a:r>
          </a:p>
          <a:p>
            <a:endParaRPr lang="en-US" sz="1067" dirty="0">
              <a:solidFill>
                <a:srgbClr val="444441"/>
              </a:solidFill>
            </a:endParaRPr>
          </a:p>
          <a:p>
            <a:r>
              <a:rPr lang="en-US" sz="1133" b="1" dirty="0">
                <a:solidFill>
                  <a:srgbClr val="2563EB"/>
                </a:solidFill>
              </a:rPr>
              <a:t>Step 1b — collect into ℓ polynomials:</a:t>
            </a:r>
          </a:p>
          <a:p>
            <a:pPr marL="268217" indent="-121917"/>
            <a:r>
              <a:rPr lang="en-US" sz="1067" dirty="0">
                <a:latin typeface="Consolas"/>
              </a:rPr>
              <a:t>aᵢ(X) = Σⱼ aᵢⱼ · Xʲ    for i = 0, 1, …, ℓ−1</a:t>
            </a:r>
          </a:p>
          <a:p>
            <a:pPr marL="268217" indent="-121917"/>
            <a:r>
              <a:rPr lang="en-US" sz="1067" dirty="0">
                <a:latin typeface="Consolas"/>
              </a:rPr>
              <a:t>bᵢ(X) = Σⱼ bᵢⱼ · Xʲ    for i = 0, 1, …, ℓ−1</a:t>
            </a:r>
          </a:p>
          <a:p>
            <a:endParaRPr lang="en-US" sz="1067" dirty="0">
              <a:latin typeface="Consolas"/>
            </a:endParaRPr>
          </a:p>
          <a:p>
            <a:r>
              <a:rPr lang="en-US" sz="1067" dirty="0">
                <a:solidFill>
                  <a:srgbClr val="16A34A"/>
                </a:solidFill>
              </a:rPr>
              <a:t>Each aᵢ(X) has ALL coefficients &lt; g  ← small polynomial</a:t>
            </a:r>
          </a:p>
          <a:p>
            <a:pPr marL="268217" indent="-121917"/>
            <a:r>
              <a:rPr lang="en-US" sz="1067" dirty="0">
                <a:latin typeface="Consolas"/>
              </a:rPr>
              <a:t>Stack: G⁻¹(c) = [a₀,a₁,a₂,b₀,b₁,b₂]ᵀ  (2ℓ×1 column)</a:t>
            </a:r>
          </a:p>
        </p:txBody>
      </p:sp>
      <p:sp>
        <p:nvSpPr>
          <p:cNvPr id="10" name="Shape 8"/>
          <p:cNvSpPr/>
          <p:nvPr/>
        </p:nvSpPr>
        <p:spPr>
          <a:xfrm>
            <a:off x="487680" y="3084576"/>
            <a:ext cx="5547360" cy="316992"/>
          </a:xfrm>
          <a:prstGeom prst="rect">
            <a:avLst/>
          </a:prstGeom>
          <a:solidFill>
            <a:srgbClr val="1E293B"/>
          </a:solidFill>
          <a:ln w="12700">
            <a:solidFill>
              <a:srgbClr val="1E293B"/>
            </a:solidFill>
            <a:prstDash val="solid"/>
          </a:ln>
        </p:spPr>
        <p:txBody>
          <a:bodyPr/>
          <a:lstStyle/>
          <a:p>
            <a:endParaRPr sz="2400"/>
          </a:p>
        </p:txBody>
      </p:sp>
      <p:sp>
        <p:nvSpPr>
          <p:cNvPr id="11" name="Shape 9"/>
          <p:cNvSpPr/>
          <p:nvPr/>
        </p:nvSpPr>
        <p:spPr>
          <a:xfrm>
            <a:off x="487680" y="3096768"/>
            <a:ext cx="292608" cy="292608"/>
          </a:xfrm>
          <a:prstGeom prst="rect">
            <a:avLst/>
          </a:prstGeom>
          <a:solidFill>
            <a:srgbClr val="EEEDFE"/>
          </a:solidFill>
          <a:ln w="10160">
            <a:solidFill>
              <a:srgbClr val="534AB7"/>
            </a:solidFill>
            <a:prstDash val="solid"/>
          </a:ln>
        </p:spPr>
        <p:txBody>
          <a:bodyPr/>
          <a:lstStyle/>
          <a:p>
            <a:endParaRPr sz="2400"/>
          </a:p>
        </p:txBody>
      </p:sp>
      <p:sp>
        <p:nvSpPr>
          <p:cNvPr id="12" name="Text 10"/>
          <p:cNvSpPr/>
          <p:nvPr/>
        </p:nvSpPr>
        <p:spPr>
          <a:xfrm>
            <a:off x="487680" y="3096768"/>
            <a:ext cx="292608" cy="292608"/>
          </a:xfrm>
          <a:prstGeom prst="rect">
            <a:avLst/>
          </a:prstGeom>
          <a:noFill/>
          <a:ln/>
        </p:spPr>
        <p:txBody>
          <a:bodyPr wrap="square" lIns="0" tIns="0" rIns="0" bIns="0" rtlCol="0" anchor="ctr"/>
          <a:lstStyle/>
          <a:p>
            <a:pPr algn="ctr"/>
            <a:r>
              <a:rPr lang="en-US" sz="1200" b="1" dirty="0">
                <a:solidFill>
                  <a:srgbClr val="3C3489"/>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829056" y="3084576"/>
            <a:ext cx="5047488" cy="316992"/>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Multiply  G⁻¹(c) · C</a:t>
            </a:r>
            <a:endParaRPr lang="en-US" sz="1333" dirty="0"/>
          </a:p>
        </p:txBody>
      </p:sp>
      <p:sp>
        <p:nvSpPr>
          <p:cNvPr id="14" name="Shape 12"/>
          <p:cNvSpPr/>
          <p:nvPr/>
        </p:nvSpPr>
        <p:spPr>
          <a:xfrm>
            <a:off x="487680" y="3401568"/>
            <a:ext cx="5547360" cy="975360"/>
          </a:xfrm>
          <a:prstGeom prst="rect">
            <a:avLst/>
          </a:prstGeom>
          <a:solidFill>
            <a:srgbClr val="EEEDFE"/>
          </a:solidFill>
          <a:ln w="10160">
            <a:solidFill>
              <a:srgbClr val="534AB7"/>
            </a:solidFill>
            <a:prstDash val="solid"/>
          </a:ln>
          <a:effectLst>
            <a:outerShdw blurRad="50800" dist="25400" dir="8100000" algn="bl" rotWithShape="0">
              <a:srgbClr val="000000">
                <a:alpha val="8000"/>
              </a:srgbClr>
            </a:outerShdw>
          </a:effectLst>
        </p:spPr>
        <p:txBody>
          <a:bodyPr/>
          <a:lstStyle/>
          <a:p>
            <a:endParaRPr sz="2400"/>
          </a:p>
        </p:txBody>
      </p:sp>
      <p:sp>
        <p:nvSpPr>
          <p:cNvPr id="15" name="Text 13"/>
          <p:cNvSpPr/>
          <p:nvPr/>
        </p:nvSpPr>
        <p:spPr>
          <a:xfrm>
            <a:off x="658368" y="3450336"/>
            <a:ext cx="5218176" cy="877824"/>
          </a:xfrm>
          <a:prstGeom prst="rect">
            <a:avLst/>
          </a:prstGeom>
          <a:noFill/>
          <a:ln/>
        </p:spPr>
        <p:txBody>
          <a:bodyPr wrap="square" rtlCol="0" anchor="t"/>
          <a:lstStyle/>
          <a:p>
            <a:r>
              <a:rPr lang="en-US" sz="1067" dirty="0">
                <a:solidFill>
                  <a:srgbClr val="3C3489"/>
                </a:solidFill>
                <a:latin typeface="Consolas" pitchFamily="34" charset="0"/>
                <a:ea typeface="Consolas" pitchFamily="34" charset="-122"/>
                <a:cs typeface="Consolas" pitchFamily="34" charset="-120"/>
              </a:rPr>
              <a:t>Each small digit aᵢ multiplies row i of C (contains gⁱ·m₂):</a:t>
            </a:r>
            <a:endParaRPr lang="en-US" sz="1067" dirty="0"/>
          </a:p>
          <a:p>
            <a:r>
              <a:rPr lang="en-US" sz="1067" dirty="0">
                <a:solidFill>
                  <a:srgbClr val="3C3489"/>
                </a:solidFill>
                <a:latin typeface="Consolas" pitchFamily="34" charset="0"/>
                <a:ea typeface="Consolas" pitchFamily="34" charset="-122"/>
                <a:cs typeface="Consolas" pitchFamily="34" charset="-120"/>
              </a:rPr>
              <a:t>aᵢ·(gⁱ·m₂) ≈ (a/gⁱ)·(gⁱ·m₂) = a·m₂   ← scales cancel!</a:t>
            </a:r>
            <a:endParaRPr lang="en-US" sz="1067" dirty="0"/>
          </a:p>
          <a:p>
            <a:r>
              <a:rPr lang="en-US" sz="1067" dirty="0">
                <a:solidFill>
                  <a:srgbClr val="3C3489"/>
                </a:solidFill>
                <a:latin typeface="Consolas" pitchFamily="34" charset="0"/>
                <a:ea typeface="Consolas" pitchFamily="34" charset="-122"/>
                <a:cs typeface="Consolas" pitchFamily="34" charset="-120"/>
              </a:rPr>
              <a:t>Similarly for bᵢ. All 6 terms reconstruct a·m₂ when summed.</a:t>
            </a:r>
            <a:endParaRPr lang="en-US" sz="1067" dirty="0"/>
          </a:p>
        </p:txBody>
      </p:sp>
      <p:sp>
        <p:nvSpPr>
          <p:cNvPr id="16" name="Shape 14"/>
          <p:cNvSpPr/>
          <p:nvPr/>
        </p:nvSpPr>
        <p:spPr>
          <a:xfrm>
            <a:off x="487680" y="4498848"/>
            <a:ext cx="5547360" cy="316992"/>
          </a:xfrm>
          <a:prstGeom prst="rect">
            <a:avLst/>
          </a:prstGeom>
          <a:solidFill>
            <a:srgbClr val="1E293B"/>
          </a:solidFill>
          <a:ln w="12700">
            <a:solidFill>
              <a:srgbClr val="1E293B"/>
            </a:solidFill>
            <a:prstDash val="solid"/>
          </a:ln>
        </p:spPr>
        <p:txBody>
          <a:bodyPr/>
          <a:lstStyle/>
          <a:p>
            <a:endParaRPr sz="2400"/>
          </a:p>
        </p:txBody>
      </p:sp>
      <p:sp>
        <p:nvSpPr>
          <p:cNvPr id="17" name="Shape 15"/>
          <p:cNvSpPr/>
          <p:nvPr/>
        </p:nvSpPr>
        <p:spPr>
          <a:xfrm>
            <a:off x="487680" y="4511040"/>
            <a:ext cx="292608" cy="292608"/>
          </a:xfrm>
          <a:prstGeom prst="rect">
            <a:avLst/>
          </a:prstGeom>
          <a:solidFill>
            <a:srgbClr val="FFFBEB"/>
          </a:solidFill>
          <a:ln w="10160">
            <a:solidFill>
              <a:srgbClr val="D97706"/>
            </a:solidFill>
            <a:prstDash val="solid"/>
          </a:ln>
        </p:spPr>
        <p:txBody>
          <a:bodyPr/>
          <a:lstStyle/>
          <a:p>
            <a:endParaRPr sz="2400"/>
          </a:p>
        </p:txBody>
      </p:sp>
      <p:sp>
        <p:nvSpPr>
          <p:cNvPr id="18" name="Text 16"/>
          <p:cNvSpPr/>
          <p:nvPr/>
        </p:nvSpPr>
        <p:spPr>
          <a:xfrm>
            <a:off x="487680" y="4511040"/>
            <a:ext cx="292608" cy="292608"/>
          </a:xfrm>
          <a:prstGeom prst="rect">
            <a:avLst/>
          </a:prstGeom>
          <a:noFill/>
          <a:ln/>
        </p:spPr>
        <p:txBody>
          <a:bodyPr wrap="square" lIns="0" tIns="0" rIns="0" bIns="0" rtlCol="0" anchor="ctr"/>
          <a:lstStyle/>
          <a:p>
            <a:pPr algn="ctr"/>
            <a:r>
              <a:rPr lang="en-US" sz="1200" b="1" dirty="0">
                <a:solidFill>
                  <a:srgbClr val="92400E"/>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29056" y="4498848"/>
            <a:ext cx="5047488" cy="316992"/>
          </a:xfrm>
          <a:prstGeom prst="rect">
            <a:avLst/>
          </a:prstGeom>
          <a:noFill/>
          <a:ln/>
        </p:spPr>
        <p:txBody>
          <a:bodyPr wrap="square" lIns="0" tIns="0" rIns="0" bIns="0" rtlCol="0" anchor="ctr"/>
          <a:lstStyle/>
          <a:p>
            <a:r>
              <a:rPr lang="en-US" sz="1333" b="1" dirty="0">
                <a:solidFill>
                  <a:srgbClr val="FFFFFF"/>
                </a:solidFill>
                <a:latin typeface="Calibri" pitchFamily="34" charset="0"/>
                <a:ea typeface="Calibri" pitchFamily="34" charset="-122"/>
                <a:cs typeface="Calibri" pitchFamily="34" charset="-120"/>
              </a:rPr>
              <a:t>Output  RLWE(m₁·m₂)</a:t>
            </a:r>
            <a:endParaRPr lang="en-US" sz="1333" dirty="0"/>
          </a:p>
        </p:txBody>
      </p:sp>
      <p:sp>
        <p:nvSpPr>
          <p:cNvPr id="20" name="Shape 18"/>
          <p:cNvSpPr/>
          <p:nvPr/>
        </p:nvSpPr>
        <p:spPr>
          <a:xfrm>
            <a:off x="487680" y="4815840"/>
            <a:ext cx="5547360" cy="975360"/>
          </a:xfrm>
          <a:prstGeom prst="rect">
            <a:avLst/>
          </a:prstGeom>
          <a:solidFill>
            <a:srgbClr val="FFFBEB"/>
          </a:solidFill>
          <a:ln w="10160">
            <a:solidFill>
              <a:srgbClr val="D97706"/>
            </a:solidFill>
            <a:prstDash val="solid"/>
          </a:ln>
          <a:effectLst>
            <a:outerShdw blurRad="50800" dist="25400" dir="8100000" algn="bl" rotWithShape="0">
              <a:srgbClr val="000000">
                <a:alpha val="8000"/>
              </a:srgbClr>
            </a:outerShdw>
          </a:effectLst>
        </p:spPr>
        <p:txBody>
          <a:bodyPr/>
          <a:lstStyle/>
          <a:p>
            <a:endParaRPr sz="2400"/>
          </a:p>
        </p:txBody>
      </p:sp>
      <p:sp>
        <p:nvSpPr>
          <p:cNvPr id="21" name="Text 19"/>
          <p:cNvSpPr/>
          <p:nvPr/>
        </p:nvSpPr>
        <p:spPr>
          <a:xfrm>
            <a:off x="658368" y="4864608"/>
            <a:ext cx="5218176" cy="877824"/>
          </a:xfrm>
          <a:prstGeom prst="rect">
            <a:avLst/>
          </a:prstGeom>
          <a:noFill/>
          <a:ln/>
        </p:spPr>
        <p:txBody>
          <a:bodyPr wrap="square" rtlCol="0" anchor="t"/>
          <a:lstStyle/>
          <a:p>
            <a:r>
              <a:rPr lang="en-US" sz="1067" dirty="0">
                <a:solidFill>
                  <a:srgbClr val="78350F"/>
                </a:solidFill>
                <a:latin typeface="Consolas" pitchFamily="34" charset="0"/>
                <a:ea typeface="Consolas" pitchFamily="34" charset="-122"/>
                <a:cs typeface="Consolas" pitchFamily="34" charset="-120"/>
              </a:rPr>
              <a:t>c′=(a′,b′) is a standard 1×2 RLWE ciphertext.</a:t>
            </a:r>
            <a:endParaRPr lang="en-US" sz="1067" dirty="0"/>
          </a:p>
          <a:p>
            <a:r>
              <a:rPr lang="en-US" sz="1067" dirty="0">
                <a:solidFill>
                  <a:srgbClr val="78350F"/>
                </a:solidFill>
                <a:latin typeface="Consolas" pitchFamily="34" charset="0"/>
                <a:ea typeface="Consolas" pitchFamily="34" charset="-122"/>
                <a:cs typeface="Consolas" pitchFamily="34" charset="-120"/>
              </a:rPr>
              <a:t>Noise additive: aᵢ small (&lt;g) → aᵢ·noise adds linearly.</a:t>
            </a:r>
            <a:endParaRPr lang="en-US" sz="1067" dirty="0"/>
          </a:p>
          <a:p>
            <a:r>
              <a:rPr lang="en-US" sz="1067" dirty="0">
                <a:solidFill>
                  <a:srgbClr val="78350F"/>
                </a:solidFill>
                <a:latin typeface="Consolas" pitchFamily="34" charset="0"/>
                <a:ea typeface="Consolas" pitchFamily="34" charset="-122"/>
                <a:cs typeface="Consolas" pitchFamily="34" charset="-120"/>
              </a:rPr>
              <a:t>This is why RGSW is the right key format for PIR query bits.</a:t>
            </a:r>
            <a:endParaRPr lang="en-US" sz="1067" dirty="0"/>
          </a:p>
        </p:txBody>
      </p:sp>
      <p:sp>
        <p:nvSpPr>
          <p:cNvPr id="22" name="Shape 20"/>
          <p:cNvSpPr/>
          <p:nvPr/>
        </p:nvSpPr>
        <p:spPr>
          <a:xfrm>
            <a:off x="487680" y="5913120"/>
            <a:ext cx="5547360" cy="707136"/>
          </a:xfrm>
          <a:prstGeom prst="rect">
            <a:avLst/>
          </a:prstGeom>
          <a:solidFill>
            <a:srgbClr val="FFFBEB"/>
          </a:solidFill>
          <a:ln w="12700">
            <a:solidFill>
              <a:srgbClr val="D97706"/>
            </a:solidFill>
            <a:prstDash val="solid"/>
          </a:ln>
        </p:spPr>
        <p:txBody>
          <a:bodyPr/>
          <a:lstStyle/>
          <a:p>
            <a:endParaRPr sz="2400"/>
          </a:p>
        </p:txBody>
      </p:sp>
      <p:sp>
        <p:nvSpPr>
          <p:cNvPr id="23" name="Text 21"/>
          <p:cNvSpPr/>
          <p:nvPr/>
        </p:nvSpPr>
        <p:spPr>
          <a:xfrm>
            <a:off x="633984" y="5961888"/>
            <a:ext cx="5340096" cy="609600"/>
          </a:xfrm>
          <a:prstGeom prst="rect">
            <a:avLst/>
          </a:prstGeom>
          <a:noFill/>
          <a:ln/>
        </p:spPr>
        <p:txBody>
          <a:bodyPr wrap="square" rtlCol="0" anchor="t"/>
          <a:lstStyle/>
          <a:p>
            <a:r>
              <a:rPr lang="en-US" sz="1133" b="1" dirty="0">
                <a:solidFill>
                  <a:srgbClr val="92400E"/>
                </a:solidFill>
                <a:latin typeface="Calibri" pitchFamily="34" charset="0"/>
                <a:ea typeface="Calibri" pitchFamily="34" charset="-122"/>
                <a:cs typeface="Calibri" pitchFamily="34" charset="-120"/>
              </a:rPr>
              <a:t>Noise comparison:
</a:t>
            </a:r>
            <a:r>
              <a:rPr lang="en-US" sz="1067" dirty="0">
                <a:solidFill>
                  <a:srgbClr val="16A34A"/>
                </a:solidFill>
                <a:latin typeface="Calibri" pitchFamily="34" charset="0"/>
                <a:ea typeface="Calibri" pitchFamily="34" charset="-122"/>
                <a:cs typeface="Calibri" pitchFamily="34" charset="-120"/>
              </a:rPr>
              <a:t>RLWE×RGSW → additive noise  (× small digit)  ✓
</a:t>
            </a:r>
            <a:r>
              <a:rPr lang="en-US" sz="1067" dirty="0">
                <a:solidFill>
                  <a:srgbClr val="DC2626"/>
                </a:solidFill>
                <a:latin typeface="Calibri" pitchFamily="34" charset="0"/>
                <a:ea typeface="Calibri" pitchFamily="34" charset="-122"/>
                <a:cs typeface="Calibri" pitchFamily="34" charset="-120"/>
              </a:rPr>
              <a:t>RLWE×RLWE → quadratic noise (× full ct)  ✗  — unusable after a few levels</a:t>
            </a:r>
            <a:endParaRPr lang="en-US" sz="1067" dirty="0"/>
          </a:p>
        </p:txBody>
      </p:sp>
      <p:pic>
        <p:nvPicPr>
          <p:cNvPr id="24" name="Image 0" descr="preencoded.png"/>
          <p:cNvPicPr>
            <a:picLocks noChangeAspect="1"/>
          </p:cNvPicPr>
          <p:nvPr/>
        </p:nvPicPr>
        <p:blipFill>
          <a:blip r:embed="rId3"/>
          <a:stretch>
            <a:fillRect/>
          </a:stretch>
        </p:blipFill>
        <p:spPr>
          <a:xfrm>
            <a:off x="6217920" y="755904"/>
            <a:ext cx="5486400" cy="2938272"/>
          </a:xfrm>
          <a:prstGeom prst="rect">
            <a:avLst/>
          </a:prstGeom>
        </p:spPr>
      </p:pic>
      <p:pic>
        <p:nvPicPr>
          <p:cNvPr id="25" name="Picture 24" descr="image.png"/>
          <p:cNvPicPr>
            <a:picLocks noChangeAspect="1"/>
          </p:cNvPicPr>
          <p:nvPr/>
        </p:nvPicPr>
        <p:blipFill>
          <a:blip r:embed="rId4"/>
          <a:stretch>
            <a:fillRect/>
          </a:stretch>
        </p:blipFill>
        <p:spPr>
          <a:xfrm>
            <a:off x="6217920" y="3779520"/>
            <a:ext cx="5486400" cy="279196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73152"/>
            <a:ext cx="11216640" cy="438912"/>
          </a:xfrm>
          <a:prstGeom prst="rect">
            <a:avLst/>
          </a:prstGeom>
          <a:noFill/>
          <a:ln/>
        </p:spPr>
        <p:txBody>
          <a:bodyPr wrap="square" rtlCol="0" anchor="ctr"/>
          <a:lstStyle/>
          <a:p>
            <a:r>
              <a:rPr lang="en-US" sz="2667" b="1" dirty="0">
                <a:solidFill>
                  <a:srgbClr val="1E293B"/>
                </a:solidFill>
                <a:latin typeface="Calibri" pitchFamily="34" charset="0"/>
                <a:ea typeface="Calibri" pitchFamily="34" charset="-122"/>
                <a:cs typeface="Calibri" pitchFamily="34" charset="-120"/>
              </a:rPr>
              <a:t>OnionPIR  —  Response-Efficient Single-Server PIR</a:t>
            </a:r>
            <a:endParaRPr lang="en-US" sz="2667" dirty="0"/>
          </a:p>
        </p:txBody>
      </p:sp>
      <p:sp>
        <p:nvSpPr>
          <p:cNvPr id="3" name="Text 1"/>
          <p:cNvSpPr/>
          <p:nvPr/>
        </p:nvSpPr>
        <p:spPr>
          <a:xfrm>
            <a:off x="487680" y="499872"/>
            <a:ext cx="11216640" cy="219456"/>
          </a:xfrm>
          <a:prstGeom prst="rect">
            <a:avLst/>
          </a:prstGeom>
          <a:noFill/>
          <a:ln/>
        </p:spPr>
        <p:txBody>
          <a:bodyPr wrap="square" rtlCol="0" anchor="ctr"/>
          <a:lstStyle/>
          <a:p>
            <a:r>
              <a:rPr lang="en-US" sz="1133" i="1" dirty="0">
                <a:solidFill>
                  <a:srgbClr val="64748B"/>
                </a:solidFill>
                <a:latin typeface="Calibri" pitchFamily="34" charset="0"/>
                <a:ea typeface="Calibri" pitchFamily="34" charset="-122"/>
                <a:cs typeface="Calibri" pitchFamily="34" charset="-120"/>
              </a:rPr>
              <a:t>Mughees et al. (2021)  ·  Scheme: BFV + RGSW  ·  d = O(log n)  ·  Server op: DecompMul (dim 1) + FHE.ExternalProd (dims 2..d)  ·  Reply: O(1)  ·  Query: O(log n/N)</a:t>
            </a:r>
            <a:endParaRPr lang="en-US" sz="1133" dirty="0"/>
          </a:p>
        </p:txBody>
      </p:sp>
      <p:sp>
        <p:nvSpPr>
          <p:cNvPr id="4" name="Shape 2"/>
          <p:cNvSpPr/>
          <p:nvPr/>
        </p:nvSpPr>
        <p:spPr>
          <a:xfrm>
            <a:off x="487680"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5" name="Shape 3"/>
          <p:cNvSpPr/>
          <p:nvPr/>
        </p:nvSpPr>
        <p:spPr>
          <a:xfrm>
            <a:off x="487680" y="755904"/>
            <a:ext cx="2706624" cy="463296"/>
          </a:xfrm>
          <a:prstGeom prst="rect">
            <a:avLst/>
          </a:prstGeom>
          <a:solidFill>
            <a:srgbClr val="1E293B"/>
          </a:solidFill>
          <a:ln w="12700">
            <a:solidFill>
              <a:srgbClr val="1E293B"/>
            </a:solidFill>
            <a:prstDash val="solid"/>
          </a:ln>
        </p:spPr>
      </p:sp>
      <p:sp>
        <p:nvSpPr>
          <p:cNvPr id="6" name="Text 4"/>
          <p:cNvSpPr/>
          <p:nvPr/>
        </p:nvSpPr>
        <p:spPr>
          <a:xfrm>
            <a:off x="487680"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1</a:t>
            </a:r>
            <a:endParaRPr lang="en-US" sz="1733" dirty="0"/>
          </a:p>
        </p:txBody>
      </p:sp>
      <p:sp>
        <p:nvSpPr>
          <p:cNvPr id="7" name="Shape 5"/>
          <p:cNvSpPr/>
          <p:nvPr/>
        </p:nvSpPr>
        <p:spPr>
          <a:xfrm>
            <a:off x="877824" y="816864"/>
            <a:ext cx="0" cy="316992"/>
          </a:xfrm>
          <a:prstGeom prst="line">
            <a:avLst/>
          </a:prstGeom>
          <a:noFill/>
          <a:ln w="6350">
            <a:solidFill>
              <a:srgbClr val="FFFFFF">
                <a:alpha val="40000"/>
              </a:srgbClr>
            </a:solidFill>
            <a:prstDash val="solid"/>
          </a:ln>
        </p:spPr>
      </p:sp>
      <p:sp>
        <p:nvSpPr>
          <p:cNvPr id="8" name="Text 6"/>
          <p:cNvSpPr/>
          <p:nvPr/>
        </p:nvSpPr>
        <p:spPr>
          <a:xfrm>
            <a:off x="926592"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Setup</a:t>
            </a:r>
            <a:endParaRPr lang="en-US" sz="1133" dirty="0"/>
          </a:p>
        </p:txBody>
      </p:sp>
      <p:sp>
        <p:nvSpPr>
          <p:cNvPr id="9" name="Text 7"/>
          <p:cNvSpPr/>
          <p:nvPr/>
        </p:nvSpPr>
        <p:spPr>
          <a:xfrm>
            <a:off x="926592"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Server</a:t>
            </a:r>
            <a:endParaRPr lang="en-US" sz="1000" dirty="0"/>
          </a:p>
        </p:txBody>
      </p:sp>
      <p:sp>
        <p:nvSpPr>
          <p:cNvPr id="10" name="Text 8"/>
          <p:cNvSpPr/>
          <p:nvPr/>
        </p:nvSpPr>
        <p:spPr>
          <a:xfrm>
            <a:off x="609600"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D₁=128, D₂=…=D_d=4</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d=1+⌈log₄(n/D₁)⌉</a:t>
            </a:r>
            <a:endParaRPr lang="en-US" sz="1067" dirty="0"/>
          </a:p>
          <a:p>
            <a:r>
              <a:rPr lang="en-US" sz="1067" dirty="0">
                <a:solidFill>
                  <a:srgbClr val="1E293B"/>
                </a:solidFill>
                <a:latin typeface="Consolas" pitchFamily="34" charset="0"/>
                <a:ea typeface="Consolas" pitchFamily="34" charset="-122"/>
                <a:cs typeface="Consolas" pitchFamily="34" charset="-120"/>
              </a:rPr>
              <a:t>Q=128+4·(d−1)</a:t>
            </a:r>
            <a:endParaRPr lang="en-US" sz="1067" dirty="0"/>
          </a:p>
          <a:p>
            <a:r>
              <a:rPr lang="en-US" sz="1067" dirty="0">
                <a:solidFill>
                  <a:srgbClr val="1E293B"/>
                </a:solidFill>
                <a:latin typeface="Consolas" pitchFamily="34" charset="0"/>
                <a:ea typeface="Consolas" pitchFamily="34" charset="-122"/>
                <a:cs typeface="Consolas" pitchFamily="34" charset="-120"/>
              </a:rPr>
              <a:t>(OnionPIR §4.2–4.3)</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Gen conversion key:</a:t>
            </a:r>
            <a:endParaRPr lang="en-US" sz="1067" dirty="0"/>
          </a:p>
          <a:p>
            <a:r>
              <a:rPr lang="en-US" sz="1067" dirty="0">
                <a:solidFill>
                  <a:srgbClr val="1E293B"/>
                </a:solidFill>
                <a:latin typeface="Consolas" pitchFamily="34" charset="0"/>
                <a:ea typeface="Consolas" pitchFamily="34" charset="-122"/>
                <a:cs typeface="Consolas" pitchFamily="34" charset="-120"/>
              </a:rPr>
              <a:t>FHE.ksk.Gen(sk,info(sk))</a:t>
            </a:r>
            <a:endParaRPr lang="en-US" sz="1067" dirty="0"/>
          </a:p>
          <a:p>
            <a:r>
              <a:rPr lang="en-US" sz="1067" dirty="0">
                <a:solidFill>
                  <a:srgbClr val="1E293B"/>
                </a:solidFill>
                <a:latin typeface="Consolas" pitchFamily="34" charset="0"/>
                <a:ea typeface="Consolas" pitchFamily="34" charset="-122"/>
                <a:cs typeface="Consolas" pitchFamily="34" charset="-120"/>
              </a:rPr>
              <a:t>for QueryUnpack</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Publish: (d,D₁,…,D_d)</a:t>
            </a:r>
            <a:endParaRPr lang="en-US" sz="1067" dirty="0"/>
          </a:p>
        </p:txBody>
      </p:sp>
      <p:sp>
        <p:nvSpPr>
          <p:cNvPr id="11" name="Shape 9"/>
          <p:cNvSpPr/>
          <p:nvPr/>
        </p:nvSpPr>
        <p:spPr>
          <a:xfrm>
            <a:off x="3279648"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2" name="Shape 10"/>
          <p:cNvSpPr/>
          <p:nvPr/>
        </p:nvSpPr>
        <p:spPr>
          <a:xfrm>
            <a:off x="3279648" y="755904"/>
            <a:ext cx="2706624" cy="463296"/>
          </a:xfrm>
          <a:prstGeom prst="rect">
            <a:avLst/>
          </a:prstGeom>
          <a:solidFill>
            <a:srgbClr val="1E293B"/>
          </a:solidFill>
          <a:ln w="12700">
            <a:solidFill>
              <a:srgbClr val="1E293B"/>
            </a:solidFill>
            <a:prstDash val="solid"/>
          </a:ln>
        </p:spPr>
      </p:sp>
      <p:sp>
        <p:nvSpPr>
          <p:cNvPr id="13" name="Text 11"/>
          <p:cNvSpPr/>
          <p:nvPr/>
        </p:nvSpPr>
        <p:spPr>
          <a:xfrm>
            <a:off x="3279648"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2</a:t>
            </a:r>
            <a:endParaRPr lang="en-US" sz="1733" dirty="0"/>
          </a:p>
        </p:txBody>
      </p:sp>
      <p:sp>
        <p:nvSpPr>
          <p:cNvPr id="14" name="Shape 12"/>
          <p:cNvSpPr/>
          <p:nvPr/>
        </p:nvSpPr>
        <p:spPr>
          <a:xfrm>
            <a:off x="3669792" y="816864"/>
            <a:ext cx="0" cy="316992"/>
          </a:xfrm>
          <a:prstGeom prst="line">
            <a:avLst/>
          </a:prstGeom>
          <a:noFill/>
          <a:ln w="6350">
            <a:solidFill>
              <a:srgbClr val="FFFFFF">
                <a:alpha val="40000"/>
              </a:srgbClr>
            </a:solidFill>
            <a:prstDash val="solid"/>
          </a:ln>
        </p:spPr>
      </p:sp>
      <p:sp>
        <p:nvSpPr>
          <p:cNvPr id="15" name="Text 13"/>
          <p:cNvSpPr/>
          <p:nvPr/>
        </p:nvSpPr>
        <p:spPr>
          <a:xfrm>
            <a:off x="3718560"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Query Generation</a:t>
            </a:r>
            <a:endParaRPr lang="en-US" sz="1133" dirty="0"/>
          </a:p>
        </p:txBody>
      </p:sp>
      <p:sp>
        <p:nvSpPr>
          <p:cNvPr id="16" name="Text 14"/>
          <p:cNvSpPr/>
          <p:nvPr/>
        </p:nvSpPr>
        <p:spPr>
          <a:xfrm>
            <a:off x="3718560"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Client</a:t>
            </a:r>
            <a:endParaRPr lang="en-US" sz="1000" dirty="0"/>
          </a:p>
        </p:txBody>
      </p:sp>
      <p:sp>
        <p:nvSpPr>
          <p:cNvPr id="17" name="Text 15"/>
          <p:cNvSpPr/>
          <p:nvPr/>
        </p:nvSpPr>
        <p:spPr>
          <a:xfrm>
            <a:off x="3401568"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i → (i₁,…,i_d)</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Dim 1 query:</a:t>
            </a:r>
            <a:endParaRPr lang="en-US" sz="1067" dirty="0"/>
          </a:p>
          <a:p>
            <a:r>
              <a:rPr lang="en-US" sz="1067" dirty="0">
                <a:solidFill>
                  <a:srgbClr val="1E293B"/>
                </a:solidFill>
                <a:latin typeface="Consolas" pitchFamily="34" charset="0"/>
                <a:ea typeface="Consolas" pitchFamily="34" charset="-122"/>
                <a:cs typeface="Consolas" pitchFamily="34" charset="-120"/>
              </a:rPr>
              <a:t> I₁[k]=1 iff k=i₁</a:t>
            </a:r>
            <a:endParaRPr lang="en-US" sz="1067" dirty="0"/>
          </a:p>
          <a:p>
            <a:r>
              <a:rPr lang="en-US" sz="1067" dirty="0">
                <a:solidFill>
                  <a:srgbClr val="1E293B"/>
                </a:solidFill>
                <a:latin typeface="Consolas" pitchFamily="34" charset="0"/>
                <a:ea typeface="Consolas" pitchFamily="34" charset="-122"/>
                <a:cs typeface="Consolas" pitchFamily="34" charset="-120"/>
              </a:rPr>
              <a:t> FHE.RLWE.Enc(sk,Δ·I₁[k])</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Dims 2..d query:</a:t>
            </a:r>
            <a:endParaRPr lang="en-US" sz="1067" dirty="0"/>
          </a:p>
          <a:p>
            <a:r>
              <a:rPr lang="en-US" sz="1067" dirty="0">
                <a:solidFill>
                  <a:srgbClr val="1E293B"/>
                </a:solidFill>
                <a:latin typeface="Consolas" pitchFamily="34" charset="0"/>
                <a:ea typeface="Consolas" pitchFamily="34" charset="-122"/>
                <a:cs typeface="Consolas" pitchFamily="34" charset="-120"/>
              </a:rPr>
              <a:t> I_j[k]=1 iff k=i_j</a:t>
            </a:r>
            <a:endParaRPr lang="en-US" sz="1067" dirty="0"/>
          </a:p>
          <a:p>
            <a:r>
              <a:rPr lang="en-US" sz="1067" dirty="0">
                <a:solidFill>
                  <a:srgbClr val="1E293B"/>
                </a:solidFill>
                <a:latin typeface="Consolas" pitchFamily="34" charset="0"/>
                <a:ea typeface="Consolas" pitchFamily="34" charset="-122"/>
                <a:cs typeface="Consolas" pitchFamily="34" charset="-120"/>
              </a:rPr>
              <a:t> FHE.RGSW.Enc(sk,I_j[k])</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QueryPack → 1 ct</a:t>
            </a:r>
            <a:endParaRPr lang="en-US" sz="1067" dirty="0"/>
          </a:p>
          <a:p>
            <a:r>
              <a:rPr lang="en-US" sz="1067" dirty="0">
                <a:solidFill>
                  <a:srgbClr val="1E293B"/>
                </a:solidFill>
                <a:latin typeface="Consolas" pitchFamily="34" charset="0"/>
                <a:ea typeface="Consolas" pitchFamily="34" charset="-122"/>
                <a:cs typeface="Consolas" pitchFamily="34" charset="-120"/>
              </a:rPr>
              <a:t>Send: 1 ct (64 KB)</a:t>
            </a:r>
            <a:endParaRPr lang="en-US" sz="1067" dirty="0"/>
          </a:p>
        </p:txBody>
      </p:sp>
      <p:sp>
        <p:nvSpPr>
          <p:cNvPr id="18" name="Shape 16"/>
          <p:cNvSpPr/>
          <p:nvPr/>
        </p:nvSpPr>
        <p:spPr>
          <a:xfrm>
            <a:off x="6071616"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9" name="Shape 17"/>
          <p:cNvSpPr/>
          <p:nvPr/>
        </p:nvSpPr>
        <p:spPr>
          <a:xfrm>
            <a:off x="6071616" y="755904"/>
            <a:ext cx="2706624" cy="463296"/>
          </a:xfrm>
          <a:prstGeom prst="rect">
            <a:avLst/>
          </a:prstGeom>
          <a:solidFill>
            <a:srgbClr val="1E293B"/>
          </a:solidFill>
          <a:ln w="12700">
            <a:solidFill>
              <a:srgbClr val="1E293B"/>
            </a:solidFill>
            <a:prstDash val="solid"/>
          </a:ln>
        </p:spPr>
      </p:sp>
      <p:sp>
        <p:nvSpPr>
          <p:cNvPr id="20" name="Text 18"/>
          <p:cNvSpPr/>
          <p:nvPr/>
        </p:nvSpPr>
        <p:spPr>
          <a:xfrm>
            <a:off x="6071616"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3</a:t>
            </a:r>
            <a:endParaRPr lang="en-US" sz="1733" dirty="0"/>
          </a:p>
        </p:txBody>
      </p:sp>
      <p:sp>
        <p:nvSpPr>
          <p:cNvPr id="21" name="Shape 19"/>
          <p:cNvSpPr/>
          <p:nvPr/>
        </p:nvSpPr>
        <p:spPr>
          <a:xfrm>
            <a:off x="6461760" y="816864"/>
            <a:ext cx="0" cy="316992"/>
          </a:xfrm>
          <a:prstGeom prst="line">
            <a:avLst/>
          </a:prstGeom>
          <a:noFill/>
          <a:ln w="6350">
            <a:solidFill>
              <a:srgbClr val="FFFFFF">
                <a:alpha val="40000"/>
              </a:srgbClr>
            </a:solidFill>
            <a:prstDash val="solid"/>
          </a:ln>
        </p:spPr>
      </p:sp>
      <p:sp>
        <p:nvSpPr>
          <p:cNvPr id="22" name="Text 20"/>
          <p:cNvSpPr/>
          <p:nvPr/>
        </p:nvSpPr>
        <p:spPr>
          <a:xfrm>
            <a:off x="6510528"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Server Computation</a:t>
            </a:r>
            <a:endParaRPr lang="en-US" sz="1133" dirty="0"/>
          </a:p>
        </p:txBody>
      </p:sp>
      <p:sp>
        <p:nvSpPr>
          <p:cNvPr id="23" name="Text 21"/>
          <p:cNvSpPr/>
          <p:nvPr/>
        </p:nvSpPr>
        <p:spPr>
          <a:xfrm>
            <a:off x="6510528"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Server</a:t>
            </a:r>
            <a:endParaRPr lang="en-US" sz="1000" dirty="0"/>
          </a:p>
        </p:txBody>
      </p:sp>
      <p:sp>
        <p:nvSpPr>
          <p:cNvPr id="24" name="Text 22"/>
          <p:cNvSpPr/>
          <p:nvPr/>
        </p:nvSpPr>
        <p:spPr>
          <a:xfrm>
            <a:off x="6193536"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QueryUnpack (Alg 3+4):</a:t>
            </a:r>
            <a:endParaRPr lang="en-US" sz="1067" dirty="0"/>
          </a:p>
          <a:p>
            <a:r>
              <a:rPr lang="en-US" sz="1067" dirty="0">
                <a:solidFill>
                  <a:srgbClr val="1E293B"/>
                </a:solidFill>
                <a:latin typeface="Consolas" pitchFamily="34" charset="0"/>
                <a:ea typeface="Consolas" pitchFamily="34" charset="-122"/>
                <a:cs typeface="Consolas" pitchFamily="34" charset="-120"/>
              </a:rPr>
              <a:t>1 ct → Q RGSW cts</a:t>
            </a:r>
            <a:endParaRPr lang="en-US" sz="1067" dirty="0"/>
          </a:p>
          <a:p>
            <a:r>
              <a:rPr lang="en-US" sz="1067" dirty="0">
                <a:solidFill>
                  <a:srgbClr val="1E293B"/>
                </a:solidFill>
                <a:latin typeface="Consolas" pitchFamily="34" charset="0"/>
                <a:ea typeface="Consolas" pitchFamily="34" charset="-122"/>
                <a:cs typeface="Consolas" pitchFamily="34" charset="-120"/>
              </a:rPr>
              <a:t>Dim 1 (DecompMul):</a:t>
            </a:r>
            <a:endParaRPr lang="en-US" sz="1067" dirty="0"/>
          </a:p>
          <a:p>
            <a:r>
              <a:rPr lang="en-US" sz="1067" dirty="0">
                <a:solidFill>
                  <a:srgbClr val="1E293B"/>
                </a:solidFill>
                <a:latin typeface="Consolas" pitchFamily="34" charset="0"/>
                <a:ea typeface="Consolas" pitchFamily="34" charset="-122"/>
                <a:cs typeface="Consolas" pitchFamily="34" charset="-120"/>
              </a:rPr>
              <a:t>R^(1)_j=Σ_k FHE.Add(</a:t>
            </a:r>
            <a:endParaRPr lang="en-US" sz="1067" dirty="0"/>
          </a:p>
          <a:p>
            <a:r>
              <a:rPr lang="en-US" sz="1067" dirty="0">
                <a:solidFill>
                  <a:srgbClr val="1E293B"/>
                </a:solidFill>
                <a:latin typeface="Consolas" pitchFamily="34" charset="0"/>
                <a:ea typeface="Consolas" pitchFamily="34" charset="-122"/>
                <a:cs typeface="Consolas" pitchFamily="34" charset="-120"/>
              </a:rPr>
              <a:t> FHE.PlainMult(</a:t>
            </a:r>
            <a:endParaRPr lang="en-US" sz="1067" dirty="0"/>
          </a:p>
          <a:p>
            <a:r>
              <a:rPr lang="en-US" sz="1067" dirty="0">
                <a:solidFill>
                  <a:srgbClr val="1E293B"/>
                </a:solidFill>
                <a:latin typeface="Consolas" pitchFamily="34" charset="0"/>
                <a:ea typeface="Consolas" pitchFamily="34" charset="-122"/>
                <a:cs typeface="Consolas" pitchFamily="34" charset="-120"/>
              </a:rPr>
              <a:t>  q_{1,k},m_{k,j}))</a:t>
            </a:r>
            <a:endParaRPr lang="en-US" sz="1067" dirty="0"/>
          </a:p>
          <a:p>
            <a:r>
              <a:rPr lang="en-US" sz="1067" dirty="0">
                <a:solidFill>
                  <a:srgbClr val="1E293B"/>
                </a:solidFill>
                <a:latin typeface="Consolas" pitchFamily="34" charset="0"/>
                <a:ea typeface="Consolas" pitchFamily="34" charset="-122"/>
                <a:cs typeface="Consolas" pitchFamily="34" charset="-120"/>
              </a:rPr>
              <a:t>Dims 2..d:</a:t>
            </a:r>
            <a:endParaRPr lang="en-US" sz="1067" dirty="0"/>
          </a:p>
          <a:p>
            <a:r>
              <a:rPr lang="en-US" sz="1067" dirty="0">
                <a:solidFill>
                  <a:srgbClr val="1E293B"/>
                </a:solidFill>
                <a:latin typeface="Consolas" pitchFamily="34" charset="0"/>
                <a:ea typeface="Consolas" pitchFamily="34" charset="-122"/>
                <a:cs typeface="Consolas" pitchFamily="34" charset="-120"/>
              </a:rPr>
              <a:t>R^(l)_j=Σ_k FHE.Add(</a:t>
            </a:r>
            <a:endParaRPr lang="en-US" sz="1067" dirty="0"/>
          </a:p>
          <a:p>
            <a:r>
              <a:rPr lang="en-US" sz="1067" dirty="0">
                <a:solidFill>
                  <a:srgbClr val="1E293B"/>
                </a:solidFill>
                <a:latin typeface="Consolas" pitchFamily="34" charset="0"/>
                <a:ea typeface="Consolas" pitchFamily="34" charset="-122"/>
                <a:cs typeface="Consolas" pitchFamily="34" charset="-120"/>
              </a:rPr>
              <a:t> FHE.ExternalProd(</a:t>
            </a:r>
            <a:endParaRPr lang="en-US" sz="1067" dirty="0"/>
          </a:p>
          <a:p>
            <a:r>
              <a:rPr lang="en-US" sz="1067" dirty="0">
                <a:solidFill>
                  <a:srgbClr val="1E293B"/>
                </a:solidFill>
                <a:latin typeface="Consolas" pitchFamily="34" charset="0"/>
                <a:ea typeface="Consolas" pitchFamily="34" charset="-122"/>
                <a:cs typeface="Consolas" pitchFamily="34" charset="-120"/>
              </a:rPr>
              <a:t>  R^(l-1)_k, q_j))</a:t>
            </a:r>
            <a:endParaRPr lang="en-US" sz="1067" dirty="0"/>
          </a:p>
          <a:p>
            <a:r>
              <a:rPr lang="en-US" sz="1067" dirty="0">
                <a:solidFill>
                  <a:srgbClr val="1E293B"/>
                </a:solidFill>
                <a:latin typeface="Consolas" pitchFamily="34" charset="0"/>
                <a:ea typeface="Consolas" pitchFamily="34" charset="-122"/>
                <a:cs typeface="Consolas" pitchFamily="34" charset="-120"/>
              </a:rPr>
              <a:t>Return R₁</a:t>
            </a:r>
            <a:endParaRPr lang="en-US" sz="1067" dirty="0"/>
          </a:p>
        </p:txBody>
      </p:sp>
      <p:sp>
        <p:nvSpPr>
          <p:cNvPr id="25" name="Shape 23"/>
          <p:cNvSpPr/>
          <p:nvPr/>
        </p:nvSpPr>
        <p:spPr>
          <a:xfrm>
            <a:off x="8863584" y="755904"/>
            <a:ext cx="2706624" cy="2535936"/>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26" name="Shape 24"/>
          <p:cNvSpPr/>
          <p:nvPr/>
        </p:nvSpPr>
        <p:spPr>
          <a:xfrm>
            <a:off x="8863584" y="755904"/>
            <a:ext cx="2706624" cy="463296"/>
          </a:xfrm>
          <a:prstGeom prst="rect">
            <a:avLst/>
          </a:prstGeom>
          <a:solidFill>
            <a:srgbClr val="1E293B"/>
          </a:solidFill>
          <a:ln w="12700">
            <a:solidFill>
              <a:srgbClr val="1E293B"/>
            </a:solidFill>
            <a:prstDash val="solid"/>
          </a:ln>
        </p:spPr>
      </p:sp>
      <p:sp>
        <p:nvSpPr>
          <p:cNvPr id="27" name="Text 25"/>
          <p:cNvSpPr/>
          <p:nvPr/>
        </p:nvSpPr>
        <p:spPr>
          <a:xfrm>
            <a:off x="8863584" y="768096"/>
            <a:ext cx="390144"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4</a:t>
            </a:r>
            <a:endParaRPr lang="en-US" sz="1733" dirty="0"/>
          </a:p>
        </p:txBody>
      </p:sp>
      <p:sp>
        <p:nvSpPr>
          <p:cNvPr id="28" name="Shape 26"/>
          <p:cNvSpPr/>
          <p:nvPr/>
        </p:nvSpPr>
        <p:spPr>
          <a:xfrm>
            <a:off x="9253728" y="816864"/>
            <a:ext cx="0" cy="316992"/>
          </a:xfrm>
          <a:prstGeom prst="line">
            <a:avLst/>
          </a:prstGeom>
          <a:noFill/>
          <a:ln w="6350">
            <a:solidFill>
              <a:srgbClr val="FFFFFF">
                <a:alpha val="40000"/>
              </a:srgbClr>
            </a:solidFill>
            <a:prstDash val="solid"/>
          </a:ln>
        </p:spPr>
      </p:sp>
      <p:sp>
        <p:nvSpPr>
          <p:cNvPr id="29" name="Text 27"/>
          <p:cNvSpPr/>
          <p:nvPr/>
        </p:nvSpPr>
        <p:spPr>
          <a:xfrm>
            <a:off x="9302496" y="780288"/>
            <a:ext cx="1780032" cy="243840"/>
          </a:xfrm>
          <a:prstGeom prst="rect">
            <a:avLst/>
          </a:prstGeom>
          <a:noFill/>
          <a:ln/>
        </p:spPr>
        <p:txBody>
          <a:bodyPr wrap="square" lIns="0" tIns="0" rIns="0" bIns="0" rtlCol="0" anchor="ctr"/>
          <a:lstStyle/>
          <a:p>
            <a:r>
              <a:rPr lang="en-US" sz="1133" b="1" dirty="0">
                <a:solidFill>
                  <a:srgbClr val="FFFFFF"/>
                </a:solidFill>
                <a:latin typeface="Calibri" pitchFamily="34" charset="0"/>
                <a:ea typeface="Calibri" pitchFamily="34" charset="-122"/>
                <a:cs typeface="Calibri" pitchFamily="34" charset="-120"/>
              </a:rPr>
              <a:t>Response Decoding</a:t>
            </a:r>
            <a:endParaRPr lang="en-US" sz="1133" dirty="0"/>
          </a:p>
        </p:txBody>
      </p:sp>
      <p:sp>
        <p:nvSpPr>
          <p:cNvPr id="30" name="Text 28"/>
          <p:cNvSpPr/>
          <p:nvPr/>
        </p:nvSpPr>
        <p:spPr>
          <a:xfrm>
            <a:off x="9302496" y="999744"/>
            <a:ext cx="2218944" cy="195072"/>
          </a:xfrm>
          <a:prstGeom prst="rect">
            <a:avLst/>
          </a:prstGeom>
          <a:noFill/>
          <a:ln/>
        </p:spPr>
        <p:txBody>
          <a:bodyPr wrap="square" lIns="0" tIns="0" rIns="0" bIns="0" rtlCol="0" anchor="ctr"/>
          <a:lstStyle/>
          <a:p>
            <a:r>
              <a:rPr lang="en-US" sz="1000" i="1" dirty="0">
                <a:solidFill>
                  <a:srgbClr val="BFDBFE"/>
                </a:solidFill>
                <a:latin typeface="Calibri" pitchFamily="34" charset="0"/>
                <a:ea typeface="Calibri" pitchFamily="34" charset="-122"/>
                <a:cs typeface="Calibri" pitchFamily="34" charset="-120"/>
              </a:rPr>
              <a:t>Client</a:t>
            </a:r>
            <a:endParaRPr lang="en-US" sz="1000" dirty="0"/>
          </a:p>
        </p:txBody>
      </p:sp>
      <p:sp>
        <p:nvSpPr>
          <p:cNvPr id="31" name="Text 29"/>
          <p:cNvSpPr/>
          <p:nvPr/>
        </p:nvSpPr>
        <p:spPr>
          <a:xfrm>
            <a:off x="8985504" y="1267968"/>
            <a:ext cx="2462784" cy="1926336"/>
          </a:xfrm>
          <a:prstGeom prst="rect">
            <a:avLst/>
          </a:prstGeom>
          <a:noFill/>
          <a:ln/>
        </p:spPr>
        <p:txBody>
          <a:bodyPr wrap="square" lIns="0" tIns="0" rIns="0" bIns="0" rtlCol="0" anchor="t"/>
          <a:lstStyle/>
          <a:p>
            <a:r>
              <a:rPr lang="en-US" sz="1067" dirty="0">
                <a:solidFill>
                  <a:srgbClr val="1E293B"/>
                </a:solidFill>
                <a:latin typeface="Consolas" pitchFamily="34" charset="0"/>
                <a:ea typeface="Consolas" pitchFamily="34" charset="-122"/>
                <a:cs typeface="Consolas" pitchFamily="34" charset="-120"/>
              </a:rPr>
              <a:t>Receive R₁:</a:t>
            </a:r>
            <a:endParaRPr lang="en-US" sz="1067" dirty="0"/>
          </a:p>
          <a:p>
            <a:r>
              <a:rPr lang="en-US" sz="1067" dirty="0">
                <a:solidFill>
                  <a:srgbClr val="1E293B"/>
                </a:solidFill>
                <a:latin typeface="Consolas" pitchFamily="34" charset="0"/>
                <a:ea typeface="Consolas" pitchFamily="34" charset="-122"/>
                <a:cs typeface="Consolas" pitchFamily="34" charset="-120"/>
              </a:rPr>
              <a:t>1 BFV ciphertext</a:t>
            </a:r>
            <a:endParaRPr lang="en-US" sz="1067" dirty="0"/>
          </a:p>
          <a:p>
            <a:r>
              <a:rPr lang="en-US" sz="1067" dirty="0">
                <a:solidFill>
                  <a:srgbClr val="1E293B"/>
                </a:solidFill>
                <a:latin typeface="Consolas" pitchFamily="34" charset="0"/>
                <a:ea typeface="Consolas" pitchFamily="34" charset="-122"/>
                <a:cs typeface="Consolas" pitchFamily="34" charset="-120"/>
              </a:rPr>
              <a:t>(128 KB, F=4.2×)</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DB[i] =</a:t>
            </a:r>
            <a:endParaRPr lang="en-US" sz="1067" dirty="0"/>
          </a:p>
          <a:p>
            <a:r>
              <a:rPr lang="en-US" sz="1067" dirty="0">
                <a:solidFill>
                  <a:srgbClr val="1E293B"/>
                </a:solidFill>
                <a:latin typeface="Consolas" pitchFamily="34" charset="0"/>
                <a:ea typeface="Consolas" pitchFamily="34" charset="-122"/>
                <a:cs typeface="Consolas" pitchFamily="34" charset="-120"/>
              </a:rPr>
              <a:t> FHE.Dec(R₁, sk)</a:t>
            </a:r>
            <a:endParaRPr lang="en-US" sz="1067" dirty="0"/>
          </a:p>
          <a:p>
            <a:endParaRPr lang="en-US" sz="1067" dirty="0"/>
          </a:p>
          <a:p>
            <a:r>
              <a:rPr lang="en-US" sz="1067" dirty="0">
                <a:solidFill>
                  <a:srgbClr val="1E293B"/>
                </a:solidFill>
                <a:latin typeface="Consolas" pitchFamily="34" charset="0"/>
                <a:ea typeface="Consolas" pitchFamily="34" charset="-122"/>
                <a:cs typeface="Consolas" pitchFamily="34" charset="-120"/>
              </a:rPr>
              <a:t>Reply = O(1)</a:t>
            </a:r>
            <a:endParaRPr lang="en-US" sz="1067" dirty="0"/>
          </a:p>
          <a:p>
            <a:r>
              <a:rPr lang="en-US" sz="1067" dirty="0">
                <a:solidFill>
                  <a:srgbClr val="1E293B"/>
                </a:solidFill>
                <a:latin typeface="Consolas" pitchFamily="34" charset="0"/>
                <a:ea typeface="Consolas" pitchFamily="34" charset="-122"/>
                <a:cs typeface="Consolas" pitchFamily="34" charset="-120"/>
              </a:rPr>
              <a:t>vs 3200 KB SealPIR</a:t>
            </a:r>
            <a:endParaRPr lang="en-US" sz="1067" dirty="0"/>
          </a:p>
          <a:p>
            <a:r>
              <a:rPr lang="en-US" sz="1067" dirty="0">
                <a:solidFill>
                  <a:srgbClr val="1E293B"/>
                </a:solidFill>
                <a:latin typeface="Consolas" pitchFamily="34" charset="0"/>
                <a:ea typeface="Consolas" pitchFamily="34" charset="-122"/>
                <a:cs typeface="Consolas" pitchFamily="34" charset="-120"/>
              </a:rPr>
              <a:t>(OnionPIR Table 3)</a:t>
            </a:r>
            <a:endParaRPr lang="en-US" sz="1067" dirty="0"/>
          </a:p>
        </p:txBody>
      </p:sp>
      <p:sp>
        <p:nvSpPr>
          <p:cNvPr id="32" name="Shape 30"/>
          <p:cNvSpPr/>
          <p:nvPr/>
        </p:nvSpPr>
        <p:spPr>
          <a:xfrm>
            <a:off x="487680" y="3474720"/>
            <a:ext cx="6583680" cy="316992"/>
          </a:xfrm>
          <a:prstGeom prst="rect">
            <a:avLst/>
          </a:prstGeom>
          <a:solidFill>
            <a:srgbClr val="2563EB"/>
          </a:solidFill>
          <a:ln w="12700">
            <a:solidFill>
              <a:srgbClr val="2563EB"/>
            </a:solidFill>
            <a:prstDash val="solid"/>
          </a:ln>
        </p:spPr>
      </p:sp>
      <p:sp>
        <p:nvSpPr>
          <p:cNvPr id="33" name="Text 31"/>
          <p:cNvSpPr/>
          <p:nvPr/>
        </p:nvSpPr>
        <p:spPr>
          <a:xfrm>
            <a:off x="633984" y="3474720"/>
            <a:ext cx="6412992" cy="316992"/>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OnionPIR Complexity  (OnionPIR §4.4 + PIR Revisited Table 3)</a:t>
            </a:r>
            <a:endParaRPr lang="en-US" sz="1200" dirty="0"/>
          </a:p>
        </p:txBody>
      </p:sp>
      <p:sp>
        <p:nvSpPr>
          <p:cNvPr id="34" name="Shape 32"/>
          <p:cNvSpPr/>
          <p:nvPr/>
        </p:nvSpPr>
        <p:spPr>
          <a:xfrm>
            <a:off x="7254240" y="3474720"/>
            <a:ext cx="4450080" cy="316992"/>
          </a:xfrm>
          <a:prstGeom prst="rect">
            <a:avLst/>
          </a:prstGeom>
          <a:solidFill>
            <a:srgbClr val="1E293B"/>
          </a:solidFill>
          <a:ln w="12700">
            <a:solidFill>
              <a:srgbClr val="1E293B"/>
            </a:solidFill>
            <a:prstDash val="solid"/>
          </a:ln>
        </p:spPr>
      </p:sp>
      <p:sp>
        <p:nvSpPr>
          <p:cNvPr id="35" name="Text 33"/>
          <p:cNvSpPr/>
          <p:nvPr/>
        </p:nvSpPr>
        <p:spPr>
          <a:xfrm>
            <a:off x="7400544" y="3474720"/>
            <a:ext cx="4279392" cy="316992"/>
          </a:xfrm>
          <a:prstGeom prst="rect">
            <a:avLst/>
          </a:prstGeom>
          <a:noFill/>
          <a:ln/>
        </p:spPr>
        <p:txBody>
          <a:bodyPr wrap="square" lIns="0" tIns="0" rIns="0" bIns="0" rtlCol="0" anchor="ctr"/>
          <a:lstStyle/>
          <a:p>
            <a:r>
              <a:rPr lang="en-US" sz="1200" b="1" dirty="0">
                <a:solidFill>
                  <a:srgbClr val="FFFFFF"/>
                </a:solidFill>
                <a:latin typeface="Calibri" pitchFamily="34" charset="0"/>
                <a:ea typeface="Calibri" pitchFamily="34" charset="-122"/>
                <a:cs typeface="Calibri" pitchFamily="34" charset="-120"/>
              </a:rPr>
              <a:t>Parameters  (OnionPIR §6.2 + Table 3;  N=4096, q=124 bit)</a:t>
            </a:r>
            <a:endParaRPr lang="en-US" sz="1200" dirty="0"/>
          </a:p>
        </p:txBody>
      </p:sp>
      <p:graphicFrame>
        <p:nvGraphicFramePr>
          <p:cNvPr id="36" name="Table 0"/>
          <p:cNvGraphicFramePr>
            <a:graphicFrameLocks noGrp="1"/>
          </p:cNvGraphicFramePr>
          <p:nvPr/>
        </p:nvGraphicFramePr>
        <p:xfrm>
          <a:off x="487680" y="3816096"/>
          <a:ext cx="6583680" cy="2987040"/>
        </p:xfrm>
        <a:graphic>
          <a:graphicData uri="http://schemas.openxmlformats.org/drawingml/2006/table">
            <a:tbl>
              <a:tblPr/>
              <a:tblGrid>
                <a:gridCol w="2765145">
                  <a:extLst>
                    <a:ext uri="{9D8B030D-6E8A-4147-A177-3AD203B41FA5}">
                      <a16:colId xmlns:a16="http://schemas.microsoft.com/office/drawing/2014/main" val="20000"/>
                    </a:ext>
                  </a:extLst>
                </a:gridCol>
                <a:gridCol w="3818535">
                  <a:extLst>
                    <a:ext uri="{9D8B030D-6E8A-4147-A177-3AD203B41FA5}">
                      <a16:colId xmlns:a16="http://schemas.microsoft.com/office/drawing/2014/main" val="20001"/>
                    </a:ext>
                  </a:extLst>
                </a:gridCol>
              </a:tblGrid>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Dominant cost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2672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Query size</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O(log n/N) — Q=128+4·(d−1) RGSW cts packed into 1 FHE.RLWE.Enc ct (64 KB)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2672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Query unpack</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QueryUnpack (Alg 3+4): log N · ℓ_o FFT per ct; Q·log N·ℓ_o total — non-bottleneck</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672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Server comp</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2·n + 16/3·ℓ_o·(n/D₁−1)  poly mults  (D₁=128; PIR Revisited Table 3, Main(opt))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42672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Reply size</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O(1) — 1 BFV ct (128 KB, F=4.2×)  vs  F^(d−1) cts in SealPIR (3200 KB)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672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Noise: dim 1</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Err grows by O(D₁·B') per DecompMul — bounded, enables large t=60 bit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426720">
                <a:tc>
                  <a:txBody>
                    <a:bodyPr/>
                    <a:lstStyle/>
                    <a:p>
                      <a:pPr marL="0" indent="0">
                        <a:buNone/>
                      </a:pPr>
                      <a:r>
                        <a:rPr lang="en-US" sz="1100" dirty="0">
                          <a:solidFill>
                            <a:srgbClr val="1E293B"/>
                          </a:solidFill>
                          <a:latin typeface="Consolas" pitchFamily="34" charset="0"/>
                          <a:ea typeface="Consolas" pitchFamily="34" charset="-122"/>
                          <a:cs typeface="Consolas" pitchFamily="34" charset="-120"/>
                        </a:rPr>
                        <a:t>Noise: dims 2..d</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Additive per FHE.ExternalProd: Err(ct_resp) ≤ Err(ct₁) + O(d)·Err(ct_exp)</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37" name="Table 1"/>
          <p:cNvGraphicFramePr>
            <a:graphicFrameLocks noGrp="1"/>
          </p:cNvGraphicFramePr>
          <p:nvPr/>
        </p:nvGraphicFramePr>
        <p:xfrm>
          <a:off x="7254241" y="3816096"/>
          <a:ext cx="4450083" cy="2474976"/>
        </p:xfrm>
        <a:graphic>
          <a:graphicData uri="http://schemas.openxmlformats.org/drawingml/2006/table">
            <a:tbl>
              <a:tblPr/>
              <a:tblGrid>
                <a:gridCol w="1246023">
                  <a:extLst>
                    <a:ext uri="{9D8B030D-6E8A-4147-A177-3AD203B41FA5}">
                      <a16:colId xmlns:a16="http://schemas.microsoft.com/office/drawing/2014/main" val="20000"/>
                    </a:ext>
                  </a:extLst>
                </a:gridCol>
                <a:gridCol w="801015">
                  <a:extLst>
                    <a:ext uri="{9D8B030D-6E8A-4147-A177-3AD203B41FA5}">
                      <a16:colId xmlns:a16="http://schemas.microsoft.com/office/drawing/2014/main" val="20001"/>
                    </a:ext>
                  </a:extLst>
                </a:gridCol>
                <a:gridCol w="801015">
                  <a:extLst>
                    <a:ext uri="{9D8B030D-6E8A-4147-A177-3AD203B41FA5}">
                      <a16:colId xmlns:a16="http://schemas.microsoft.com/office/drawing/2014/main" val="20002"/>
                    </a:ext>
                  </a:extLst>
                </a:gridCol>
                <a:gridCol w="801015">
                  <a:extLst>
                    <a:ext uri="{9D8B030D-6E8A-4147-A177-3AD203B41FA5}">
                      <a16:colId xmlns:a16="http://schemas.microsoft.com/office/drawing/2014/main" val="20003"/>
                    </a:ext>
                  </a:extLst>
                </a:gridCol>
                <a:gridCol w="801015">
                  <a:extLst>
                    <a:ext uri="{9D8B030D-6E8A-4147-A177-3AD203B41FA5}">
                      <a16:colId xmlns:a16="http://schemas.microsoft.com/office/drawing/2014/main" val="20004"/>
                    </a:ext>
                  </a:extLst>
                </a:gridCol>
              </a:tblGrid>
              <a:tr h="35356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n=2¹⁶</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n=2¹⁸</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n=2²⁰</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n=2²⁴</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N (poly deg)</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4096</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4096</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4096</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4096</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q (coeff mod)</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124 bit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124 bit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124 bit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124 bit</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Security</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~111 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~111 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~111 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~111 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F (expansion)</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Q (RGSW cts)</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148</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152</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156</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164</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53568">
                <a:tc>
                  <a:txBody>
                    <a:bodyPr/>
                    <a:lstStyle/>
                    <a:p>
                      <a:pPr marL="0" indent="0">
                        <a:buNone/>
                      </a:pPr>
                      <a:r>
                        <a:rPr lang="en-US" sz="1100" b="1" dirty="0">
                          <a:solidFill>
                            <a:srgbClr val="1E293B"/>
                          </a:solidFill>
                          <a:latin typeface="Consolas" pitchFamily="34" charset="0"/>
                          <a:ea typeface="Consolas" pitchFamily="34" charset="-122"/>
                          <a:cs typeface="Consolas" pitchFamily="34" charset="-120"/>
                        </a:rPr>
                        <a:t>Reply size</a:t>
                      </a:r>
                      <a:endParaRPr lang="en-US" sz="1100" dirty="0">
                        <a:latin typeface="Consolas" charset="0"/>
                        <a:ea typeface="Consolas" charset="0"/>
                        <a:cs typeface="Consolas"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128 KB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128 KB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128 KB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128 KB</a:t>
                      </a:r>
                      <a:endParaRPr lang="en-US" sz="1100" dirty="0">
                        <a:latin typeface="Calibri" charset="0"/>
                        <a:ea typeface="Calibri" charset="0"/>
                        <a:cs typeface="Calibri" charset="0"/>
                      </a:endParaRPr>
                    </a:p>
                  </a:txBody>
                  <a:tcPr marL="50800" marR="50800" marT="50800" marB="508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8" name="Text 34"/>
          <p:cNvSpPr/>
          <p:nvPr/>
        </p:nvSpPr>
        <p:spPr>
          <a:xfrm>
            <a:off x="7254240" y="6339840"/>
            <a:ext cx="4450080" cy="365760"/>
          </a:xfrm>
          <a:prstGeom prst="rect">
            <a:avLst/>
          </a:prstGeom>
          <a:noFill/>
          <a:ln/>
        </p:spPr>
        <p:txBody>
          <a:bodyPr wrap="square" rtlCol="0" anchor="ctr"/>
          <a:lstStyle/>
          <a:p>
            <a:r>
              <a:rPr lang="en-US" sz="867" i="1" dirty="0">
                <a:solidFill>
                  <a:srgbClr val="64748B"/>
                </a:solidFill>
                <a:latin typeface="Calibri" pitchFamily="34" charset="0"/>
                <a:ea typeface="Calibri" pitchFamily="34" charset="-122"/>
                <a:cs typeface="Calibri" pitchFamily="34" charset="-120"/>
              </a:rPr>
              <a:t>t=60 bit; request=64 KB (all sizes). (g,ℓ): PIR Revisited Table 6 — (2⁷,7) n≤2¹⁸; (2⁷,6) n≥2²⁰. N/q/t/F/security/sizes: OnionPIR §6.2+Table 3. Q=128+4·(d−1): OnionPIR §4.2–4.3.</a:t>
            </a:r>
            <a:endParaRPr lang="en-US" sz="867"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5.1</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872498" y="3784210"/>
            <a:ext cx="2539445" cy="85260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PIR applications</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56</a:t>
            </a:fld>
            <a:endParaRPr lang="en-US"/>
          </a:p>
        </p:txBody>
      </p:sp>
      <p:sp>
        <p:nvSpPr>
          <p:cNvPr id="6" name="TextBox 5">
            <a:extLst>
              <a:ext uri="{FF2B5EF4-FFF2-40B4-BE49-F238E27FC236}">
                <a16:creationId xmlns:a16="http://schemas.microsoft.com/office/drawing/2014/main" id="{8361B3E9-FA2B-461A-A933-2F6B8BD34F2C}"/>
              </a:ext>
            </a:extLst>
          </p:cNvPr>
          <p:cNvSpPr txBox="1"/>
          <p:nvPr/>
        </p:nvSpPr>
        <p:spPr>
          <a:xfrm>
            <a:off x="185855" y="574328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RLWE-based</a:t>
            </a:r>
          </a:p>
        </p:txBody>
      </p:sp>
      <p:sp>
        <p:nvSpPr>
          <p:cNvPr id="7" name="TextBox 6">
            <a:extLst>
              <a:ext uri="{FF2B5EF4-FFF2-40B4-BE49-F238E27FC236}">
                <a16:creationId xmlns:a16="http://schemas.microsoft.com/office/drawing/2014/main" id="{152DC0C1-0B7D-4D6C-8E12-EBF40E4D029C}"/>
              </a:ext>
            </a:extLst>
          </p:cNvPr>
          <p:cNvSpPr txBox="1"/>
          <p:nvPr/>
        </p:nvSpPr>
        <p:spPr>
          <a:xfrm>
            <a:off x="185854" y="6263401"/>
            <a:ext cx="6743452"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Server-Stored Client Specific Keys</a:t>
            </a:r>
          </a:p>
        </p:txBody>
      </p:sp>
    </p:spTree>
    <p:extLst>
      <p:ext uri="{BB962C8B-B14F-4D97-AF65-F5344CB8AC3E}">
        <p14:creationId xmlns:p14="http://schemas.microsoft.com/office/powerpoint/2010/main" val="26450088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5.1</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872498" y="3784210"/>
            <a:ext cx="2539445" cy="45249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SE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57</a:t>
            </a:fld>
            <a:endParaRPr lang="en-US"/>
          </a:p>
        </p:txBody>
      </p:sp>
      <p:sp>
        <p:nvSpPr>
          <p:cNvPr id="6" name="TextBox 5">
            <a:extLst>
              <a:ext uri="{FF2B5EF4-FFF2-40B4-BE49-F238E27FC236}">
                <a16:creationId xmlns:a16="http://schemas.microsoft.com/office/drawing/2014/main" id="{8361B3E9-FA2B-461A-A933-2F6B8BD34F2C}"/>
              </a:ext>
            </a:extLst>
          </p:cNvPr>
          <p:cNvSpPr txBox="1"/>
          <p:nvPr/>
        </p:nvSpPr>
        <p:spPr>
          <a:xfrm>
            <a:off x="185855" y="574328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RLWE-based</a:t>
            </a:r>
          </a:p>
        </p:txBody>
      </p:sp>
      <p:sp>
        <p:nvSpPr>
          <p:cNvPr id="7" name="TextBox 6">
            <a:extLst>
              <a:ext uri="{FF2B5EF4-FFF2-40B4-BE49-F238E27FC236}">
                <a16:creationId xmlns:a16="http://schemas.microsoft.com/office/drawing/2014/main" id="{152DC0C1-0B7D-4D6C-8E12-EBF40E4D029C}"/>
              </a:ext>
            </a:extLst>
          </p:cNvPr>
          <p:cNvSpPr txBox="1"/>
          <p:nvPr/>
        </p:nvSpPr>
        <p:spPr>
          <a:xfrm>
            <a:off x="185854" y="6263401"/>
            <a:ext cx="6743452"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Server-Stored Client Specific Keys</a:t>
            </a:r>
          </a:p>
        </p:txBody>
      </p:sp>
    </p:spTree>
    <p:extLst>
      <p:ext uri="{BB962C8B-B14F-4D97-AF65-F5344CB8AC3E}">
        <p14:creationId xmlns:p14="http://schemas.microsoft.com/office/powerpoint/2010/main" val="7362142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5.1</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872498" y="3784210"/>
            <a:ext cx="2539445" cy="45249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Spiral</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58</a:t>
            </a:fld>
            <a:endParaRPr lang="en-US"/>
          </a:p>
        </p:txBody>
      </p:sp>
      <p:sp>
        <p:nvSpPr>
          <p:cNvPr id="6" name="TextBox 5">
            <a:extLst>
              <a:ext uri="{FF2B5EF4-FFF2-40B4-BE49-F238E27FC236}">
                <a16:creationId xmlns:a16="http://schemas.microsoft.com/office/drawing/2014/main" id="{8361B3E9-FA2B-461A-A933-2F6B8BD34F2C}"/>
              </a:ext>
            </a:extLst>
          </p:cNvPr>
          <p:cNvSpPr txBox="1"/>
          <p:nvPr/>
        </p:nvSpPr>
        <p:spPr>
          <a:xfrm>
            <a:off x="185855" y="574328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RLWE-based</a:t>
            </a:r>
          </a:p>
        </p:txBody>
      </p:sp>
      <p:sp>
        <p:nvSpPr>
          <p:cNvPr id="7" name="TextBox 6">
            <a:extLst>
              <a:ext uri="{FF2B5EF4-FFF2-40B4-BE49-F238E27FC236}">
                <a16:creationId xmlns:a16="http://schemas.microsoft.com/office/drawing/2014/main" id="{152DC0C1-0B7D-4D6C-8E12-EBF40E4D029C}"/>
              </a:ext>
            </a:extLst>
          </p:cNvPr>
          <p:cNvSpPr txBox="1"/>
          <p:nvPr/>
        </p:nvSpPr>
        <p:spPr>
          <a:xfrm>
            <a:off x="185854" y="6263401"/>
            <a:ext cx="6743452"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Server-Stored Client Specific Keys</a:t>
            </a:r>
          </a:p>
        </p:txBody>
      </p:sp>
    </p:spTree>
    <p:extLst>
      <p:ext uri="{BB962C8B-B14F-4D97-AF65-F5344CB8AC3E}">
        <p14:creationId xmlns:p14="http://schemas.microsoft.com/office/powerpoint/2010/main" val="16942599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5.2</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872498" y="3784210"/>
            <a:ext cx="2539445" cy="45249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Respire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59</a:t>
            </a:fld>
            <a:endParaRPr lang="en-US"/>
          </a:p>
        </p:txBody>
      </p:sp>
      <p:sp>
        <p:nvSpPr>
          <p:cNvPr id="6" name="TextBox 5">
            <a:extLst>
              <a:ext uri="{FF2B5EF4-FFF2-40B4-BE49-F238E27FC236}">
                <a16:creationId xmlns:a16="http://schemas.microsoft.com/office/drawing/2014/main" id="{8361B3E9-FA2B-461A-A933-2F6B8BD34F2C}"/>
              </a:ext>
            </a:extLst>
          </p:cNvPr>
          <p:cNvSpPr txBox="1"/>
          <p:nvPr/>
        </p:nvSpPr>
        <p:spPr>
          <a:xfrm>
            <a:off x="185855" y="574328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RLWE-based</a:t>
            </a:r>
          </a:p>
        </p:txBody>
      </p:sp>
      <p:sp>
        <p:nvSpPr>
          <p:cNvPr id="7" name="TextBox 6">
            <a:extLst>
              <a:ext uri="{FF2B5EF4-FFF2-40B4-BE49-F238E27FC236}">
                <a16:creationId xmlns:a16="http://schemas.microsoft.com/office/drawing/2014/main" id="{152DC0C1-0B7D-4D6C-8E12-EBF40E4D029C}"/>
              </a:ext>
            </a:extLst>
          </p:cNvPr>
          <p:cNvSpPr txBox="1"/>
          <p:nvPr/>
        </p:nvSpPr>
        <p:spPr>
          <a:xfrm>
            <a:off x="185854" y="6263401"/>
            <a:ext cx="6743452"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Server-Stored Client Specific Keys</a:t>
            </a:r>
          </a:p>
        </p:txBody>
      </p:sp>
    </p:spTree>
    <p:extLst>
      <p:ext uri="{BB962C8B-B14F-4D97-AF65-F5344CB8AC3E}">
        <p14:creationId xmlns:p14="http://schemas.microsoft.com/office/powerpoint/2010/main" val="30400164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06</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872497" y="3821200"/>
            <a:ext cx="2136488" cy="1252715"/>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RLWE-based Silent PPIR protocols</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a:cxnSpLocks/>
          </p:cNvCxnSpPr>
          <p:nvPr/>
        </p:nvCxnSpPr>
        <p:spPr>
          <a:xfrm flipV="1">
            <a:off x="5013959" y="5229548"/>
            <a:ext cx="1831458" cy="1"/>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60</a:t>
            </a:fld>
            <a:endParaRPr lang="en-US"/>
          </a:p>
        </p:txBody>
      </p:sp>
    </p:spTree>
    <p:extLst>
      <p:ext uri="{BB962C8B-B14F-4D97-AF65-F5344CB8AC3E}">
        <p14:creationId xmlns:p14="http://schemas.microsoft.com/office/powerpoint/2010/main" val="26304803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6.1</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4872498" y="3784210"/>
            <a:ext cx="2539445" cy="452496"/>
          </a:xfrm>
          <a:prstGeom prst="rect">
            <a:avLst/>
          </a:prstGeom>
          <a:noFill/>
        </p:spPr>
        <p:txBody>
          <a:bodyPr wrap="square" rtlCol="0" anchor="t">
            <a:spAutoFit/>
          </a:bodyPr>
          <a:lstStyle/>
          <a:p>
            <a:pPr>
              <a:lnSpc>
                <a:spcPct val="130000"/>
              </a:lnSpc>
            </a:pPr>
            <a:r>
              <a:rPr lang="en-US" altLang="zh-CN" sz="2000" spc="406" dirty="0" err="1">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HintlessPIR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61</a:t>
            </a:fld>
            <a:endParaRPr lang="en-US"/>
          </a:p>
        </p:txBody>
      </p:sp>
      <p:sp>
        <p:nvSpPr>
          <p:cNvPr id="6" name="TextBox 5">
            <a:extLst>
              <a:ext uri="{FF2B5EF4-FFF2-40B4-BE49-F238E27FC236}">
                <a16:creationId xmlns:a16="http://schemas.microsoft.com/office/drawing/2014/main" id="{8361B3E9-FA2B-461A-A933-2F6B8BD34F2C}"/>
              </a:ext>
            </a:extLst>
          </p:cNvPr>
          <p:cNvSpPr txBox="1"/>
          <p:nvPr/>
        </p:nvSpPr>
        <p:spPr>
          <a:xfrm>
            <a:off x="185855" y="574328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RLWE-based</a:t>
            </a:r>
          </a:p>
        </p:txBody>
      </p:sp>
      <p:sp>
        <p:nvSpPr>
          <p:cNvPr id="7" name="TextBox 6">
            <a:extLst>
              <a:ext uri="{FF2B5EF4-FFF2-40B4-BE49-F238E27FC236}">
                <a16:creationId xmlns:a16="http://schemas.microsoft.com/office/drawing/2014/main" id="{152DC0C1-0B7D-4D6C-8E12-EBF40E4D029C}"/>
              </a:ext>
            </a:extLst>
          </p:cNvPr>
          <p:cNvSpPr txBox="1"/>
          <p:nvPr/>
        </p:nvSpPr>
        <p:spPr>
          <a:xfrm>
            <a:off x="185855" y="6263401"/>
            <a:ext cx="722608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Server-Side Preprocessing w/o Offline Communication</a:t>
            </a:r>
          </a:p>
        </p:txBody>
      </p:sp>
    </p:spTree>
    <p:extLst>
      <p:ext uri="{BB962C8B-B14F-4D97-AF65-F5344CB8AC3E}">
        <p14:creationId xmlns:p14="http://schemas.microsoft.com/office/powerpoint/2010/main" val="33276245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6.2</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5440843" y="3784210"/>
            <a:ext cx="999796" cy="45249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YPIR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62</a:t>
            </a:fld>
            <a:endParaRPr lang="en-US"/>
          </a:p>
        </p:txBody>
      </p:sp>
      <p:sp>
        <p:nvSpPr>
          <p:cNvPr id="8" name="TextBox 7">
            <a:extLst>
              <a:ext uri="{FF2B5EF4-FFF2-40B4-BE49-F238E27FC236}">
                <a16:creationId xmlns:a16="http://schemas.microsoft.com/office/drawing/2014/main" id="{844E01AC-9C84-44EB-B71D-79BB51D14E12}"/>
              </a:ext>
            </a:extLst>
          </p:cNvPr>
          <p:cNvSpPr txBox="1"/>
          <p:nvPr/>
        </p:nvSpPr>
        <p:spPr>
          <a:xfrm>
            <a:off x="185855" y="6263401"/>
            <a:ext cx="722608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Server-Side Preprocessing w/o Offline Communication</a:t>
            </a:r>
          </a:p>
        </p:txBody>
      </p:sp>
      <p:sp>
        <p:nvSpPr>
          <p:cNvPr id="9" name="TextBox 8">
            <a:extLst>
              <a:ext uri="{FF2B5EF4-FFF2-40B4-BE49-F238E27FC236}">
                <a16:creationId xmlns:a16="http://schemas.microsoft.com/office/drawing/2014/main" id="{DADE868C-2679-4EAC-A014-C969AB488EF6}"/>
              </a:ext>
            </a:extLst>
          </p:cNvPr>
          <p:cNvSpPr txBox="1"/>
          <p:nvPr/>
        </p:nvSpPr>
        <p:spPr>
          <a:xfrm>
            <a:off x="185855" y="574328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RLWE-based</a:t>
            </a:r>
          </a:p>
        </p:txBody>
      </p:sp>
    </p:spTree>
    <p:extLst>
      <p:ext uri="{BB962C8B-B14F-4D97-AF65-F5344CB8AC3E}">
        <p14:creationId xmlns:p14="http://schemas.microsoft.com/office/powerpoint/2010/main" val="38504180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6.3</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5440842" y="3784210"/>
            <a:ext cx="1426681" cy="45249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KSPIR</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63</a:t>
            </a:fld>
            <a:endParaRPr lang="en-US"/>
          </a:p>
        </p:txBody>
      </p:sp>
      <p:sp>
        <p:nvSpPr>
          <p:cNvPr id="8" name="TextBox 7">
            <a:extLst>
              <a:ext uri="{FF2B5EF4-FFF2-40B4-BE49-F238E27FC236}">
                <a16:creationId xmlns:a16="http://schemas.microsoft.com/office/drawing/2014/main" id="{844E01AC-9C84-44EB-B71D-79BB51D14E12}"/>
              </a:ext>
            </a:extLst>
          </p:cNvPr>
          <p:cNvSpPr txBox="1"/>
          <p:nvPr/>
        </p:nvSpPr>
        <p:spPr>
          <a:xfrm>
            <a:off x="185855" y="6263401"/>
            <a:ext cx="722608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Server-Side Preprocessing w/o Offline Communication</a:t>
            </a:r>
          </a:p>
        </p:txBody>
      </p:sp>
      <p:sp>
        <p:nvSpPr>
          <p:cNvPr id="9" name="TextBox 8">
            <a:extLst>
              <a:ext uri="{FF2B5EF4-FFF2-40B4-BE49-F238E27FC236}">
                <a16:creationId xmlns:a16="http://schemas.microsoft.com/office/drawing/2014/main" id="{DADE868C-2679-4EAC-A014-C969AB488EF6}"/>
              </a:ext>
            </a:extLst>
          </p:cNvPr>
          <p:cNvSpPr txBox="1"/>
          <p:nvPr/>
        </p:nvSpPr>
        <p:spPr>
          <a:xfrm>
            <a:off x="185855" y="574328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RLWE-based</a:t>
            </a:r>
          </a:p>
        </p:txBody>
      </p:sp>
    </p:spTree>
    <p:extLst>
      <p:ext uri="{BB962C8B-B14F-4D97-AF65-F5344CB8AC3E}">
        <p14:creationId xmlns:p14="http://schemas.microsoft.com/office/powerpoint/2010/main" val="2626323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4872498" y="1815253"/>
            <a:ext cx="2136488" cy="1850315"/>
          </a:xfrm>
          <a:prstGeom prst="rect">
            <a:avLst/>
          </a:prstGeom>
          <a:noFill/>
          <a:ln w="127000">
            <a:solidFill>
              <a:srgbClr val="1C9B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315" dirty="0">
                <a:solidFill>
                  <a:schemeClr val="tx1"/>
                </a:solidFill>
                <a:latin typeface="微软雅黑" panose="020B0503020204020204" pitchFamily="34" charset="-122"/>
                <a:ea typeface="微软雅黑" panose="020B0503020204020204" pitchFamily="34" charset="-122"/>
              </a:rPr>
              <a:t>6.4</a:t>
            </a:r>
            <a:endParaRPr lang="zh-CN" altLang="en-US" sz="7315" dirty="0">
              <a:solidFill>
                <a:schemeClr val="tx1"/>
              </a:solidFill>
              <a:latin typeface="微软雅黑" panose="020B0503020204020204" pitchFamily="34" charset="-122"/>
              <a:ea typeface="微软雅黑" panose="020B0503020204020204" pitchFamily="34" charset="-122"/>
            </a:endParaRPr>
          </a:p>
        </p:txBody>
      </p:sp>
      <p:sp>
        <p:nvSpPr>
          <p:cNvPr id="16" name="文本框 7"/>
          <p:cNvSpPr txBox="1"/>
          <p:nvPr/>
        </p:nvSpPr>
        <p:spPr>
          <a:xfrm flipH="1">
            <a:off x="5218535" y="3784210"/>
            <a:ext cx="1444412" cy="452496"/>
          </a:xfrm>
          <a:prstGeom prst="rect">
            <a:avLst/>
          </a:prstGeom>
          <a:noFill/>
        </p:spPr>
        <p:txBody>
          <a:bodyPr wrap="square" rtlCol="0" anchor="t">
            <a:spAutoFit/>
          </a:bodyPr>
          <a:lstStyle/>
          <a:p>
            <a:pPr>
              <a:lnSpc>
                <a:spcPct val="130000"/>
              </a:lnSpc>
            </a:pPr>
            <a:r>
              <a:rPr lang="en-US" altLang="zh-CN"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rPr>
              <a:t>InsPIRe</a:t>
            </a:r>
            <a:endParaRPr lang="zh-CN" altLang="en-US" sz="2000" spc="406"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9"/>
          <p:cNvCxnSpPr/>
          <p:nvPr/>
        </p:nvCxnSpPr>
        <p:spPr>
          <a:xfrm flipV="1">
            <a:off x="5013959" y="4355348"/>
            <a:ext cx="1853565" cy="20955"/>
          </a:xfrm>
          <a:prstGeom prst="line">
            <a:avLst/>
          </a:prstGeom>
          <a:ln w="63500">
            <a:solidFill>
              <a:srgbClr val="1C9B78"/>
            </a:solidFill>
          </a:ln>
        </p:spPr>
        <p:style>
          <a:lnRef idx="1">
            <a:schemeClr val="accent1"/>
          </a:lnRef>
          <a:fillRef idx="0">
            <a:schemeClr val="accent1"/>
          </a:fillRef>
          <a:effectRef idx="0">
            <a:schemeClr val="accent1"/>
          </a:effectRef>
          <a:fontRef idx="minor">
            <a:schemeClr val="tx1"/>
          </a:fontRef>
        </p:style>
      </p:cxnSp>
      <p:sp>
        <p:nvSpPr>
          <p:cNvPr id="3" name="Номер слайда 2">
            <a:extLst>
              <a:ext uri="{FF2B5EF4-FFF2-40B4-BE49-F238E27FC236}">
                <a16:creationId xmlns:a16="http://schemas.microsoft.com/office/drawing/2014/main" id="{1A519F78-CB56-49C7-95B6-EA89B3B3CA0E}"/>
              </a:ext>
            </a:extLst>
          </p:cNvPr>
          <p:cNvSpPr>
            <a:spLocks noGrp="1"/>
          </p:cNvSpPr>
          <p:nvPr>
            <p:ph type="sldNum" sz="quarter" idx="12"/>
          </p:nvPr>
        </p:nvSpPr>
        <p:spPr/>
        <p:txBody>
          <a:bodyPr/>
          <a:lstStyle/>
          <a:p>
            <a:fld id="{14DDCE2C-1EAC-4FD7-9FCA-CDAC6ED86490}" type="slidenum">
              <a:rPr lang="en-US" smtClean="0"/>
              <a:t>64</a:t>
            </a:fld>
            <a:endParaRPr lang="en-US"/>
          </a:p>
        </p:txBody>
      </p:sp>
      <p:sp>
        <p:nvSpPr>
          <p:cNvPr id="8" name="TextBox 7">
            <a:extLst>
              <a:ext uri="{FF2B5EF4-FFF2-40B4-BE49-F238E27FC236}">
                <a16:creationId xmlns:a16="http://schemas.microsoft.com/office/drawing/2014/main" id="{5D30DF5D-9777-4130-BC40-D733B324E82F}"/>
              </a:ext>
            </a:extLst>
          </p:cNvPr>
          <p:cNvSpPr txBox="1"/>
          <p:nvPr/>
        </p:nvSpPr>
        <p:spPr>
          <a:xfrm>
            <a:off x="185855" y="6263401"/>
            <a:ext cx="722608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PPIR type: Server-Side Preprocessing w/o Offline Communication</a:t>
            </a:r>
          </a:p>
        </p:txBody>
      </p:sp>
      <p:sp>
        <p:nvSpPr>
          <p:cNvPr id="9" name="TextBox 8">
            <a:extLst>
              <a:ext uri="{FF2B5EF4-FFF2-40B4-BE49-F238E27FC236}">
                <a16:creationId xmlns:a16="http://schemas.microsoft.com/office/drawing/2014/main" id="{15A739AB-BCDC-44CA-A28D-C23A5EA951FB}"/>
              </a:ext>
            </a:extLst>
          </p:cNvPr>
          <p:cNvSpPr txBox="1"/>
          <p:nvPr/>
        </p:nvSpPr>
        <p:spPr>
          <a:xfrm>
            <a:off x="185855" y="5743284"/>
            <a:ext cx="3857638" cy="458074"/>
          </a:xfrm>
          <a:prstGeom prst="rect">
            <a:avLst/>
          </a:prstGeom>
          <a:noFill/>
        </p:spPr>
        <p:txBody>
          <a:bodyPr wrap="square">
            <a:spAutoFit/>
          </a:bodyPr>
          <a:lstStyle/>
          <a:p>
            <a:pPr marL="0" marR="0" algn="just">
              <a:lnSpc>
                <a:spcPct val="150000"/>
              </a:lnSpc>
              <a:spcBef>
                <a:spcPts val="1200"/>
              </a:spcBef>
              <a:spcAft>
                <a:spcPts val="0"/>
              </a:spcAft>
            </a:pPr>
            <a:r>
              <a:rPr lang="en-US" i="1" dirty="0">
                <a:effectLst/>
                <a:latin typeface="Times New Roman" panose="02020603050405020304" pitchFamily="18" charset="0"/>
                <a:ea typeface="宋体" panose="02010600030101010101" pitchFamily="2" charset="-122"/>
                <a:cs typeface="Times New Roman" panose="02020603050405020304" pitchFamily="18" charset="0"/>
              </a:rPr>
              <a:t>Hardness assumption: RLWE-based</a:t>
            </a:r>
          </a:p>
        </p:txBody>
      </p:sp>
    </p:spTree>
    <p:extLst>
      <p:ext uri="{BB962C8B-B14F-4D97-AF65-F5344CB8AC3E}">
        <p14:creationId xmlns:p14="http://schemas.microsoft.com/office/powerpoint/2010/main" val="361339455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20255</TotalTime>
  <Words>13846</Words>
  <Application>Microsoft Office PowerPoint</Application>
  <PresentationFormat>Широкоэкранный</PresentationFormat>
  <Paragraphs>1646</Paragraphs>
  <Slides>64</Slides>
  <Notes>60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64</vt:i4>
      </vt:variant>
    </vt:vector>
  </HeadingPairs>
  <TitlesOfParts>
    <vt:vector size="73" baseType="lpstr">
      <vt:lpstr>Google Sans Text</vt:lpstr>
      <vt:lpstr>微软雅黑</vt:lpstr>
      <vt:lpstr>Arial</vt:lpstr>
      <vt:lpstr>Calibri</vt:lpstr>
      <vt:lpstr>Calibri Light</vt:lpstr>
      <vt:lpstr>Cambria Math</vt:lpstr>
      <vt:lpstr>Consolas</vt:lpstr>
      <vt:lpstr>Times New Roman</vt:lpstr>
      <vt:lpstr>Тема Office</vt:lpstr>
      <vt:lpstr>Private Information Retrieval</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and overview of Russian Information Security Law and Policies</dc:title>
  <dc:creator>Thinkpad</dc:creator>
  <cp:lastModifiedBy>Thinkpad</cp:lastModifiedBy>
  <cp:revision>1053</cp:revision>
  <dcterms:created xsi:type="dcterms:W3CDTF">2025-03-04T05:29:58Z</dcterms:created>
  <dcterms:modified xsi:type="dcterms:W3CDTF">2026-05-28T08:41:36Z</dcterms:modified>
</cp:coreProperties>
</file>