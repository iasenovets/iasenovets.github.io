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69" r:id="rId3"/>
    <p:sldId id="283" r:id="rId4"/>
    <p:sldId id="258" r:id="rId5"/>
    <p:sldId id="260" r:id="rId6"/>
    <p:sldId id="276" r:id="rId7"/>
    <p:sldId id="263" r:id="rId8"/>
    <p:sldId id="278" r:id="rId9"/>
    <p:sldId id="286" r:id="rId10"/>
    <p:sldId id="285" r:id="rId11"/>
    <p:sldId id="279" r:id="rId12"/>
    <p:sldId id="280" r:id="rId13"/>
    <p:sldId id="282" r:id="rId14"/>
    <p:sldId id="281" r:id="rId15"/>
    <p:sldId id="27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inkpad" initials="T" lastIdx="1" clrIdx="0">
    <p:extLst>
      <p:ext uri="{19B8F6BF-5375-455C-9EA6-DF929625EA0E}">
        <p15:presenceInfo xmlns:p15="http://schemas.microsoft.com/office/powerpoint/2012/main" userId="Thinkpa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259" autoAdjust="0"/>
  </p:normalViewPr>
  <p:slideViewPr>
    <p:cSldViewPr snapToGrid="0">
      <p:cViewPr varScale="1">
        <p:scale>
          <a:sx n="91" d="100"/>
          <a:sy n="91" d="100"/>
        </p:scale>
        <p:origin x="1314" y="90"/>
      </p:cViewPr>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23DFB0-2DDB-44C3-97FA-2B5D4C08F131}" type="datetimeFigureOut">
              <a:rPr lang="en-US" smtClean="0"/>
              <a:t>7/12/2025</a:t>
            </a:fld>
            <a:endParaRPr lang="en-US"/>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F0CBD4-9D5C-44A4-B11F-F79AF78C86E0}" type="slidenum">
              <a:rPr lang="en-US" smtClean="0"/>
              <a:t>‹#›</a:t>
            </a:fld>
            <a:endParaRPr lang="en-US"/>
          </a:p>
        </p:txBody>
      </p:sp>
    </p:spTree>
    <p:extLst>
      <p:ext uri="{BB962C8B-B14F-4D97-AF65-F5344CB8AC3E}">
        <p14:creationId xmlns:p14="http://schemas.microsoft.com/office/powerpoint/2010/main" val="3781739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regulhub.kaspersky.ru/decrees/prikaz-524#:~:text=%D0%9F%D1%80%D0%B8%D0%BA%D0%B0%D0%B7%20%E2%84%96%20524%20%D0%9F%D1%80%D0%B8%D0%BA%D0%B0%D0%B7%20%D1%83%D1%82%D0%B2%D0%B5%D1%80%D0%B6%D0%B4%D0%B0%D0%B5%D1%82,%D0%BA%D1%80%D0%B8%D0%BF%D1%82%D0%BE%D0%B3%D1%80%D0%B0%D1%84%D0%B8%D1%87%D0%B5%D1%81%D0%BA%D0%B8%D1%85%29%20%D1%81%D1%80%D0%B5%D0%B4%D1%81%D1%82%D0%B2" TargetMode="External"/><Relationship Id="rId3" Type="http://schemas.openxmlformats.org/officeDocument/2006/relationships/hyperlink" Target="https://habr.com/ru/companies/infotecs_official/articles/701546/#:~:text=%C2%AB%D0%9F%D0%BE%D0%BB%D0%BE%D0%B6%D0%B5%D0%BD%D0%B8%D0%B5%20%D0%BE%20%D1%80%D0%B0%D0%B7%D1%80%D0%B0%D0%B1%D0%BE%D1%82%D0%BA%D0%B5%2C%20%D0%BF%D1%80%D0%BE%D0%B8%D0%B7%D0%B2%D0%BE%D0%B4%D1%81%D1%82%D0%B2%D0%B5%2C%20%D1%80%D0%B5%D0%B0%D0%BB%D0%B8%D0%B7%D0%B0%D1%86%D0%B8%D0%B8,%D1%84%D0%B5%D0%B2%D1%80%D0%B0%D0%BB%D1%8F%202005%20%D0%B3%D0%BE%D0%B4%D0%B0%20%E2%84%96%2066" TargetMode="External"/><Relationship Id="rId7" Type="http://schemas.openxmlformats.org/officeDocument/2006/relationships/hyperlink" Target="https://www.ec-rs.ru/blog/sredstva-zashhity-informacii/kak-proveryaet-fsb-ili-pravila-pravilnoy-ekspluatatsii-skzi-dlya-zashchity-personalnykh-dannykh/#:~:text=%D0%A4%D0%A1%D0%91%20%E2%84%96378,%D0%B0%D1%82%D0%B0%D0%BA%20%D0%BD%D0%B0%20%D0%B8%D0%BD%D1%84%D0%BE%D1%80%D0%BC%D0%B0%D1%86%D0%B8%D0%BE%D0%BD%D0%BD%D1%83%D1%8E%20%D1%81%D0%B8%D1%81%D1%82%D0%B5%D0%BC%D1%83%20%D0%BF%D0%B5%D1%80%D1%81%D0%BE%D0%BD%D0%B0%D0%BB%D1%8C%D0%BD%D1%8B%D1%85" TargetMode="External"/><Relationship Id="rId12" Type="http://schemas.openxmlformats.org/officeDocument/2006/relationships/hyperlink" Target="https://cisoclub.ru/fsb-vvela-obnovljonnye-pravila-dlja-shifrovanija-dannyh-v-informacionnyh-sistemah/#:~:text=%D0%95%D1%81%D1%82%D1%8C%20%D0%B8%20%D0%B8%D1%81%D0%BA%D0%BB%D1%8E%D1%87%D0%B5%D0%BD%D0%B8%D1%8F,%D1%81%D0%B2%D0%B5%D0%B4%D0%B5%D0%BD%D0%B8%D1%8F%2C%20%D0%BE%D1%82%D0%BD%D0%B5%D1%81%D1%91%D0%BD%D0%BD%D1%8B%D0%B5%20%D0%BA%20%D0%B3%D0%BE%D1%81%D1%83%D0%B4%D0%B0%D1%80%D1%81%D1%82%D0%B2%D0%B5%D0%BD%D0%BD%D0%BE%D0%B9%20%D1%82%D0%B0%D0%B9%D0%BD%D0%B5"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habr.com/ru/companies/infotecs_official/articles/701546/#:~:text=%D0%92%20%D0%B4%D0%BE%D0%BF%D0%BE%D0%BB%D0%BD%D0%B5%D0%BD%D0%B8%D0%B5%20%D0%BA%20%D1%83%D0%BA%D0%B0%D0%B7%D0%B0%D0%BD%D0%BD%D1%8B%D0%BC%20%D0%BD%D0%BE%D1%80%D0%BC%D0%B0%D1%82%D0%B8%D0%B2%D0%BD%D1%8B%D0%BC,%D0%BF%D0%B5%D1%80%D1%81%D0%BE%D0%BD%D0%B0%D0%BB%D1%8C%D0%BD%D1%8B%D1%85%20%D0%B4%D0%B0%D0%BD%D0%BD%D1%8B%D1%85%20%D0%B4%D0%BB%D1%8F%20%D0%BA%D0%B0%D0%B6%D0%B4%D0%BE%D0%B3%D0%BE%20%D0%B8%D0%B7" TargetMode="External"/><Relationship Id="rId11" Type="http://schemas.openxmlformats.org/officeDocument/2006/relationships/hyperlink" Target="https://cisoclub.ru/fsb-vvela-obnovljonnye-pravila-dlja-shifrovanija-dannyh-v-informacionnyh-sistemah/#:~:text=%D0%95%D1%81%D0%BB%D0%B8%20%D1%80%D0%B0%D0%BD%D1%8C%D1%88%D0%B5%20%D1%80%D0%B5%D1%87%D1%8C%20%D1%88%D0%BB%D0%B0%20%D0%B8%D1%81%D0%BA%D0%BB%D1%8E%D1%87%D0%B8%D1%82%D0%B5%D0%BB%D1%8C%D0%BD%D0%BE,%D0%BF%D0%BE%D0%B4%D1%82%D0%B2%D0%B5%D1%80%D0%B6%D0%B4%D0%B5%D0%BD%D0%B8%D0%B5%20%D1%81%D0%BE%D0%BE%D1%82%D0%B2%D0%B5%D1%82%D1%81%D1%82%D0%B2%D0%B8%D1%8F%20%D0%BE%D1%82%20%D0%A4%D0%A1%D0%91%20%D0%A0%D0%BE%D1%81%D1%81%D0%B8%D0%B8" TargetMode="External"/><Relationship Id="rId5" Type="http://schemas.openxmlformats.org/officeDocument/2006/relationships/hyperlink" Target="https://habr.com/ru/companies/infotecs_official/articles/701546/#:~:text=%D0%98%D0%BD%D1%81%D1%82%D1%80%D1%83%D0%BA%D1%86%D0%B8%D0%B5%D0%B9%20%D0%BF%D1%80%D0%B5%D0%B4%D0%BF%D0%B8%D1%81%D1%8B%D0%B2%D0%B0%D0%B5%D1%82%D1%81%D1%8F%20%D1%85%D1%80%D0%B0%D0%BD%D0%B8%D1%82%D1%8C%20%D1%8D%D0%BA%D1%81%D0%BF%D0%BB%D1%83%D0%B0%D1%82%D0%B0%D1%86%D0%B8%D0%BE%D0%BD%D0%BD%D1%83%D1%8E%20%D0%B4%D0%BE%D0%BA%D1%83%D0%BC%D0%B5%D0%BD%D1%82%D0%B0%D1%86%D0%B8%D1%8E,%D1%80%D0%B5%D0%B0%D0%BB%D0%B8%D1%8F%D1%85%2C%20%D0%BC%D0%BE%D0%B6%D0%BD%D0%BE%20%D0%BF%D0%BE%D0%BB%D1%83%D1%87%D0%B8%D1%82%D1%8C%20%D0%B0%D0%B4%D0%BC%D0%B8%D0%BD%D0%B8%D1%81%D1%82%D1%80%D0%B0%D1%82%D0%B8%D0%B2%D0%BD%D1%8B%D0%B9%20%D1%88%D1%82%D1%80%D0%B0%D1%84" TargetMode="External"/><Relationship Id="rId10" Type="http://schemas.openxmlformats.org/officeDocument/2006/relationships/hyperlink" Target="https://cisoclub.ru/fsb-vvela-obnovljonnye-pravila-dlja-shifrovanija-dannyh-v-informacionnyh-sistemah/#:~:text=%D0%92%D1%8B%D0%BF%D1%83%D1%89%D0%B5%D0%BD%20%D0%BD%D0%BE%D0%B2%D1%8B%D0%B9%20%D0%BF%D1%80%D0%B8%D0%BA%D0%B0%D0%B7%20%D0%A4%D0%A1%D0%91%20%D0%BF%D0%BE%D0%B4,%D1%81%D0%B4%D0%B5%D0%BB%D0%B0%D0%BD%20%D0%BD%D0%B0%20%D0%B8%D1%81%D0%BF%D0%BE%D0%BB%D1%8C%D0%B7%D0%BE%D0%B2%D0%B0%D0%BD%D0%B8%D0%B5%20%D1%88%D0%B8%D1%84%D1%80%D0%BE%D0%B2%D0%B0%D0%BB%D1%8C%D0%BD%D1%8B%D1%85%20%D1%81%D1%80%D0%B5%D0%B4%D1%81%D1%82%D0%B2" TargetMode="External"/><Relationship Id="rId4" Type="http://schemas.openxmlformats.org/officeDocument/2006/relationships/hyperlink" Target="https://habr.com/ru/companies/infotecs_official/articles/701546/#:~:text=%C2%AB%D0%98%D0%BD%D1%81%D1%82%D1%80%D1%83%D0%BA%D1%86%D0%B8%D1%8F%20%D0%BE%D0%B1%20%D0%BE%D1%80%D0%B3%D0%B0%D0%BD%D0%B8%D0%B7%D0%B0%D1%86%D0%B8%D0%B8%20%D0%B8%20%D0%BE%D0%B1%D0%B5%D1%81%D0%BF%D0%B5%D1%87%D0%B5%D0%BD%D0%B8%D0%B8,%D0%B4%D0%B0%D0%BB%D0%B5%D0%B5%20%E2%80%93%20%D0%98%D0%BD%D1%81%D1%82%D1%80%D1%83%D0%BA%D1%86%D0%B8%D1%8F" TargetMode="External"/><Relationship Id="rId9" Type="http://schemas.openxmlformats.org/officeDocument/2006/relationships/hyperlink" Target="https://www.isoconsulting.ru/vstupayut-v-silu-trebovaniya-o-zashhite-gis-sredstvami-kriptografii.html#:~:text=,%D0%9D%D0%B0%D0%BF%D0%BE%D0%BC%D0%B8%D0%BD%D0%B0%D0%B5%D0%BC%2C%20%D1%87%D1%82%D0%BE%20%D0%B2%20%D1%82%D0%B5%D1%85%D0%BD%D0%B8%D1%87%D0%B5%D1%81%D0%BA%D0%B8%D1%85" TargetMode="Externa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s://habr.com/ru/articles/530816/#:~:text=%D0%A8%D0%B8%D1%84%D1%80%D1%8B" TargetMode="External"/><Relationship Id="rId3" Type="http://schemas.openxmlformats.org/officeDocument/2006/relationships/hyperlink" Target="http://docs.cntd.ru/document/1200161706" TargetMode="External"/><Relationship Id="rId7" Type="http://schemas.openxmlformats.org/officeDocument/2006/relationships/hyperlink" Target="http://docs.cntd.ru/document/1200161708"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habr.com/ru/articles/530816/#:~:text=%D0%93%D0%9E%D0%A1%D0%A2%2034.11,%D0%BF%D1%80%D0%B5%D0%B4%D1%8B%D0%B4%D1%83%D1%89%D0%B8%D1%85%20%D0%B2%D0%B5%D1%80%D1%81%D0%B8%D0%B9%20%D1%81%D1%82%D0%B0%D0%BD%D0%B4%D0%B0%D1%80%D1%82%D0%B0%2C%20%D0%BA%D0%B0%D0%BA%20%D0%A1%D1%82%D1%80%D0%B8%D0%B1%D0%BE%D0%B3" TargetMode="External"/><Relationship Id="rId5" Type="http://schemas.openxmlformats.org/officeDocument/2006/relationships/hyperlink" Target="http://docs.cntd.ru/document/1200161707" TargetMode="External"/><Relationship Id="rId10" Type="http://schemas.openxmlformats.org/officeDocument/2006/relationships/hyperlink" Target="https://habr.com/ru/articles/530816/#:~:text=%D0%A0%D0%B5%D0%B6%D0%B8%D0%BC%D1%8B%20%D1%80%D0%B0%D0%B1%D0%BE%D1%82%D1%8B%20%D1%88%D0%B8%D1%84%D1%80%D0%BE%D0%B2" TargetMode="External"/><Relationship Id="rId4" Type="http://schemas.openxmlformats.org/officeDocument/2006/relationships/hyperlink" Target="https://habr.com/ru/articles/530816/#:~:text=%D0%93%D0%9E%D0%A1%D0%A2%2034.10,256%20%D0%B1%D0%B8%D1%82%20%D0%B8%20512%20%D0%B1%D0%B8%D1%82" TargetMode="External"/><Relationship Id="rId9" Type="http://schemas.openxmlformats.org/officeDocument/2006/relationships/hyperlink" Target="http://docs.cntd.ru/document/1200161709" TargetMode="Externa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habr.com/ru/articles/530816/#:~:text=%D1%86%D0%B8%D1%84%D1%80%D0%BE%D0%B2%D1%8B%D0%B5%20%D1%81%D0%B5%D1%80%D1%82%D0%B8%D1%84%D0%B8%D0%BA%D0%B0%D1%82%D1%8B%C2%BB%2C%20%D0%BF%D0%B8%D1%88%D0%B5%D1%82%20%D0%9C%D0%B5%D0%B4%D1%83%D0%B7%D0%B0,%D1%81%202024%20%D0%B3%D0%BE%D0%B4%D0%B0%2C%20%D0%BF%D0%B8%D1%88%D0%B5%D1%82%20%D0%A0%D0%91%D0%9A" TargetMode="External"/><Relationship Id="rId3" Type="http://schemas.openxmlformats.org/officeDocument/2006/relationships/hyperlink" Target="https://habr.com/ru/articles/530816/#:~:text=%D0%93%D0%9E%D0%A1%D0%A2%2034.12,%D1%88%D0%B8%D1%84%D1%80%D0%BE%D0%B2%D0%B0%D0%BD%D0%B8%D1%8F%20256%20%D0%B1%D0%B8%D1%82%20%D1%83%20%D0%BE%D0%B1%D0%BE%D0%B8%D1%85" TargetMode="External"/><Relationship Id="rId7" Type="http://schemas.openxmlformats.org/officeDocument/2006/relationships/hyperlink" Target="https://support.cryptopro.ru/index.php?/Knowledgebase/Article/View/461/0/shifrovnie-s-ispolzovniem-lgoritmov-mgm-i-kuznechik#:~:text=%D0%9D%D0%B0%D1%87%D0%B8%D0%BD%D0%B0%D1%8F%20%D1%81%20%D0%B2%D0%B5%D1%80%D1%81%D0%B8%D0%B8%205,%D0%B8%D1%81%D0%BF%D0%BE%D0%BB%D1%8C%D0%B7%D0%BE%D0%B2%D0%B0%D0%BD%D0%B8%D0%B5%D0%BC%20%D0%B0%D0%BB%D0%B3%D0%BE%D1%80%D0%B8%D1%82%D0%BC%D0%BE%D0%B2%20%D0%9C%D0%B0%D0%B3%D0%BC%D0%B0%20%D0%B8%20%D0%9A%D1%83%D0%B7%D0%BD%D0%B5%D1%87%D0%B8%D0%BA"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habr.com/ru/articles/530816/#:~:text=%D0%93%D0%9E%D0%A1%D0%A2%2034.10,256%20%D0%B1%D0%B8%D1%82%20%D0%B8%20512%20%D0%B1%D0%B8%D1%82" TargetMode="External"/><Relationship Id="rId5" Type="http://schemas.openxmlformats.org/officeDocument/2006/relationships/hyperlink" Target="https://habr.com/ru/articles/530816/#:~:text=%D0%93%D0%9E%D0%A1%D0%A2%2034.11,%D0%BF%D1%80%D0%B5%D0%B4%D1%8B%D0%B4%D1%83%D1%89%D0%B8%D1%85%20%D0%B2%D0%B5%D1%80%D1%81%D0%B8%D0%B9%20%D1%81%D1%82%D0%B0%D0%BD%D0%B4%D0%B0%D1%80%D1%82%D0%B0%2C%20%D0%BA%D0%B0%D0%BA%20%D0%A1%D1%82%D1%80%D0%B8%D0%B1%D0%BE%D0%B3" TargetMode="External"/><Relationship Id="rId4" Type="http://schemas.openxmlformats.org/officeDocument/2006/relationships/hyperlink" Target="https://habr.com/ru/articles/530816/#:~:text=%D0%94%D0%BE%20%D0%BA%D0%BE%D0%BD%D1%86%D0%B0%202020%20%D0%B3%D0%BE%D0%B4%D0%B0%20%D0%BF%D0%BB%D0%B0%D0%BD%D0%B8%D1%80%D1%83%D0%B5%D1%82%D1%81%D1%8F,%D1%81%202024%20%D0%B3%D0%BE%D0%B4%D0%B0%2C%20%D0%BF%D0%B8%D1%88%D0%B5%D1%82%20%D0%A0%D0%91%D0%9A"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8" Type="http://schemas.openxmlformats.org/officeDocument/2006/relationships/hyperlink" Target="https://www.ec-rs.ru/blog/sredstva-zashhity-informacii/kak-proveryaet-fsb-ili-pravila-pravilnoy-ekspluatatsii-skzi-dlya-zashchity-personalnykh-dannykh/#:~:text=2,%D0%BF%D1%80%D0%B0%D0%B2%D0%B8%D0%BB%D0%B0%20%D0%BE%D0%B1%D1%80%D0%B0%D1%89%D0%B5%D0%BD%D0%B8%D1%8F%20%D0%B8%20%D0%BE%D0%B1%D1%81%D0%BB%D1%83%D0%B6%D0%B8%D0%B2%D0%B0%D0%BD%D0%B8%D1%8F%20%D0%A1%D0%9A%D0%97%D0%98" TargetMode="External"/><Relationship Id="rId3" Type="http://schemas.openxmlformats.org/officeDocument/2006/relationships/hyperlink" Target="https://habr.com/ru/companies/infotecs_official/articles/701546/#:~:text=%D0%92%D0%B0%D0%B6%D0%BD%D0%BE%20%D0%BE%D1%82%D0%BC%D0%B5%D1%82%D0%B8%D1%82%D1%8C%2C%20%D1%87%D1%82%D0%BE%20%D0%B4%D0%B5%D1%8F%D1%82%D0%B5%D0%BB%D1%8C%D0%BD%D0%BE%D1%81%D1%82%D1%8C%2C%20%D1%81%D0%B2%D1%8F%D0%B7%D0%B0%D0%BD%D0%BD%D0%B0%D1%8F,%D0%B4%D0%B0%D0%BB%D0%B5%D0%B5%20%E2%80%93%20%D0%9F%D0%BE%D0%BB%D0%BE%D0%B6%D0%B5%D0%BD%D0%B8%D0%B5%20%D0%BE%20%D0%BB%D0%B8%D1%86%D0%B5%D0%BD%D0%B7%D0%B8%D1%80%D0%BE%D0%B2%D0%B0%D0%BD%D0%B8%D0%B8" TargetMode="External"/><Relationship Id="rId7" Type="http://schemas.openxmlformats.org/officeDocument/2006/relationships/hyperlink" Target="https://www.ec-rs.ru/blog/sredstva-zashhity-informacii/kak-proveryaet-fsb-ili-pravila-pravilnoy-ekspluatatsii-skzi-dlya-zashchity-personalnykh-dannykh/#:~:text=%D0%A1%20%D1%86%D0%B5%D0%BB%D1%8C%D1%8E%20%D0%BF%D1%80%D0%BE%D1%85%D0%BE%D0%B6%D0%B4%D0%B5%D0%BD%D0%B8%D1%8F%20%D0%BF%D1%80%D0%BE%D0%B2%D0%B5%D1%80%D0%BA%D0%B8%20%D0%A4%D0%A1%D0%91,%D0%A1%D0%9A%D0%97%D0%98%20%D0%B2%20%D0%BE%D0%B1%D1%8F%D0%B7%D0%B0%D1%82%D0%B5%D0%BB%D1%8C%D0%BD%D0%BE%D0%BC%20%D0%BF%D0%BE%D1%80%D1%8F%D0%B4%D0%BA%D0%B5%20%D0%B4%D0%BE%D0%BB%D0%B6%D0%B5%D0%BD"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mastcert.com/everything-you-need-to-know-about-fsb-certification/#:~:text=Registration%20of%20the%20FSS%20certification%C2%A0https%3A%2F%2Fmastcert.com%2Ffss,be%20introduced%20into%20the%20country" TargetMode="External"/><Relationship Id="rId5" Type="http://schemas.openxmlformats.org/officeDocument/2006/relationships/hyperlink" Target="https://cisoclub.ru/fsb-vvela-obnovljonnye-pravila-dlja-shifrovanija-dannyh-v-informacionnyh-sistemah/#:~:text=%D1%83%D0%BF%D1%80%D0%B0%D0%B2%D0%BB%D1%8F%D1%8E%D1%82%20%D0%BE%D1%80%D0%B3%D0%B0%D0%BD%D1%8B%20%D0%B2%D0%BB%D0%B0%D1%81%D1%82%D0%B8%2C%20%D0%BF%D0%BE%D0%B4%D0%B2%D0%B5%D0%B4%D0%BE%D0%BC%D1%81%D1%82%D0%B2%D0%B5%D0%BD%D0%BD%D1%8B%D0%B5%20%D0%B8%D0%BC,%D0%BF%D0%BE%D0%B4%D1%82%D0%B2%D0%B5%D1%80%D0%B6%D0%B4%D0%B5%D0%BD%D0%B8%D0%B5%20%D1%81%D0%BE%D0%BE%D1%82%D0%B2%D0%B5%D1%82%D1%81%D1%82%D0%B2%D0%B8%D1%8F%20%D0%BE%D1%82%20%D0%A4%D0%A1%D0%91%20%D0%A0%D0%BE%D1%81%D1%81%D0%B8%D0%B8" TargetMode="External"/><Relationship Id="rId4" Type="http://schemas.openxmlformats.org/officeDocument/2006/relationships/hyperlink" Target="https://cisoclub.ru/fsb-vvela-obnovljonnye-pravila-dlja-shifrovanija-dannyh-v-informacionnyh-sistemah/#:~:text=%D0%95%D1%81%D0%BB%D0%B8%20%D1%80%D0%B0%D0%BD%D1%8C%D1%88%D0%B5%20%D1%80%D0%B5%D1%87%D1%8C%20%D1%88%D0%BB%D0%B0%20%D0%B8%D1%81%D0%BA%D0%BB%D1%8E%D1%87%D0%B8%D1%82%D0%B5%D0%BB%D1%8C%D0%BD%D0%BE,%D0%BF%D0%BE%D0%B4%D1%82%D0%B2%D0%B5%D1%80%D0%B6%D0%B4%D0%B5%D0%BD%D0%B8%D0%B5%20%D1%81%D0%BE%D0%BE%D1%82%D0%B2%D0%B5%D1%82%D1%81%D1%82%D0%B2%D0%B8%D1%8F%20%D0%BE%D1%82%20%D0%A4%D0%A1%D0%91%20%D0%A0%D0%BE%D1%81%D1%81%D0%B8%D0%B8" TargetMode="External"/><Relationship Id="rId9" Type="http://schemas.openxmlformats.org/officeDocument/2006/relationships/hyperlink" Target="https://www.ec-rs.ru/blog/sredstva-zashhity-informacii/kak-proveryaet-fsb-ili-pravila-pravilnoy-ekspluatatsii-skzi-dlya-zashchity-personalnykh-dannykh/#:~:text=%D0%BE%D0%BF%D1%80%D0%B5%D0%B4%D0%B5%D0%BB%D0%B5%D0%BD%20%D0%BA%D0%BB%D0%B0%D1%81%D1%81%20%D0%A1%D0%9A%D0%97%D0%98,%D0%B0%D1%82%D0%B0%D0%BA%20%D0%BD%D0%B0%20%D0%B8%D0%BD%D1%84%D0%BE%D1%80%D0%BC%D0%B0%D1%86%D0%B8%D0%BE%D0%BD%D0%BD%D1%83%D1%8E%20%D1%81%D0%B8%D1%81%D1%82%D0%B5%D0%BC%D1%83%20%D0%BF%D0%B5%D1%80%D1%81%D0%BE%D0%BD%D0%B0%D0%BB%D1%8C%D0%BD%D1%8B%D1%85" TargetMode="External"/></Relationships>
</file>

<file path=ppt/notesSlides/_rels/notesSlide12.xml.rels><?xml version="1.0" encoding="UTF-8" standalone="yes"?>
<Relationships xmlns="http://schemas.openxmlformats.org/package/2006/relationships"><Relationship Id="rId8" Type="http://schemas.openxmlformats.org/officeDocument/2006/relationships/hyperlink" Target="https://mastcert.com/everything-you-need-to-know-about-fsb-certification/#:~:text=Registration%20of%20the%20FSS%20certification%C2%A0https%3A%2F%2Fmastcert.com%2Ffss,be%20introduced%20into%20the%20country" TargetMode="External"/><Relationship Id="rId3" Type="http://schemas.openxmlformats.org/officeDocument/2006/relationships/hyperlink" Target="https://thediplomat.com/2019/10/decoding-chinas-cryptography-law/#:~:text=The%20Cryptography%20Law%20identifies%20two,secret%20and%20highly%20secret%20levels" TargetMode="External"/><Relationship Id="rId7" Type="http://schemas.openxmlformats.org/officeDocument/2006/relationships/hyperlink" Target="https://habr.com/ru/articles/530816/#:~:text=%D0%94%D0%BE%20%D0%BA%D0%BE%D0%BD%D1%86%D0%B0%202020%20%D0%B3%D0%BE%D0%B4%D0%B0%20%D0%BF%D0%BB%D0%B0%D0%BD%D0%B8%D1%80%D1%83%D0%B5%D1%82%D1%81%D1%8F,%D1%81%202024%20%D0%B3%D0%BE%D0%B4%D0%B0%2C%20%D0%BF%D0%B8%D1%88%D0%B5%D1%82%20%D0%A0%D0%91%D0%9A"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en.wikipedia.org/wiki/Federal_Service_for_Technical_and_Export_Control#:~:text=FSTEC%20of%20Russia%20maintains%20the,5" TargetMode="External"/><Relationship Id="rId5" Type="http://schemas.openxmlformats.org/officeDocument/2006/relationships/hyperlink" Target="https://thediplomat.com/2019/10/decoding-chinas-cryptography-law/#:~:text=%E2%80%9CCryptography%E2%80%9D%20in%20this%20Law%20refers,Council%2C%20but%20the%20Party%20Central" TargetMode="External"/><Relationship Id="rId10" Type="http://schemas.openxmlformats.org/officeDocument/2006/relationships/hyperlink" Target="https://habr.com/ru/companies/infotecs_official/articles/701546/#:~:text=%D0%9A%D1%80%D0%BE%D0%BC%D0%B5%20%D1%82%D0%BE%D0%B3%D0%BE%2C%20%D0%B8%D0%BC%D0%B5%D0%BD%D0%BD%D0%BE%20%D0%A4%D0%A1%D0%91%20%D0%A0%D0%BE%D1%81%D1%81%D0%B8%D0%B8,%D0%BA%D0%BE%D0%BD%D1%81%D1%82%D1%80%D1%83%D0%BA%D1%82%D0%B8%D0%B2%D0%BD%D0%BE%D0%BC%20%D0%B2%D0%B7%D0%B0%D0%B8%D0%BC%D0%BE%D0%B4%D0%B5%D0%B9%D1%81%D1%82%D0%B2%D0%B8%D0%B8%20%D1%81%20%D1%8D%D1%82%D0%B8%D0%BC%20%D0%B2%D0%B5%D0%B4%D0%BE%D0%BC%D1%81%D1%82%D0%B2%D0%BE%D0%BC" TargetMode="External"/><Relationship Id="rId4" Type="http://schemas.openxmlformats.org/officeDocument/2006/relationships/hyperlink" Target="https://habr.com/ru/companies/infotecs_official/articles/701546/#:~:text=%D0%9E%D0%B1%D1%89%D0%B8%D0%B5%20%D0%BF%D0%BE%D0%BB%D0%BE%D0%B6%D0%B5%D0%BD%D0%B8%D1%8F%20%D1%80%D0%B5%D0%B3%D1%83%D0%BB%D0%B8%D1%80%D1%83%D1%8E%D1%82%D1%81%D1%8F%20%D0%A4%D0%B5%D0%B4%D0%B5%D1%80%D0%B0%D0%BB%D1%8C%D0%BD%D1%8B%D0%BC%20%D0%B7%D0%B0%D0%BA%D0%BE%D0%BD%D0%BE%D0%BC,%D0%B4%D0%BE%D0%BA%D1%83%D0%BC%D0%B5%D0%BD%D1%82%D1%8B%2C%20%D1%80%D0%B5%D0%B3%D1%83%D0%BB%D0%B8%D1%80%D1%83%D1%8E%D1%89%D0%B8%D0%B5%20%D0%B2%D0%BE%D0%BF%D1%80%D0%BE%D1%81%D1%8B%20%D0%B7%D0%B0%D1%89%D0%B8%D1%82%D1%8B%20%D0%B8%D0%BD%D1%84%D0%BE%D1%80%D0%BC%D0%B0%D1%86%D0%B8%D0%B8" TargetMode="External"/><Relationship Id="rId9" Type="http://schemas.openxmlformats.org/officeDocument/2006/relationships/hyperlink" Target="https://thediplomat.com/2019/10/decoding-chinas-cryptography-law/#:~:text=Section%203%20of%20the%20Cryptography,All%20cooperation"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1</a:t>
            </a:fld>
            <a:endParaRPr lang="en-US"/>
          </a:p>
        </p:txBody>
      </p:sp>
    </p:spTree>
    <p:extLst>
      <p:ext uri="{BB962C8B-B14F-4D97-AF65-F5344CB8AC3E}">
        <p14:creationId xmlns:p14="http://schemas.microsoft.com/office/powerpoint/2010/main" val="3351396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2</a:t>
            </a:fld>
            <a:endParaRPr lang="en-US"/>
          </a:p>
        </p:txBody>
      </p:sp>
    </p:spTree>
    <p:extLst>
      <p:ext uri="{BB962C8B-B14F-4D97-AF65-F5344CB8AC3E}">
        <p14:creationId xmlns:p14="http://schemas.microsoft.com/office/powerpoint/2010/main" val="1322139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3</a:t>
            </a:fld>
            <a:endParaRPr lang="en-US"/>
          </a:p>
        </p:txBody>
      </p:sp>
    </p:spTree>
    <p:extLst>
      <p:ext uri="{BB962C8B-B14F-4D97-AF65-F5344CB8AC3E}">
        <p14:creationId xmlns:p14="http://schemas.microsoft.com/office/powerpoint/2010/main" val="26694810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7F0CBD4-9D5C-44A4-B11F-F79AF78C86E0}" type="slidenum">
              <a:rPr lang="en-US" smtClean="0"/>
              <a:t>4</a:t>
            </a:fld>
            <a:endParaRPr lang="en-US"/>
          </a:p>
        </p:txBody>
      </p:sp>
    </p:spTree>
    <p:extLst>
      <p:ext uri="{BB962C8B-B14F-4D97-AF65-F5344CB8AC3E}">
        <p14:creationId xmlns:p14="http://schemas.microsoft.com/office/powerpoint/2010/main" val="3456461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5</a:t>
            </a:fld>
            <a:endParaRPr lang="en-US"/>
          </a:p>
        </p:txBody>
      </p:sp>
    </p:spTree>
    <p:extLst>
      <p:ext uri="{BB962C8B-B14F-4D97-AF65-F5344CB8AC3E}">
        <p14:creationId xmlns:p14="http://schemas.microsoft.com/office/powerpoint/2010/main" val="1371511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rPr>
              <a:t>FSB Order № 66 (2005)</a:t>
            </a:r>
            <a:r>
              <a:rPr kumimoji="0" lang="en-US" altLang="en-US" sz="1200" b="0" i="0" u="none" strike="noStrike" cap="none" normalizeH="0" baseline="0" dirty="0">
                <a:ln>
                  <a:noFill/>
                </a:ln>
                <a:solidFill>
                  <a:schemeClr val="tx1"/>
                </a:solidFill>
                <a:effectLst/>
              </a:rPr>
              <a:t> – </a:t>
            </a:r>
            <a:r>
              <a:rPr kumimoji="0" lang="en-US" altLang="en-US" sz="1200" b="0" i="1" u="none" strike="noStrike" cap="none" normalizeH="0" baseline="0" dirty="0">
                <a:ln>
                  <a:noFill/>
                </a:ln>
                <a:solidFill>
                  <a:schemeClr val="tx1"/>
                </a:solidFill>
                <a:effectLst/>
              </a:rPr>
              <a:t>“PCZ-2005”</a:t>
            </a:r>
            <a:r>
              <a:rPr kumimoji="0" lang="en-US" altLang="en-US" sz="1200" b="0" i="0" u="none" strike="noStrike" cap="none" normalizeH="0" baseline="0" dirty="0">
                <a:ln>
                  <a:noFill/>
                </a:ln>
                <a:solidFill>
                  <a:schemeClr val="tx1"/>
                </a:solidFill>
                <a:effectLst/>
              </a:rPr>
              <a:t> Regulations for development, production, distribution, and operation of encryption means </a:t>
            </a:r>
            <a:r>
              <a:rPr kumimoji="0" lang="en-US" altLang="en-US" sz="1200" b="0" i="0" u="none" strike="noStrike" cap="none" normalizeH="0" baseline="0" dirty="0">
                <a:ln>
                  <a:noFill/>
                </a:ln>
                <a:solidFill>
                  <a:schemeClr val="tx1"/>
                </a:solidFill>
                <a:effectLst/>
                <a:hlinkClick r:id="rId3"/>
              </a:rPr>
              <a:t>habr.com</a:t>
            </a:r>
            <a:r>
              <a:rPr kumimoji="0" lang="en-US" altLang="en-US" sz="1200" b="0" i="0" u="none" strike="noStrike" cap="none" normalizeH="0" baseline="0" dirty="0">
                <a:ln>
                  <a:noFill/>
                </a:ln>
                <a:solidFill>
                  <a:schemeClr val="tx1"/>
                </a:solidFill>
                <a:effectLst/>
              </a:rPr>
              <a:t>. Focused on requirements for crypto developers and vendors. (Still foundational for crypto industry rules.)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rPr>
              <a:t>FAPSI Order № 152 (2001)</a:t>
            </a:r>
            <a:r>
              <a:rPr kumimoji="0" lang="en-US" altLang="en-US" sz="1200" b="0" i="0" u="none" strike="noStrike" cap="none" normalizeH="0" baseline="0" dirty="0">
                <a:ln>
                  <a:noFill/>
                </a:ln>
                <a:solidFill>
                  <a:schemeClr val="tx1"/>
                </a:solidFill>
                <a:effectLst/>
              </a:rPr>
              <a:t> – Instruction on using cryptographic protection for sensitive information (not state secrets) </a:t>
            </a:r>
            <a:r>
              <a:rPr kumimoji="0" lang="en-US" altLang="en-US" sz="1200" b="0" i="0" u="none" strike="noStrike" cap="none" normalizeH="0" baseline="0" dirty="0">
                <a:ln>
                  <a:noFill/>
                </a:ln>
                <a:solidFill>
                  <a:schemeClr val="tx1"/>
                </a:solidFill>
                <a:effectLst/>
                <a:hlinkClick r:id="rId4"/>
              </a:rPr>
              <a:t>habr.com</a:t>
            </a:r>
            <a:r>
              <a:rPr kumimoji="0" lang="en-US" altLang="en-US" sz="1200" b="0" i="0" u="none" strike="noStrike" cap="none" normalizeH="0" baseline="0" dirty="0">
                <a:ln>
                  <a:noFill/>
                </a:ln>
                <a:solidFill>
                  <a:schemeClr val="tx1"/>
                </a:solidFill>
                <a:effectLst/>
              </a:rPr>
              <a:t>. Geared toward users of crypto tools; somewhat outdated but legally still in force </a:t>
            </a:r>
            <a:r>
              <a:rPr kumimoji="0" lang="en-US" altLang="en-US" sz="1200" b="0" i="0" u="none" strike="noStrike" cap="none" normalizeH="0" baseline="0" dirty="0">
                <a:ln>
                  <a:noFill/>
                </a:ln>
                <a:solidFill>
                  <a:schemeClr val="tx1"/>
                </a:solidFill>
                <a:effectLst/>
                <a:hlinkClick r:id="rId5"/>
              </a:rPr>
              <a:t>habr.com</a:t>
            </a:r>
            <a:r>
              <a:rPr kumimoji="0" lang="en-US" altLang="en-US" sz="1200" b="0" i="0" u="none" strike="noStrike" cap="none" normalizeH="0" baseline="0" dirty="0">
                <a:ln>
                  <a:noFill/>
                </a:ln>
                <a:solidFill>
                  <a:schemeClr val="tx1"/>
                </a:solidFill>
                <a:effectLst/>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rPr>
              <a:t>FSB Order № 378 (2014)</a:t>
            </a:r>
            <a:r>
              <a:rPr kumimoji="0" lang="en-US" altLang="en-US" sz="1200" b="0" i="0" u="none" strike="noStrike" cap="none" normalizeH="0" baseline="0" dirty="0">
                <a:ln>
                  <a:noFill/>
                </a:ln>
                <a:solidFill>
                  <a:schemeClr val="tx1"/>
                </a:solidFill>
                <a:effectLst/>
              </a:rPr>
              <a:t> – Requirements for protecting </a:t>
            </a:r>
            <a:r>
              <a:rPr kumimoji="0" lang="en-US" altLang="en-US" sz="1200" b="1" i="0" u="none" strike="noStrike" cap="none" normalizeH="0" baseline="0" dirty="0">
                <a:ln>
                  <a:noFill/>
                </a:ln>
                <a:solidFill>
                  <a:schemeClr val="tx1"/>
                </a:solidFill>
                <a:effectLst/>
              </a:rPr>
              <a:t>personal data</a:t>
            </a:r>
            <a:r>
              <a:rPr kumimoji="0" lang="en-US" altLang="en-US" sz="1200" b="0" i="0" u="none" strike="noStrike" cap="none" normalizeH="0" baseline="0" dirty="0">
                <a:ln>
                  <a:noFill/>
                </a:ln>
                <a:solidFill>
                  <a:schemeClr val="tx1"/>
                </a:solidFill>
                <a:effectLst/>
              </a:rPr>
              <a:t> with cryptography </a:t>
            </a:r>
            <a:r>
              <a:rPr kumimoji="0" lang="en-US" altLang="en-US" sz="1200" b="0" i="0" u="none" strike="noStrike" cap="none" normalizeH="0" baseline="0" dirty="0">
                <a:ln>
                  <a:noFill/>
                </a:ln>
                <a:solidFill>
                  <a:schemeClr val="tx1"/>
                </a:solidFill>
                <a:effectLst/>
                <a:hlinkClick r:id="rId6"/>
              </a:rPr>
              <a:t>habr.com</a:t>
            </a:r>
            <a:r>
              <a:rPr kumimoji="0" lang="en-US" altLang="en-US" sz="1200" b="0" i="0" u="none" strike="noStrike" cap="none" normalizeH="0" baseline="0" dirty="0">
                <a:ln>
                  <a:noFill/>
                </a:ln>
                <a:solidFill>
                  <a:schemeClr val="tx1"/>
                </a:solidFill>
                <a:effectLst/>
              </a:rPr>
              <a:t>. Defines organizational/technical measures and mandates choosing an appropriate class of crypto tools (SKZI) based on data protection level </a:t>
            </a:r>
            <a:r>
              <a:rPr kumimoji="0" lang="en-US" altLang="en-US" sz="1200" b="0" i="0" u="none" strike="noStrike" cap="none" normalizeH="0" baseline="0" dirty="0">
                <a:ln>
                  <a:noFill/>
                </a:ln>
                <a:solidFill>
                  <a:schemeClr val="tx1"/>
                </a:solidFill>
                <a:effectLst/>
                <a:hlinkClick r:id="rId7"/>
              </a:rPr>
              <a:t>ec-rs.ru</a:t>
            </a:r>
            <a:r>
              <a:rPr kumimoji="0" lang="en-US" altLang="en-US" sz="1200" b="0" i="0" u="none" strike="noStrike" cap="none" normalizeH="0" baseline="0" dirty="0">
                <a:ln>
                  <a:noFill/>
                </a:ln>
                <a:solidFill>
                  <a:schemeClr val="tx1"/>
                </a:solidFill>
                <a:effectLst/>
              </a:rPr>
              <a:t>. Modernized guidelines for encryption in personal data systems.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rPr>
              <a:t>FSB Order № 524 (2022)</a:t>
            </a:r>
            <a:r>
              <a:rPr kumimoji="0" lang="en-US" altLang="en-US" sz="1200" b="0" i="0" u="none" strike="noStrike" cap="none" normalizeH="0" baseline="0" dirty="0">
                <a:ln>
                  <a:noFill/>
                </a:ln>
                <a:solidFill>
                  <a:schemeClr val="tx1"/>
                </a:solidFill>
                <a:effectLst/>
              </a:rPr>
              <a:t> – Established strict requirements to protect information in </a:t>
            </a:r>
            <a:r>
              <a:rPr kumimoji="0" lang="en-US" altLang="en-US" sz="1200" b="1" i="0" u="none" strike="noStrike" cap="none" normalizeH="0" baseline="0" dirty="0">
                <a:ln>
                  <a:noFill/>
                </a:ln>
                <a:solidFill>
                  <a:schemeClr val="tx1"/>
                </a:solidFill>
                <a:effectLst/>
              </a:rPr>
              <a:t>government information systems (GIS)</a:t>
            </a:r>
            <a:r>
              <a:rPr kumimoji="0" lang="en-US" altLang="en-US" sz="1200" b="0" i="0" u="none" strike="noStrike" cap="none" normalizeH="0" baseline="0" dirty="0">
                <a:ln>
                  <a:noFill/>
                </a:ln>
                <a:solidFill>
                  <a:schemeClr val="tx1"/>
                </a:solidFill>
                <a:effectLst/>
              </a:rPr>
              <a:t> using FSB-certified encryption tools </a:t>
            </a:r>
            <a:r>
              <a:rPr kumimoji="0" lang="en-US" altLang="en-US" sz="1200" b="0" i="0" u="none" strike="noStrike" cap="none" normalizeH="0" baseline="0" dirty="0">
                <a:ln>
                  <a:noFill/>
                </a:ln>
                <a:solidFill>
                  <a:schemeClr val="tx1"/>
                </a:solidFill>
                <a:effectLst/>
                <a:hlinkClick r:id="rId8"/>
              </a:rPr>
              <a:t>regulhub.kaspersky.ru</a:t>
            </a:r>
            <a:r>
              <a:rPr kumimoji="0" lang="en-US" altLang="en-US" sz="1200" b="0" i="0" u="none" strike="noStrike" cap="none" normalizeH="0" baseline="0" dirty="0">
                <a:ln>
                  <a:noFill/>
                </a:ln>
                <a:solidFill>
                  <a:schemeClr val="tx1"/>
                </a:solidFill>
                <a:effectLst/>
              </a:rPr>
              <a:t>. Specified how to determine the required class of crypto protection for state systems. Only FSB-certified crypto products can be used in such systems </a:t>
            </a:r>
            <a:r>
              <a:rPr kumimoji="0" lang="en-US" altLang="en-US" sz="1200" b="0" i="0" u="none" strike="noStrike" cap="none" normalizeH="0" baseline="0" dirty="0">
                <a:ln>
                  <a:noFill/>
                </a:ln>
                <a:solidFill>
                  <a:schemeClr val="tx1"/>
                </a:solidFill>
                <a:effectLst/>
                <a:hlinkClick r:id="rId9"/>
              </a:rPr>
              <a:t>isoconsulting.ru</a:t>
            </a:r>
            <a:r>
              <a:rPr kumimoji="0" lang="en-US" altLang="en-US" sz="1200" b="0" i="0" u="none" strike="noStrike" cap="none" normalizeH="0" baseline="0" dirty="0">
                <a:ln>
                  <a:noFill/>
                </a:ln>
                <a:solidFill>
                  <a:schemeClr val="tx1"/>
                </a:solidFill>
                <a:effectLst/>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rPr>
              <a:t>FSB Order № 117 (2025)</a:t>
            </a:r>
            <a:r>
              <a:rPr kumimoji="0" lang="en-US" altLang="en-US" sz="1200" b="0" i="0" u="none" strike="noStrike" cap="none" normalizeH="0" baseline="0" dirty="0">
                <a:ln>
                  <a:noFill/>
                </a:ln>
                <a:solidFill>
                  <a:schemeClr val="tx1"/>
                </a:solidFill>
                <a:effectLst/>
              </a:rPr>
              <a:t> – New order (Mar 18, 2025) replacing Order 524. Expanded the scope of mandatory encryption beyond just “state information systems” to </a:t>
            </a:r>
            <a:r>
              <a:rPr kumimoji="0" lang="en-US" altLang="en-US" sz="1200" b="0" i="1" u="none" strike="noStrike" cap="none" normalizeH="0" baseline="0" dirty="0">
                <a:ln>
                  <a:noFill/>
                </a:ln>
                <a:solidFill>
                  <a:schemeClr val="tx1"/>
                </a:solidFill>
                <a:effectLst/>
              </a:rPr>
              <a:t>all</a:t>
            </a:r>
            <a:r>
              <a:rPr kumimoji="0" lang="en-US" altLang="en-US" sz="1200" b="0" i="0" u="none" strike="noStrike" cap="none" normalizeH="0" baseline="0" dirty="0">
                <a:ln>
                  <a:noFill/>
                </a:ln>
                <a:solidFill>
                  <a:schemeClr val="tx1"/>
                </a:solidFill>
                <a:effectLst/>
              </a:rPr>
              <a:t> electronic systems run by government bodies (including state unitary enterprises, etc.) </a:t>
            </a:r>
            <a:r>
              <a:rPr kumimoji="0" lang="en-US" altLang="en-US" sz="1200" b="0" i="0" u="none" strike="noStrike" cap="none" normalizeH="0" baseline="0" dirty="0">
                <a:ln>
                  <a:noFill/>
                </a:ln>
                <a:solidFill>
                  <a:schemeClr val="tx1"/>
                </a:solidFill>
                <a:effectLst/>
                <a:hlinkClick r:id="rId10"/>
              </a:rPr>
              <a:t>cisoclub.ru</a:t>
            </a:r>
            <a:r>
              <a:rPr kumimoji="0" lang="en-US" altLang="en-US" sz="1200" b="0" i="0" u="none" strike="noStrike" cap="none" normalizeH="0" baseline="0" dirty="0">
                <a:ln>
                  <a:noFill/>
                </a:ln>
                <a:solidFill>
                  <a:schemeClr val="tx1"/>
                </a:solidFill>
                <a:effectLst/>
                <a:hlinkClick r:id="rId11"/>
              </a:rPr>
              <a:t>cisoclub.ru</a:t>
            </a:r>
            <a:r>
              <a:rPr kumimoji="0" lang="en-US" altLang="en-US" sz="1200" b="0" i="0" u="none" strike="noStrike" cap="none" normalizeH="0" baseline="0" dirty="0">
                <a:ln>
                  <a:noFill/>
                </a:ln>
                <a:solidFill>
                  <a:schemeClr val="tx1"/>
                </a:solidFill>
                <a:effectLst/>
              </a:rPr>
              <a:t>. Requires </a:t>
            </a:r>
            <a:r>
              <a:rPr kumimoji="0" lang="en-US" altLang="en-US" sz="1200" b="1" i="0" u="none" strike="noStrike" cap="none" normalizeH="0" baseline="0" dirty="0">
                <a:ln>
                  <a:noFill/>
                </a:ln>
                <a:solidFill>
                  <a:schemeClr val="tx1"/>
                </a:solidFill>
                <a:effectLst/>
              </a:rPr>
              <a:t>exclusive use of FSB-certified</a:t>
            </a:r>
            <a:r>
              <a:rPr kumimoji="0" lang="en-US" altLang="en-US" sz="1200" b="0" i="0" u="none" strike="noStrike" cap="none" normalizeH="0" baseline="0" dirty="0">
                <a:ln>
                  <a:noFill/>
                </a:ln>
                <a:solidFill>
                  <a:schemeClr val="tx1"/>
                </a:solidFill>
                <a:effectLst/>
              </a:rPr>
              <a:t> cryptographic means to protect data in those systems. (Exceptions: highest government organs and systems handling state secrets are covered by separate regs </a:t>
            </a:r>
            <a:r>
              <a:rPr kumimoji="0" lang="en-US" altLang="en-US" sz="1200" b="0" i="0" u="none" strike="noStrike" cap="none" normalizeH="0" baseline="0" dirty="0">
                <a:ln>
                  <a:noFill/>
                </a:ln>
                <a:solidFill>
                  <a:schemeClr val="tx1"/>
                </a:solidFill>
                <a:effectLst/>
                <a:hlinkClick r:id="rId12"/>
              </a:rPr>
              <a:t>cisoclub.ru</a:t>
            </a:r>
            <a:r>
              <a:rPr kumimoji="0" lang="en-US" altLang="en-US" sz="1200" b="0" i="0" u="none" strike="noStrike" cap="none" normalizeH="0" baseline="0" dirty="0">
                <a:ln>
                  <a:noFill/>
                </a:ln>
                <a:solidFill>
                  <a:schemeClr val="tx1"/>
                </a:solidFill>
                <a:effectLst/>
              </a:rPr>
              <a:t>.) This update aligns regs with changes in law (216-FZ) and the evolving threat landscape.</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6</a:t>
            </a:fld>
            <a:endParaRPr lang="en-US"/>
          </a:p>
        </p:txBody>
      </p:sp>
    </p:spTree>
    <p:extLst>
      <p:ext uri="{BB962C8B-B14F-4D97-AF65-F5344CB8AC3E}">
        <p14:creationId xmlns:p14="http://schemas.microsoft.com/office/powerpoint/2010/main" val="24322048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rPr>
              <a:t>Digital Signatures:</a:t>
            </a:r>
            <a:r>
              <a:rPr kumimoji="0" lang="en-US" altLang="en-US" sz="1200" b="0" i="0" u="none" strike="noStrike" cap="none" normalizeH="0" baseline="0" dirty="0">
                <a:ln>
                  <a:noFill/>
                </a:ln>
                <a:solidFill>
                  <a:schemeClr val="tx1"/>
                </a:solidFill>
                <a:effectLst/>
              </a:rPr>
              <a:t> </a:t>
            </a:r>
            <a:r>
              <a:rPr kumimoji="0" lang="en-US" altLang="en-US" sz="1200" b="0" i="0" u="none" strike="noStrike" cap="none" normalizeH="0" baseline="0" dirty="0">
                <a:ln>
                  <a:noFill/>
                </a:ln>
                <a:solidFill>
                  <a:schemeClr val="tx1"/>
                </a:solidFill>
                <a:effectLst/>
                <a:hlinkClick r:id="rId3"/>
              </a:rPr>
              <a:t>GOST R 34.10-2018 </a:t>
            </a:r>
            <a:r>
              <a:rPr kumimoji="0" lang="en-US" altLang="en-US" sz="1200" b="0" i="0" u="none" strike="noStrike" cap="none" normalizeH="0" baseline="0" dirty="0">
                <a:ln>
                  <a:noFill/>
                </a:ln>
                <a:solidFill>
                  <a:schemeClr val="tx1"/>
                </a:solidFill>
                <a:effectLst/>
              </a:rPr>
              <a:t>– Elliptic-curve digital signature algorithm (256-bit and 512-bit keys) </a:t>
            </a:r>
            <a:r>
              <a:rPr kumimoji="0" lang="en-US" altLang="en-US" sz="1200" b="0" i="0" u="none" strike="noStrike" cap="none" normalizeH="0" baseline="0" dirty="0">
                <a:ln>
                  <a:noFill/>
                </a:ln>
                <a:solidFill>
                  <a:schemeClr val="tx1"/>
                </a:solidFill>
                <a:effectLst/>
                <a:hlinkClick r:id="rId4"/>
              </a:rPr>
              <a:t>habr.com</a:t>
            </a:r>
            <a:r>
              <a:rPr kumimoji="0" lang="en-US" altLang="en-US" sz="1200" b="0" i="0" u="none" strike="noStrike" cap="none" normalizeH="0" baseline="0" dirty="0">
                <a:ln>
                  <a:noFill/>
                </a:ln>
                <a:solidFill>
                  <a:schemeClr val="tx1"/>
                </a:solidFill>
                <a:effectLst/>
              </a:rPr>
              <a:t>. Defines how to generate/verify electronic signatures using elliptic curve operations and a hash (</a:t>
            </a:r>
            <a:r>
              <a:rPr kumimoji="0" lang="en-US" altLang="en-US" sz="1200" b="0" i="0" u="none" strike="noStrike" cap="none" normalizeH="0" baseline="0" dirty="0" err="1">
                <a:ln>
                  <a:noFill/>
                </a:ln>
                <a:solidFill>
                  <a:schemeClr val="tx1"/>
                </a:solidFill>
                <a:effectLst/>
              </a:rPr>
              <a:t>Streebog</a:t>
            </a:r>
            <a:r>
              <a:rPr kumimoji="0" lang="en-US" altLang="en-US" sz="1200" b="0" i="0" u="none" strike="noStrike" cap="none" normalizeH="0" baseline="0" dirty="0">
                <a:ln>
                  <a:noFill/>
                </a:ln>
                <a:solidFill>
                  <a:schemeClr val="tx1"/>
                </a:solidFill>
                <a:effectLst/>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rPr>
              <a:t>Hash Function:</a:t>
            </a:r>
            <a:r>
              <a:rPr kumimoji="0" lang="en-US" altLang="en-US" sz="1200" b="0" i="0" u="none" strike="noStrike" cap="none" normalizeH="0" baseline="0" dirty="0">
                <a:ln>
                  <a:noFill/>
                </a:ln>
                <a:solidFill>
                  <a:schemeClr val="tx1"/>
                </a:solidFill>
                <a:effectLst/>
              </a:rPr>
              <a:t> </a:t>
            </a:r>
            <a:r>
              <a:rPr kumimoji="0" lang="en-US" altLang="en-US" sz="1200" b="0" i="0" u="none" strike="noStrike" cap="none" normalizeH="0" baseline="0" dirty="0">
                <a:ln>
                  <a:noFill/>
                </a:ln>
                <a:solidFill>
                  <a:schemeClr val="tx1"/>
                </a:solidFill>
                <a:effectLst/>
                <a:hlinkClick r:id="rId5"/>
              </a:rPr>
              <a:t>GOST R 34.11-2018 </a:t>
            </a:r>
            <a:r>
              <a:rPr kumimoji="0" lang="en-US" altLang="en-US" sz="1200" b="0" i="0" u="none" strike="noStrike" cap="none" normalizeH="0" baseline="0" dirty="0">
                <a:ln>
                  <a:noFill/>
                </a:ln>
                <a:solidFill>
                  <a:schemeClr val="tx1"/>
                </a:solidFill>
                <a:effectLst/>
              </a:rPr>
              <a:t>– Hash algorithm standard, defines the </a:t>
            </a:r>
            <a:r>
              <a:rPr kumimoji="0" lang="en-US" altLang="en-US" sz="1200" b="1" i="0" u="none" strike="noStrike" cap="none" normalizeH="0" baseline="0" dirty="0" err="1">
                <a:ln>
                  <a:noFill/>
                </a:ln>
                <a:solidFill>
                  <a:schemeClr val="tx1"/>
                </a:solidFill>
                <a:effectLst/>
              </a:rPr>
              <a:t>Streebog</a:t>
            </a:r>
            <a:r>
              <a:rPr kumimoji="0" lang="en-US" altLang="en-US" sz="1200" b="0" i="0" u="none" strike="noStrike" cap="none" normalizeH="0" baseline="0" dirty="0">
                <a:ln>
                  <a:noFill/>
                </a:ln>
                <a:solidFill>
                  <a:schemeClr val="tx1"/>
                </a:solidFill>
                <a:effectLst/>
              </a:rPr>
              <a:t> hash function </a:t>
            </a:r>
            <a:r>
              <a:rPr kumimoji="0" lang="en-US" altLang="en-US" sz="1200" b="0" i="0" u="none" strike="noStrike" cap="none" normalizeH="0" baseline="0" dirty="0">
                <a:ln>
                  <a:noFill/>
                </a:ln>
                <a:solidFill>
                  <a:schemeClr val="tx1"/>
                </a:solidFill>
                <a:effectLst/>
                <a:hlinkClick r:id="rId6"/>
              </a:rPr>
              <a:t>habr.com</a:t>
            </a:r>
            <a:r>
              <a:rPr kumimoji="0" lang="en-US" altLang="en-US" sz="1200" b="0" i="0" u="none" strike="noStrike" cap="none" normalizeH="0" baseline="0" dirty="0">
                <a:ln>
                  <a:noFill/>
                </a:ln>
                <a:solidFill>
                  <a:schemeClr val="tx1"/>
                </a:solidFill>
                <a:effectLst/>
              </a:rPr>
              <a:t>. Produces 256-bit or 512-bit hash outputs; processes data in 512-bit blocks.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rPr>
              <a:t>Block Ciphers:</a:t>
            </a:r>
            <a:r>
              <a:rPr kumimoji="0" lang="en-US" altLang="en-US" sz="1200" b="0" i="0" u="none" strike="noStrike" cap="none" normalizeH="0" baseline="0" dirty="0">
                <a:ln>
                  <a:noFill/>
                </a:ln>
                <a:solidFill>
                  <a:schemeClr val="tx1"/>
                </a:solidFill>
                <a:effectLst/>
              </a:rPr>
              <a:t> </a:t>
            </a:r>
            <a:r>
              <a:rPr kumimoji="0" lang="en-US" altLang="en-US" sz="1200" b="0" i="0" u="none" strike="noStrike" cap="none" normalizeH="0" baseline="0" dirty="0">
                <a:ln>
                  <a:noFill/>
                </a:ln>
                <a:solidFill>
                  <a:schemeClr val="tx1"/>
                </a:solidFill>
                <a:effectLst/>
                <a:hlinkClick r:id="rId7"/>
              </a:rPr>
              <a:t>GOST R 34.12-2018 </a:t>
            </a:r>
            <a:r>
              <a:rPr kumimoji="0" lang="en-US" altLang="en-US" sz="1200" b="0" i="0" u="none" strike="noStrike" cap="none" normalizeH="0" baseline="0" dirty="0">
                <a:ln>
                  <a:noFill/>
                </a:ln>
                <a:solidFill>
                  <a:schemeClr val="tx1"/>
                </a:solidFill>
                <a:effectLst/>
              </a:rPr>
              <a:t>– Block cipher algorithms standard </a:t>
            </a:r>
            <a:r>
              <a:rPr kumimoji="0" lang="en-US" altLang="en-US" sz="1200" b="0" i="0" u="none" strike="noStrike" cap="none" normalizeH="0" baseline="0" dirty="0">
                <a:ln>
                  <a:noFill/>
                </a:ln>
                <a:solidFill>
                  <a:schemeClr val="tx1"/>
                </a:solidFill>
                <a:effectLst/>
                <a:hlinkClick r:id="rId8"/>
              </a:rPr>
              <a:t>habr.com</a:t>
            </a:r>
            <a:r>
              <a:rPr kumimoji="0" lang="en-US" altLang="en-US" sz="1200" b="0" i="0" u="none" strike="noStrike" cap="none" normalizeH="0" baseline="0" dirty="0">
                <a:ln>
                  <a:noFill/>
                </a:ln>
                <a:solidFill>
                  <a:schemeClr val="tx1"/>
                </a:solidFill>
                <a:effectLst/>
              </a:rPr>
              <a:t>. Specifies two ciphers: </a:t>
            </a:r>
            <a:r>
              <a:rPr kumimoji="0" lang="en-US" altLang="en-US" sz="1200" b="1" i="0" u="none" strike="noStrike" cap="none" normalizeH="0" baseline="0" dirty="0">
                <a:ln>
                  <a:noFill/>
                </a:ln>
                <a:solidFill>
                  <a:schemeClr val="tx1"/>
                </a:solidFill>
                <a:effectLst/>
              </a:rPr>
              <a:t>Magma</a:t>
            </a:r>
            <a:r>
              <a:rPr kumimoji="0" lang="en-US" altLang="en-US" sz="1200" b="0" i="0" u="none" strike="noStrike" cap="none" normalizeH="0" baseline="0" dirty="0">
                <a:ln>
                  <a:noFill/>
                </a:ln>
                <a:solidFill>
                  <a:schemeClr val="tx1"/>
                </a:solidFill>
                <a:effectLst/>
              </a:rPr>
              <a:t> (64-bit block, 256-bit key, 32 rounds) and </a:t>
            </a:r>
            <a:r>
              <a:rPr kumimoji="0" lang="en-US" altLang="en-US" sz="1200" b="1" i="0" u="none" strike="noStrike" cap="none" normalizeH="0" baseline="0" dirty="0" err="1">
                <a:ln>
                  <a:noFill/>
                </a:ln>
                <a:solidFill>
                  <a:schemeClr val="tx1"/>
                </a:solidFill>
                <a:effectLst/>
              </a:rPr>
              <a:t>Kuznechik</a:t>
            </a:r>
            <a:r>
              <a:rPr kumimoji="0" lang="en-US" altLang="en-US" sz="1200" b="0" i="0" u="none" strike="noStrike" cap="none" normalizeH="0" baseline="0" dirty="0">
                <a:ln>
                  <a:noFill/>
                </a:ln>
                <a:solidFill>
                  <a:schemeClr val="tx1"/>
                </a:solidFill>
                <a:effectLst/>
              </a:rPr>
              <a:t> (128-bit block, 256-bit key, 10 rounds SP-network). These are modernized replacements of older Soviet ciphers.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rPr>
              <a:t>Block Cipher Modes:</a:t>
            </a:r>
            <a:r>
              <a:rPr kumimoji="0" lang="en-US" altLang="en-US" sz="1200" b="0" i="0" u="none" strike="noStrike" cap="none" normalizeH="0" baseline="0" dirty="0">
                <a:ln>
                  <a:noFill/>
                </a:ln>
                <a:solidFill>
                  <a:schemeClr val="tx1"/>
                </a:solidFill>
                <a:effectLst/>
              </a:rPr>
              <a:t> </a:t>
            </a:r>
            <a:r>
              <a:rPr kumimoji="0" lang="en-US" altLang="en-US" sz="1200" b="0" i="0" u="none" strike="noStrike" cap="none" normalizeH="0" baseline="0" dirty="0">
                <a:ln>
                  <a:noFill/>
                </a:ln>
                <a:solidFill>
                  <a:schemeClr val="tx1"/>
                </a:solidFill>
                <a:effectLst/>
                <a:hlinkClick r:id="rId9"/>
              </a:rPr>
              <a:t>GOST R 34.13-2018 </a:t>
            </a:r>
            <a:r>
              <a:rPr kumimoji="0" lang="en-US" altLang="en-US" sz="1200" b="0" i="0" u="none" strike="noStrike" cap="none" normalizeH="0" baseline="0" dirty="0">
                <a:ln>
                  <a:noFill/>
                </a:ln>
                <a:solidFill>
                  <a:schemeClr val="tx1"/>
                </a:solidFill>
                <a:effectLst/>
              </a:rPr>
              <a:t>– Modes of operation for block ciphers (similar to AES modes) </a:t>
            </a:r>
            <a:r>
              <a:rPr kumimoji="0" lang="en-US" altLang="en-US" sz="1200" b="0" i="0" u="none" strike="noStrike" cap="none" normalizeH="0" baseline="0" dirty="0">
                <a:ln>
                  <a:noFill/>
                </a:ln>
                <a:solidFill>
                  <a:schemeClr val="tx1"/>
                </a:solidFill>
                <a:effectLst/>
                <a:hlinkClick r:id="rId10"/>
              </a:rPr>
              <a:t>habr.com</a:t>
            </a:r>
            <a:r>
              <a:rPr kumimoji="0" lang="en-US" altLang="en-US" sz="1200" b="0" i="0" u="none" strike="noStrike" cap="none" normalizeH="0" baseline="0" dirty="0">
                <a:ln>
                  <a:noFill/>
                </a:ln>
                <a:solidFill>
                  <a:schemeClr val="tx1"/>
                </a:solidFill>
                <a:effectLst/>
              </a:rPr>
              <a:t>. Includes basic ECB (simple substitution), CBC (chaining), CTR (streaming/XOR mode), OFB/CFB (feedback modes), and an authentication mode (</a:t>
            </a:r>
            <a:r>
              <a:rPr kumimoji="0" lang="en-US" altLang="en-US" sz="1200" b="0" i="0" u="none" strike="noStrike" cap="none" normalizeH="0" baseline="0" dirty="0" err="1">
                <a:ln>
                  <a:noFill/>
                </a:ln>
                <a:solidFill>
                  <a:schemeClr val="tx1"/>
                </a:solidFill>
                <a:effectLst/>
              </a:rPr>
              <a:t>imitovstavka</a:t>
            </a:r>
            <a:r>
              <a:rPr kumimoji="0" lang="en-US" altLang="en-US" sz="1200" b="0" i="0" u="none" strike="noStrike" cap="none" normalizeH="0" baseline="0" dirty="0">
                <a:ln>
                  <a:noFill/>
                </a:ln>
                <a:solidFill>
                  <a:schemeClr val="tx1"/>
                </a:solidFill>
                <a:effectLst/>
              </a:rPr>
              <a:t>, i.e. MAC) as standardized modes.</a:t>
            </a:r>
          </a:p>
        </p:txBody>
      </p:sp>
      <p:sp>
        <p:nvSpPr>
          <p:cNvPr id="4" name="Номер слайда 3"/>
          <p:cNvSpPr>
            <a:spLocks noGrp="1"/>
          </p:cNvSpPr>
          <p:nvPr>
            <p:ph type="sldNum" sz="quarter" idx="5"/>
          </p:nvPr>
        </p:nvSpPr>
        <p:spPr/>
        <p:txBody>
          <a:bodyPr/>
          <a:lstStyle/>
          <a:p>
            <a:fld id="{77F0CBD4-9D5C-44A4-B11F-F79AF78C86E0}" type="slidenum">
              <a:rPr lang="en-US" smtClean="0"/>
              <a:t>7</a:t>
            </a:fld>
            <a:endParaRPr lang="en-US"/>
          </a:p>
        </p:txBody>
      </p:sp>
    </p:spTree>
    <p:extLst>
      <p:ext uri="{BB962C8B-B14F-4D97-AF65-F5344CB8AC3E}">
        <p14:creationId xmlns:p14="http://schemas.microsoft.com/office/powerpoint/2010/main" val="2133132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Kuznechik</a:t>
            </a:r>
            <a:r>
              <a:rPr kumimoji="0" lang="en-US" altLang="en-US" b="0" i="0" u="none" strike="noStrike" cap="none" normalizeH="0" baseline="0" dirty="0">
                <a:ln>
                  <a:noFill/>
                </a:ln>
                <a:solidFill>
                  <a:schemeClr val="tx1"/>
                </a:solidFill>
                <a:effectLst/>
                <a:latin typeface="Arial" panose="020B0604020202020204" pitchFamily="34" charset="0"/>
              </a:rPr>
              <a:t> (“Grasshopper”): Russia’s 128-bit block cipher (GOST R 34.12-2015/2018). Uses a substitution-permutation network with 10 rounds and a 256-bit key</a:t>
            </a:r>
            <a:r>
              <a:rPr kumimoji="0" lang="en-US" altLang="en-US" b="0" i="0" u="none" strike="noStrike" cap="none" normalizeH="0" baseline="0" dirty="0">
                <a:ln>
                  <a:noFill/>
                </a:ln>
                <a:solidFill>
                  <a:schemeClr val="tx1"/>
                </a:solidFill>
                <a:effectLst/>
                <a:latin typeface="Arial" panose="020B0604020202020204" pitchFamily="34" charset="0"/>
                <a:hlinkClick r:id="rId3"/>
              </a:rPr>
              <a:t>habr.com</a:t>
            </a:r>
            <a:r>
              <a:rPr kumimoji="0" lang="en-US" altLang="en-US" b="0" i="0" u="none" strike="noStrike" cap="none" normalizeH="0" baseline="0" dirty="0">
                <a:ln>
                  <a:noFill/>
                </a:ln>
                <a:solidFill>
                  <a:schemeClr val="tx1"/>
                </a:solidFill>
                <a:effectLst/>
                <a:latin typeface="Arial" panose="020B0604020202020204" pitchFamily="34" charset="0"/>
              </a:rPr>
              <a:t>. Designed to provide modern security and high performance (intended as a successor to older GOST 28147 cipher). Now mandated in certain systems (e.g. planned use in Russian TLS certificates and </a:t>
            </a:r>
            <a:r>
              <a:rPr kumimoji="0" lang="en-US" altLang="en-US" b="0" i="0" u="none" strike="noStrike" cap="none" normalizeH="0" baseline="0" dirty="0" err="1">
                <a:ln>
                  <a:noFill/>
                </a:ln>
                <a:solidFill>
                  <a:schemeClr val="tx1"/>
                </a:solidFill>
                <a:effectLst/>
                <a:latin typeface="Arial" panose="020B0604020202020204" pitchFamily="34" charset="0"/>
              </a:rPr>
              <a:t>eSIMs</a:t>
            </a:r>
            <a:r>
              <a:rPr kumimoji="0" lang="en-US" altLang="en-US" b="0" i="0" u="none" strike="noStrike" cap="none" normalizeH="0" baseline="0" dirty="0">
                <a:ln>
                  <a:noFill/>
                </a:ln>
                <a:solidFill>
                  <a:schemeClr val="tx1"/>
                </a:solidFill>
                <a:effectLst/>
                <a:latin typeface="Arial" panose="020B0604020202020204" pitchFamily="34" charset="0"/>
              </a:rPr>
              <a:t>)</a:t>
            </a:r>
            <a:r>
              <a:rPr kumimoji="0" lang="en-US" altLang="en-US" b="0" i="0" u="none" strike="noStrike" cap="none" normalizeH="0" baseline="0" dirty="0">
                <a:ln>
                  <a:noFill/>
                </a:ln>
                <a:solidFill>
                  <a:schemeClr val="tx1"/>
                </a:solidFill>
                <a:effectLst/>
                <a:latin typeface="Arial" panose="020B0604020202020204" pitchFamily="34" charset="0"/>
                <a:hlinkClick r:id="rId4"/>
              </a:rPr>
              <a:t>habr.com</a:t>
            </a:r>
            <a:r>
              <a:rPr kumimoji="0" lang="en-US" altLang="en-US" b="0" i="0" u="none" strike="noStrike" cap="none" normalizeH="0" baseline="0" dirty="0">
                <a:ln>
                  <a:noFill/>
                </a:ln>
                <a:solidFill>
                  <a:schemeClr val="tx1"/>
                </a:solidFill>
                <a:effectLst/>
                <a:latin typeface="Arial" panose="020B0604020202020204" pitchFamily="34" charset="0"/>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Arial" panose="020B0604020202020204" pitchFamily="34" charset="0"/>
              </a:rPr>
              <a:t>Magma:</a:t>
            </a:r>
            <a:r>
              <a:rPr kumimoji="0" lang="en-US" altLang="en-US" b="0" i="0" u="none" strike="noStrike" cap="none" normalizeH="0" baseline="0" dirty="0">
                <a:ln>
                  <a:noFill/>
                </a:ln>
                <a:solidFill>
                  <a:schemeClr val="tx1"/>
                </a:solidFill>
                <a:effectLst/>
                <a:latin typeface="Arial" panose="020B0604020202020204" pitchFamily="34" charset="0"/>
              </a:rPr>
              <a:t> The updated name for the classic GOST 28147-89 cipher (64-bit block, 256-bit key, 32-round Feistel)</a:t>
            </a:r>
            <a:r>
              <a:rPr kumimoji="0" lang="en-US" altLang="en-US" b="0" i="0" u="none" strike="noStrike" cap="none" normalizeH="0" baseline="0" dirty="0">
                <a:ln>
                  <a:noFill/>
                </a:ln>
                <a:solidFill>
                  <a:schemeClr val="tx1"/>
                </a:solidFill>
                <a:effectLst/>
                <a:latin typeface="Arial" panose="020B0604020202020204" pitchFamily="34" charset="0"/>
                <a:hlinkClick r:id="rId3"/>
              </a:rPr>
              <a:t>habr.com</a:t>
            </a:r>
            <a:r>
              <a:rPr kumimoji="0" lang="en-US" altLang="en-US" b="0" i="0" u="none" strike="noStrike" cap="none" normalizeH="0" baseline="0" dirty="0">
                <a:ln>
                  <a:noFill/>
                </a:ln>
                <a:solidFill>
                  <a:schemeClr val="tx1"/>
                </a:solidFill>
                <a:effectLst/>
                <a:latin typeface="Arial" panose="020B0604020202020204" pitchFamily="34" charset="0"/>
              </a:rPr>
              <a:t>. Remains in use for compatibility and legacy systems, and included in new standards. Often used alongside </a:t>
            </a:r>
            <a:r>
              <a:rPr kumimoji="0" lang="en-US" altLang="en-US" b="0" i="0" u="none" strike="noStrike" cap="none" normalizeH="0" baseline="0" dirty="0" err="1">
                <a:ln>
                  <a:noFill/>
                </a:ln>
                <a:solidFill>
                  <a:schemeClr val="tx1"/>
                </a:solidFill>
                <a:effectLst/>
                <a:latin typeface="Arial" panose="020B0604020202020204" pitchFamily="34" charset="0"/>
              </a:rPr>
              <a:t>Kuznechik</a:t>
            </a:r>
            <a:r>
              <a:rPr kumimoji="0" lang="en-US" altLang="en-US" b="0" i="0" u="none" strike="noStrike" cap="none" normalizeH="0" baseline="0" dirty="0">
                <a:ln>
                  <a:noFill/>
                </a:ln>
                <a:solidFill>
                  <a:schemeClr val="tx1"/>
                </a:solidFill>
                <a:effectLst/>
                <a:latin typeface="Arial" panose="020B0604020202020204" pitchFamily="34" charset="0"/>
              </a:rPr>
              <a:t> (e.g. both are allowed in Russian government systems).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Streebog</a:t>
            </a:r>
            <a:r>
              <a:rPr kumimoji="0" lang="en-US" altLang="en-US" b="1" i="0" u="none" strike="noStrike" cap="none" normalizeH="0" baseline="0" dirty="0">
                <a:ln>
                  <a:noFill/>
                </a:ln>
                <a:solidFill>
                  <a:schemeClr val="tx1"/>
                </a:solidFill>
                <a:effectLst/>
                <a:latin typeface="Arial" panose="020B0604020202020204" pitchFamily="34" charset="0"/>
              </a:rPr>
              <a:t> Hash:</a:t>
            </a:r>
            <a:r>
              <a:rPr kumimoji="0" lang="en-US" altLang="en-US" b="0" i="0" u="none" strike="noStrike" cap="none" normalizeH="0" baseline="0" dirty="0">
                <a:ln>
                  <a:noFill/>
                </a:ln>
                <a:solidFill>
                  <a:schemeClr val="tx1"/>
                </a:solidFill>
                <a:effectLst/>
                <a:latin typeface="Arial" panose="020B0604020202020204" pitchFamily="34" charset="0"/>
              </a:rPr>
              <a:t> The GOST hash function (GOST 34.11-2012/2018). Outputs 256-bit or 512-bit hashes</a:t>
            </a:r>
            <a:r>
              <a:rPr kumimoji="0" lang="en-US" altLang="en-US" b="0" i="0" u="none" strike="noStrike" cap="none" normalizeH="0" baseline="0" dirty="0">
                <a:ln>
                  <a:noFill/>
                </a:ln>
                <a:solidFill>
                  <a:schemeClr val="tx1"/>
                </a:solidFill>
                <a:effectLst/>
                <a:latin typeface="Arial" panose="020B0604020202020204" pitchFamily="34" charset="0"/>
                <a:hlinkClick r:id="rId5"/>
              </a:rPr>
              <a:t>habr.com</a:t>
            </a:r>
            <a:r>
              <a:rPr kumimoji="0" lang="en-US" altLang="en-US" b="0" i="0" u="none" strike="noStrike" cap="none" normalizeH="0" baseline="0" dirty="0">
                <a:ln>
                  <a:noFill/>
                </a:ln>
                <a:solidFill>
                  <a:schemeClr val="tx1"/>
                </a:solidFill>
                <a:effectLst/>
                <a:latin typeface="Arial" panose="020B0604020202020204" pitchFamily="34" charset="0"/>
              </a:rPr>
              <a:t>. Used in digital signatures (as the hash algorithm in GOST 34.10) and in other security protocols. It’s analogous to SHA-256/512 in purpose, but with Russia’s own design.</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Arial" panose="020B0604020202020204" pitchFamily="34" charset="0"/>
              </a:rPr>
              <a:t>GOST Digital Signature:</a:t>
            </a:r>
            <a:r>
              <a:rPr kumimoji="0" lang="en-US" altLang="en-US" b="0" i="0" u="none" strike="noStrike" cap="none" normalizeH="0" baseline="0" dirty="0">
                <a:ln>
                  <a:noFill/>
                </a:ln>
                <a:solidFill>
                  <a:schemeClr val="tx1"/>
                </a:solidFill>
                <a:effectLst/>
                <a:latin typeface="Arial" panose="020B0604020202020204" pitchFamily="34" charset="0"/>
              </a:rPr>
              <a:t> Based on elliptic curve cryptography (similar to ECDSA but with Russian parameters). GOST 34.10-2012/2018 defines the signature scheme using specified elliptic curves and </a:t>
            </a:r>
            <a:r>
              <a:rPr kumimoji="0" lang="en-US" altLang="en-US" b="0" i="0" u="none" strike="noStrike" cap="none" normalizeH="0" baseline="0" dirty="0" err="1">
                <a:ln>
                  <a:noFill/>
                </a:ln>
                <a:solidFill>
                  <a:schemeClr val="tx1"/>
                </a:solidFill>
                <a:effectLst/>
                <a:latin typeface="Arial" panose="020B0604020202020204" pitchFamily="34" charset="0"/>
              </a:rPr>
              <a:t>Streebog</a:t>
            </a:r>
            <a:r>
              <a:rPr kumimoji="0" lang="en-US" altLang="en-US" b="0" i="0" u="none" strike="noStrike" cap="none" normalizeH="0" baseline="0" dirty="0">
                <a:ln>
                  <a:noFill/>
                </a:ln>
                <a:solidFill>
                  <a:schemeClr val="tx1"/>
                </a:solidFill>
                <a:effectLst/>
                <a:latin typeface="Arial" panose="020B0604020202020204" pitchFamily="34" charset="0"/>
              </a:rPr>
              <a:t> hash</a:t>
            </a:r>
            <a:r>
              <a:rPr kumimoji="0" lang="en-US" altLang="en-US" b="0" i="0" u="none" strike="noStrike" cap="none" normalizeH="0" baseline="0" dirty="0">
                <a:ln>
                  <a:noFill/>
                </a:ln>
                <a:solidFill>
                  <a:schemeClr val="tx1"/>
                </a:solidFill>
                <a:effectLst/>
                <a:latin typeface="Arial" panose="020B0604020202020204" pitchFamily="34" charset="0"/>
                <a:hlinkClick r:id="rId6"/>
              </a:rPr>
              <a:t>habr.com</a:t>
            </a:r>
            <a:r>
              <a:rPr kumimoji="0" lang="en-US" altLang="en-US" b="0" i="0" u="none" strike="noStrike" cap="none" normalizeH="0" baseline="0" dirty="0">
                <a:ln>
                  <a:noFill/>
                </a:ln>
                <a:solidFill>
                  <a:schemeClr val="tx1"/>
                </a:solidFill>
                <a:effectLst/>
                <a:latin typeface="Arial" panose="020B0604020202020204" pitchFamily="34" charset="0"/>
              </a:rPr>
              <a:t>. Widely used for signing documents, certificates, etc., within Russia.</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Arial" panose="020B0604020202020204" pitchFamily="34" charset="0"/>
              </a:rPr>
              <a:t>Implementations:</a:t>
            </a:r>
            <a:r>
              <a:rPr kumimoji="0" lang="en-US" altLang="en-US" b="0" i="0" u="none" strike="noStrike" cap="none" normalizeH="0" baseline="0" dirty="0">
                <a:ln>
                  <a:noFill/>
                </a:ln>
                <a:solidFill>
                  <a:schemeClr val="tx1"/>
                </a:solidFill>
                <a:effectLst/>
                <a:latin typeface="Arial" panose="020B0604020202020204" pitchFamily="34" charset="0"/>
              </a:rPr>
              <a:t> These algorithms are implemented in certified crypto libraries and products. </a:t>
            </a:r>
            <a:r>
              <a:rPr kumimoji="0" lang="en-US" altLang="en-US" b="0" i="1" u="none" strike="noStrike" cap="none" normalizeH="0" baseline="0" dirty="0">
                <a:ln>
                  <a:noFill/>
                </a:ln>
                <a:solidFill>
                  <a:schemeClr val="tx1"/>
                </a:solidFill>
                <a:effectLst/>
                <a:latin typeface="Arial" panose="020B0604020202020204" pitchFamily="34" charset="0"/>
              </a:rPr>
              <a:t>For example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CryptoPro</a:t>
            </a:r>
            <a:r>
              <a:rPr kumimoji="0" lang="en-US" altLang="en-US" b="1" i="0" u="none" strike="noStrike" cap="none" normalizeH="0" baseline="0" dirty="0">
                <a:ln>
                  <a:noFill/>
                </a:ln>
                <a:solidFill>
                  <a:schemeClr val="tx1"/>
                </a:solidFill>
                <a:effectLst/>
                <a:latin typeface="Arial" panose="020B0604020202020204" pitchFamily="34" charset="0"/>
              </a:rPr>
              <a:t> CSP</a:t>
            </a:r>
            <a:r>
              <a:rPr kumimoji="0" lang="en-US" altLang="en-US" b="0" i="0" u="none" strike="noStrike" cap="none" normalizeH="0" baseline="0" dirty="0">
                <a:ln>
                  <a:noFill/>
                </a:ln>
                <a:solidFill>
                  <a:schemeClr val="tx1"/>
                </a:solidFill>
                <a:effectLst/>
                <a:latin typeface="Arial" panose="020B0604020202020204" pitchFamily="34" charset="0"/>
              </a:rPr>
              <a:t> (a popular Russian cryptographic provider) supports Magma and </a:t>
            </a:r>
            <a:r>
              <a:rPr kumimoji="0" lang="en-US" altLang="en-US" b="0" i="0" u="none" strike="noStrike" cap="none" normalizeH="0" baseline="0" dirty="0" err="1">
                <a:ln>
                  <a:noFill/>
                </a:ln>
                <a:solidFill>
                  <a:schemeClr val="tx1"/>
                </a:solidFill>
                <a:effectLst/>
                <a:latin typeface="Arial" panose="020B0604020202020204" pitchFamily="34" charset="0"/>
              </a:rPr>
              <a:t>Kuznechik</a:t>
            </a:r>
            <a:r>
              <a:rPr kumimoji="0" lang="en-US" altLang="en-US" b="0" i="0" u="none" strike="noStrike" cap="none" normalizeH="0" baseline="0" dirty="0">
                <a:ln>
                  <a:noFill/>
                </a:ln>
                <a:solidFill>
                  <a:schemeClr val="tx1"/>
                </a:solidFill>
                <a:effectLst/>
                <a:latin typeface="Arial" panose="020B0604020202020204" pitchFamily="34" charset="0"/>
              </a:rPr>
              <a:t> for encryption as of version 5.0</a:t>
            </a:r>
            <a:r>
              <a:rPr kumimoji="0" lang="en-US" altLang="en-US" b="0" i="0" u="none" strike="noStrike" cap="none" normalizeH="0" baseline="0" dirty="0">
                <a:ln>
                  <a:noFill/>
                </a:ln>
                <a:solidFill>
                  <a:schemeClr val="tx1"/>
                </a:solidFill>
                <a:effectLst/>
                <a:latin typeface="Arial" panose="020B0604020202020204" pitchFamily="34" charset="0"/>
                <a:hlinkClick r:id="rId7"/>
              </a:rPr>
              <a:t>support.cryptopro.ru</a:t>
            </a:r>
            <a:r>
              <a:rPr kumimoji="0" lang="en-US" altLang="en-US" b="0" i="0" u="none" strike="noStrike" cap="none" normalizeH="0" baseline="0" dirty="0">
                <a:ln>
                  <a:noFill/>
                </a:ln>
                <a:solidFill>
                  <a:schemeClr val="tx1"/>
                </a:solidFill>
                <a:effectLst/>
                <a:latin typeface="Arial" panose="020B0604020202020204" pitchFamily="34" charset="0"/>
              </a:rPr>
              <a:t>. Many Russian browsers, banking systems, and government applications have added support for GOST algorithms (often alongside international ones). By 2024, domestic algorithms became </a:t>
            </a:r>
            <a:r>
              <a:rPr kumimoji="0" lang="en-US" altLang="en-US" b="0" i="1" u="none" strike="noStrike" cap="none" normalizeH="0" baseline="0" dirty="0">
                <a:ln>
                  <a:noFill/>
                </a:ln>
                <a:solidFill>
                  <a:schemeClr val="tx1"/>
                </a:solidFill>
                <a:effectLst/>
                <a:latin typeface="Arial" panose="020B0604020202020204" pitchFamily="34" charset="0"/>
              </a:rPr>
              <a:t>mandatory</a:t>
            </a:r>
            <a:r>
              <a:rPr kumimoji="0" lang="en-US" altLang="en-US" b="0" i="0" u="none" strike="noStrike" cap="none" normalizeH="0" baseline="0" dirty="0">
                <a:ln>
                  <a:noFill/>
                </a:ln>
                <a:solidFill>
                  <a:schemeClr val="tx1"/>
                </a:solidFill>
                <a:effectLst/>
                <a:latin typeface="Arial" panose="020B0604020202020204" pitchFamily="34" charset="0"/>
              </a:rPr>
              <a:t> in certain domains like payment systems</a:t>
            </a:r>
            <a:r>
              <a:rPr kumimoji="0" lang="en-US" altLang="en-US" b="0" i="0" u="none" strike="noStrike" cap="none" normalizeH="0" baseline="0" dirty="0">
                <a:ln>
                  <a:noFill/>
                </a:ln>
                <a:solidFill>
                  <a:schemeClr val="tx1"/>
                </a:solidFill>
                <a:effectLst/>
                <a:latin typeface="Arial" panose="020B0604020202020204" pitchFamily="34" charset="0"/>
                <a:hlinkClick r:id="rId8"/>
              </a:rPr>
              <a:t>habr.com</a:t>
            </a:r>
            <a:r>
              <a:rPr kumimoji="0" lang="en-US" altLang="en-US" b="0" i="0" u="none" strike="noStrike" cap="none" normalizeH="0" baseline="0" dirty="0">
                <a:ln>
                  <a:noFill/>
                </a:ln>
                <a:solidFill>
                  <a:schemeClr val="tx1"/>
                </a:solidFill>
                <a:effectLst/>
                <a:latin typeface="Arial" panose="020B0604020202020204" pitchFamily="34" charset="0"/>
              </a:rPr>
              <a:t>.</a:t>
            </a:r>
          </a:p>
        </p:txBody>
      </p:sp>
      <p:sp>
        <p:nvSpPr>
          <p:cNvPr id="4" name="Номер слайда 3"/>
          <p:cNvSpPr>
            <a:spLocks noGrp="1"/>
          </p:cNvSpPr>
          <p:nvPr>
            <p:ph type="sldNum" sz="quarter" idx="5"/>
          </p:nvPr>
        </p:nvSpPr>
        <p:spPr/>
        <p:txBody>
          <a:bodyPr/>
          <a:lstStyle/>
          <a:p>
            <a:fld id="{77F0CBD4-9D5C-44A4-B11F-F79AF78C86E0}" type="slidenum">
              <a:rPr lang="en-US" smtClean="0"/>
              <a:t>8</a:t>
            </a:fld>
            <a:endParaRPr lang="en-US"/>
          </a:p>
        </p:txBody>
      </p:sp>
    </p:spTree>
    <p:extLst>
      <p:ext uri="{BB962C8B-B14F-4D97-AF65-F5344CB8AC3E}">
        <p14:creationId xmlns:p14="http://schemas.microsoft.com/office/powerpoint/2010/main" val="6279088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tabLst/>
            </a:pPr>
            <a:r>
              <a:rPr lang="en-US" dirty="0"/>
              <a:t>When we inspect any algorithms, we should ask ourselves 2 questions: how secrets are generated, how does the algorithm works</a:t>
            </a:r>
          </a:p>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tabLst/>
            </a:pPr>
            <a:r>
              <a:rPr lang="en-US" dirty="0"/>
              <a:t>🔑 </a:t>
            </a:r>
            <a:r>
              <a:rPr lang="en-US" b="1" dirty="0"/>
              <a:t>Key Expansion (Preprocessing stage)</a:t>
            </a:r>
          </a:p>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tabLst/>
            </a:pPr>
            <a:r>
              <a:rPr lang="en-US" dirty="0"/>
              <a:t>The cipher operates on </a:t>
            </a:r>
            <a:r>
              <a:rPr lang="en-US" b="1" dirty="0"/>
              <a:t>128-bit blocks</a:t>
            </a:r>
            <a:r>
              <a:rPr lang="en-US" dirty="0"/>
              <a:t> using a </a:t>
            </a:r>
            <a:r>
              <a:rPr lang="en-US" b="1" dirty="0"/>
              <a:t>256-bit master key (not generated)</a:t>
            </a:r>
            <a:r>
              <a:rPr lang="en-US" dirty="0"/>
              <a:t>, which is split into two halves (128 bit each = 16  bytes) and expanded into </a:t>
            </a:r>
            <a:r>
              <a:rPr lang="en-US" b="1" dirty="0"/>
              <a:t>10 round keys</a:t>
            </a:r>
            <a:r>
              <a:rPr lang="en-US" dirty="0"/>
              <a:t> using a Feistel-like construction over </a:t>
            </a:r>
            <a:r>
              <a:rPr lang="en-US" b="1" dirty="0"/>
              <a:t>8 rounds</a:t>
            </a:r>
            <a:r>
              <a:rPr lang="en-US" dirty="0"/>
              <a:t> for every pair of round keys. </a:t>
            </a:r>
          </a:p>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tabLst/>
            </a:pPr>
            <a:r>
              <a:rPr lang="en-US" dirty="0"/>
              <a:t>This key expansion uses 3 operations: XOR, S-box substitution and linear transformation over the </a:t>
            </a:r>
            <a:r>
              <a:rPr lang="en-US" b="1" dirty="0"/>
              <a:t>Galois Field GF(2⁸)</a:t>
            </a:r>
            <a:r>
              <a:rPr lang="en-US" dirty="0"/>
              <a:t>.</a:t>
            </a:r>
            <a:endParaRPr lang="en-US" b="1" dirty="0"/>
          </a:p>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lang="en-US" dirty="0"/>
              <a:t>Controlled by 32 </a:t>
            </a:r>
            <a:r>
              <a:rPr lang="en-US" b="1" dirty="0"/>
              <a:t>iteration constants</a:t>
            </a:r>
            <a:r>
              <a:rPr lang="en-US" dirty="0"/>
              <a:t> C1,C2,…,C32​ . Iteration constants Ci are obtained by L-transforming the sequence number of the iteration.</a:t>
            </a:r>
          </a:p>
          <a:p>
            <a:endParaRPr lang="en-US" dirty="0"/>
          </a:p>
          <a:p>
            <a:endParaRPr lang="en-US" dirty="0"/>
          </a:p>
          <a:p>
            <a:r>
              <a:rPr lang="en-US" dirty="0"/>
              <a:t>🔁 </a:t>
            </a:r>
            <a:r>
              <a:rPr lang="en-US" b="1" dirty="0"/>
              <a:t>Main Round Operations (10 total)</a:t>
            </a:r>
          </a:p>
          <a:p>
            <a:r>
              <a:rPr lang="en-US" dirty="0"/>
              <a:t>For encryption and decryption, Each round performs three key steps:</a:t>
            </a:r>
          </a:p>
          <a:p>
            <a:r>
              <a:rPr lang="en-US" b="1" dirty="0"/>
              <a:t>1.XOR</a:t>
            </a:r>
            <a:r>
              <a:rPr lang="en-US" dirty="0"/>
              <a:t> – the block is combined with the round key using byte-wise XOR.</a:t>
            </a:r>
          </a:p>
          <a:p>
            <a:pPr>
              <a:buFont typeface="+mj-lt"/>
              <a:buNone/>
            </a:pPr>
            <a:r>
              <a:rPr lang="en-US" b="1" dirty="0"/>
              <a:t>2.S-box substitution</a:t>
            </a:r>
            <a:r>
              <a:rPr lang="en-US" dirty="0"/>
              <a:t> – each byte is replaced via a fixed nonlinear lookup table to introduce confusion.</a:t>
            </a:r>
          </a:p>
          <a:p>
            <a:pPr>
              <a:buFont typeface="+mj-lt"/>
              <a:buNone/>
            </a:pPr>
            <a:r>
              <a:rPr lang="en-US" b="1" dirty="0"/>
              <a:t>3.Linear transformation</a:t>
            </a:r>
            <a:r>
              <a:rPr lang="en-US" dirty="0"/>
              <a:t> – the block is shifted and mixed using Galois-field multiplication with a fixed vector, diffusing each byte’s influence across the block.</a:t>
            </a:r>
          </a:p>
          <a:p>
            <a:r>
              <a:rPr lang="en-US" dirty="0"/>
              <a:t>After 9 full rounds, the 10th round ends with a final XOR. The </a:t>
            </a:r>
            <a:r>
              <a:rPr lang="en-US" b="1" dirty="0"/>
              <a:t>decryption process reverses these steps</a:t>
            </a:r>
            <a:r>
              <a:rPr lang="en-US" dirty="0"/>
              <a:t>, using the inverse S-box and inverse linear transform.</a:t>
            </a:r>
          </a:p>
          <a:p>
            <a:r>
              <a:rPr lang="en-US" dirty="0"/>
              <a:t>This elegant combination of nonlinear and linear algebra ensures </a:t>
            </a:r>
            <a:r>
              <a:rPr lang="en-US" b="1" dirty="0"/>
              <a:t>high security</a:t>
            </a:r>
            <a:r>
              <a:rPr lang="en-US" dirty="0"/>
              <a:t> while remaining efficient for both hardware and software.</a:t>
            </a:r>
          </a:p>
          <a:p>
            <a:endParaRPr lang="en-US" dirty="0"/>
          </a:p>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4" name="Номер слайда 3"/>
          <p:cNvSpPr>
            <a:spLocks noGrp="1"/>
          </p:cNvSpPr>
          <p:nvPr>
            <p:ph type="sldNum" sz="quarter" idx="5"/>
          </p:nvPr>
        </p:nvSpPr>
        <p:spPr/>
        <p:txBody>
          <a:bodyPr/>
          <a:lstStyle/>
          <a:p>
            <a:fld id="{77F0CBD4-9D5C-44A4-B11F-F79AF78C86E0}" type="slidenum">
              <a:rPr lang="en-US" smtClean="0"/>
              <a:t>9</a:t>
            </a:fld>
            <a:endParaRPr lang="en-US"/>
          </a:p>
        </p:txBody>
      </p:sp>
    </p:spTree>
    <p:extLst>
      <p:ext uri="{BB962C8B-B14F-4D97-AF65-F5344CB8AC3E}">
        <p14:creationId xmlns:p14="http://schemas.microsoft.com/office/powerpoint/2010/main" val="42134151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The vector (148,32,…., 1) used in </a:t>
            </a:r>
            <a:r>
              <a:rPr lang="en-US" dirty="0" err="1"/>
              <a:t>Kuznechik</a:t>
            </a:r>
            <a:r>
              <a:rPr lang="en-US" dirty="0"/>
              <a:t> (GOST R 34.12-2015) is the </a:t>
            </a:r>
            <a:r>
              <a:rPr lang="en-US" b="1" dirty="0"/>
              <a:t>linear transformation vector</a:t>
            </a:r>
            <a:r>
              <a:rPr lang="en-US" dirty="0"/>
              <a:t> for the L-function — also referred to as the </a:t>
            </a:r>
            <a:r>
              <a:rPr lang="en-US" b="1" dirty="0"/>
              <a:t>LFSR coefficients</a:t>
            </a:r>
            <a:r>
              <a:rPr lang="en-US" dirty="0"/>
              <a:t> (linear feedback shift register). These values are:</a:t>
            </a:r>
          </a:p>
          <a:p>
            <a:pPr>
              <a:buFont typeface="Arial" panose="020B0604020202020204" pitchFamily="34" charset="0"/>
              <a:buNone/>
            </a:pPr>
            <a:r>
              <a:rPr lang="en-US" b="1" dirty="0"/>
              <a:t>1. Not derived from a mathematical field structure like a basis or generator</a:t>
            </a:r>
            <a:r>
              <a:rPr lang="en-US" dirty="0"/>
              <a:t>, but are </a:t>
            </a:r>
            <a:r>
              <a:rPr lang="en-US" b="1" dirty="0"/>
              <a:t>explicitly defined in the standard</a:t>
            </a:r>
            <a:r>
              <a:rPr lang="en-US" dirty="0"/>
              <a:t> for the purpose of achieving </a:t>
            </a:r>
            <a:r>
              <a:rPr lang="en-US" b="1" dirty="0"/>
              <a:t>strong diffusion</a:t>
            </a:r>
            <a:r>
              <a:rPr lang="en-US" dirty="0"/>
              <a:t> across the 128-bit block.</a:t>
            </a:r>
          </a:p>
          <a:p>
            <a:pPr>
              <a:buFont typeface="Arial" panose="020B0604020202020204" pitchFamily="34" charset="0"/>
              <a:buNone/>
            </a:pPr>
            <a:r>
              <a:rPr lang="en-US" dirty="0"/>
              <a:t>2. They were </a:t>
            </a:r>
            <a:r>
              <a:rPr lang="en-US" b="1" dirty="0"/>
              <a:t>hand-picked and fixed</a:t>
            </a:r>
            <a:r>
              <a:rPr lang="en-US" dirty="0"/>
              <a:t> by the designers (</a:t>
            </a:r>
            <a:r>
              <a:rPr lang="en-US" dirty="0" err="1"/>
              <a:t>Kuznetsov</a:t>
            </a:r>
            <a:r>
              <a:rPr lang="en-US" dirty="0"/>
              <a:t>, </a:t>
            </a:r>
            <a:r>
              <a:rPr lang="en-US" dirty="0" err="1"/>
              <a:t>Nechaev</a:t>
            </a:r>
            <a:r>
              <a:rPr lang="en-US" dirty="0"/>
              <a:t>, et al.) to meet certain cryptographic criteria:</a:t>
            </a:r>
          </a:p>
          <a:p>
            <a:pPr marL="285750" lvl="0" indent="-285750">
              <a:buFont typeface="Arial" panose="020B0604020202020204" pitchFamily="34" charset="0"/>
              <a:buChar char="•"/>
            </a:pPr>
            <a:r>
              <a:rPr lang="en-US" dirty="0"/>
              <a:t>Guaranteeing </a:t>
            </a:r>
            <a:r>
              <a:rPr lang="en-US" b="1" dirty="0"/>
              <a:t>invertibility</a:t>
            </a:r>
            <a:r>
              <a:rPr lang="en-US" dirty="0"/>
              <a:t> of the L-function</a:t>
            </a:r>
          </a:p>
          <a:p>
            <a:pPr marL="285750" lvl="0" indent="-285750">
              <a:buFont typeface="Arial" panose="020B0604020202020204" pitchFamily="34" charset="0"/>
              <a:buChar char="•"/>
            </a:pPr>
            <a:r>
              <a:rPr lang="en-US" b="1" dirty="0"/>
              <a:t>Avalanche effect</a:t>
            </a:r>
            <a:r>
              <a:rPr lang="en-US" dirty="0"/>
              <a:t> (changing one bit in input should affect all output bits)</a:t>
            </a:r>
          </a:p>
          <a:p>
            <a:pPr marL="285750" lvl="0" indent="-285750">
              <a:buFont typeface="Arial" panose="020B0604020202020204" pitchFamily="34" charset="0"/>
              <a:buChar char="•"/>
            </a:pPr>
            <a:r>
              <a:rPr lang="en-US" dirty="0"/>
              <a:t>Resistance to known attacks (like differential or linear cryptanalysis)</a:t>
            </a:r>
          </a:p>
          <a:p>
            <a:pPr marL="285750" lvl="0" indent="-285750">
              <a:buFont typeface="Arial" panose="020B0604020202020204" pitchFamily="34" charset="0"/>
              <a:buChar cha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10</a:t>
            </a:fld>
            <a:endParaRPr lang="en-US"/>
          </a:p>
        </p:txBody>
      </p:sp>
    </p:spTree>
    <p:extLst>
      <p:ext uri="{BB962C8B-B14F-4D97-AF65-F5344CB8AC3E}">
        <p14:creationId xmlns:p14="http://schemas.microsoft.com/office/powerpoint/2010/main" val="1594843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200" b="1" i="0" u="none" strike="noStrike" cap="none" normalizeH="0" baseline="0" dirty="0">
                <a:ln>
                  <a:noFill/>
                </a:ln>
                <a:solidFill>
                  <a:schemeClr val="tx1"/>
                </a:solidFill>
                <a:effectLst/>
              </a:rPr>
              <a:t>Licensing of Providers:</a:t>
            </a:r>
            <a:r>
              <a:rPr kumimoji="0" lang="en-US" altLang="en-US" sz="1200" b="0" i="0" u="none" strike="noStrike" cap="none" normalizeH="0" baseline="0" dirty="0">
                <a:ln>
                  <a:noFill/>
                </a:ln>
                <a:solidFill>
                  <a:schemeClr val="tx1"/>
                </a:solidFill>
                <a:effectLst/>
              </a:rPr>
              <a:t> Companies developing, producing, or integrating cryptographic tools need a special </a:t>
            </a:r>
            <a:r>
              <a:rPr kumimoji="0" lang="en-US" altLang="en-US" sz="1200" b="1" i="0" u="none" strike="noStrike" cap="none" normalizeH="0" baseline="0" dirty="0">
                <a:ln>
                  <a:noFill/>
                </a:ln>
                <a:solidFill>
                  <a:schemeClr val="tx1"/>
                </a:solidFill>
                <a:effectLst/>
              </a:rPr>
              <a:t>FSB license </a:t>
            </a:r>
            <a:r>
              <a:rPr kumimoji="0" lang="en-US" altLang="en-US" sz="1200" b="0" i="0" u="none" strike="noStrike" cap="none" normalizeH="0" baseline="0" dirty="0">
                <a:ln>
                  <a:noFill/>
                </a:ln>
                <a:solidFill>
                  <a:schemeClr val="tx1"/>
                </a:solidFill>
                <a:effectLst/>
                <a:hlinkClick r:id="rId3"/>
              </a:rPr>
              <a:t>habr.com</a:t>
            </a:r>
            <a:r>
              <a:rPr kumimoji="0" lang="en-US" altLang="en-US" sz="1200" b="0" i="0" u="none" strike="noStrike" cap="none" normalizeH="0" baseline="0" dirty="0">
                <a:ln>
                  <a:noFill/>
                </a:ln>
                <a:solidFill>
                  <a:schemeClr val="tx1"/>
                </a:solidFill>
                <a:effectLst/>
              </a:rPr>
              <a:t>. This ensures only authorized firms (with proper personnel and facilities) handle cryptographic tech. The licensing process is governed by Government Decree No.313-2012 </a:t>
            </a:r>
            <a:r>
              <a:rPr kumimoji="0" lang="en-US" altLang="en-US" sz="1200" b="0" i="0" u="none" strike="noStrike" cap="none" normalizeH="0" baseline="0" dirty="0">
                <a:ln>
                  <a:noFill/>
                </a:ln>
                <a:solidFill>
                  <a:schemeClr val="tx1"/>
                </a:solidFill>
                <a:effectLst/>
                <a:hlinkClick r:id="rId3"/>
              </a:rPr>
              <a:t>habr.com</a:t>
            </a:r>
            <a:r>
              <a:rPr kumimoji="0" lang="en-US" altLang="en-US" sz="1200" b="0" i="0" u="none" strike="noStrike" cap="none" normalizeH="0" baseline="0" dirty="0">
                <a:ln>
                  <a:noFill/>
                </a:ln>
                <a:solidFill>
                  <a:schemeClr val="tx1"/>
                </a:solidFill>
                <a:effectLst/>
              </a:rPr>
              <a:t>.</a:t>
            </a:r>
            <a:endParaRPr kumimoji="0" lang="en-US" altLang="en-US" sz="1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rPr>
              <a:t>Mandatory Certification:</a:t>
            </a:r>
            <a:r>
              <a:rPr kumimoji="0" lang="en-US" altLang="en-US" sz="1200" b="0" i="0" u="none" strike="noStrike" cap="none" normalizeH="0" baseline="0" dirty="0">
                <a:ln>
                  <a:noFill/>
                </a:ln>
                <a:solidFill>
                  <a:schemeClr val="tx1"/>
                </a:solidFill>
                <a:effectLst/>
              </a:rPr>
              <a:t> All cryptographic tools (СКЗИ – “Means of Cryptographic Information Protection”) used in protected systems </a:t>
            </a:r>
            <a:r>
              <a:rPr kumimoji="0" lang="en-US" altLang="en-US" sz="1200" b="1" i="0" u="none" strike="noStrike" cap="none" normalizeH="0" baseline="0" dirty="0">
                <a:ln>
                  <a:noFill/>
                </a:ln>
                <a:solidFill>
                  <a:schemeClr val="tx1"/>
                </a:solidFill>
                <a:effectLst/>
              </a:rPr>
              <a:t>must be certified by FSB</a:t>
            </a:r>
            <a:r>
              <a:rPr kumimoji="0" lang="en-US" altLang="en-US" sz="1200" b="0" i="0" u="none" strike="noStrike" cap="none" normalizeH="0" baseline="0" dirty="0">
                <a:ln>
                  <a:noFill/>
                </a:ln>
                <a:solidFill>
                  <a:schemeClr val="tx1"/>
                </a:solidFill>
                <a:effectLst/>
              </a:rPr>
              <a:t>. The FSB’s certification confirms the product meets Russian crypto standards and security requirements</a:t>
            </a:r>
            <a:r>
              <a:rPr kumimoji="0" lang="en-US" altLang="en-US" sz="1200" b="0" i="0" u="none" strike="noStrike" cap="none" normalizeH="0" baseline="0" dirty="0">
                <a:ln>
                  <a:noFill/>
                </a:ln>
                <a:solidFill>
                  <a:schemeClr val="tx1"/>
                </a:solidFill>
                <a:effectLst/>
                <a:hlinkClick r:id="rId4"/>
              </a:rPr>
              <a:t>cisoclub.ru</a:t>
            </a:r>
            <a:r>
              <a:rPr kumimoji="0" lang="en-US" altLang="en-US" sz="1200" b="0" i="0" u="none" strike="noStrike" cap="none" normalizeH="0" baseline="0" dirty="0">
                <a:ln>
                  <a:noFill/>
                </a:ln>
                <a:solidFill>
                  <a:schemeClr val="tx1"/>
                </a:solidFill>
                <a:effectLst/>
              </a:rPr>
              <a:t>. Only FSB-certified hardware/software can be used to protect sensitive data in government, personal data, or classified systems</a:t>
            </a:r>
            <a:r>
              <a:rPr kumimoji="0" lang="en-US" altLang="en-US" sz="1200" b="0" i="0" u="none" strike="noStrike" cap="none" normalizeH="0" baseline="0" dirty="0">
                <a:ln>
                  <a:noFill/>
                </a:ln>
                <a:solidFill>
                  <a:schemeClr val="tx1"/>
                </a:solidFill>
                <a:effectLst/>
                <a:hlinkClick r:id="rId4"/>
              </a:rPr>
              <a:t>cisoclub.ru</a:t>
            </a:r>
            <a:r>
              <a:rPr kumimoji="0" lang="en-US" altLang="en-US" sz="1200" b="0" i="0" u="none" strike="noStrike" cap="none" normalizeH="0" baseline="0" dirty="0">
                <a:ln>
                  <a:noFill/>
                </a:ln>
                <a:solidFill>
                  <a:schemeClr val="tx1"/>
                </a:solidFill>
                <a:effectLst/>
                <a:hlinkClick r:id="rId5"/>
              </a:rPr>
              <a:t>cisoclub.ru</a:t>
            </a:r>
            <a:r>
              <a:rPr kumimoji="0" lang="en-US" altLang="en-US" sz="12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rPr>
              <a:t>Import/Export Controls:</a:t>
            </a:r>
            <a:r>
              <a:rPr kumimoji="0" lang="en-US" altLang="en-US" sz="1200" b="0" i="0" u="none" strike="noStrike" cap="none" normalizeH="0" baseline="0" dirty="0">
                <a:ln>
                  <a:noFill/>
                </a:ln>
                <a:solidFill>
                  <a:schemeClr val="tx1"/>
                </a:solidFill>
                <a:effectLst/>
              </a:rPr>
              <a:t> To </a:t>
            </a:r>
            <a:r>
              <a:rPr kumimoji="0" lang="en-US" altLang="en-US" sz="1200" b="1" i="0" u="none" strike="noStrike" cap="none" normalizeH="0" baseline="0" dirty="0">
                <a:ln>
                  <a:noFill/>
                </a:ln>
                <a:solidFill>
                  <a:schemeClr val="tx1"/>
                </a:solidFill>
                <a:effectLst/>
              </a:rPr>
              <a:t>import</a:t>
            </a:r>
            <a:r>
              <a:rPr kumimoji="0" lang="en-US" altLang="en-US" sz="1200" b="0" i="0" u="none" strike="noStrike" cap="none" normalizeH="0" baseline="0" dirty="0">
                <a:ln>
                  <a:noFill/>
                </a:ln>
                <a:solidFill>
                  <a:schemeClr val="tx1"/>
                </a:solidFill>
                <a:effectLst/>
              </a:rPr>
              <a:t> any device or software with encryption into Russia (or EAEU), an FSB </a:t>
            </a:r>
            <a:r>
              <a:rPr kumimoji="0" lang="en-US" altLang="en-US" sz="1200" b="1" i="0" u="none" strike="noStrike" cap="none" normalizeH="0" baseline="0" dirty="0">
                <a:ln>
                  <a:noFill/>
                </a:ln>
                <a:solidFill>
                  <a:schemeClr val="tx1"/>
                </a:solidFill>
                <a:effectLst/>
              </a:rPr>
              <a:t>notification certificate</a:t>
            </a:r>
            <a:r>
              <a:rPr kumimoji="0" lang="en-US" altLang="en-US" sz="1200" b="0" i="0" u="none" strike="noStrike" cap="none" normalizeH="0" baseline="0" dirty="0">
                <a:ln>
                  <a:noFill/>
                </a:ln>
                <a:solidFill>
                  <a:schemeClr val="tx1"/>
                </a:solidFill>
                <a:effectLst/>
              </a:rPr>
              <a:t> is required</a:t>
            </a:r>
            <a:r>
              <a:rPr kumimoji="0" lang="en-US" altLang="en-US" sz="1200" b="0" i="0" u="none" strike="noStrike" cap="none" normalizeH="0" baseline="0" dirty="0">
                <a:ln>
                  <a:noFill/>
                </a:ln>
                <a:solidFill>
                  <a:schemeClr val="tx1"/>
                </a:solidFill>
                <a:effectLst/>
                <a:hlinkClick r:id="rId6"/>
              </a:rPr>
              <a:t>mastcert.com</a:t>
            </a:r>
            <a:r>
              <a:rPr kumimoji="0" lang="en-US" altLang="en-US" sz="1200" b="0" i="0" u="none" strike="noStrike" cap="none" normalizeH="0" baseline="0" dirty="0">
                <a:ln>
                  <a:noFill/>
                </a:ln>
                <a:solidFill>
                  <a:schemeClr val="tx1"/>
                </a:solidFill>
                <a:effectLst/>
              </a:rPr>
              <a:t>. The manufacturer or importer files a notification (self-declaration) to FSB listing the crypto capabilities of the product</a:t>
            </a:r>
            <a:r>
              <a:rPr kumimoji="0" lang="en-US" altLang="en-US" sz="1200" b="0" i="0" u="none" strike="noStrike" cap="none" normalizeH="0" baseline="0" dirty="0">
                <a:ln>
                  <a:noFill/>
                </a:ln>
                <a:solidFill>
                  <a:schemeClr val="tx1"/>
                </a:solidFill>
                <a:effectLst/>
                <a:hlinkClick r:id="rId6"/>
              </a:rPr>
              <a:t>mastcert.com</a:t>
            </a:r>
            <a:r>
              <a:rPr kumimoji="0" lang="en-US" altLang="en-US" sz="1200" b="0" i="0" u="none" strike="noStrike" cap="none" normalizeH="0" baseline="0" dirty="0">
                <a:ln>
                  <a:noFill/>
                </a:ln>
                <a:solidFill>
                  <a:schemeClr val="tx1"/>
                </a:solidFill>
                <a:effectLst/>
              </a:rPr>
              <a:t>. Customs will only clear items on the basis of this FSS notification. (Export of strong encryption may also require authorization under Russian law.)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rPr>
              <a:t>Operational Compliance:</a:t>
            </a:r>
            <a:r>
              <a:rPr kumimoji="0" lang="en-US" altLang="en-US" sz="1200" b="0" i="0" u="none" strike="noStrike" cap="none" normalizeH="0" baseline="0" dirty="0">
                <a:ln>
                  <a:noFill/>
                </a:ln>
                <a:solidFill>
                  <a:schemeClr val="tx1"/>
                </a:solidFill>
                <a:effectLst/>
              </a:rPr>
              <a:t> Organizations using SKZI must follow proper usage rules (as per FSB orders). For example, they must monitor the validity of their crypto tool’s FSB certificate and only allow installation/maintenance by licensed entities</a:t>
            </a:r>
            <a:r>
              <a:rPr kumimoji="0" lang="en-US" altLang="en-US" sz="1200" b="0" i="0" u="none" strike="noStrike" cap="none" normalizeH="0" baseline="0" dirty="0">
                <a:ln>
                  <a:noFill/>
                </a:ln>
                <a:solidFill>
                  <a:schemeClr val="tx1"/>
                </a:solidFill>
                <a:effectLst/>
                <a:hlinkClick r:id="rId7"/>
              </a:rPr>
              <a:t>ec-rs.ru</a:t>
            </a:r>
            <a:r>
              <a:rPr kumimoji="0" lang="en-US" altLang="en-US" sz="1200" b="0" i="0" u="none" strike="noStrike" cap="none" normalizeH="0" baseline="0" dirty="0">
                <a:ln>
                  <a:noFill/>
                </a:ln>
                <a:solidFill>
                  <a:schemeClr val="tx1"/>
                </a:solidFill>
                <a:effectLst/>
                <a:hlinkClick r:id="rId8"/>
              </a:rPr>
              <a:t>ec-rs.ru</a:t>
            </a:r>
            <a:r>
              <a:rPr kumimoji="0" lang="en-US" altLang="en-US" sz="1200" b="0" i="0" u="none" strike="noStrike" cap="none" normalizeH="0" baseline="0" dirty="0">
                <a:ln>
                  <a:noFill/>
                </a:ln>
                <a:solidFill>
                  <a:schemeClr val="tx1"/>
                </a:solidFill>
                <a:effectLst/>
              </a:rPr>
              <a:t>. FSB can conduct audits to verify compliance with crypto regulations.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1" i="0" u="none" strike="noStrike" cap="none" normalizeH="0" baseline="0" dirty="0">
                <a:ln>
                  <a:noFill/>
                </a:ln>
                <a:solidFill>
                  <a:schemeClr val="tx1"/>
                </a:solidFill>
                <a:effectLst/>
              </a:rPr>
              <a:t>Certification Process:</a:t>
            </a:r>
            <a:r>
              <a:rPr kumimoji="0" lang="en-US" altLang="en-US" sz="1200" b="0" i="0" u="none" strike="noStrike" cap="none" normalizeH="0" baseline="0" dirty="0">
                <a:ln>
                  <a:noFill/>
                </a:ln>
                <a:solidFill>
                  <a:schemeClr val="tx1"/>
                </a:solidFill>
                <a:effectLst/>
              </a:rPr>
              <a:t> Vendors submit their crypto product for evaluation by an FSB-accredited lab. The FSB reviews compliance with GOST algorithms and robustness. Products are assigned a </a:t>
            </a:r>
            <a:r>
              <a:rPr kumimoji="0" lang="en-US" altLang="en-US" sz="1200" b="1" i="0" u="none" strike="noStrike" cap="none" normalizeH="0" baseline="0" dirty="0">
                <a:ln>
                  <a:noFill/>
                </a:ln>
                <a:solidFill>
                  <a:schemeClr val="tx1"/>
                </a:solidFill>
                <a:effectLst/>
              </a:rPr>
              <a:t>class</a:t>
            </a:r>
            <a:r>
              <a:rPr kumimoji="0" lang="en-US" altLang="en-US" sz="1200" b="0" i="0" u="none" strike="noStrike" cap="none" normalizeH="0" baseline="0" dirty="0">
                <a:ln>
                  <a:noFill/>
                </a:ln>
                <a:solidFill>
                  <a:schemeClr val="tx1"/>
                </a:solidFill>
                <a:effectLst/>
              </a:rPr>
              <a:t> of SKZI based on the assumed attacker capabilities they counter (per Order 378)</a:t>
            </a:r>
            <a:r>
              <a:rPr kumimoji="0" lang="en-US" altLang="en-US" sz="1200" b="0" i="0" u="none" strike="noStrike" cap="none" normalizeH="0" baseline="0" dirty="0">
                <a:ln>
                  <a:noFill/>
                </a:ln>
                <a:solidFill>
                  <a:schemeClr val="tx1"/>
                </a:solidFill>
                <a:effectLst/>
                <a:hlinkClick r:id="rId9"/>
              </a:rPr>
              <a:t>ec-rs.ru</a:t>
            </a:r>
            <a:r>
              <a:rPr kumimoji="0" lang="en-US" altLang="en-US" sz="1200" b="0" i="0" u="none" strike="noStrike" cap="none" normalizeH="0" baseline="0" dirty="0">
                <a:ln>
                  <a:noFill/>
                </a:ln>
                <a:solidFill>
                  <a:schemeClr val="tx1"/>
                </a:solidFill>
                <a:effectLst/>
              </a:rPr>
              <a:t>. Once approved, a </a:t>
            </a:r>
            <a:r>
              <a:rPr kumimoji="0" lang="en-US" altLang="en-US" sz="1200" b="1" i="0" u="none" strike="noStrike" cap="none" normalizeH="0" baseline="0" dirty="0">
                <a:ln>
                  <a:noFill/>
                </a:ln>
                <a:solidFill>
                  <a:schemeClr val="tx1"/>
                </a:solidFill>
                <a:effectLst/>
              </a:rPr>
              <a:t>certificate of conformity</a:t>
            </a:r>
            <a:r>
              <a:rPr kumimoji="0" lang="en-US" altLang="en-US" sz="1200" b="0" i="0" u="none" strike="noStrike" cap="none" normalizeH="0" baseline="0" dirty="0">
                <a:ln>
                  <a:noFill/>
                </a:ln>
                <a:solidFill>
                  <a:schemeClr val="tx1"/>
                </a:solidFill>
                <a:effectLst/>
              </a:rPr>
              <a:t> is issued and the product is added to the state register of certified crypto tools.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endParaRPr>
          </a:p>
        </p:txBody>
      </p:sp>
      <p:sp>
        <p:nvSpPr>
          <p:cNvPr id="4" name="Номер слайда 3"/>
          <p:cNvSpPr>
            <a:spLocks noGrp="1"/>
          </p:cNvSpPr>
          <p:nvPr>
            <p:ph type="sldNum" sz="quarter" idx="5"/>
          </p:nvPr>
        </p:nvSpPr>
        <p:spPr/>
        <p:txBody>
          <a:bodyPr/>
          <a:lstStyle/>
          <a:p>
            <a:fld id="{77F0CBD4-9D5C-44A4-B11F-F79AF78C86E0}" type="slidenum">
              <a:rPr lang="en-US" smtClean="0"/>
              <a:t>11</a:t>
            </a:fld>
            <a:endParaRPr lang="en-US"/>
          </a:p>
        </p:txBody>
      </p:sp>
    </p:spTree>
    <p:extLst>
      <p:ext uri="{BB962C8B-B14F-4D97-AF65-F5344CB8AC3E}">
        <p14:creationId xmlns:p14="http://schemas.microsoft.com/office/powerpoint/2010/main" val="22427782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b="1" dirty="0"/>
              <a:t>Legal Basis:</a:t>
            </a:r>
            <a:r>
              <a:rPr lang="en-US" dirty="0"/>
              <a:t> China enacted a </a:t>
            </a:r>
            <a:r>
              <a:rPr lang="en-US" b="1" dirty="0"/>
              <a:t>Cryptography Law (2019)</a:t>
            </a:r>
            <a:r>
              <a:rPr lang="en-US" dirty="0"/>
              <a:t> as a comprehensive framework, categorizing encryption into </a:t>
            </a:r>
            <a:r>
              <a:rPr lang="en-US" i="1" dirty="0"/>
              <a:t>core</a:t>
            </a:r>
            <a:r>
              <a:rPr lang="en-US" dirty="0"/>
              <a:t> and </a:t>
            </a:r>
            <a:r>
              <a:rPr lang="en-US" i="1" dirty="0"/>
              <a:t>ordinary</a:t>
            </a:r>
            <a:r>
              <a:rPr lang="en-US" dirty="0"/>
              <a:t> (for state secrets) and </a:t>
            </a:r>
            <a:r>
              <a:rPr lang="en-US" i="1" dirty="0"/>
              <a:t>commercial</a:t>
            </a:r>
            <a:r>
              <a:rPr lang="en-US" dirty="0"/>
              <a:t> encryption</a:t>
            </a:r>
            <a:r>
              <a:rPr lang="en-US" dirty="0">
                <a:hlinkClick r:id="rId3"/>
              </a:rPr>
              <a:t>thediplomat.com</a:t>
            </a:r>
            <a:r>
              <a:rPr lang="en-US" dirty="0"/>
              <a:t>. Russia does </a:t>
            </a:r>
            <a:r>
              <a:rPr lang="en-US" b="1" dirty="0"/>
              <a:t>not</a:t>
            </a:r>
            <a:r>
              <a:rPr lang="en-US" dirty="0"/>
              <a:t> have a single dedicated crypto law; instead it relies on broader laws (like 149-FZ) and a web of FSB orders for specific areas</a:t>
            </a:r>
            <a:r>
              <a:rPr lang="en-US" dirty="0">
                <a:hlinkClick r:id="rId4"/>
              </a:rPr>
              <a:t>habr.com</a:t>
            </a:r>
            <a:r>
              <a:rPr lang="en-US" dirty="0"/>
              <a:t>. Both approaches aim to assert state control, but China’s is more centralized in one law.</a:t>
            </a:r>
          </a:p>
          <a:p>
            <a:r>
              <a:rPr lang="en-US" b="1" dirty="0"/>
              <a:t>Regulatory Authority:</a:t>
            </a:r>
            <a:r>
              <a:rPr lang="en-US" dirty="0"/>
              <a:t> China’s crypto is overseen by the </a:t>
            </a:r>
            <a:r>
              <a:rPr lang="en-US" b="1" dirty="0"/>
              <a:t>State Cryptography Administration (SCA)</a:t>
            </a:r>
            <a:r>
              <a:rPr lang="en-US" dirty="0"/>
              <a:t> – a specialized agency under the Communist Party’s Central Office</a:t>
            </a:r>
            <a:r>
              <a:rPr lang="en-US" dirty="0">
                <a:hlinkClick r:id="rId5"/>
              </a:rPr>
              <a:t>thediplomat.com</a:t>
            </a:r>
            <a:r>
              <a:rPr lang="en-US" dirty="0"/>
              <a:t>. It manages standards, certification (especially for commercial encryption products), and enforcement of the Crypto Law. Russia’s equivalent role is taken by the </a:t>
            </a:r>
            <a:r>
              <a:rPr lang="en-US" b="1" dirty="0"/>
              <a:t>FSB</a:t>
            </a:r>
            <a:r>
              <a:rPr lang="en-US" dirty="0"/>
              <a:t>, with FSTEC coordinating on general InfoSec</a:t>
            </a:r>
            <a:r>
              <a:rPr lang="en-US" dirty="0">
                <a:hlinkClick r:id="rId6"/>
              </a:rPr>
              <a:t>en.wikipedia.org</a:t>
            </a:r>
            <a:r>
              <a:rPr lang="en-US" dirty="0"/>
              <a:t>. In short, China has a civilian cryptography authority (SCA), whereas Russia entrusts cryptography to its security service (FSB).</a:t>
            </a:r>
          </a:p>
          <a:p>
            <a:r>
              <a:rPr lang="en-US" b="1" dirty="0"/>
              <a:t>Standards &amp; Algorithms:</a:t>
            </a:r>
            <a:r>
              <a:rPr lang="en-US" dirty="0"/>
              <a:t> Both countries promote </a:t>
            </a:r>
            <a:r>
              <a:rPr lang="en-US" b="1" dirty="0"/>
              <a:t>home-grown algorithms</a:t>
            </a:r>
            <a:r>
              <a:rPr lang="en-US" dirty="0"/>
              <a:t> via national standards. China uses the </a:t>
            </a:r>
            <a:r>
              <a:rPr lang="en-US" b="1" dirty="0"/>
              <a:t>SM series</a:t>
            </a:r>
            <a:r>
              <a:rPr lang="en-US" dirty="0"/>
              <a:t> (SM2 signature, SM3 hash, SM4 block cipher, etc.) as state-approved algorithms in government and commercial products. Russia uses </a:t>
            </a:r>
            <a:r>
              <a:rPr lang="en-US" b="1" dirty="0"/>
              <a:t>GOST algorithms</a:t>
            </a:r>
            <a:r>
              <a:rPr lang="en-US" dirty="0"/>
              <a:t> (GOST 34.10, </a:t>
            </a:r>
            <a:r>
              <a:rPr lang="en-US" dirty="0" err="1"/>
              <a:t>Streebog</a:t>
            </a:r>
            <a:r>
              <a:rPr lang="en-US" dirty="0"/>
              <a:t>, </a:t>
            </a:r>
            <a:r>
              <a:rPr lang="en-US" dirty="0" err="1"/>
              <a:t>Kuznechik</a:t>
            </a:r>
            <a:r>
              <a:rPr lang="en-US" dirty="0"/>
              <a:t>, Magma, etc.) in all official capacities. Each country mandates these algorithms in critical systems – e.g. Chinese government networks and banking use SM algorithms, and Russian banks and government sites are moving to GOST TLS and encryption</a:t>
            </a:r>
            <a:r>
              <a:rPr lang="en-US" dirty="0">
                <a:hlinkClick r:id="rId7"/>
              </a:rPr>
              <a:t>habr.com</a:t>
            </a:r>
            <a:r>
              <a:rPr lang="en-US" dirty="0"/>
              <a:t>. Neither country relies on foreign ciphers (like RSA/AES) for domestic high-security applications.</a:t>
            </a:r>
          </a:p>
          <a:p>
            <a:r>
              <a:rPr lang="en-US" b="1" dirty="0"/>
              <a:t>Certification Regime:</a:t>
            </a:r>
            <a:r>
              <a:rPr lang="en-US" dirty="0"/>
              <a:t> Both have strict certification for crypto products. China requires products with encryption to undergo </a:t>
            </a:r>
            <a:r>
              <a:rPr lang="en-US" b="1" dirty="0"/>
              <a:t>SCA certification</a:t>
            </a:r>
            <a:r>
              <a:rPr lang="en-US" dirty="0"/>
              <a:t> or cryptographic review (especially for commercial encryption used by businesses). Russia’s FSB certification of SKZI is analogous, ensuring only approved crypto modules are used in regulated sectors. Import controls exist in both: China has import license requirements for certain encryption tech, Russia uses the FSB notification system</a:t>
            </a:r>
            <a:r>
              <a:rPr lang="en-US" dirty="0">
                <a:hlinkClick r:id="rId8"/>
              </a:rPr>
              <a:t>mastcert.com</a:t>
            </a:r>
            <a:r>
              <a:rPr lang="en-US" dirty="0"/>
              <a:t>. These regimes can pose barriers to foreign products (must comply or use approved algorithms).</a:t>
            </a:r>
          </a:p>
          <a:p>
            <a:r>
              <a:rPr lang="en-US" b="1" dirty="0"/>
              <a:t>Philosophy &amp; Strategy:</a:t>
            </a:r>
            <a:r>
              <a:rPr lang="en-US" dirty="0"/>
              <a:t> China’s law explicitly encourages growth of the domestic crypto industry and academic research, while maintaining Party oversight</a:t>
            </a:r>
            <a:r>
              <a:rPr lang="en-US" dirty="0">
                <a:hlinkClick r:id="rId9"/>
              </a:rPr>
              <a:t>thediplomat.com</a:t>
            </a:r>
            <a:r>
              <a:rPr lang="en-US" dirty="0"/>
              <a:t>. Russia’s approach is also to foster a domestic industry (companies like </a:t>
            </a:r>
            <a:r>
              <a:rPr lang="en-US" dirty="0" err="1"/>
              <a:t>CryptoPro</a:t>
            </a:r>
            <a:r>
              <a:rPr lang="en-US" dirty="0"/>
              <a:t>, </a:t>
            </a:r>
            <a:r>
              <a:rPr lang="en-US" dirty="0" err="1"/>
              <a:t>Infotecs</a:t>
            </a:r>
            <a:r>
              <a:rPr lang="en-US" dirty="0"/>
              <a:t>, etc.), often led by former state entities, under FSB supervision</a:t>
            </a:r>
            <a:r>
              <a:rPr lang="en-US" dirty="0">
                <a:hlinkClick r:id="rId10"/>
              </a:rPr>
              <a:t>habr.com</a:t>
            </a:r>
            <a:r>
              <a:rPr lang="en-US" dirty="0"/>
              <a:t>. Both countries view cryptographic sovereignty as crucial for national security and have moved to limit or replace foreign encryption in sensitive areas.</a:t>
            </a:r>
          </a:p>
        </p:txBody>
      </p:sp>
      <p:sp>
        <p:nvSpPr>
          <p:cNvPr id="4" name="Номер слайда 3"/>
          <p:cNvSpPr>
            <a:spLocks noGrp="1"/>
          </p:cNvSpPr>
          <p:nvPr>
            <p:ph type="sldNum" sz="quarter" idx="5"/>
          </p:nvPr>
        </p:nvSpPr>
        <p:spPr/>
        <p:txBody>
          <a:bodyPr/>
          <a:lstStyle/>
          <a:p>
            <a:fld id="{77F0CBD4-9D5C-44A4-B11F-F79AF78C86E0}" type="slidenum">
              <a:rPr lang="en-US" smtClean="0"/>
              <a:t>12</a:t>
            </a:fld>
            <a:endParaRPr lang="en-US"/>
          </a:p>
        </p:txBody>
      </p:sp>
    </p:spTree>
    <p:extLst>
      <p:ext uri="{BB962C8B-B14F-4D97-AF65-F5344CB8AC3E}">
        <p14:creationId xmlns:p14="http://schemas.microsoft.com/office/powerpoint/2010/main" val="12616062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13</a:t>
            </a:fld>
            <a:endParaRPr lang="en-US"/>
          </a:p>
        </p:txBody>
      </p:sp>
    </p:spTree>
    <p:extLst>
      <p:ext uri="{BB962C8B-B14F-4D97-AF65-F5344CB8AC3E}">
        <p14:creationId xmlns:p14="http://schemas.microsoft.com/office/powerpoint/2010/main" val="41747078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A1:</a:t>
            </a:r>
            <a:r>
              <a:rPr kumimoji="0" lang="en-US" altLang="en-US" sz="1200" b="0" i="0" u="none" strike="noStrike" cap="none" normalizeH="0" baseline="0" dirty="0">
                <a:ln>
                  <a:noFill/>
                </a:ln>
                <a:solidFill>
                  <a:schemeClr val="tx1"/>
                </a:solidFill>
                <a:effectLst/>
                <a:latin typeface="Arial" panose="020B0604020202020204" pitchFamily="34" charset="0"/>
              </a:rPr>
              <a:t> China has a dedicated Cryptography Law (2019), whereas Russia relies on broader information security laws (149-FZ) and a set of specific FSB orders.</a:t>
            </a:r>
          </a:p>
          <a:p>
            <a:pPr marL="0" marR="0" lvl="0" indent="0" algn="l" defTabSz="914400" rtl="0" eaLnBrk="0" fontAlgn="base" latinLnBrk="0" hangingPunct="0">
              <a:lnSpc>
                <a:spcPct val="100000"/>
              </a:lnSpc>
              <a:spcBef>
                <a:spcPct val="0"/>
              </a:spcBef>
              <a:spcAft>
                <a:spcPct val="0"/>
              </a:spcAft>
              <a:buClrTx/>
              <a:buSzTx/>
              <a:buFontTx/>
              <a:buChar char="•"/>
              <a:tabLst/>
            </a:pPr>
            <a:r>
              <a:rPr lang="en-US" b="1" dirty="0"/>
              <a:t>A2</a:t>
            </a:r>
            <a:r>
              <a:rPr lang="en-US" dirty="0"/>
              <a:t>: In Russia, cryptographic certification is managed by the Federal Security Service (FSB), a security-focused agency. In contrast, China’s cryptography is regulated by the civilian-run State Cryptography Administration (SCA).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A3</a:t>
            </a:r>
            <a:r>
              <a:rPr kumimoji="0" lang="en-US" altLang="en-US" sz="1200" b="0" i="0" u="none" strike="noStrike" cap="none" normalizeH="0" baseline="0" dirty="0">
                <a:ln>
                  <a:noFill/>
                </a:ln>
                <a:solidFill>
                  <a:schemeClr val="tx1"/>
                </a:solidFill>
                <a:effectLst/>
                <a:latin typeface="Arial" panose="020B0604020202020204" pitchFamily="34" charset="0"/>
              </a:rPr>
              <a:t>: </a:t>
            </a:r>
            <a:r>
              <a:rPr lang="en-US" dirty="0" err="1"/>
              <a:t>Kuznechik</a:t>
            </a:r>
            <a:r>
              <a:rPr lang="en-US" dirty="0"/>
              <a:t> (block cipher, modern encryption), Magma (legacy-compatible cipher), </a:t>
            </a:r>
            <a:r>
              <a:rPr lang="en-US" dirty="0" err="1"/>
              <a:t>Streebog</a:t>
            </a:r>
            <a:r>
              <a:rPr lang="en-US" dirty="0"/>
              <a:t> (hash functions), GOST R 34.10-2018 (digital signatures).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A4</a:t>
            </a:r>
            <a:r>
              <a:rPr kumimoji="0" lang="en-US" altLang="en-US" sz="1200" b="0" i="0" u="none" strike="noStrike" cap="none" normalizeH="0" baseline="0" dirty="0">
                <a:ln>
                  <a:noFill/>
                </a:ln>
                <a:solidFill>
                  <a:schemeClr val="tx1"/>
                </a:solidFill>
                <a:effectLst/>
                <a:latin typeface="Arial" panose="020B0604020202020204" pitchFamily="34" charset="0"/>
              </a:rPr>
              <a:t>: </a:t>
            </a:r>
            <a:r>
              <a:rPr lang="en-US" dirty="0"/>
              <a:t>Both countries aim for cryptographic sovereignty, national security, and protection against potential backdoors or vulnerabilities associated with foreign algorithms.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A5: </a:t>
            </a:r>
            <a:r>
              <a:rPr lang="en-US" dirty="0"/>
              <a:t>SKZI stands for “</a:t>
            </a:r>
            <a:r>
              <a:rPr lang="ru-RU" dirty="0"/>
              <a:t>Средства Криптографической Защиты Информации” (</a:t>
            </a:r>
            <a:r>
              <a:rPr lang="en-US" dirty="0"/>
              <a:t>Means of Cryptographic Protection of Information). These certified products are mandatory for protecting sensitive government and personal data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A6:</a:t>
            </a:r>
            <a:r>
              <a:rPr kumimoji="0" lang="en-US" altLang="en-US" sz="1200" b="0" i="0" u="none" strike="noStrike" cap="none" normalizeH="0" baseline="0" dirty="0">
                <a:ln>
                  <a:noFill/>
                </a:ln>
                <a:solidFill>
                  <a:schemeClr val="tx1"/>
                </a:solidFill>
                <a:effectLst/>
                <a:latin typeface="Arial" panose="020B0604020202020204" pitchFamily="34" charset="0"/>
              </a:rPr>
              <a:t> </a:t>
            </a:r>
            <a:r>
              <a:rPr lang="en-US" b="1" dirty="0"/>
              <a:t>SM4</a:t>
            </a:r>
            <a:r>
              <a:rPr lang="en-US" dirty="0"/>
              <a:t> uses a </a:t>
            </a:r>
            <a:r>
              <a:rPr lang="en-US" b="1" dirty="0"/>
              <a:t>128-bit key</a:t>
            </a:r>
            <a:r>
              <a:rPr lang="en-US" dirty="0"/>
              <a:t>, a </a:t>
            </a:r>
            <a:r>
              <a:rPr lang="en-US" b="1" dirty="0"/>
              <a:t>128-bit block</a:t>
            </a:r>
            <a:r>
              <a:rPr lang="en-US" dirty="0"/>
              <a:t>, and a </a:t>
            </a:r>
            <a:r>
              <a:rPr lang="en-US" b="1" dirty="0"/>
              <a:t>32-round unbalanced Feistel</a:t>
            </a:r>
            <a:r>
              <a:rPr lang="en-US" dirty="0"/>
              <a:t> structure. </a:t>
            </a:r>
            <a:r>
              <a:rPr lang="en-US" b="1" dirty="0" err="1"/>
              <a:t>Kuznechik</a:t>
            </a:r>
            <a:r>
              <a:rPr lang="en-US" dirty="0"/>
              <a:t> uses a </a:t>
            </a:r>
            <a:r>
              <a:rPr lang="en-US" b="1" dirty="0"/>
              <a:t>256-bit key</a:t>
            </a:r>
            <a:r>
              <a:rPr lang="en-US" dirty="0"/>
              <a:t>, a </a:t>
            </a:r>
            <a:r>
              <a:rPr lang="en-US" b="1" dirty="0"/>
              <a:t>128-bit block</a:t>
            </a:r>
            <a:r>
              <a:rPr lang="en-US" dirty="0"/>
              <a:t>, and a </a:t>
            </a:r>
            <a:r>
              <a:rPr lang="en-US" b="1" dirty="0"/>
              <a:t>10-round SP-network</a:t>
            </a:r>
            <a:r>
              <a:rPr lang="en-US" dirty="0"/>
              <a:t> structure.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A7: </a:t>
            </a:r>
            <a:r>
              <a:rPr lang="en-US" dirty="0"/>
              <a:t>Challenges include interoperability issues, limited international support, potential compliance barriers, and the need for dual-cryptography implementations to maintain compatibility.</a:t>
            </a:r>
            <a:endParaRPr kumimoji="0" lang="en-US" altLang="en-US" sz="1200" b="1" i="0" u="none" strike="noStrike" cap="none" normalizeH="0" baseline="0" dirty="0">
              <a:ln>
                <a:noFill/>
              </a:ln>
              <a:solidFill>
                <a:schemeClr val="tx1"/>
              </a:solidFill>
              <a:effectLst/>
              <a:latin typeface="Arial" panose="020B0604020202020204" pitchFamily="34" charset="0"/>
            </a:endParaRPr>
          </a:p>
        </p:txBody>
      </p:sp>
      <p:sp>
        <p:nvSpPr>
          <p:cNvPr id="4" name="Номер слайда 3"/>
          <p:cNvSpPr>
            <a:spLocks noGrp="1"/>
          </p:cNvSpPr>
          <p:nvPr>
            <p:ph type="sldNum" sz="quarter" idx="5"/>
          </p:nvPr>
        </p:nvSpPr>
        <p:spPr/>
        <p:txBody>
          <a:bodyPr/>
          <a:lstStyle/>
          <a:p>
            <a:fld id="{77F0CBD4-9D5C-44A4-B11F-F79AF78C86E0}" type="slidenum">
              <a:rPr lang="en-US" smtClean="0"/>
              <a:t>14</a:t>
            </a:fld>
            <a:endParaRPr lang="en-US"/>
          </a:p>
        </p:txBody>
      </p:sp>
    </p:spTree>
    <p:extLst>
      <p:ext uri="{BB962C8B-B14F-4D97-AF65-F5344CB8AC3E}">
        <p14:creationId xmlns:p14="http://schemas.microsoft.com/office/powerpoint/2010/main" val="9733642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15</a:t>
            </a:fld>
            <a:endParaRPr lang="en-US"/>
          </a:p>
        </p:txBody>
      </p:sp>
    </p:spTree>
    <p:extLst>
      <p:ext uri="{BB962C8B-B14F-4D97-AF65-F5344CB8AC3E}">
        <p14:creationId xmlns:p14="http://schemas.microsoft.com/office/powerpoint/2010/main" val="2683510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6B8458-6F94-489E-9D43-55295043A87C}"/>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E23EC541-CDD0-41A8-B3E8-8CD0E88131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E3997962-88A7-4635-97AD-9D9C0A561EAD}"/>
              </a:ext>
            </a:extLst>
          </p:cNvPr>
          <p:cNvSpPr>
            <a:spLocks noGrp="1"/>
          </p:cNvSpPr>
          <p:nvPr>
            <p:ph type="dt" sz="half" idx="10"/>
          </p:nvPr>
        </p:nvSpPr>
        <p:spPr/>
        <p:txBody>
          <a:bodyPr/>
          <a:lstStyle/>
          <a:p>
            <a:fld id="{869997C6-5271-4B03-8A1A-89721F3ED2F6}" type="datetime1">
              <a:rPr lang="en-US" smtClean="0"/>
              <a:t>7/12/2025</a:t>
            </a:fld>
            <a:endParaRPr lang="en-US"/>
          </a:p>
        </p:txBody>
      </p:sp>
      <p:sp>
        <p:nvSpPr>
          <p:cNvPr id="5" name="Нижний колонтитул 4">
            <a:extLst>
              <a:ext uri="{FF2B5EF4-FFF2-40B4-BE49-F238E27FC236}">
                <a16:creationId xmlns:a16="http://schemas.microsoft.com/office/drawing/2014/main" id="{5BF46AFA-9FF7-4D92-A211-05322A9F52CA}"/>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148B6180-39FA-4FFC-BC49-46E9BF31B96D}"/>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466348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CAB749-CE47-43C8-BA15-8B57BC63DC35}"/>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F2062520-2ABA-4FBD-8F51-774F48C31C73}"/>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A47B20BE-3514-4D96-A638-F950AB646D31}"/>
              </a:ext>
            </a:extLst>
          </p:cNvPr>
          <p:cNvSpPr>
            <a:spLocks noGrp="1"/>
          </p:cNvSpPr>
          <p:nvPr>
            <p:ph type="dt" sz="half" idx="10"/>
          </p:nvPr>
        </p:nvSpPr>
        <p:spPr/>
        <p:txBody>
          <a:bodyPr/>
          <a:lstStyle/>
          <a:p>
            <a:fld id="{530E96AA-2724-4E2A-AEEB-16987152774C}" type="datetime1">
              <a:rPr lang="en-US" smtClean="0"/>
              <a:t>7/12/2025</a:t>
            </a:fld>
            <a:endParaRPr lang="en-US"/>
          </a:p>
        </p:txBody>
      </p:sp>
      <p:sp>
        <p:nvSpPr>
          <p:cNvPr id="5" name="Нижний колонтитул 4">
            <a:extLst>
              <a:ext uri="{FF2B5EF4-FFF2-40B4-BE49-F238E27FC236}">
                <a16:creationId xmlns:a16="http://schemas.microsoft.com/office/drawing/2014/main" id="{4FD6F8C9-629E-4DDA-8096-D29F667EE06A}"/>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07BF6E39-FE71-4903-BD62-06A323136445}"/>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795901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80B189-2395-4338-9854-7AF6480209D6}"/>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a:extLst>
              <a:ext uri="{FF2B5EF4-FFF2-40B4-BE49-F238E27FC236}">
                <a16:creationId xmlns:a16="http://schemas.microsoft.com/office/drawing/2014/main" id="{C6670A1E-0F6B-49FE-A22B-551348857C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310DF7BC-55AB-481C-BEF5-A20B9F82C526}"/>
              </a:ext>
            </a:extLst>
          </p:cNvPr>
          <p:cNvSpPr>
            <a:spLocks noGrp="1"/>
          </p:cNvSpPr>
          <p:nvPr>
            <p:ph type="dt" sz="half" idx="10"/>
          </p:nvPr>
        </p:nvSpPr>
        <p:spPr/>
        <p:txBody>
          <a:bodyPr/>
          <a:lstStyle/>
          <a:p>
            <a:fld id="{2CB11C67-595D-4EC6-A649-DF48A7A64A50}" type="datetime1">
              <a:rPr lang="en-US" smtClean="0"/>
              <a:t>7/12/2025</a:t>
            </a:fld>
            <a:endParaRPr lang="en-US"/>
          </a:p>
        </p:txBody>
      </p:sp>
      <p:sp>
        <p:nvSpPr>
          <p:cNvPr id="5" name="Нижний колонтитул 4">
            <a:extLst>
              <a:ext uri="{FF2B5EF4-FFF2-40B4-BE49-F238E27FC236}">
                <a16:creationId xmlns:a16="http://schemas.microsoft.com/office/drawing/2014/main" id="{6F871B8B-C688-4334-8F8D-08A6122C3D2E}"/>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90B5FD2E-63CD-4068-9809-6126BE72C03C}"/>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1861363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80A3A0-37DF-4008-A64D-0284B843D674}"/>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B908C586-19B8-4C76-964C-C93932F331ED}"/>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7B959F17-B1CB-4445-A45A-73039D2B4D0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0E2B320A-96C6-4B37-A4ED-2CF2EDD78122}"/>
              </a:ext>
            </a:extLst>
          </p:cNvPr>
          <p:cNvSpPr>
            <a:spLocks noGrp="1"/>
          </p:cNvSpPr>
          <p:nvPr>
            <p:ph type="dt" sz="half" idx="10"/>
          </p:nvPr>
        </p:nvSpPr>
        <p:spPr/>
        <p:txBody>
          <a:bodyPr/>
          <a:lstStyle/>
          <a:p>
            <a:fld id="{23F8A9C1-48C9-49A8-9EDF-BC9DD5860004}" type="datetime1">
              <a:rPr lang="en-US" smtClean="0"/>
              <a:t>7/12/2025</a:t>
            </a:fld>
            <a:endParaRPr lang="en-US"/>
          </a:p>
        </p:txBody>
      </p:sp>
      <p:sp>
        <p:nvSpPr>
          <p:cNvPr id="6" name="Нижний колонтитул 5">
            <a:extLst>
              <a:ext uri="{FF2B5EF4-FFF2-40B4-BE49-F238E27FC236}">
                <a16:creationId xmlns:a16="http://schemas.microsoft.com/office/drawing/2014/main" id="{A48DC566-6533-48C8-AAFF-D284BD721D78}"/>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7692A0FA-469C-430C-AE24-515F128635F4}"/>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2388694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098A0B-0B6E-4BEE-A227-E3D904CE4386}"/>
              </a:ext>
            </a:extLst>
          </p:cNvPr>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B9FEAFAA-E41B-48AD-B576-F3B632DA22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ECB83333-DEFB-4838-B6C5-EA650A85EEAE}"/>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E97EB28E-81E5-41C0-A2EE-98D5886157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0D6FB937-BDDB-43F3-B8FE-9EEAA52C312A}"/>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5BE92BDE-0A4F-40DE-8B72-EE869A6A43DD}"/>
              </a:ext>
            </a:extLst>
          </p:cNvPr>
          <p:cNvSpPr>
            <a:spLocks noGrp="1"/>
          </p:cNvSpPr>
          <p:nvPr>
            <p:ph type="dt" sz="half" idx="10"/>
          </p:nvPr>
        </p:nvSpPr>
        <p:spPr/>
        <p:txBody>
          <a:bodyPr/>
          <a:lstStyle/>
          <a:p>
            <a:fld id="{B7581512-3D62-4A85-971D-AFD0BD742627}" type="datetime1">
              <a:rPr lang="en-US" smtClean="0"/>
              <a:t>7/12/2025</a:t>
            </a:fld>
            <a:endParaRPr lang="en-US"/>
          </a:p>
        </p:txBody>
      </p:sp>
      <p:sp>
        <p:nvSpPr>
          <p:cNvPr id="8" name="Нижний колонтитул 7">
            <a:extLst>
              <a:ext uri="{FF2B5EF4-FFF2-40B4-BE49-F238E27FC236}">
                <a16:creationId xmlns:a16="http://schemas.microsoft.com/office/drawing/2014/main" id="{1806E9B7-554D-444C-9C8B-DABD37CCA51A}"/>
              </a:ext>
            </a:extLst>
          </p:cNvPr>
          <p:cNvSpPr>
            <a:spLocks noGrp="1"/>
          </p:cNvSpPr>
          <p:nvPr>
            <p:ph type="ftr" sz="quarter" idx="11"/>
          </p:nvPr>
        </p:nvSpPr>
        <p:spPr/>
        <p:txBody>
          <a:bodyPr/>
          <a:lstStyle/>
          <a:p>
            <a:endParaRPr lang="en-US"/>
          </a:p>
        </p:txBody>
      </p:sp>
      <p:sp>
        <p:nvSpPr>
          <p:cNvPr id="9" name="Номер слайда 8">
            <a:extLst>
              <a:ext uri="{FF2B5EF4-FFF2-40B4-BE49-F238E27FC236}">
                <a16:creationId xmlns:a16="http://schemas.microsoft.com/office/drawing/2014/main" id="{2F6A8BE7-0496-4E29-A3F1-01D34234F67E}"/>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383490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9EEFB4-1051-4352-97D6-261FD3235DAC}"/>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02253A8C-E9CA-4822-BB1B-3C9150BF7952}"/>
              </a:ext>
            </a:extLst>
          </p:cNvPr>
          <p:cNvSpPr>
            <a:spLocks noGrp="1"/>
          </p:cNvSpPr>
          <p:nvPr>
            <p:ph type="dt" sz="half" idx="10"/>
          </p:nvPr>
        </p:nvSpPr>
        <p:spPr/>
        <p:txBody>
          <a:bodyPr/>
          <a:lstStyle/>
          <a:p>
            <a:fld id="{F0F945B4-C1D4-4F5E-B2CC-84A2F11AF21A}" type="datetime1">
              <a:rPr lang="en-US" smtClean="0"/>
              <a:t>7/12/2025</a:t>
            </a:fld>
            <a:endParaRPr lang="en-US"/>
          </a:p>
        </p:txBody>
      </p:sp>
      <p:sp>
        <p:nvSpPr>
          <p:cNvPr id="4" name="Нижний колонтитул 3">
            <a:extLst>
              <a:ext uri="{FF2B5EF4-FFF2-40B4-BE49-F238E27FC236}">
                <a16:creationId xmlns:a16="http://schemas.microsoft.com/office/drawing/2014/main" id="{724E8A33-29B4-4699-B164-1FE0FE4D189A}"/>
              </a:ext>
            </a:extLst>
          </p:cNvPr>
          <p:cNvSpPr>
            <a:spLocks noGrp="1"/>
          </p:cNvSpPr>
          <p:nvPr>
            <p:ph type="ftr" sz="quarter" idx="11"/>
          </p:nvPr>
        </p:nvSpPr>
        <p:spPr/>
        <p:txBody>
          <a:bodyPr/>
          <a:lstStyle/>
          <a:p>
            <a:endParaRPr lang="en-US"/>
          </a:p>
        </p:txBody>
      </p:sp>
      <p:sp>
        <p:nvSpPr>
          <p:cNvPr id="5" name="Номер слайда 4">
            <a:extLst>
              <a:ext uri="{FF2B5EF4-FFF2-40B4-BE49-F238E27FC236}">
                <a16:creationId xmlns:a16="http://schemas.microsoft.com/office/drawing/2014/main" id="{6E2AC517-E1D8-40B0-BA84-5BBE1F053537}"/>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521022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D3C050AE-A2B9-4CE5-9ED3-F3720DE4F82E}"/>
              </a:ext>
            </a:extLst>
          </p:cNvPr>
          <p:cNvSpPr>
            <a:spLocks noGrp="1"/>
          </p:cNvSpPr>
          <p:nvPr>
            <p:ph type="dt" sz="half" idx="10"/>
          </p:nvPr>
        </p:nvSpPr>
        <p:spPr/>
        <p:txBody>
          <a:bodyPr/>
          <a:lstStyle/>
          <a:p>
            <a:fld id="{6B8B26D9-9EDF-4633-8107-DAF16A1391AA}" type="datetime1">
              <a:rPr lang="en-US" smtClean="0"/>
              <a:t>7/12/2025</a:t>
            </a:fld>
            <a:endParaRPr lang="en-US"/>
          </a:p>
        </p:txBody>
      </p:sp>
      <p:sp>
        <p:nvSpPr>
          <p:cNvPr id="3" name="Нижний колонтитул 2">
            <a:extLst>
              <a:ext uri="{FF2B5EF4-FFF2-40B4-BE49-F238E27FC236}">
                <a16:creationId xmlns:a16="http://schemas.microsoft.com/office/drawing/2014/main" id="{956392F9-FF73-43B6-8319-8E499DF87754}"/>
              </a:ext>
            </a:extLst>
          </p:cNvPr>
          <p:cNvSpPr>
            <a:spLocks noGrp="1"/>
          </p:cNvSpPr>
          <p:nvPr>
            <p:ph type="ftr" sz="quarter" idx="11"/>
          </p:nvPr>
        </p:nvSpPr>
        <p:spPr/>
        <p:txBody>
          <a:bodyPr/>
          <a:lstStyle/>
          <a:p>
            <a:endParaRPr lang="en-US"/>
          </a:p>
        </p:txBody>
      </p:sp>
      <p:sp>
        <p:nvSpPr>
          <p:cNvPr id="4" name="Номер слайда 3">
            <a:extLst>
              <a:ext uri="{FF2B5EF4-FFF2-40B4-BE49-F238E27FC236}">
                <a16:creationId xmlns:a16="http://schemas.microsoft.com/office/drawing/2014/main" id="{8FEB1138-691A-47E6-BD3A-C8228569B508}"/>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276161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301BC7E-8CE5-4704-A885-E0523F2273B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a:extLst>
              <a:ext uri="{FF2B5EF4-FFF2-40B4-BE49-F238E27FC236}">
                <a16:creationId xmlns:a16="http://schemas.microsoft.com/office/drawing/2014/main" id="{C202FE7C-7A75-4DC0-A9AF-9499AFA77F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5E3E7E24-8E8D-4C1F-A520-754A8B9DF4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CAC6461-E97C-4D0D-B4BD-66702C74E8BB}"/>
              </a:ext>
            </a:extLst>
          </p:cNvPr>
          <p:cNvSpPr>
            <a:spLocks noGrp="1"/>
          </p:cNvSpPr>
          <p:nvPr>
            <p:ph type="dt" sz="half" idx="10"/>
          </p:nvPr>
        </p:nvSpPr>
        <p:spPr/>
        <p:txBody>
          <a:bodyPr/>
          <a:lstStyle/>
          <a:p>
            <a:fld id="{25035C56-A2B4-4E63-97F9-7A30C2890488}" type="datetime1">
              <a:rPr lang="en-US" smtClean="0"/>
              <a:t>7/12/2025</a:t>
            </a:fld>
            <a:endParaRPr lang="en-US"/>
          </a:p>
        </p:txBody>
      </p:sp>
      <p:sp>
        <p:nvSpPr>
          <p:cNvPr id="6" name="Нижний колонтитул 5">
            <a:extLst>
              <a:ext uri="{FF2B5EF4-FFF2-40B4-BE49-F238E27FC236}">
                <a16:creationId xmlns:a16="http://schemas.microsoft.com/office/drawing/2014/main" id="{49379DF8-72DB-4059-B90E-D08E5ACCE069}"/>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F128C2A2-D267-49CA-8153-87B1CEFA386C}"/>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3216281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AC04E6-7B42-4C58-942F-AFF30809EFF9}"/>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C5E26798-B32E-4460-8A8F-7D519EF2DC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a:extLst>
              <a:ext uri="{FF2B5EF4-FFF2-40B4-BE49-F238E27FC236}">
                <a16:creationId xmlns:a16="http://schemas.microsoft.com/office/drawing/2014/main" id="{0F0F9ECB-702B-4F3A-8A45-8D18B71195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9A27408-10A9-432C-A6A4-FE136ADE02B5}"/>
              </a:ext>
            </a:extLst>
          </p:cNvPr>
          <p:cNvSpPr>
            <a:spLocks noGrp="1"/>
          </p:cNvSpPr>
          <p:nvPr>
            <p:ph type="dt" sz="half" idx="10"/>
          </p:nvPr>
        </p:nvSpPr>
        <p:spPr/>
        <p:txBody>
          <a:bodyPr/>
          <a:lstStyle/>
          <a:p>
            <a:fld id="{B42A63A2-17CA-45D3-820E-37EF1C943C6D}" type="datetime1">
              <a:rPr lang="en-US" smtClean="0"/>
              <a:t>7/12/2025</a:t>
            </a:fld>
            <a:endParaRPr lang="en-US"/>
          </a:p>
        </p:txBody>
      </p:sp>
      <p:sp>
        <p:nvSpPr>
          <p:cNvPr id="6" name="Нижний колонтитул 5">
            <a:extLst>
              <a:ext uri="{FF2B5EF4-FFF2-40B4-BE49-F238E27FC236}">
                <a16:creationId xmlns:a16="http://schemas.microsoft.com/office/drawing/2014/main" id="{5D1286E1-ADF5-42E6-AB33-406FC88AEFDD}"/>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24BA03B7-20EC-487F-874E-E4F73001445F}"/>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388912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D308A-14E4-4B2C-84AF-F39CFDF17119}"/>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209D548B-DE1C-4046-819B-FB8D25BB5784}"/>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FA769B27-D7F5-43F2-9114-A3FAC00EB76D}"/>
              </a:ext>
            </a:extLst>
          </p:cNvPr>
          <p:cNvSpPr>
            <a:spLocks noGrp="1"/>
          </p:cNvSpPr>
          <p:nvPr>
            <p:ph type="dt" sz="half" idx="10"/>
          </p:nvPr>
        </p:nvSpPr>
        <p:spPr/>
        <p:txBody>
          <a:bodyPr/>
          <a:lstStyle/>
          <a:p>
            <a:fld id="{30F1DBF4-EA7F-468C-9EB2-AF5E1B9CDF90}" type="datetime1">
              <a:rPr lang="en-US" smtClean="0"/>
              <a:t>7/12/2025</a:t>
            </a:fld>
            <a:endParaRPr lang="en-US"/>
          </a:p>
        </p:txBody>
      </p:sp>
      <p:sp>
        <p:nvSpPr>
          <p:cNvPr id="5" name="Нижний колонтитул 4">
            <a:extLst>
              <a:ext uri="{FF2B5EF4-FFF2-40B4-BE49-F238E27FC236}">
                <a16:creationId xmlns:a16="http://schemas.microsoft.com/office/drawing/2014/main" id="{A00BE380-AD18-484B-8BC6-87C88D3A686E}"/>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3EE444D3-F0BA-424C-A830-1012990793E0}"/>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367138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2BC12254-4EC1-45D4-8B6E-9E1CE6D8FE3F}"/>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9FC49C04-B1EE-4CB9-A036-074CC271D4B5}"/>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8746FA07-44D3-407D-9828-F135D38087FF}"/>
              </a:ext>
            </a:extLst>
          </p:cNvPr>
          <p:cNvSpPr>
            <a:spLocks noGrp="1"/>
          </p:cNvSpPr>
          <p:nvPr>
            <p:ph type="dt" sz="half" idx="10"/>
          </p:nvPr>
        </p:nvSpPr>
        <p:spPr/>
        <p:txBody>
          <a:bodyPr/>
          <a:lstStyle/>
          <a:p>
            <a:fld id="{7496FE96-8159-4042-BB96-2930B54833C1}" type="datetime1">
              <a:rPr lang="en-US" smtClean="0"/>
              <a:t>7/12/2025</a:t>
            </a:fld>
            <a:endParaRPr lang="en-US"/>
          </a:p>
        </p:txBody>
      </p:sp>
      <p:sp>
        <p:nvSpPr>
          <p:cNvPr id="5" name="Нижний колонтитул 4">
            <a:extLst>
              <a:ext uri="{FF2B5EF4-FFF2-40B4-BE49-F238E27FC236}">
                <a16:creationId xmlns:a16="http://schemas.microsoft.com/office/drawing/2014/main" id="{2416DBF0-6331-477E-B509-AD83A21656C1}"/>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A926874-1B5E-42E8-A27C-9C74CAE45BD8}"/>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1409523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339D70-A534-4480-86D2-1C377E3A22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D280A155-FD5D-4B3A-B098-89528403D3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6E0D5BA6-E7E5-4662-9C41-EA49A53551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3F249E-D678-434C-A468-8EED9C061621}" type="datetime1">
              <a:rPr lang="en-US" smtClean="0"/>
              <a:t>7/12/2025</a:t>
            </a:fld>
            <a:endParaRPr lang="en-US"/>
          </a:p>
        </p:txBody>
      </p:sp>
      <p:sp>
        <p:nvSpPr>
          <p:cNvPr id="5" name="Нижний колонтитул 4">
            <a:extLst>
              <a:ext uri="{FF2B5EF4-FFF2-40B4-BE49-F238E27FC236}">
                <a16:creationId xmlns:a16="http://schemas.microsoft.com/office/drawing/2014/main" id="{30ACFAEF-2169-4167-84BF-C20A5F04F3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a:extLst>
              <a:ext uri="{FF2B5EF4-FFF2-40B4-BE49-F238E27FC236}">
                <a16:creationId xmlns:a16="http://schemas.microsoft.com/office/drawing/2014/main" id="{1B2071CD-450E-4906-909E-6773E59F4B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DDCE2C-1EAC-4FD7-9FCA-CDAC6ED86490}" type="slidenum">
              <a:rPr lang="en-US" smtClean="0"/>
              <a:t>‹#›</a:t>
            </a:fld>
            <a:endParaRPr lang="en-US"/>
          </a:p>
        </p:txBody>
      </p:sp>
    </p:spTree>
    <p:extLst>
      <p:ext uri="{BB962C8B-B14F-4D97-AF65-F5344CB8AC3E}">
        <p14:creationId xmlns:p14="http://schemas.microsoft.com/office/powerpoint/2010/main" val="2219800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habr.com/ru/companies/infotecs_official/articles/701546/#:~:text=%D0%9E%D0%B1%D1%89%D0%B8%D0%B5%20%D0%BF%D0%BE%D0%BB%D0%BE%D0%B6%D0%B5%D0%BD%D0%B8%D1%8F%20%D1%80%D0%B5%D0%B3%D1%83%D0%BB%D0%B8%D1%80%D1%83%D1%8E%D1%82%D1%81%D1%8F%20%D0%A4%D0%B5%D0%B4%D0%B5%D1%80%D0%B0%D0%BB%D1%8C%D0%BD%D1%8B%D0%BC%20%D0%B7%D0%B0%D0%BA%D0%BE%D0%BD%D0%BE%D0%BC,%D0%B4%D0%BE%D0%BA%D1%83%D0%BC%D0%B5%D0%BD%D1%82%D1%8B%2C%20%D1%80%D0%B5%D0%B3%D1%83%D0%BB%D0%B8%D1%80%D1%83%D1%8E%D1%89%D0%B8%D0%B5%20%D0%B2%D0%BE%D0%BF%D1%80%D0%BE%D1%81%D1%8B%20%D0%B7%D0%B0%D1%89%D0%B8%D1%82%D1%8B%20%D0%B8%D0%BD%D1%84%D0%BE%D1%80%D0%BC%D0%B0%D1%86%D0%B8%D0%B8"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habr.com/ru/articles/530816/#:~:text=%D0%94%D0%BE%20%D0%BA%D0%BE%D0%BD%D1%86%D0%B0%202020%20%D0%B3%D0%BE%D0%B4%D0%B0%20%D0%BF%D0%BB%D0%B0%D0%BD%D0%B8%D1%80%D1%83%D0%B5%D1%82%D1%81%D1%8F,%D1%81%202024%20%D0%B3%D0%BE%D0%B4%D0%B0%2C%20%D0%BF%D0%B8%D1%88%D0%B5%D1%82%20%D0%A0%D0%91%D0%9A"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hyperlink" Target="https://www.consultant.ru/document/cons_doc_LAW_61798/" TargetMode="External"/><Relationship Id="rId7" Type="http://schemas.openxmlformats.org/officeDocument/2006/relationships/hyperlink" Target="https://habr.com/ru/companies/infotecs_official/articles/701546/#:~:text=%D0%92%D0%B0%D0%B6%D0%BD%D0%BE%20%D0%BE%D1%82%D0%BC%D0%B5%D1%82%D0%B8%D1%82%D1%8C%2C%20%D1%87%D1%82%D0%BE%20%D0%B4%D0%B5%D1%8F%D1%82%D0%B5%D0%BB%D1%8C%D0%BD%D0%BE%D1%81%D1%82%D1%8C%2C%20%D1%81%D0%B2%D1%8F%D0%B7%D0%B0%D0%BD%D0%BD%D0%B0%D1%8F,%D0%B4%D0%B0%D0%BB%D0%B5%D0%B5%20%E2%80%93%20%D0%9F%D0%BE%D0%BB%D0%BE%D0%B6%D0%B5%D0%BD%D0%B8%D0%B5%20%D0%BE%20%D0%BB%D0%B8%D1%86%D0%B5%D0%BD%D0%B7%D0%B8%D1%80%D0%BE%D0%B2%D0%B0%D0%BD%D0%B8%D0%B8"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cisoclub.ru/fsb-vvela-obnovljonnye-pravila-dlja-shifrovanija-dannyh-v-informacionnyh-sistemah/#:~:text=%D0%AD%D1%82%D0%BE%D1%82%20%D0%BD%D0%BE%D1%80%D0%BC%D0%B0%D1%82%D0%B8%D0%B2%D0%BD%D1%8B%D0%B9%20%D0%B0%D0%BA%D1%82%20%D0%BF%D1%80%D0%B8%D1%88%D1%91%D0%BB%20%D0%BD%D0%B0,%D1%81%20%D0%BF%D1%80%D0%B8%D0%BC%D0%B5%D0%BD%D0%B5%D0%BD%D0%B8%D0%B5%D0%BC%20%D1%81%D0%B5%D1%80%D1%82%D0%B8%D1%84%D0%B8%D1%86%D0%B8%D1%80%D0%BE%D0%B2%D0%B0%D0%BD%D0%BD%D1%8B%D1%85%20%D0%BA%D1%80%D0%B8%D0%BF%D1%82%D0%BE%D0%B3%D1%80%D0%B0%D1%84%D0%B8%D1%87%D0%B5%D1%81%D0%BA%D0%B8%D1%85%20%D0%B8%D0%BD%D1%81%D1%82%D1%80%D1%83%D0%BC%D0%B5%D0%BD%D1%82%D0%BE%D0%B2" TargetMode="External"/><Relationship Id="rId5" Type="http://schemas.openxmlformats.org/officeDocument/2006/relationships/hyperlink" Target="https://www.consultant.ru/document/cons_doc_LAW_61801/" TargetMode="External"/><Relationship Id="rId4" Type="http://schemas.openxmlformats.org/officeDocument/2006/relationships/hyperlink" Target="https://habr.com/ru/companies/infotecs_official/articles/701546/#:~:text=%D0%9E%D0%B1%D1%89%D0%B8%D0%B5%20%D0%BF%D0%BE%D0%BB%D0%BE%D0%B6%D0%B5%D0%BD%D0%B8%D1%8F%20%D1%80%D0%B5%D0%B3%D1%83%D0%BB%D0%B8%D1%80%D1%83%D1%8E%D1%82%D1%81%D1%8F%20%D0%A4%D0%B5%D0%B4%D0%B5%D1%80%D0%B0%D0%BB%D1%8C%D0%BD%D1%8B%D0%BC%20%D0%B7%D0%B0%D0%BA%D0%BE%D0%BD%D0%BE%D0%BC,%D0%B4%D0%BE%D0%BA%D1%83%D0%BC%D0%B5%D0%BD%D1%82%D1%8B%2C%20%D1%80%D0%B5%D0%B3%D1%83%D0%BB%D0%B8%D1%80%D1%83%D1%8E%D1%89%D0%B8%D0%B5%20%D0%B2%D0%BE%D0%BF%D1%80%D0%BE%D1%81%D1%8B%20%D0%B7%D0%B0%D1%89%D0%B8%D1%82%D1%8B%20%D0%B8%D0%BD%D1%84%D0%BE%D1%80%D0%BC%D0%B0%D1%86%D0%B8%D0%B8"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en.wikipedia.org/wiki/Federal_Service_for_Technical_and_Export_Control#:~:text=FSTEC%20of%20Russia%20maintains%20the,5" TargetMode="External"/><Relationship Id="rId3" Type="http://schemas.openxmlformats.org/officeDocument/2006/relationships/hyperlink" Target="http://fsb.ru/" TargetMode="External"/><Relationship Id="rId7" Type="http://schemas.openxmlformats.org/officeDocument/2006/relationships/hyperlink" Target="https://bdu.fstec.ru/threat-section" TargetMode="External"/><Relationship Id="rId12"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fstec.ru/" TargetMode="External"/><Relationship Id="rId11" Type="http://schemas.openxmlformats.org/officeDocument/2006/relationships/image" Target="../media/image6.jpg"/><Relationship Id="rId5" Type="http://schemas.openxmlformats.org/officeDocument/2006/relationships/hyperlink" Target="https://habr.com/ru/companies/infotecs_official/articles/701546/#:~:text=%D0%9A%D1%80%D0%BE%D0%BC%D0%B5%20%D1%82%D0%BE%D0%B3%D0%BE%2C%20%D0%B8%D0%BC%D0%B5%D0%BD%D0%BD%D0%BE%20%D0%A4%D0%A1%D0%91%20%D0%A0%D0%BE%D1%81%D1%81%D0%B8%D0%B8,%D0%BA%D0%BE%D0%BD%D1%81%D1%82%D1%80%D1%83%D0%BA%D1%82%D0%B8%D0%B2%D0%BD%D0%BE%D0%BC%20%D0%B2%D0%B7%D0%B0%D0%B8%D0%BC%D0%BE%D0%B4%D0%B5%D0%B9%D1%81%D1%82%D0%B2%D0%B8%D0%B8%20%D1%81%20%D1%8D%D1%82%D0%B8%D0%BC%20%D0%B2%D0%B5%D0%B4%D0%BE%D0%BC%D1%81%D1%82%D0%B2%D0%BE%D0%BC" TargetMode="External"/><Relationship Id="rId10" Type="http://schemas.openxmlformats.org/officeDocument/2006/relationships/image" Target="../media/image5.jpg"/><Relationship Id="rId4" Type="http://schemas.openxmlformats.org/officeDocument/2006/relationships/hyperlink" Target="https://habr.com/ru/companies/infotecs_official/articles/701546/#:~:text=%D0%A1%D0%BE%D0%B3%D0%BB%D0%B0%D1%81%D0%BD%D0%BE%20%D0%9F%D0%BE%D0%BB%D0%BE%D0%B6%D0%B5%D0%BD%D0%B8%D1%8E%20%D0%BE%20%D0%A4%D0%B5%D0%B4%D0%B5%D1%80%D0%B0%D0%BB%D1%8C%D0%BD%D0%BE%D0%B9%20%D1%81%D0%BB%D1%83%D0%B6%D0%B1%D0%B5,%D0%BA%D0%BE%D0%BD%D1%82%D1%80%D0%BE%D0%BB%D1%8F%20%D0%B7%D0%B0%20%D0%BF%D1%80%D0%B0%D0%B2%D0%B8%D0%BB%D1%8C%D0%BD%D0%BE%D1%81%D1%82%D1%8C%D1%8E%20%D1%8D%D0%BA%D1%81%D0%BF%D0%BB%D1%83%D0%B0%D1%82%D0%B0%D1%86%D0%B8%D0%B8%20%D0%A1%D0%9A%D0%97%D0%98" TargetMode="External"/><Relationship Id="rId9" Type="http://schemas.openxmlformats.org/officeDocument/2006/relationships/hyperlink" Target="https://tc26.ru/en/#:~:text=Technical%20Committee%2026%20is%20involved,in%20developing%20international%20cryptographic%20standards"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hyperlink" Target="https://www.consultant.ru/document/cons_doc_LAW_52098/" TargetMode="External"/><Relationship Id="rId7" Type="http://schemas.openxmlformats.org/officeDocument/2006/relationships/hyperlink" Target="https://www.consultant.ru/document/cons_doc_LAW_501788/"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www.consultant.ru/document/cons_doc_LAW_432090/2ff7a8c72de3994f30496a0ccbb1ddafdaddf518/" TargetMode="External"/><Relationship Id="rId5" Type="http://schemas.openxmlformats.org/officeDocument/2006/relationships/hyperlink" Target="https://www.consultant.ru/document/cons_doc_LAW_167862/2ff7a8c72de3994f30496a0ccbb1ddafdaddf518/" TargetMode="External"/><Relationship Id="rId4" Type="http://schemas.openxmlformats.org/officeDocument/2006/relationships/hyperlink" Target="https://www.consultant.ru/document/cons_doc_LAW_32924/5fbb4ad5e80c884d5c35bafc86e4b5d8a083bf28/"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docs.cntd.ru/document/1200161708" TargetMode="External"/><Relationship Id="rId3" Type="http://schemas.openxmlformats.org/officeDocument/2006/relationships/image" Target="../media/image9.png"/><Relationship Id="rId7" Type="http://schemas.openxmlformats.org/officeDocument/2006/relationships/hyperlink" Target="http://docs.cntd.ru/document/1200161707"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docs.cntd.ru/document/1200161706" TargetMode="External"/><Relationship Id="rId11" Type="http://schemas.openxmlformats.org/officeDocument/2006/relationships/hyperlink" Target="https://habr.com/ru/articles/530816/" TargetMode="External"/><Relationship Id="rId5" Type="http://schemas.openxmlformats.org/officeDocument/2006/relationships/hyperlink" Target="https://habr.com/ru/articles/530816/#:~:text=%D0%9A%D0%B0%D0%B6%D0%B4%D1%8B%D0%B9%20%D0%B8%D0%B7%20%D1%81%D1%82%D0%B0%D0%BD%D0%B4%D0%B0%D1%80%D1%82%D0%BE%D0%B2%20%D0%B4%D0%B5%D0%B9%D1%81%D1%82%D0%B2%D0%B8%D1%82%D0%B5%D0%BB%D0%B5%D0%BD%20%D1%81,%D1%80%D0%B0%D0%B7%D1%80%D0%B0%D0%B1%D0%BE%D1%82%D0%BA%D0%B8%2C%20%D0%BF%D1%80%D0%BE%D0%BF%D0%B8%D1%81%D0%B0%D0%BD%D0%BD%D1%8B%D0%B5%20%D0%B2%20%D0%BF%D1%80%D0%B5%D0%B4%D1%8B%D0%B4%D1%83%D1%89%D0%B8%D1%85%20%D0%B2%D0%B5%D1%80%D1%81%D0%B8%D1%8F%D1%85" TargetMode="External"/><Relationship Id="rId10" Type="http://schemas.openxmlformats.org/officeDocument/2006/relationships/hyperlink" Target="https://tc26.ru/standarts/natsionalnye-standarty/" TargetMode="External"/><Relationship Id="rId4" Type="http://schemas.openxmlformats.org/officeDocument/2006/relationships/image" Target="../media/image2.png"/><Relationship Id="rId9" Type="http://schemas.openxmlformats.org/officeDocument/2006/relationships/hyperlink" Target="http://docs.cntd.ru/document/1200161709"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habr.com/ru/articles/530816/#:~:text=%D1%86%D0%B8%D1%84%D1%80%D0%BE%D0%B2%D1%8B%D0%B5%20%D1%81%D0%B5%D1%80%D1%82%D0%B8%D1%84%D0%B8%D0%BA%D0%B0%D1%82%D1%8B%C2%BB%2C%20%D0%BF%D0%B8%D1%88%D0%B5%D1%82%20%D0%9C%D0%B5%D0%B4%D1%83%D0%B7%D0%B0,%D1%81%202024%20%D0%B3%D0%BE%D0%B4%D0%B0%2C%20%D0%BF%D0%B8%D1%88%D0%B5%D1%82%20%D0%A0%D0%91%D0%9A" TargetMode="External"/><Relationship Id="rId3" Type="http://schemas.openxmlformats.org/officeDocument/2006/relationships/image" Target="../media/image1.jpg"/><Relationship Id="rId7" Type="http://schemas.openxmlformats.org/officeDocument/2006/relationships/hyperlink" Target="https://support.cryptopro.ru/index.php?/Knowledgebase/Article/View/461/0/shifrovnie-s-ispolzovniem-lgoritmov-mgm-i-kuznechik#:~:text=%D0%9D%D0%B0%D1%87%D0%B8%D0%BD%D0%B0%D1%8F%20%D1%81%20%D0%B2%D0%B5%D1%80%D1%81%D0%B8%D0%B8%205,%D0%B8%D1%81%D0%BF%D0%BE%D0%BB%D1%8C%D0%B7%D0%BE%D0%B2%D0%B0%D0%BD%D0%B8%D0%B5%D0%BC%20%D0%B0%D0%BB%D0%B3%D0%BE%D1%80%D0%B8%D1%82%D0%BC%D0%BE%D0%B2%20%D0%9C%D0%B0%D0%B3%D0%BC%D0%B0%20%D0%B8%20%D0%9A%D1%83%D0%B7%D0%BD%D0%B5%D1%87%D0%B8%D0%BA"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habr.com/ru/articles/530816/#:~:text=%D0%93%D0%9E%D0%A1%D0%A2%2034.10,256%20%D0%B1%D0%B8%D1%82%20%D0%B8%20512%20%D0%B1%D0%B8%D1%82" TargetMode="External"/><Relationship Id="rId5" Type="http://schemas.openxmlformats.org/officeDocument/2006/relationships/hyperlink" Target="https://habr.com/ru/articles/530816/#:~:text=%D0%93%D0%9E%D0%A1%D0%A2%2034.11,%D0%BF%D1%80%D0%B5%D0%B4%D1%8B%D0%B4%D1%83%D1%89%D0%B8%D1%85%20%D0%B2%D0%B5%D1%80%D1%81%D0%B8%D0%B9%20%D1%81%D1%82%D0%B0%D0%BD%D0%B4%D0%B0%D1%80%D1%82%D0%B0%2C%20%D0%BA%D0%B0%D0%BA%20%D0%A1%D1%82%D1%80%D0%B8%D0%B1%D0%BE%D0%B3" TargetMode="External"/><Relationship Id="rId10" Type="http://schemas.openxmlformats.org/officeDocument/2006/relationships/image" Target="../media/image10.png"/><Relationship Id="rId4" Type="http://schemas.openxmlformats.org/officeDocument/2006/relationships/hyperlink" Target="https://habr.com/ru/articles/530816/#:~:text=%D0%93%D0%9E%D0%A1%D0%A2%2034.12,%D1%88%D0%B8%D1%84%D1%80%D0%BE%D0%B2%D0%B0%D0%BD%D0%B8%D1%8F%20256%20%D0%B1%D0%B8%D1%82%20%D1%83%20%D0%BE%D0%B1%D0%BE%D0%B8%D1%85" TargetMode="External"/><Relationship Id="rId9" Type="http://schemas.openxmlformats.org/officeDocument/2006/relationships/hyperlink" Target="https://gostcrypto.readthedocs.io/en/latest/intro.htm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habr.com/ru/articles/459004/" TargetMode="External"/><Relationship Id="rId5" Type="http://schemas.openxmlformats.org/officeDocument/2006/relationships/image" Target="../media/image12.jpeg"/><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2.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23.png"/><Relationship Id="rId7" Type="http://schemas.openxmlformats.org/officeDocument/2006/relationships/image" Target="../media/image17.png"/><Relationship Id="rId12" Type="http://schemas.openxmlformats.org/officeDocument/2006/relationships/image" Target="../media/image21.png"/><Relationship Id="rId17" Type="http://schemas.openxmlformats.org/officeDocument/2006/relationships/image" Target="../media/image27.png"/><Relationship Id="rId2" Type="http://schemas.openxmlformats.org/officeDocument/2006/relationships/notesSlide" Target="../notesSlides/notesSlide10.xml"/><Relationship Id="rId16" Type="http://schemas.openxmlformats.org/officeDocument/2006/relationships/image" Target="../media/image26.png"/><Relationship Id="rId20" Type="http://schemas.openxmlformats.org/officeDocument/2006/relationships/hyperlink" Target="https://habr.com/ru/articles/459004/" TargetMode="Externa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0.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190.png"/><Relationship Id="rId19" Type="http://schemas.openxmlformats.org/officeDocument/2006/relationships/image" Target="../media/image21.jpe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hyperlink" Target="https://www.consultant.ru/document/cons_doc_LAW_128739/" TargetMode="External"/><Relationship Id="rId7" Type="http://schemas.openxmlformats.org/officeDocument/2006/relationships/hyperlink" Target="https://habr.com/ru/companies/infotecs_official/articles/701546/"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hyperlink" Target="https://www.ec-rs.ru/blog/sredstva-zashhity-informacii/kak-proveryaet-fsb-ili-pravila-pravilnoy-ekspluatatsii-skzi-dlya-zashchity-personalnykh-dannykh/#:~:text=%D0%BE%D0%BF%D1%80%D0%B5%D0%B4%D0%B5%D0%BB%D0%B5%D0%BD%20%D0%BA%D0%BB%D0%B0%D1%81%D1%81%20%D0%A1%D0%9A%D0%97%D0%98,%D0%B0%D1%82%D0%B0%D0%BA%20%D0%BD%D0%B0%20%D0%B8%D0%BD%D1%84%D0%BE%D1%80%D0%BC%D0%B0%D1%86%D0%B8%D0%BE%D0%BD%D0%BD%D1%83%D1%8E%20%D1%81%D0%B8%D1%81%D1%82%D0%B5%D0%BC%D1%83%20%D0%BF%D0%B5%D1%80%D1%81%D0%BE%D0%BD%D0%B0%D0%BB%D1%8C%D0%BD%D1%8B%D1%85" TargetMode="External"/><Relationship Id="rId4" Type="http://schemas.openxmlformats.org/officeDocument/2006/relationships/hyperlink" Target="http://clsz.fsb.ru/clsz/in-out.htm"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sca.gov.cn/" TargetMode="External"/><Relationship Id="rId7" Type="http://schemas.openxmlformats.org/officeDocument/2006/relationships/image" Target="../media/image31.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0.jpg"/><Relationship Id="rId5" Type="http://schemas.openxmlformats.org/officeDocument/2006/relationships/hyperlink" Target="http://www.oscca.gov.cn/" TargetMode="External"/><Relationship Id="rId4" Type="http://schemas.openxmlformats.org/officeDocument/2006/relationships/hyperlink" Target="http://dacas.iie.cas.cn/"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www.consultant.ru/document/cons_doc_LAW_52098/" TargetMode="External"/><Relationship Id="rId13" Type="http://schemas.openxmlformats.org/officeDocument/2006/relationships/hyperlink" Target="https://www.consultant.ru/document/cons_doc_LAW_61798/" TargetMode="External"/><Relationship Id="rId18" Type="http://schemas.openxmlformats.org/officeDocument/2006/relationships/hyperlink" Target="https://tc26.ru/standarts/natsionalnye-standarty/" TargetMode="External"/><Relationship Id="rId3" Type="http://schemas.openxmlformats.org/officeDocument/2006/relationships/hyperlink" Target="https://habr.com/ru/companies/infotecs_official/articles/701546/" TargetMode="External"/><Relationship Id="rId7" Type="http://schemas.openxmlformats.org/officeDocument/2006/relationships/hyperlink" Target="https://www.ec-rs.ru/blog/sredstva-zashhity-informacii/kak-proveryaet-fsb-ili-pravila-pravilnoy-ekspluatatsii-skzi-dlya-zashchity-personalnykh-dannykh/#:~:text=%D0%BE%D0%BF%D1%80%D0%B5%D0%B4%D0%B5%D0%BB%D0%B5%D0%BD%20%D0%BA%D0%BB%D0%B0%D1%81%D1%81%20%D0%A1%D0%9A%D0%97%D0%98,%D0%B0%D1%82%D0%B0%D0%BA%20%D0%BD%D0%B0%20%D0%B8%D0%BD%D1%84%D0%BE%D1%80%D0%BC%D0%B0%D1%86%D0%B8%D0%BE%D0%BD%D0%BD%D1%83%D1%8E%20%D1%81%D0%B8%D1%81%D1%82%D0%B5%D0%BC%D1%83%20%D0%BF%D0%B5%D1%80%D1%81%D0%BE%D0%BD%D0%B0%D0%BB%D1%8C%D0%BD%D1%8B%D1%85" TargetMode="External"/><Relationship Id="rId12" Type="http://schemas.openxmlformats.org/officeDocument/2006/relationships/hyperlink" Target="https://www.consultant.ru/document/cons_doc_LAW_501788/" TargetMode="External"/><Relationship Id="rId17" Type="http://schemas.openxmlformats.org/officeDocument/2006/relationships/hyperlink" Target="https://cryptopro.ru/en" TargetMode="External"/><Relationship Id="rId2" Type="http://schemas.openxmlformats.org/officeDocument/2006/relationships/notesSlide" Target="../notesSlides/notesSlide15.xml"/><Relationship Id="rId16" Type="http://schemas.openxmlformats.org/officeDocument/2006/relationships/hyperlink" Target="https://gostcrypto.readthedocs.io/en/latest/intro.html" TargetMode="External"/><Relationship Id="rId1" Type="http://schemas.openxmlformats.org/officeDocument/2006/relationships/slideLayout" Target="../slideLayouts/slideLayout2.xml"/><Relationship Id="rId6" Type="http://schemas.openxmlformats.org/officeDocument/2006/relationships/hyperlink" Target="https://habr.com/ru/articles/459004/" TargetMode="External"/><Relationship Id="rId11" Type="http://schemas.openxmlformats.org/officeDocument/2006/relationships/hyperlink" Target="https://www.consultant.ru/document/cons_doc_LAW_432090/2ff7a8c72de3994f30496a0ccbb1ddafdaddf518/" TargetMode="External"/><Relationship Id="rId5" Type="http://schemas.openxmlformats.org/officeDocument/2006/relationships/hyperlink" Target="https://habr.com/ru/news/457492/" TargetMode="External"/><Relationship Id="rId15" Type="http://schemas.openxmlformats.org/officeDocument/2006/relationships/hyperlink" Target="http://clsz.fsb.ru/clsz/in-out.htm" TargetMode="External"/><Relationship Id="rId10" Type="http://schemas.openxmlformats.org/officeDocument/2006/relationships/hyperlink" Target="https://www.consultant.ru/document/cons_doc_LAW_167862/2ff7a8c72de3994f30496a0ccbb1ddafdaddf518/" TargetMode="External"/><Relationship Id="rId4" Type="http://schemas.openxmlformats.org/officeDocument/2006/relationships/hyperlink" Target="https://habr.com/ru/articles/530816/" TargetMode="External"/><Relationship Id="rId9" Type="http://schemas.openxmlformats.org/officeDocument/2006/relationships/hyperlink" Target="https://www.consultant.ru/document/cons_doc_LAW_32924/5fbb4ad5e80c884d5c35bafc86e4b5d8a083bf28/" TargetMode="External"/><Relationship Id="rId14" Type="http://schemas.openxmlformats.org/officeDocument/2006/relationships/hyperlink" Target="https://www.consultant.ru/document/cons_doc_LAW_12873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7F00BA-292C-4753-A201-BADCE0E89915}"/>
              </a:ext>
            </a:extLst>
          </p:cNvPr>
          <p:cNvSpPr>
            <a:spLocks noGrp="1"/>
          </p:cNvSpPr>
          <p:nvPr>
            <p:ph type="ctrTitle"/>
          </p:nvPr>
        </p:nvSpPr>
        <p:spPr>
          <a:xfrm>
            <a:off x="1524000" y="4074367"/>
            <a:ext cx="9144000" cy="1693774"/>
          </a:xfrm>
        </p:spPr>
        <p:txBody>
          <a:bodyPr>
            <a:normAutofit fontScale="90000"/>
          </a:bodyPr>
          <a:lstStyle/>
          <a:p>
            <a:r>
              <a:rPr lang="en-US" dirty="0"/>
              <a:t>Russian Cryptography:</a:t>
            </a:r>
            <a:br>
              <a:rPr lang="ru-RU" dirty="0"/>
            </a:br>
            <a:r>
              <a:rPr lang="en-US" dirty="0"/>
              <a:t>Laws, Standards and Algorithms</a:t>
            </a:r>
          </a:p>
        </p:txBody>
      </p:sp>
      <p:pic>
        <p:nvPicPr>
          <p:cNvPr id="19" name="Рисунок 18">
            <a:extLst>
              <a:ext uri="{FF2B5EF4-FFF2-40B4-BE49-F238E27FC236}">
                <a16:creationId xmlns:a16="http://schemas.microsoft.com/office/drawing/2014/main" id="{7EA1BA25-9C3E-43A4-A2EE-D305D48806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6320" y="2275109"/>
            <a:ext cx="1920679" cy="1079998"/>
          </a:xfrm>
          <a:prstGeom prst="rect">
            <a:avLst/>
          </a:prstGeom>
        </p:spPr>
      </p:pic>
      <p:pic>
        <p:nvPicPr>
          <p:cNvPr id="35" name="Рисунок 34">
            <a:extLst>
              <a:ext uri="{FF2B5EF4-FFF2-40B4-BE49-F238E27FC236}">
                <a16:creationId xmlns:a16="http://schemas.microsoft.com/office/drawing/2014/main" id="{2DC01DA3-2128-4F6D-B525-D85EA863DB44}"/>
              </a:ext>
            </a:extLst>
          </p:cNvPr>
          <p:cNvPicPr>
            <a:picLocks noChangeAspect="1"/>
          </p:cNvPicPr>
          <p:nvPr/>
        </p:nvPicPr>
        <p:blipFill>
          <a:blip r:embed="rId4"/>
          <a:stretch>
            <a:fillRect/>
          </a:stretch>
        </p:blipFill>
        <p:spPr>
          <a:xfrm>
            <a:off x="5109956" y="2275109"/>
            <a:ext cx="1433513" cy="1124188"/>
          </a:xfrm>
          <a:prstGeom prst="rect">
            <a:avLst/>
          </a:prstGeom>
        </p:spPr>
      </p:pic>
      <p:pic>
        <p:nvPicPr>
          <p:cNvPr id="41" name="Рисунок 40">
            <a:extLst>
              <a:ext uri="{FF2B5EF4-FFF2-40B4-BE49-F238E27FC236}">
                <a16:creationId xmlns:a16="http://schemas.microsoft.com/office/drawing/2014/main" id="{840F41A1-5015-4D15-8E0E-730E43A1B8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3541987" y="2080453"/>
            <a:ext cx="1425119" cy="1425119"/>
          </a:xfrm>
          <a:prstGeom prst="rect">
            <a:avLst/>
          </a:prstGeom>
        </p:spPr>
      </p:pic>
      <p:sp>
        <p:nvSpPr>
          <p:cNvPr id="3" name="Номер слайда 2">
            <a:extLst>
              <a:ext uri="{FF2B5EF4-FFF2-40B4-BE49-F238E27FC236}">
                <a16:creationId xmlns:a16="http://schemas.microsoft.com/office/drawing/2014/main" id="{2B0ED235-6F23-4723-BF4B-7A1A6B81D612}"/>
              </a:ext>
            </a:extLst>
          </p:cNvPr>
          <p:cNvSpPr>
            <a:spLocks noGrp="1"/>
          </p:cNvSpPr>
          <p:nvPr>
            <p:ph type="sldNum" sz="quarter" idx="12"/>
          </p:nvPr>
        </p:nvSpPr>
        <p:spPr/>
        <p:txBody>
          <a:bodyPr/>
          <a:lstStyle/>
          <a:p>
            <a:fld id="{14DDCE2C-1EAC-4FD7-9FCA-CDAC6ED86490}" type="slidenum">
              <a:rPr lang="en-US" smtClean="0"/>
              <a:t>1</a:t>
            </a:fld>
            <a:endParaRPr lang="en-US"/>
          </a:p>
        </p:txBody>
      </p:sp>
    </p:spTree>
    <p:extLst>
      <p:ext uri="{BB962C8B-B14F-4D97-AF65-F5344CB8AC3E}">
        <p14:creationId xmlns:p14="http://schemas.microsoft.com/office/powerpoint/2010/main" val="2391436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1">
            <a:extLst>
              <a:ext uri="{FF2B5EF4-FFF2-40B4-BE49-F238E27FC236}">
                <a16:creationId xmlns:a16="http://schemas.microsoft.com/office/drawing/2014/main" id="{113A961C-5341-4EFC-B480-439D88641E43}"/>
              </a:ext>
            </a:extLst>
          </p:cNvPr>
          <p:cNvSpPr>
            <a:spLocks noGrp="1"/>
          </p:cNvSpPr>
          <p:nvPr>
            <p:ph type="title"/>
          </p:nvPr>
        </p:nvSpPr>
        <p:spPr>
          <a:xfrm>
            <a:off x="838200" y="365125"/>
            <a:ext cx="10515600" cy="1325563"/>
          </a:xfrm>
        </p:spPr>
        <p:txBody>
          <a:bodyPr/>
          <a:lstStyle/>
          <a:p>
            <a:r>
              <a:rPr lang="en-US" dirty="0"/>
              <a:t>Contents</a:t>
            </a:r>
          </a:p>
        </p:txBody>
      </p:sp>
      <p:sp>
        <p:nvSpPr>
          <p:cNvPr id="2" name="Rectangle 1">
            <a:extLst>
              <a:ext uri="{FF2B5EF4-FFF2-40B4-BE49-F238E27FC236}">
                <a16:creationId xmlns:a16="http://schemas.microsoft.com/office/drawing/2014/main" id="{65996C7B-B600-4C02-AAEB-7EA7A180503D}"/>
              </a:ext>
            </a:extLst>
          </p:cNvPr>
          <p:cNvSpPr>
            <a:spLocks noChangeArrowheads="1"/>
          </p:cNvSpPr>
          <p:nvPr/>
        </p:nvSpPr>
        <p:spPr bwMode="auto">
          <a:xfrm>
            <a:off x="220717" y="1690062"/>
            <a:ext cx="494249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AutoNum type="arabicPeriod"/>
              <a:tabLst/>
            </a:pPr>
            <a:r>
              <a:rPr kumimoji="0" lang="en-US" altLang="en-US" sz="2000" b="0" i="0" u="none" strike="noStrike" cap="none" normalizeH="0" baseline="0" dirty="0">
                <a:ln>
                  <a:noFill/>
                </a:ln>
                <a:solidFill>
                  <a:schemeClr val="tx1"/>
                </a:solidFill>
                <a:effectLst/>
              </a:rPr>
              <a:t>Introduction</a:t>
            </a: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lang="en-US" altLang="en-US" sz="2000" dirty="0"/>
              <a:t>Legal Framework in Russia</a:t>
            </a: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kumimoji="0" lang="en-US" altLang="en-US" sz="2000" b="0" i="0" u="none" strike="noStrike" cap="none" normalizeH="0" baseline="0" dirty="0">
                <a:ln>
                  <a:noFill/>
                </a:ln>
                <a:solidFill>
                  <a:schemeClr val="tx1"/>
                </a:solidFill>
                <a:effectLst/>
              </a:rPr>
              <a:t>Key Regulatory Bodies and </a:t>
            </a:r>
            <a:r>
              <a:rPr kumimoji="0" lang="en-US" altLang="en-US" sz="2000" b="0" i="0" u="none" strike="noStrike" cap="none" normalizeH="0" baseline="0" dirty="0" err="1">
                <a:ln>
                  <a:noFill/>
                </a:ln>
                <a:solidFill>
                  <a:schemeClr val="tx1"/>
                </a:solidFill>
                <a:effectLst/>
              </a:rPr>
              <a:t>Organisations</a:t>
            </a:r>
            <a:endParaRPr kumimoji="0" lang="en-US" altLang="en-US" sz="2000" b="0"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lang="en-US" altLang="zh-CN" sz="2000" dirty="0"/>
              <a:t>Orders Regulating Cryptography</a:t>
            </a: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kumimoji="0" lang="en-US" altLang="en-US" sz="2000" b="0" i="0" u="none" strike="noStrike" cap="none" normalizeH="0" baseline="0" dirty="0">
                <a:ln>
                  <a:noFill/>
                </a:ln>
                <a:solidFill>
                  <a:schemeClr val="tx1"/>
                </a:solidFill>
                <a:effectLst/>
              </a:rPr>
              <a:t>Domestic Cryptographic Standards</a:t>
            </a: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lang="en-US" altLang="en-US" sz="2000" dirty="0"/>
              <a:t>Domestic Cryptographic Algorithms</a:t>
            </a: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lang="en-US" altLang="en-US" sz="2000" dirty="0" err="1"/>
              <a:t>Kuznechik</a:t>
            </a:r>
            <a:r>
              <a:rPr lang="en-US" altLang="en-US" sz="2000" dirty="0"/>
              <a:t> – close look</a:t>
            </a: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lang="en-US" altLang="en-US" sz="2000" dirty="0"/>
              <a:t>3 “Hops” of </a:t>
            </a:r>
            <a:r>
              <a:rPr lang="en-US" altLang="en-US" sz="2000" dirty="0" err="1"/>
              <a:t>Kuznechik</a:t>
            </a:r>
            <a:endParaRPr lang="en-US" altLang="en-US" sz="2000" dirty="0"/>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kumimoji="0" lang="en-US" altLang="en-US" sz="2000" b="0" i="0" u="none" strike="noStrike" cap="none" normalizeH="0" baseline="0" dirty="0">
                <a:ln>
                  <a:noFill/>
                </a:ln>
                <a:solidFill>
                  <a:schemeClr val="tx1"/>
                </a:solidFill>
                <a:effectLst/>
              </a:rPr>
              <a:t>SKZI vendor responsibilities</a:t>
            </a: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kumimoji="0" lang="en-US" altLang="en-US" sz="2000" b="0" i="0" u="none" strike="noStrike" cap="none" normalizeH="0" baseline="0" dirty="0">
                <a:ln>
                  <a:noFill/>
                </a:ln>
                <a:solidFill>
                  <a:schemeClr val="tx1"/>
                </a:solidFill>
                <a:effectLst/>
              </a:rPr>
              <a:t>Comparison of RU and CN Systems – 1</a:t>
            </a: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lang="en-US" altLang="en-US" sz="2000" dirty="0"/>
              <a:t>Comparison of RU and CN Systems – 2 </a:t>
            </a: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kumimoji="0" lang="en-US" altLang="en-US" sz="2000" b="0" i="0" u="none" strike="noStrike" cap="none" normalizeH="0" baseline="0" dirty="0">
                <a:ln>
                  <a:noFill/>
                </a:ln>
                <a:solidFill>
                  <a:schemeClr val="tx1"/>
                </a:solidFill>
                <a:effectLst/>
              </a:rPr>
              <a:t>Q&amp;A</a:t>
            </a: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lang="en-US" altLang="en-US" sz="2000" dirty="0"/>
              <a:t>Resources</a:t>
            </a:r>
            <a:endParaRPr kumimoji="0" lang="en-US" altLang="en-US" sz="2000" b="0" i="0" u="none" strike="noStrike" cap="none" normalizeH="0" baseline="0" dirty="0">
              <a:ln>
                <a:noFill/>
              </a:ln>
              <a:solidFill>
                <a:schemeClr val="tx1"/>
              </a:solidFill>
              <a:effectLst/>
            </a:endParaRPr>
          </a:p>
        </p:txBody>
      </p:sp>
      <p:sp>
        <p:nvSpPr>
          <p:cNvPr id="17" name="Rectangle 1">
            <a:extLst>
              <a:ext uri="{FF2B5EF4-FFF2-40B4-BE49-F238E27FC236}">
                <a16:creationId xmlns:a16="http://schemas.microsoft.com/office/drawing/2014/main" id="{E0A97E52-1F04-44E6-9031-D4C3AEBE03C7}"/>
              </a:ext>
            </a:extLst>
          </p:cNvPr>
          <p:cNvSpPr>
            <a:spLocks noChangeArrowheads="1"/>
          </p:cNvSpPr>
          <p:nvPr/>
        </p:nvSpPr>
        <p:spPr bwMode="auto">
          <a:xfrm>
            <a:off x="5372100" y="1690062"/>
            <a:ext cx="6325914"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AutoNum type="arabicPeriod"/>
              <a:tabLst/>
            </a:pPr>
            <a:r>
              <a:rPr kumimoji="0" lang="ru-RU" altLang="en-US" sz="2000" b="0" i="0" u="none" strike="noStrike" cap="none" normalizeH="0" baseline="0" dirty="0">
                <a:ln>
                  <a:noFill/>
                </a:ln>
                <a:solidFill>
                  <a:schemeClr val="tx1"/>
                </a:solidFill>
                <a:effectLst/>
              </a:rPr>
              <a:t>Введение</a:t>
            </a:r>
            <a:endParaRPr kumimoji="0" lang="en-US" altLang="en-US" sz="2000" b="0"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lang="ru-RU" altLang="en-US" sz="2000" dirty="0"/>
              <a:t>Правовая база РФ (ФЗ-</a:t>
            </a:r>
            <a:r>
              <a:rPr lang="ru-RU" altLang="en-US" sz="2000" dirty="0" err="1"/>
              <a:t>шки</a:t>
            </a:r>
            <a:r>
              <a:rPr lang="ru-RU" altLang="en-US" sz="2000" dirty="0"/>
              <a:t>)</a:t>
            </a:r>
            <a:endParaRPr lang="en-US" altLang="en-US" sz="2000" dirty="0"/>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kumimoji="0" lang="ru-RU" altLang="en-US" sz="2000" b="0" i="0" u="none" strike="noStrike" cap="none" normalizeH="0" baseline="0" dirty="0">
                <a:ln>
                  <a:noFill/>
                </a:ln>
                <a:solidFill>
                  <a:schemeClr val="tx1"/>
                </a:solidFill>
                <a:effectLst/>
              </a:rPr>
              <a:t>Ключевые регулирующие ведомства и организации</a:t>
            </a:r>
            <a:endParaRPr kumimoji="0" lang="en-US" altLang="en-US" sz="2000" b="0"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lang="ru-RU" altLang="zh-CN" sz="2000" dirty="0"/>
              <a:t>Приказы регулирующие сферу Криптографии в РФ</a:t>
            </a:r>
            <a:endParaRPr lang="en-US" altLang="zh-CN" sz="2000" dirty="0"/>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kumimoji="0" lang="ru-RU" altLang="en-US" sz="2000" b="0" i="0" u="none" strike="noStrike" cap="none" normalizeH="0" baseline="0" dirty="0">
                <a:ln>
                  <a:noFill/>
                </a:ln>
                <a:solidFill>
                  <a:schemeClr val="tx1"/>
                </a:solidFill>
                <a:effectLst/>
              </a:rPr>
              <a:t>Отечественные стандарты </a:t>
            </a:r>
            <a:r>
              <a:rPr lang="ru-RU" altLang="en-US" sz="2000" dirty="0"/>
              <a:t>к</a:t>
            </a:r>
            <a:r>
              <a:rPr kumimoji="0" lang="ru-RU" altLang="en-US" sz="2000" b="0" i="0" u="none" strike="noStrike" cap="none" normalizeH="0" baseline="0" dirty="0">
                <a:ln>
                  <a:noFill/>
                </a:ln>
                <a:solidFill>
                  <a:schemeClr val="tx1"/>
                </a:solidFill>
                <a:effectLst/>
              </a:rPr>
              <a:t>риптографии (ГОСТЫ)</a:t>
            </a:r>
            <a:endParaRPr kumimoji="0" lang="en-US" altLang="en-US" sz="2000" b="0"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lang="ru-RU" altLang="en-US" sz="2000" dirty="0"/>
              <a:t>Отечественные криптографические алгоритмы</a:t>
            </a:r>
            <a:endParaRPr lang="en-US" altLang="en-US" sz="2000" dirty="0"/>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lang="ru-RU" altLang="en-US" sz="2000" dirty="0"/>
              <a:t>Кузнечик под микроскопом</a:t>
            </a: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lang="ru-RU" altLang="en-US" sz="2000" dirty="0"/>
              <a:t>3 </a:t>
            </a:r>
            <a:r>
              <a:rPr lang="en-US" altLang="en-US" sz="2000" dirty="0"/>
              <a:t>“</a:t>
            </a:r>
            <a:r>
              <a:rPr lang="ru-RU" altLang="en-US" sz="2000" dirty="0"/>
              <a:t>Прыжка</a:t>
            </a:r>
            <a:r>
              <a:rPr lang="en-US" altLang="en-US" sz="2000" dirty="0"/>
              <a:t>”</a:t>
            </a:r>
            <a:r>
              <a:rPr lang="ru-RU" altLang="en-US" sz="2000" dirty="0"/>
              <a:t> Кузнечика</a:t>
            </a:r>
            <a:endParaRPr lang="en-US" altLang="en-US" sz="2000" dirty="0"/>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kumimoji="0" lang="ru-RU" altLang="en-US" sz="2000" b="0" i="0" u="none" strike="noStrike" cap="none" normalizeH="0" baseline="0" dirty="0">
                <a:ln>
                  <a:noFill/>
                </a:ln>
                <a:solidFill>
                  <a:schemeClr val="tx1"/>
                </a:solidFill>
                <a:effectLst/>
              </a:rPr>
              <a:t>Обязанности вендоров СКЗИ</a:t>
            </a:r>
            <a:endParaRPr kumimoji="0" lang="en-US" altLang="en-US" sz="2000" b="0"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kumimoji="0" lang="ru-RU" altLang="en-US" sz="2000" b="0" i="0" u="none" strike="noStrike" cap="none" normalizeH="0" baseline="0" dirty="0">
                <a:ln>
                  <a:noFill/>
                </a:ln>
                <a:solidFill>
                  <a:schemeClr val="tx1"/>
                </a:solidFill>
                <a:effectLst/>
              </a:rPr>
              <a:t>Сравнение сфер криптографии РФ и КНР </a:t>
            </a:r>
            <a:r>
              <a:rPr kumimoji="0" lang="en-US" altLang="en-US" sz="2000" b="0" i="0" u="none" strike="noStrike" cap="none" normalizeH="0" baseline="0" dirty="0">
                <a:ln>
                  <a:noFill/>
                </a:ln>
                <a:solidFill>
                  <a:schemeClr val="tx1"/>
                </a:solidFill>
                <a:effectLst/>
              </a:rPr>
              <a:t>– 1</a:t>
            </a: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lang="ru-RU" altLang="en-US" sz="2000" dirty="0"/>
              <a:t>Сравнение сфер криптографии РФ и КНР </a:t>
            </a:r>
            <a:r>
              <a:rPr lang="en-US" altLang="en-US" sz="2000" dirty="0"/>
              <a:t>– 2 </a:t>
            </a: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kumimoji="0" lang="en-US" altLang="en-US" sz="2000" b="0" i="0" u="none" strike="noStrike" cap="none" normalizeH="0" baseline="0" dirty="0">
                <a:ln>
                  <a:noFill/>
                </a:ln>
                <a:solidFill>
                  <a:schemeClr val="tx1"/>
                </a:solidFill>
                <a:effectLst/>
              </a:rPr>
              <a:t>Q&amp;A</a:t>
            </a:r>
          </a:p>
          <a:p>
            <a:pPr marL="342900" marR="0" lvl="0" indent="-342900" algn="just" defTabSz="914400" rtl="0" eaLnBrk="0" fontAlgn="base" latinLnBrk="0" hangingPunct="0">
              <a:lnSpc>
                <a:spcPct val="100000"/>
              </a:lnSpc>
              <a:spcBef>
                <a:spcPct val="0"/>
              </a:spcBef>
              <a:spcAft>
                <a:spcPct val="0"/>
              </a:spcAft>
              <a:buClrTx/>
              <a:buSzTx/>
              <a:buAutoNum type="arabicPeriod"/>
              <a:tabLst/>
            </a:pPr>
            <a:r>
              <a:rPr lang="ru-RU" altLang="en-US" sz="2000" dirty="0"/>
              <a:t>Ресурсы</a:t>
            </a:r>
            <a:endParaRPr kumimoji="0" lang="en-US" altLang="en-US" sz="2000" b="0" i="0" u="none" strike="noStrike" cap="none" normalizeH="0" baseline="0" dirty="0">
              <a:ln>
                <a:noFill/>
              </a:ln>
              <a:solidFill>
                <a:schemeClr val="tx1"/>
              </a:solidFill>
              <a:effectLst/>
            </a:endParaRPr>
          </a:p>
        </p:txBody>
      </p:sp>
      <p:sp>
        <p:nvSpPr>
          <p:cNvPr id="3" name="Номер слайда 2">
            <a:extLst>
              <a:ext uri="{FF2B5EF4-FFF2-40B4-BE49-F238E27FC236}">
                <a16:creationId xmlns:a16="http://schemas.microsoft.com/office/drawing/2014/main" id="{353EBA7E-ECCF-4754-944F-79BAAD4F30CA}"/>
              </a:ext>
            </a:extLst>
          </p:cNvPr>
          <p:cNvSpPr>
            <a:spLocks noGrp="1"/>
          </p:cNvSpPr>
          <p:nvPr>
            <p:ph type="sldNum" sz="quarter" idx="12"/>
          </p:nvPr>
        </p:nvSpPr>
        <p:spPr/>
        <p:txBody>
          <a:bodyPr/>
          <a:lstStyle/>
          <a:p>
            <a:fld id="{14DDCE2C-1EAC-4FD7-9FCA-CDAC6ED86490}" type="slidenum">
              <a:rPr lang="en-US" smtClean="0"/>
              <a:t>2</a:t>
            </a:fld>
            <a:endParaRPr lang="en-US"/>
          </a:p>
        </p:txBody>
      </p:sp>
    </p:spTree>
    <p:extLst>
      <p:ext uri="{BB962C8B-B14F-4D97-AF65-F5344CB8AC3E}">
        <p14:creationId xmlns:p14="http://schemas.microsoft.com/office/powerpoint/2010/main" val="470731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1">
            <a:extLst>
              <a:ext uri="{FF2B5EF4-FFF2-40B4-BE49-F238E27FC236}">
                <a16:creationId xmlns:a16="http://schemas.microsoft.com/office/drawing/2014/main" id="{113A961C-5341-4EFC-B480-439D88641E43}"/>
              </a:ext>
            </a:extLst>
          </p:cNvPr>
          <p:cNvSpPr>
            <a:spLocks noGrp="1"/>
          </p:cNvSpPr>
          <p:nvPr>
            <p:ph type="title"/>
          </p:nvPr>
        </p:nvSpPr>
        <p:spPr>
          <a:xfrm>
            <a:off x="838200" y="365125"/>
            <a:ext cx="10515600" cy="1325563"/>
          </a:xfrm>
        </p:spPr>
        <p:txBody>
          <a:bodyPr/>
          <a:lstStyle/>
          <a:p>
            <a:r>
              <a:rPr lang="en-US" dirty="0"/>
              <a:t>Introduction</a:t>
            </a:r>
          </a:p>
        </p:txBody>
      </p:sp>
      <p:sp>
        <p:nvSpPr>
          <p:cNvPr id="2" name="Rectangle 1">
            <a:extLst>
              <a:ext uri="{FF2B5EF4-FFF2-40B4-BE49-F238E27FC236}">
                <a16:creationId xmlns:a16="http://schemas.microsoft.com/office/drawing/2014/main" id="{65996C7B-B600-4C02-AAEB-7EA7A180503D}"/>
              </a:ext>
            </a:extLst>
          </p:cNvPr>
          <p:cNvSpPr>
            <a:spLocks noChangeArrowheads="1"/>
          </p:cNvSpPr>
          <p:nvPr/>
        </p:nvSpPr>
        <p:spPr bwMode="auto">
          <a:xfrm>
            <a:off x="838200" y="1552189"/>
            <a:ext cx="412976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Russia’s system, like China’s, has </a:t>
            </a:r>
            <a:r>
              <a:rPr kumimoji="0" lang="en-US" altLang="en-US" sz="1800" b="1" i="0" u="none" strike="noStrike" cap="none" normalizeH="0" baseline="0" dirty="0">
                <a:ln>
                  <a:noFill/>
                </a:ln>
                <a:solidFill>
                  <a:schemeClr val="tx1"/>
                </a:solidFill>
                <a:effectLst/>
              </a:rPr>
              <a:t>three pillars</a:t>
            </a:r>
            <a:r>
              <a:rPr kumimoji="0" lang="en-US" altLang="en-US" sz="1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rPr>
              <a:t>Law</a:t>
            </a:r>
            <a:r>
              <a:rPr kumimoji="0" lang="en-US" altLang="en-US" sz="1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rPr>
              <a:t>Standards</a:t>
            </a:r>
            <a:r>
              <a:rPr kumimoji="0" lang="en-US" altLang="en-US" sz="1800" b="0" i="0" u="none" strike="noStrike" cap="none" normalizeH="0" baseline="0" dirty="0">
                <a:ln>
                  <a:noFill/>
                </a:ln>
                <a:solidFill>
                  <a:schemeClr val="tx1"/>
                </a:solidFill>
                <a:effectLst/>
              </a:rPr>
              <a:t>, and </a:t>
            </a:r>
            <a:r>
              <a:rPr kumimoji="0" lang="en-US" altLang="en-US" sz="1800" b="1" i="0" u="none" strike="noStrike" cap="none" normalizeH="0" baseline="0" dirty="0">
                <a:ln>
                  <a:noFill/>
                </a:ln>
                <a:solidFill>
                  <a:schemeClr val="tx1"/>
                </a:solidFill>
                <a:effectLst/>
              </a:rPr>
              <a:t>Technology (algorithms)</a:t>
            </a:r>
            <a:r>
              <a:rPr kumimoji="0" lang="en-US" altLang="en-US" sz="18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Government ensures control over cryptography via legislation, technical standards (GOST), and certified domestic algorithms </a:t>
            </a:r>
            <a:r>
              <a:rPr kumimoji="0" lang="en-US" altLang="en-US" sz="1800" b="0" i="0" u="none" strike="noStrike" cap="none" normalizeH="0" baseline="0" dirty="0">
                <a:ln>
                  <a:noFill/>
                </a:ln>
                <a:solidFill>
                  <a:schemeClr val="tx1"/>
                </a:solidFill>
                <a:effectLst/>
                <a:hlinkClick r:id="rId3"/>
              </a:rPr>
              <a:t>habr.com</a:t>
            </a:r>
            <a:r>
              <a:rPr lang="en-US" altLang="en-US" dirty="0"/>
              <a:t>, </a:t>
            </a:r>
            <a:r>
              <a:rPr kumimoji="0" lang="en-US" altLang="en-US" sz="1800" b="0" i="0" u="none" strike="noStrike" cap="none" normalizeH="0" baseline="0" dirty="0">
                <a:ln>
                  <a:noFill/>
                </a:ln>
                <a:solidFill>
                  <a:schemeClr val="tx1"/>
                </a:solidFill>
                <a:effectLst/>
                <a:hlinkClick r:id="rId4"/>
              </a:rPr>
              <a:t>habr.com</a:t>
            </a:r>
            <a:r>
              <a:rPr kumimoji="0" lang="en-US" altLang="en-US" sz="18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Emphasis on national security and self-reliance in crypto (mandating local ciphers in government and critical systems, creation of “National </a:t>
            </a:r>
            <a:r>
              <a:rPr lang="en-US" altLang="en-US" dirty="0"/>
              <a:t>C</a:t>
            </a:r>
            <a:r>
              <a:rPr kumimoji="0" lang="en-US" altLang="en-US" sz="1800" b="0" i="0" u="none" strike="noStrike" cap="none" normalizeH="0" baseline="0" dirty="0">
                <a:ln>
                  <a:noFill/>
                </a:ln>
                <a:solidFill>
                  <a:schemeClr val="tx1"/>
                </a:solidFill>
                <a:effectLst/>
              </a:rPr>
              <a:t>ertification </a:t>
            </a:r>
            <a:r>
              <a:rPr lang="en-US" altLang="en-US" dirty="0"/>
              <a:t>C</a:t>
            </a:r>
            <a:r>
              <a:rPr kumimoji="0" lang="en-US" altLang="en-US" sz="1800" b="0" i="0" u="none" strike="noStrike" cap="none" normalizeH="0" baseline="0" dirty="0">
                <a:ln>
                  <a:noFill/>
                </a:ln>
                <a:solidFill>
                  <a:schemeClr val="tx1"/>
                </a:solidFill>
                <a:effectLst/>
              </a:rPr>
              <a:t>enter” </a:t>
            </a:r>
            <a:r>
              <a:rPr kumimoji="0" lang="en-US" altLang="en-US" sz="1800" b="0" i="0" u="none" strike="noStrike" cap="none" normalizeH="0" baseline="0" dirty="0">
                <a:ln>
                  <a:noFill/>
                </a:ln>
                <a:solidFill>
                  <a:schemeClr val="tx1"/>
                </a:solidFill>
                <a:effectLst/>
                <a:hlinkClick r:id="rId4"/>
              </a:rPr>
              <a:t>habr.com</a:t>
            </a:r>
            <a:r>
              <a:rPr kumimoji="0" lang="en-US" altLang="en-US" sz="1800" b="0" i="0" u="none" strike="noStrike" cap="none" normalizeH="0" baseline="0" dirty="0">
                <a:ln>
                  <a:noFill/>
                </a:ln>
                <a:solidFill>
                  <a:schemeClr val="tx1"/>
                </a:solidFill>
                <a:effectLst/>
              </a:rPr>
              <a:t>).</a:t>
            </a:r>
          </a:p>
        </p:txBody>
      </p:sp>
      <p:grpSp>
        <p:nvGrpSpPr>
          <p:cNvPr id="36" name="Группа 35">
            <a:extLst>
              <a:ext uri="{FF2B5EF4-FFF2-40B4-BE49-F238E27FC236}">
                <a16:creationId xmlns:a16="http://schemas.microsoft.com/office/drawing/2014/main" id="{0D2C926A-B0E6-4CDF-84C5-508F4988CEE3}"/>
              </a:ext>
            </a:extLst>
          </p:cNvPr>
          <p:cNvGrpSpPr/>
          <p:nvPr/>
        </p:nvGrpSpPr>
        <p:grpSpPr>
          <a:xfrm>
            <a:off x="5234152" y="2122797"/>
            <a:ext cx="6381278" cy="2732982"/>
            <a:chOff x="2663363" y="3110416"/>
            <a:chExt cx="6381278" cy="2732982"/>
          </a:xfrm>
        </p:grpSpPr>
        <p:sp>
          <p:nvSpPr>
            <p:cNvPr id="63" name="Прямоугольник: скругленные углы 62">
              <a:extLst>
                <a:ext uri="{FF2B5EF4-FFF2-40B4-BE49-F238E27FC236}">
                  <a16:creationId xmlns:a16="http://schemas.microsoft.com/office/drawing/2014/main" id="{A79DCAC9-9463-48F7-9AB3-92886AE4B73D}"/>
                </a:ext>
              </a:extLst>
            </p:cNvPr>
            <p:cNvSpPr/>
            <p:nvPr/>
          </p:nvSpPr>
          <p:spPr>
            <a:xfrm>
              <a:off x="2663363" y="5248982"/>
              <a:ext cx="1948652" cy="5944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Federal Laws (FZ) and decrees</a:t>
              </a:r>
            </a:p>
          </p:txBody>
        </p:sp>
        <p:sp>
          <p:nvSpPr>
            <p:cNvPr id="66" name="Прямоугольник: скругленные углы 65">
              <a:extLst>
                <a:ext uri="{FF2B5EF4-FFF2-40B4-BE49-F238E27FC236}">
                  <a16:creationId xmlns:a16="http://schemas.microsoft.com/office/drawing/2014/main" id="{A1ECA1D0-CCF2-4791-AD86-C4DB6CB3805B}"/>
                </a:ext>
              </a:extLst>
            </p:cNvPr>
            <p:cNvSpPr/>
            <p:nvPr/>
          </p:nvSpPr>
          <p:spPr>
            <a:xfrm>
              <a:off x="4879676" y="5248981"/>
              <a:ext cx="1948652" cy="4682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Standards (GOST)</a:t>
              </a:r>
            </a:p>
          </p:txBody>
        </p:sp>
        <p:cxnSp>
          <p:nvCxnSpPr>
            <p:cNvPr id="67" name="Прямая со стрелкой 66">
              <a:extLst>
                <a:ext uri="{FF2B5EF4-FFF2-40B4-BE49-F238E27FC236}">
                  <a16:creationId xmlns:a16="http://schemas.microsoft.com/office/drawing/2014/main" id="{26CB7AB1-D08B-4AB0-B7ED-D68764E4C765}"/>
                </a:ext>
              </a:extLst>
            </p:cNvPr>
            <p:cNvCxnSpPr>
              <a:cxnSpLocks/>
              <a:stCxn id="64" idx="2"/>
              <a:endCxn id="63" idx="0"/>
            </p:cNvCxnSpPr>
            <p:nvPr/>
          </p:nvCxnSpPr>
          <p:spPr>
            <a:xfrm flipH="1">
              <a:off x="3637689" y="3554673"/>
              <a:ext cx="2216313" cy="1694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Прямая со стрелкой 68">
              <a:extLst>
                <a:ext uri="{FF2B5EF4-FFF2-40B4-BE49-F238E27FC236}">
                  <a16:creationId xmlns:a16="http://schemas.microsoft.com/office/drawing/2014/main" id="{EBC89207-1230-4FCF-89E8-B4AB4A7BCB33}"/>
                </a:ext>
              </a:extLst>
            </p:cNvPr>
            <p:cNvCxnSpPr>
              <a:cxnSpLocks/>
              <a:stCxn id="64" idx="2"/>
              <a:endCxn id="66" idx="0"/>
            </p:cNvCxnSpPr>
            <p:nvPr/>
          </p:nvCxnSpPr>
          <p:spPr>
            <a:xfrm>
              <a:off x="5854002" y="3554673"/>
              <a:ext cx="0" cy="16943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Прямоугольник: скругленные углы 38">
              <a:extLst>
                <a:ext uri="{FF2B5EF4-FFF2-40B4-BE49-F238E27FC236}">
                  <a16:creationId xmlns:a16="http://schemas.microsoft.com/office/drawing/2014/main" id="{0B097EA0-3F88-48AD-986D-A91D45421296}"/>
                </a:ext>
              </a:extLst>
            </p:cNvPr>
            <p:cNvSpPr/>
            <p:nvPr/>
          </p:nvSpPr>
          <p:spPr>
            <a:xfrm>
              <a:off x="7095989" y="5254559"/>
              <a:ext cx="1948652" cy="4682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Algorithms</a:t>
              </a:r>
            </a:p>
          </p:txBody>
        </p:sp>
        <p:cxnSp>
          <p:nvCxnSpPr>
            <p:cNvPr id="42" name="Прямая со стрелкой 41">
              <a:extLst>
                <a:ext uri="{FF2B5EF4-FFF2-40B4-BE49-F238E27FC236}">
                  <a16:creationId xmlns:a16="http://schemas.microsoft.com/office/drawing/2014/main" id="{99E07B01-BAAA-4907-9063-290EE54E4D6E}"/>
                </a:ext>
              </a:extLst>
            </p:cNvPr>
            <p:cNvCxnSpPr>
              <a:cxnSpLocks/>
              <a:stCxn id="64" idx="2"/>
              <a:endCxn id="39" idx="0"/>
            </p:cNvCxnSpPr>
            <p:nvPr/>
          </p:nvCxnSpPr>
          <p:spPr>
            <a:xfrm>
              <a:off x="5854002" y="3554673"/>
              <a:ext cx="2216313" cy="1699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5" name="Группа 34">
              <a:extLst>
                <a:ext uri="{FF2B5EF4-FFF2-40B4-BE49-F238E27FC236}">
                  <a16:creationId xmlns:a16="http://schemas.microsoft.com/office/drawing/2014/main" id="{D74FA88E-1877-45C5-84D0-72CEAEE1A752}"/>
                </a:ext>
              </a:extLst>
            </p:cNvPr>
            <p:cNvGrpSpPr/>
            <p:nvPr/>
          </p:nvGrpSpPr>
          <p:grpSpPr>
            <a:xfrm>
              <a:off x="4355819" y="3110416"/>
              <a:ext cx="2996365" cy="444257"/>
              <a:chOff x="4533989" y="3119576"/>
              <a:chExt cx="2996365" cy="444257"/>
            </a:xfrm>
          </p:grpSpPr>
          <p:sp>
            <p:nvSpPr>
              <p:cNvPr id="64" name="Прямоугольник: скругленные углы 63">
                <a:extLst>
                  <a:ext uri="{FF2B5EF4-FFF2-40B4-BE49-F238E27FC236}">
                    <a16:creationId xmlns:a16="http://schemas.microsoft.com/office/drawing/2014/main" id="{86AD46AE-77D2-4657-99AF-666A7F1E8253}"/>
                  </a:ext>
                </a:extLst>
              </p:cNvPr>
              <p:cNvSpPr/>
              <p:nvPr/>
            </p:nvSpPr>
            <p:spPr>
              <a:xfrm>
                <a:off x="4533989" y="3119576"/>
                <a:ext cx="2996365" cy="444257"/>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Cryptography Regulation</a:t>
                </a:r>
              </a:p>
            </p:txBody>
          </p:sp>
          <p:pic>
            <p:nvPicPr>
              <p:cNvPr id="49" name="Рисунок 48">
                <a:extLst>
                  <a:ext uri="{FF2B5EF4-FFF2-40B4-BE49-F238E27FC236}">
                    <a16:creationId xmlns:a16="http://schemas.microsoft.com/office/drawing/2014/main" id="{8F1C6D06-EB51-43E4-8446-72D581ACC1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95989" y="3154754"/>
                <a:ext cx="316956" cy="361160"/>
              </a:xfrm>
              <a:prstGeom prst="rect">
                <a:avLst/>
              </a:prstGeom>
            </p:spPr>
          </p:pic>
        </p:grpSp>
      </p:grpSp>
      <p:sp>
        <p:nvSpPr>
          <p:cNvPr id="3" name="Номер слайда 2">
            <a:extLst>
              <a:ext uri="{FF2B5EF4-FFF2-40B4-BE49-F238E27FC236}">
                <a16:creationId xmlns:a16="http://schemas.microsoft.com/office/drawing/2014/main" id="{81EE29B9-70AD-48D0-B8B5-A67DCD6B8FB1}"/>
              </a:ext>
            </a:extLst>
          </p:cNvPr>
          <p:cNvSpPr>
            <a:spLocks noGrp="1"/>
          </p:cNvSpPr>
          <p:nvPr>
            <p:ph type="sldNum" sz="quarter" idx="12"/>
          </p:nvPr>
        </p:nvSpPr>
        <p:spPr/>
        <p:txBody>
          <a:bodyPr/>
          <a:lstStyle/>
          <a:p>
            <a:fld id="{14DDCE2C-1EAC-4FD7-9FCA-CDAC6ED86490}" type="slidenum">
              <a:rPr lang="en-US" smtClean="0"/>
              <a:t>3</a:t>
            </a:fld>
            <a:endParaRPr lang="en-US"/>
          </a:p>
        </p:txBody>
      </p:sp>
    </p:spTree>
    <p:extLst>
      <p:ext uri="{BB962C8B-B14F-4D97-AF65-F5344CB8AC3E}">
        <p14:creationId xmlns:p14="http://schemas.microsoft.com/office/powerpoint/2010/main" val="3899729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12ED09-8DAA-4EAE-A454-6B3FF8D09A9E}"/>
              </a:ext>
            </a:extLst>
          </p:cNvPr>
          <p:cNvSpPr>
            <a:spLocks noGrp="1"/>
          </p:cNvSpPr>
          <p:nvPr>
            <p:ph type="title"/>
          </p:nvPr>
        </p:nvSpPr>
        <p:spPr/>
        <p:txBody>
          <a:bodyPr/>
          <a:lstStyle/>
          <a:p>
            <a:r>
              <a:rPr lang="en-US" dirty="0"/>
              <a:t>Legal Framework in Russia</a:t>
            </a:r>
          </a:p>
        </p:txBody>
      </p:sp>
      <p:sp>
        <p:nvSpPr>
          <p:cNvPr id="3" name="Rectangle 1">
            <a:extLst>
              <a:ext uri="{FF2B5EF4-FFF2-40B4-BE49-F238E27FC236}">
                <a16:creationId xmlns:a16="http://schemas.microsoft.com/office/drawing/2014/main" id="{FE1281F3-814F-466B-BB39-1BAF4C7ED987}"/>
              </a:ext>
            </a:extLst>
          </p:cNvPr>
          <p:cNvSpPr>
            <a:spLocks noChangeArrowheads="1"/>
          </p:cNvSpPr>
          <p:nvPr/>
        </p:nvSpPr>
        <p:spPr bwMode="auto">
          <a:xfrm>
            <a:off x="838199" y="1690688"/>
            <a:ext cx="701302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rPr>
              <a:t>Federal Law </a:t>
            </a:r>
            <a:r>
              <a:rPr kumimoji="0" lang="en-US" altLang="en-US" sz="1800" b="1" i="0" u="none" strike="noStrike" cap="none" normalizeH="0" baseline="0" dirty="0">
                <a:ln>
                  <a:noFill/>
                </a:ln>
                <a:solidFill>
                  <a:schemeClr val="tx1"/>
                </a:solidFill>
                <a:effectLst/>
                <a:hlinkClick r:id="rId3"/>
              </a:rPr>
              <a:t>149-FZ</a:t>
            </a:r>
            <a:r>
              <a:rPr kumimoji="0" lang="en-US" altLang="en-US" sz="1800" b="1" i="0" u="none" strike="noStrike" cap="none" normalizeH="0" baseline="0" dirty="0">
                <a:ln>
                  <a:noFill/>
                </a:ln>
                <a:solidFill>
                  <a:schemeClr val="tx1"/>
                </a:solidFill>
                <a:effectLst/>
              </a:rPr>
              <a:t> (2006)</a:t>
            </a:r>
            <a:r>
              <a:rPr kumimoji="0" lang="en-US" altLang="en-US" sz="1800" b="0" i="0" u="none" strike="noStrike" cap="none" normalizeH="0" baseline="0" dirty="0">
                <a:ln>
                  <a:noFill/>
                </a:ln>
                <a:solidFill>
                  <a:schemeClr val="tx1"/>
                </a:solidFill>
                <a:effectLst/>
              </a:rPr>
              <a:t> – “On Information, Information Technologies and Protection of Information.” This is the core law regulating information security and mentions use of encryption </a:t>
            </a:r>
            <a:r>
              <a:rPr kumimoji="0" lang="en-US" altLang="en-US" sz="1800" b="0" i="0" u="none" strike="noStrike" cap="none" normalizeH="0" baseline="0" dirty="0">
                <a:ln>
                  <a:noFill/>
                </a:ln>
                <a:solidFill>
                  <a:schemeClr val="tx1"/>
                </a:solidFill>
                <a:effectLst/>
                <a:hlinkClick r:id="rId4"/>
              </a:rPr>
              <a:t>habr.com</a:t>
            </a:r>
            <a:r>
              <a:rPr kumimoji="0" lang="en-US" altLang="en-US" sz="1800" b="0" i="0" u="none" strike="noStrike" cap="none" normalizeH="0" baseline="0" dirty="0">
                <a:ln>
                  <a:noFill/>
                </a:ln>
                <a:solidFill>
                  <a:schemeClr val="tx1"/>
                </a:solidFill>
                <a:effectLst/>
              </a:rPr>
              <a:t>. </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rPr>
              <a:t>Sectoral Laws:</a:t>
            </a:r>
            <a:r>
              <a:rPr kumimoji="0" lang="en-US" altLang="en-US" sz="1800" b="0" i="0" u="none" strike="noStrike" cap="none" normalizeH="0" baseline="0" dirty="0">
                <a:ln>
                  <a:noFill/>
                </a:ln>
                <a:solidFill>
                  <a:schemeClr val="tx1"/>
                </a:solidFill>
                <a:effectLst/>
              </a:rPr>
              <a:t> e.g. Federal Law </a:t>
            </a:r>
            <a:r>
              <a:rPr kumimoji="0" lang="en-US" altLang="en-US" sz="1800" b="0" i="0" u="none" strike="noStrike" cap="none" normalizeH="0" baseline="0" dirty="0">
                <a:ln>
                  <a:noFill/>
                </a:ln>
                <a:solidFill>
                  <a:schemeClr val="tx1"/>
                </a:solidFill>
                <a:effectLst/>
                <a:hlinkClick r:id="rId5"/>
              </a:rPr>
              <a:t>152-FZ</a:t>
            </a:r>
            <a:r>
              <a:rPr kumimoji="0" lang="en-US" altLang="en-US" sz="1800" b="0" i="0" u="none" strike="noStrike" cap="none" normalizeH="0" baseline="0" dirty="0">
                <a:ln>
                  <a:noFill/>
                </a:ln>
                <a:solidFill>
                  <a:schemeClr val="tx1"/>
                </a:solidFill>
                <a:effectLst/>
              </a:rPr>
              <a:t> (2006) on Personal Data mandates protection of personal data (encryption is required at certain levels). Recent Law 216-FZ (2024) expanded requirements for using certified encryption in government systems </a:t>
            </a:r>
            <a:r>
              <a:rPr kumimoji="0" lang="en-US" altLang="en-US" sz="1800" b="0" i="0" u="none" strike="noStrike" cap="none" normalizeH="0" baseline="0" dirty="0">
                <a:ln>
                  <a:noFill/>
                </a:ln>
                <a:solidFill>
                  <a:schemeClr val="tx1"/>
                </a:solidFill>
                <a:effectLst/>
                <a:hlinkClick r:id="rId6"/>
              </a:rPr>
              <a:t>cisoclub.ru</a:t>
            </a:r>
            <a:r>
              <a:rPr kumimoji="0" lang="en-US" altLang="en-US" sz="1800" b="0" i="0" u="none" strike="noStrike" cap="none" normalizeH="0" baseline="0" dirty="0">
                <a:ln>
                  <a:noFill/>
                </a:ln>
                <a:solidFill>
                  <a:schemeClr val="tx1"/>
                </a:solidFill>
                <a:effectLst/>
              </a:rPr>
              <a:t>.</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lang="en-US" altLang="en-US" b="1" dirty="0"/>
              <a:t>D</a:t>
            </a:r>
            <a:r>
              <a:rPr kumimoji="0" lang="en-US" altLang="en-US" sz="1800" b="1" i="0" u="none" strike="noStrike" cap="none" normalizeH="0" baseline="0" dirty="0">
                <a:ln>
                  <a:noFill/>
                </a:ln>
                <a:solidFill>
                  <a:schemeClr val="tx1"/>
                </a:solidFill>
                <a:effectLst/>
              </a:rPr>
              <a:t>ecrees and Orders:</a:t>
            </a:r>
            <a:r>
              <a:rPr kumimoji="0" lang="en-US" altLang="en-US" sz="1800" b="0" i="0" u="none" strike="noStrike" cap="none" normalizeH="0" baseline="0" dirty="0">
                <a:ln>
                  <a:noFill/>
                </a:ln>
                <a:solidFill>
                  <a:schemeClr val="tx1"/>
                </a:solidFill>
                <a:effectLst/>
              </a:rPr>
              <a:t> Presidential decrees and government regulations supplement laws (e.g. Gov. Decree No. 313 (2012) on licensing crypto activities </a:t>
            </a:r>
            <a:r>
              <a:rPr kumimoji="0" lang="en-US" altLang="en-US" sz="1800" b="0" i="0" u="none" strike="noStrike" cap="none" normalizeH="0" baseline="0" dirty="0">
                <a:ln>
                  <a:noFill/>
                </a:ln>
                <a:solidFill>
                  <a:schemeClr val="tx1"/>
                </a:solidFill>
                <a:effectLst/>
                <a:hlinkClick r:id="rId7"/>
              </a:rPr>
              <a:t>habr.com</a:t>
            </a:r>
            <a:r>
              <a:rPr kumimoji="0" lang="en-US" altLang="en-US" sz="1800" b="0" i="0" u="none" strike="noStrike" cap="none" normalizeH="0" baseline="0" dirty="0">
                <a:ln>
                  <a:noFill/>
                </a:ln>
                <a:solidFill>
                  <a:schemeClr val="tx1"/>
                </a:solidFill>
                <a:effectLst/>
              </a:rPr>
              <a:t>).</a:t>
            </a:r>
          </a:p>
        </p:txBody>
      </p:sp>
      <p:sp>
        <p:nvSpPr>
          <p:cNvPr id="20" name="TextBox 19">
            <a:extLst>
              <a:ext uri="{FF2B5EF4-FFF2-40B4-BE49-F238E27FC236}">
                <a16:creationId xmlns:a16="http://schemas.microsoft.com/office/drawing/2014/main" id="{59E1A05D-D644-4418-B180-45DF0A9BAF28}"/>
              </a:ext>
            </a:extLst>
          </p:cNvPr>
          <p:cNvSpPr txBox="1"/>
          <p:nvPr/>
        </p:nvSpPr>
        <p:spPr>
          <a:xfrm>
            <a:off x="838199" y="5678378"/>
            <a:ext cx="10515600" cy="646331"/>
          </a:xfrm>
          <a:prstGeom prst="rect">
            <a:avLst/>
          </a:prstGeom>
          <a:noFill/>
        </p:spPr>
        <p:txBody>
          <a:bodyPr wrap="square">
            <a:spAutoFit/>
          </a:bodyPr>
          <a:lstStyle/>
          <a:p>
            <a:pPr marR="0" lvl="0" algn="just" defTabSz="914400" rtl="0" eaLnBrk="0" fontAlgn="base" latinLnBrk="0" hangingPunct="0">
              <a:lnSpc>
                <a:spcPct val="100000"/>
              </a:lnSpc>
              <a:spcBef>
                <a:spcPct val="0"/>
              </a:spcBef>
              <a:spcAft>
                <a:spcPct val="0"/>
              </a:spcAft>
              <a:buClrTx/>
              <a:buSzTx/>
              <a:tabLst/>
            </a:pPr>
            <a:r>
              <a:rPr lang="en-US" altLang="en-US" b="1" dirty="0"/>
              <a:t>Key takeaway:</a:t>
            </a:r>
            <a:r>
              <a:rPr lang="en-US" altLang="en-US" dirty="0"/>
              <a:t> </a:t>
            </a:r>
            <a:r>
              <a:rPr kumimoji="0" lang="en-US" altLang="en-US" sz="1800" b="0" i="0" u="none" strike="noStrike" cap="none" normalizeH="0" baseline="0" dirty="0">
                <a:ln>
                  <a:noFill/>
                </a:ln>
                <a:solidFill>
                  <a:schemeClr val="tx1"/>
                </a:solidFill>
                <a:effectLst/>
              </a:rPr>
              <a:t>Russia has no single “Cryptography Law” akin to China’s, general principles of information protection are regulated in 149-FZ, whereas cryptography is regulated in FSB’s decrees.</a:t>
            </a:r>
          </a:p>
        </p:txBody>
      </p:sp>
      <p:pic>
        <p:nvPicPr>
          <p:cNvPr id="14" name="Рисунок 13">
            <a:extLst>
              <a:ext uri="{FF2B5EF4-FFF2-40B4-BE49-F238E27FC236}">
                <a16:creationId xmlns:a16="http://schemas.microsoft.com/office/drawing/2014/main" id="{0F54171F-8B1D-464E-AAA6-5991A6E2A65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flipH="1">
            <a:off x="8360012" y="1800186"/>
            <a:ext cx="2993787" cy="2993787"/>
          </a:xfrm>
          <a:prstGeom prst="rect">
            <a:avLst/>
          </a:prstGeom>
        </p:spPr>
      </p:pic>
      <p:sp>
        <p:nvSpPr>
          <p:cNvPr id="4" name="Номер слайда 3">
            <a:extLst>
              <a:ext uri="{FF2B5EF4-FFF2-40B4-BE49-F238E27FC236}">
                <a16:creationId xmlns:a16="http://schemas.microsoft.com/office/drawing/2014/main" id="{3AA24E2E-80FC-4F70-8344-1E342977D475}"/>
              </a:ext>
            </a:extLst>
          </p:cNvPr>
          <p:cNvSpPr>
            <a:spLocks noGrp="1"/>
          </p:cNvSpPr>
          <p:nvPr>
            <p:ph type="sldNum" sz="quarter" idx="12"/>
          </p:nvPr>
        </p:nvSpPr>
        <p:spPr/>
        <p:txBody>
          <a:bodyPr/>
          <a:lstStyle/>
          <a:p>
            <a:fld id="{14DDCE2C-1EAC-4FD7-9FCA-CDAC6ED86490}" type="slidenum">
              <a:rPr lang="en-US" smtClean="0"/>
              <a:t>4</a:t>
            </a:fld>
            <a:endParaRPr lang="en-US"/>
          </a:p>
        </p:txBody>
      </p:sp>
    </p:spTree>
    <p:extLst>
      <p:ext uri="{BB962C8B-B14F-4D97-AF65-F5344CB8AC3E}">
        <p14:creationId xmlns:p14="http://schemas.microsoft.com/office/powerpoint/2010/main" val="2118673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12ED09-8DAA-4EAE-A454-6B3FF8D09A9E}"/>
              </a:ext>
            </a:extLst>
          </p:cNvPr>
          <p:cNvSpPr>
            <a:spLocks noGrp="1"/>
          </p:cNvSpPr>
          <p:nvPr>
            <p:ph type="title"/>
          </p:nvPr>
        </p:nvSpPr>
        <p:spPr/>
        <p:txBody>
          <a:bodyPr/>
          <a:lstStyle/>
          <a:p>
            <a:r>
              <a:rPr lang="en-US" dirty="0"/>
              <a:t>Key Regulatory Bodies and Organizations</a:t>
            </a:r>
          </a:p>
        </p:txBody>
      </p:sp>
      <p:sp>
        <p:nvSpPr>
          <p:cNvPr id="3" name="Rectangle 1">
            <a:extLst>
              <a:ext uri="{FF2B5EF4-FFF2-40B4-BE49-F238E27FC236}">
                <a16:creationId xmlns:a16="http://schemas.microsoft.com/office/drawing/2014/main" id="{8A82E372-18B0-43C9-8C5A-E5DD22F5CA95}"/>
              </a:ext>
            </a:extLst>
          </p:cNvPr>
          <p:cNvSpPr>
            <a:spLocks noChangeArrowheads="1"/>
          </p:cNvSpPr>
          <p:nvPr/>
        </p:nvSpPr>
        <p:spPr bwMode="auto">
          <a:xfrm>
            <a:off x="838201" y="1829187"/>
            <a:ext cx="1051559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rPr>
              <a:t>Federal Security Service (</a:t>
            </a:r>
            <a:r>
              <a:rPr kumimoji="0" lang="en-US" altLang="en-US" sz="1800" b="1" i="0" u="none" strike="noStrike" cap="none" normalizeH="0" baseline="0" dirty="0">
                <a:ln>
                  <a:noFill/>
                </a:ln>
                <a:solidFill>
                  <a:schemeClr val="tx1"/>
                </a:solidFill>
                <a:effectLst/>
                <a:hlinkClick r:id="rId3"/>
              </a:rPr>
              <a:t>FSB</a:t>
            </a:r>
            <a:r>
              <a:rPr kumimoji="0" lang="en-US" altLang="en-US" sz="1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rPr>
              <a:t> The lead executive authority for cryptography. FSB regulates development, production, sale, and use of encryption tools, including import/export control </a:t>
            </a:r>
            <a:r>
              <a:rPr kumimoji="0" lang="en-US" altLang="en-US" sz="1800" b="0" i="0" u="none" strike="noStrike" cap="none" normalizeH="0" baseline="0" dirty="0">
                <a:ln>
                  <a:noFill/>
                </a:ln>
                <a:solidFill>
                  <a:schemeClr val="tx1"/>
                </a:solidFill>
                <a:effectLst/>
                <a:hlinkClick r:id="rId4"/>
              </a:rPr>
              <a:t>habr.com</a:t>
            </a:r>
            <a:r>
              <a:rPr kumimoji="0" lang="en-US" altLang="en-US" sz="1800" b="0" i="0" u="none" strike="noStrike" cap="none" normalizeH="0" baseline="0" dirty="0">
                <a:ln>
                  <a:noFill/>
                </a:ln>
                <a:solidFill>
                  <a:schemeClr val="tx1"/>
                </a:solidFill>
                <a:effectLst/>
              </a:rPr>
              <a:t>. It conducts certification of cryptographic means and issues licenses to crypto developers </a:t>
            </a:r>
            <a:r>
              <a:rPr kumimoji="0" lang="en-US" altLang="en-US" sz="1800" b="0" i="0" u="none" strike="noStrike" cap="none" normalizeH="0" baseline="0" dirty="0">
                <a:ln>
                  <a:noFill/>
                </a:ln>
                <a:solidFill>
                  <a:schemeClr val="tx1"/>
                </a:solidFill>
                <a:effectLst/>
                <a:hlinkClick r:id="rId5"/>
              </a:rPr>
              <a:t>habr.com</a:t>
            </a:r>
            <a:r>
              <a:rPr kumimoji="0" lang="en-US" altLang="en-US" sz="1800" b="0" i="0" u="none" strike="noStrike" cap="none" normalizeH="0" baseline="0" dirty="0">
                <a:ln>
                  <a:noFill/>
                </a:ln>
                <a:solidFill>
                  <a:schemeClr val="tx1"/>
                </a:solidFill>
                <a:effectLst/>
              </a:rPr>
              <a:t>. </a:t>
            </a:r>
            <a:endParaRPr kumimoji="0" lang="ru-RU" altLang="en-US" sz="1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rPr>
              <a:t>Federal Service for Technical and Export Control (</a:t>
            </a:r>
            <a:r>
              <a:rPr kumimoji="0" lang="en-US" altLang="en-US" sz="1800" b="1" i="0" u="none" strike="noStrike" cap="none" normalizeH="0" baseline="0" dirty="0">
                <a:ln>
                  <a:noFill/>
                </a:ln>
                <a:solidFill>
                  <a:schemeClr val="tx1"/>
                </a:solidFill>
                <a:effectLst/>
                <a:hlinkClick r:id="rId6"/>
              </a:rPr>
              <a:t>FSTEC</a:t>
            </a:r>
            <a:r>
              <a:rPr kumimoji="0" lang="en-US" altLang="en-US" sz="1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rPr>
              <a:t> Regulates broader aspect of information security (e.g. protecting critical infrastructure, </a:t>
            </a:r>
            <a:r>
              <a:rPr kumimoji="0" lang="en-US" altLang="en-US" sz="1800" b="0" i="0" u="none" strike="noStrike" cap="none" normalizeH="0" baseline="0" dirty="0">
                <a:ln>
                  <a:noFill/>
                </a:ln>
                <a:solidFill>
                  <a:schemeClr val="tx1"/>
                </a:solidFill>
                <a:effectLst/>
                <a:hlinkClick r:id="rId7"/>
              </a:rPr>
              <a:t>threats data bank</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hlinkClick r:id="rId8"/>
              </a:rPr>
              <a:t>en.wikipedia.org</a:t>
            </a:r>
            <a:r>
              <a:rPr kumimoji="0" lang="en-US" altLang="en-US" sz="1800" b="0" i="0" u="none" strike="noStrike" cap="none" normalizeH="0" baseline="0" dirty="0">
                <a:ln>
                  <a:noFill/>
                </a:ln>
                <a:solidFill>
                  <a:schemeClr val="tx1"/>
                </a:solidFill>
                <a:effectLst/>
              </a:rPr>
              <a: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rPr>
              <a:t>Technical Committee 26 (TC26):</a:t>
            </a:r>
            <a:r>
              <a:rPr kumimoji="0" lang="en-US" altLang="en-US" sz="1800" b="0" i="0" u="none" strike="noStrike" cap="none" normalizeH="0" baseline="0" dirty="0">
                <a:ln>
                  <a:noFill/>
                </a:ln>
                <a:solidFill>
                  <a:schemeClr val="tx1"/>
                </a:solidFill>
                <a:effectLst/>
              </a:rPr>
              <a:t> National standardization committee for “Cryptographic Protection of Information.” Develops and updates Russian cryptographic standards (GOST standards for ciphers, hashes, etc.) </a:t>
            </a:r>
            <a:r>
              <a:rPr kumimoji="0" lang="en-US" altLang="en-US" sz="1800" b="0" i="0" u="none" strike="noStrike" cap="none" normalizeH="0" baseline="0" dirty="0">
                <a:ln>
                  <a:noFill/>
                </a:ln>
                <a:solidFill>
                  <a:schemeClr val="tx1"/>
                </a:solidFill>
                <a:effectLst/>
                <a:hlinkClick r:id="rId9"/>
              </a:rPr>
              <a:t>tc26.ru</a:t>
            </a:r>
            <a:r>
              <a:rPr kumimoji="0" lang="en-US" altLang="en-US" sz="1800" b="0" i="0" u="none" strike="noStrike" cap="none" normalizeH="0" baseline="0" dirty="0">
                <a:ln>
                  <a:noFill/>
                </a:ln>
                <a:solidFill>
                  <a:schemeClr val="tx1"/>
                </a:solidFill>
                <a:effectLst/>
              </a:rPr>
              <a:t>. It also contributes to international crypto standards.</a:t>
            </a:r>
          </a:p>
        </p:txBody>
      </p:sp>
      <p:pic>
        <p:nvPicPr>
          <p:cNvPr id="7" name="Рисунок 6">
            <a:extLst>
              <a:ext uri="{FF2B5EF4-FFF2-40B4-BE49-F238E27FC236}">
                <a16:creationId xmlns:a16="http://schemas.microsoft.com/office/drawing/2014/main" id="{6229A44C-9AED-4BAA-8FAC-F88E622961A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75692" y="4553008"/>
            <a:ext cx="1568669" cy="1568669"/>
          </a:xfrm>
          <a:prstGeom prst="rect">
            <a:avLst/>
          </a:prstGeom>
        </p:spPr>
      </p:pic>
      <p:sp>
        <p:nvSpPr>
          <p:cNvPr id="30" name="TextBox 29">
            <a:extLst>
              <a:ext uri="{FF2B5EF4-FFF2-40B4-BE49-F238E27FC236}">
                <a16:creationId xmlns:a16="http://schemas.microsoft.com/office/drawing/2014/main" id="{AA390007-E352-41C0-8CCB-47C230EE6AE0}"/>
              </a:ext>
            </a:extLst>
          </p:cNvPr>
          <p:cNvSpPr txBox="1"/>
          <p:nvPr/>
        </p:nvSpPr>
        <p:spPr>
          <a:xfrm>
            <a:off x="281151" y="6121677"/>
            <a:ext cx="4175234" cy="369332"/>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handles everything cryptography-related.</a:t>
            </a:r>
          </a:p>
        </p:txBody>
      </p:sp>
      <p:pic>
        <p:nvPicPr>
          <p:cNvPr id="10" name="Рисунок 9">
            <a:extLst>
              <a:ext uri="{FF2B5EF4-FFF2-40B4-BE49-F238E27FC236}">
                <a16:creationId xmlns:a16="http://schemas.microsoft.com/office/drawing/2014/main" id="{8DB2A4A8-D41E-42D3-95CE-B56BF883CD1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311664" y="4387104"/>
            <a:ext cx="1568669" cy="1671511"/>
          </a:xfrm>
          <a:prstGeom prst="rect">
            <a:avLst/>
          </a:prstGeom>
        </p:spPr>
      </p:pic>
      <p:sp>
        <p:nvSpPr>
          <p:cNvPr id="31" name="TextBox 30">
            <a:extLst>
              <a:ext uri="{FF2B5EF4-FFF2-40B4-BE49-F238E27FC236}">
                <a16:creationId xmlns:a16="http://schemas.microsoft.com/office/drawing/2014/main" id="{A34F237C-902F-4579-B518-2045F2A1C018}"/>
              </a:ext>
            </a:extLst>
          </p:cNvPr>
          <p:cNvSpPr txBox="1"/>
          <p:nvPr/>
        </p:nvSpPr>
        <p:spPr>
          <a:xfrm>
            <a:off x="4456385" y="6121677"/>
            <a:ext cx="3657601" cy="369332"/>
          </a:xfrm>
          <a:prstGeom prst="rect">
            <a:avLst/>
          </a:prstGeom>
          <a:noFill/>
        </p:spPr>
        <p:txBody>
          <a:bodyPr wrap="square">
            <a:spAutoFit/>
          </a:bodyPr>
          <a:lstStyle/>
          <a:p>
            <a:r>
              <a:rPr kumimoji="0" lang="en-US" altLang="en-US" sz="1800" b="0" i="0" u="none" strike="noStrike" cap="none" normalizeH="0" baseline="0" dirty="0">
                <a:ln>
                  <a:noFill/>
                </a:ln>
                <a:solidFill>
                  <a:schemeClr val="tx1"/>
                </a:solidFill>
                <a:effectLst/>
              </a:rPr>
              <a:t>handles every other InfoSec aspect.</a:t>
            </a:r>
            <a:endParaRPr lang="en-US" dirty="0"/>
          </a:p>
        </p:txBody>
      </p:sp>
      <p:pic>
        <p:nvPicPr>
          <p:cNvPr id="37" name="Рисунок 36">
            <a:extLst>
              <a:ext uri="{FF2B5EF4-FFF2-40B4-BE49-F238E27FC236}">
                <a16:creationId xmlns:a16="http://schemas.microsoft.com/office/drawing/2014/main" id="{9CA24DEE-060D-4CE7-9CF5-767321B19C6D}"/>
              </a:ext>
            </a:extLst>
          </p:cNvPr>
          <p:cNvPicPr>
            <a:picLocks noChangeAspect="1"/>
          </p:cNvPicPr>
          <p:nvPr/>
        </p:nvPicPr>
        <p:blipFill>
          <a:blip r:embed="rId12"/>
          <a:stretch>
            <a:fillRect/>
          </a:stretch>
        </p:blipFill>
        <p:spPr>
          <a:xfrm>
            <a:off x="9014412" y="4553008"/>
            <a:ext cx="1445979" cy="1505607"/>
          </a:xfrm>
          <a:prstGeom prst="rect">
            <a:avLst/>
          </a:prstGeom>
        </p:spPr>
      </p:pic>
      <p:sp>
        <p:nvSpPr>
          <p:cNvPr id="38" name="Rectangle 1">
            <a:extLst>
              <a:ext uri="{FF2B5EF4-FFF2-40B4-BE49-F238E27FC236}">
                <a16:creationId xmlns:a16="http://schemas.microsoft.com/office/drawing/2014/main" id="{A7AF3501-665E-47AB-9609-40C312F29657}"/>
              </a:ext>
            </a:extLst>
          </p:cNvPr>
          <p:cNvSpPr>
            <a:spLocks noChangeArrowheads="1"/>
          </p:cNvSpPr>
          <p:nvPr/>
        </p:nvSpPr>
        <p:spPr bwMode="auto">
          <a:xfrm>
            <a:off x="421213" y="4553007"/>
            <a:ext cx="4169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1</a:t>
            </a:r>
          </a:p>
        </p:txBody>
      </p:sp>
      <p:sp>
        <p:nvSpPr>
          <p:cNvPr id="39" name="Rectangle 1">
            <a:extLst>
              <a:ext uri="{FF2B5EF4-FFF2-40B4-BE49-F238E27FC236}">
                <a16:creationId xmlns:a16="http://schemas.microsoft.com/office/drawing/2014/main" id="{792D3D4C-5C69-4F5C-B161-FC1566A5F1B8}"/>
              </a:ext>
            </a:extLst>
          </p:cNvPr>
          <p:cNvSpPr>
            <a:spLocks noChangeArrowheads="1"/>
          </p:cNvSpPr>
          <p:nvPr/>
        </p:nvSpPr>
        <p:spPr bwMode="auto">
          <a:xfrm>
            <a:off x="4456385" y="4553007"/>
            <a:ext cx="4169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lang="en-US" altLang="en-US" dirty="0"/>
              <a:t>2</a:t>
            </a:r>
            <a:endParaRPr kumimoji="0" lang="en-US" altLang="en-US" sz="1800" b="0" i="0" u="none" strike="noStrike" cap="none" normalizeH="0" baseline="0" dirty="0">
              <a:ln>
                <a:noFill/>
              </a:ln>
              <a:solidFill>
                <a:schemeClr val="tx1"/>
              </a:solidFill>
              <a:effectLst/>
            </a:endParaRPr>
          </a:p>
        </p:txBody>
      </p:sp>
      <p:sp>
        <p:nvSpPr>
          <p:cNvPr id="40" name="TextBox 39">
            <a:extLst>
              <a:ext uri="{FF2B5EF4-FFF2-40B4-BE49-F238E27FC236}">
                <a16:creationId xmlns:a16="http://schemas.microsoft.com/office/drawing/2014/main" id="{3B2B0BE9-7EA8-45CB-BF43-5212BE7EB35B}"/>
              </a:ext>
            </a:extLst>
          </p:cNvPr>
          <p:cNvSpPr txBox="1"/>
          <p:nvPr/>
        </p:nvSpPr>
        <p:spPr>
          <a:xfrm>
            <a:off x="8489842" y="6121677"/>
            <a:ext cx="3657601" cy="369332"/>
          </a:xfrm>
          <a:prstGeom prst="rect">
            <a:avLst/>
          </a:prstGeom>
          <a:noFill/>
        </p:spPr>
        <p:txBody>
          <a:bodyPr wrap="square">
            <a:spAutoFit/>
          </a:bodyPr>
          <a:lstStyle/>
          <a:p>
            <a:r>
              <a:rPr kumimoji="0" lang="en-US" altLang="en-US" sz="1800" b="0" i="0" u="none" strike="noStrike" cap="none" normalizeH="0" baseline="0" dirty="0">
                <a:ln>
                  <a:noFill/>
                </a:ln>
                <a:solidFill>
                  <a:schemeClr val="tx1"/>
                </a:solidFill>
                <a:effectLst/>
              </a:rPr>
              <a:t>TC26 develops GOST standards. </a:t>
            </a:r>
            <a:endParaRPr lang="en-US" dirty="0"/>
          </a:p>
        </p:txBody>
      </p:sp>
      <p:sp>
        <p:nvSpPr>
          <p:cNvPr id="41" name="Rectangle 1">
            <a:extLst>
              <a:ext uri="{FF2B5EF4-FFF2-40B4-BE49-F238E27FC236}">
                <a16:creationId xmlns:a16="http://schemas.microsoft.com/office/drawing/2014/main" id="{5DA537F5-3919-4089-989B-059DFF4B6B9E}"/>
              </a:ext>
            </a:extLst>
          </p:cNvPr>
          <p:cNvSpPr>
            <a:spLocks noChangeArrowheads="1"/>
          </p:cNvSpPr>
          <p:nvPr/>
        </p:nvSpPr>
        <p:spPr bwMode="auto">
          <a:xfrm>
            <a:off x="8489842" y="4553007"/>
            <a:ext cx="4169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3</a:t>
            </a:r>
          </a:p>
        </p:txBody>
      </p:sp>
      <p:sp>
        <p:nvSpPr>
          <p:cNvPr id="4" name="Номер слайда 3">
            <a:extLst>
              <a:ext uri="{FF2B5EF4-FFF2-40B4-BE49-F238E27FC236}">
                <a16:creationId xmlns:a16="http://schemas.microsoft.com/office/drawing/2014/main" id="{47C9F8C4-55C9-4531-A758-B3FDE4AC01E8}"/>
              </a:ext>
            </a:extLst>
          </p:cNvPr>
          <p:cNvSpPr>
            <a:spLocks noGrp="1"/>
          </p:cNvSpPr>
          <p:nvPr>
            <p:ph type="sldNum" sz="quarter" idx="12"/>
          </p:nvPr>
        </p:nvSpPr>
        <p:spPr/>
        <p:txBody>
          <a:bodyPr/>
          <a:lstStyle/>
          <a:p>
            <a:fld id="{14DDCE2C-1EAC-4FD7-9FCA-CDAC6ED86490}" type="slidenum">
              <a:rPr lang="en-US" smtClean="0"/>
              <a:t>5</a:t>
            </a:fld>
            <a:endParaRPr lang="en-US"/>
          </a:p>
        </p:txBody>
      </p:sp>
    </p:spTree>
    <p:extLst>
      <p:ext uri="{BB962C8B-B14F-4D97-AF65-F5344CB8AC3E}">
        <p14:creationId xmlns:p14="http://schemas.microsoft.com/office/powerpoint/2010/main" val="4191679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12ED09-8DAA-4EAE-A454-6B3FF8D09A9E}"/>
              </a:ext>
            </a:extLst>
          </p:cNvPr>
          <p:cNvSpPr>
            <a:spLocks noGrp="1"/>
          </p:cNvSpPr>
          <p:nvPr>
            <p:ph type="title"/>
          </p:nvPr>
        </p:nvSpPr>
        <p:spPr/>
        <p:txBody>
          <a:bodyPr/>
          <a:lstStyle/>
          <a:p>
            <a:r>
              <a:rPr lang="en-US" dirty="0"/>
              <a:t>FSB Orders Regulating Cryptography</a:t>
            </a:r>
          </a:p>
        </p:txBody>
      </p:sp>
      <p:sp>
        <p:nvSpPr>
          <p:cNvPr id="4" name="Rectangle 1">
            <a:extLst>
              <a:ext uri="{FF2B5EF4-FFF2-40B4-BE49-F238E27FC236}">
                <a16:creationId xmlns:a16="http://schemas.microsoft.com/office/drawing/2014/main" id="{57DEFB2A-0F09-4149-8929-B4A8DBF62EB8}"/>
              </a:ext>
            </a:extLst>
          </p:cNvPr>
          <p:cNvSpPr>
            <a:spLocks noChangeArrowheads="1"/>
          </p:cNvSpPr>
          <p:nvPr/>
        </p:nvSpPr>
        <p:spPr bwMode="auto">
          <a:xfrm>
            <a:off x="838200" y="1690688"/>
            <a:ext cx="442912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hlinkClick r:id="rId3"/>
              </a:rPr>
              <a:t>FSB Order № 66 </a:t>
            </a:r>
            <a:r>
              <a:rPr kumimoji="0" lang="en-US" altLang="en-US" b="1" i="0" u="none" strike="noStrike" cap="none" normalizeH="0" baseline="0" dirty="0">
                <a:ln>
                  <a:noFill/>
                </a:ln>
                <a:solidFill>
                  <a:schemeClr val="tx1"/>
                </a:solidFill>
                <a:effectLst/>
              </a:rPr>
              <a:t>(2005)</a:t>
            </a:r>
            <a:r>
              <a:rPr kumimoji="0" lang="en-US" altLang="en-US" b="0" i="0" u="none" strike="noStrike" cap="none" normalizeH="0" baseline="0" dirty="0">
                <a:ln>
                  <a:noFill/>
                </a:ln>
                <a:solidFill>
                  <a:schemeClr val="tx1"/>
                </a:solidFill>
                <a:effectLst/>
              </a:rPr>
              <a:t>: Requirements for crypto developers and vendors.</a:t>
            </a:r>
            <a:endParaRPr kumimoji="0" lang="ru-RU" altLang="en-US" b="0"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hlinkClick r:id="rId4"/>
              </a:rPr>
              <a:t>FAPSI Order № 152 </a:t>
            </a:r>
            <a:r>
              <a:rPr kumimoji="0" lang="en-US" altLang="en-US" b="1" i="0" u="none" strike="noStrike" cap="none" normalizeH="0" baseline="0" dirty="0">
                <a:ln>
                  <a:noFill/>
                </a:ln>
                <a:solidFill>
                  <a:schemeClr val="tx1"/>
                </a:solidFill>
                <a:effectLst/>
              </a:rPr>
              <a:t>(2001)</a:t>
            </a:r>
            <a:r>
              <a:rPr lang="en-US" altLang="en-US" dirty="0"/>
              <a:t>: (outdated) Instruction for using crypto tools for sensitive information.</a:t>
            </a:r>
            <a:endParaRPr kumimoji="0" lang="ru-RU" altLang="en-US" b="0"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hlinkClick r:id="rId5"/>
              </a:rPr>
              <a:t>FSB Order № 378 </a:t>
            </a:r>
            <a:r>
              <a:rPr kumimoji="0" lang="en-US" altLang="en-US" b="1" i="0" u="none" strike="noStrike" cap="none" normalizeH="0" baseline="0" dirty="0">
                <a:ln>
                  <a:noFill/>
                </a:ln>
                <a:solidFill>
                  <a:schemeClr val="tx1"/>
                </a:solidFill>
                <a:effectLst/>
              </a:rPr>
              <a:t>(2014): </a:t>
            </a:r>
            <a:r>
              <a:rPr kumimoji="0" lang="en-US" altLang="en-US" i="0" u="none" strike="noStrike" cap="none" normalizeH="0" baseline="0" dirty="0">
                <a:ln>
                  <a:noFill/>
                </a:ln>
                <a:solidFill>
                  <a:schemeClr val="tx1"/>
                </a:solidFill>
                <a:effectLst/>
              </a:rPr>
              <a:t>Requirements for protecting personal data with cryptography.</a:t>
            </a:r>
            <a:endParaRPr kumimoji="0" lang="ru-RU" altLang="en-US" b="0"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hlinkClick r:id="rId6"/>
              </a:rPr>
              <a:t>FSB Order № 524 </a:t>
            </a:r>
            <a:r>
              <a:rPr kumimoji="0" lang="en-US" altLang="en-US" b="1" i="0" u="none" strike="noStrike" cap="none" normalizeH="0" baseline="0" dirty="0">
                <a:ln>
                  <a:noFill/>
                </a:ln>
                <a:solidFill>
                  <a:schemeClr val="tx1"/>
                </a:solidFill>
                <a:effectLst/>
              </a:rPr>
              <a:t>(2022)</a:t>
            </a:r>
            <a:r>
              <a:rPr lang="en-US" altLang="en-US" dirty="0"/>
              <a:t>: Requirements for protecting information in government IS using certified encryption tools.</a:t>
            </a:r>
            <a:endParaRPr kumimoji="0" lang="ru-RU" altLang="en-US" b="0"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hlinkClick r:id="rId7"/>
              </a:rPr>
              <a:t>FSB Order № 117 </a:t>
            </a:r>
            <a:r>
              <a:rPr kumimoji="0" lang="en-US" altLang="en-US" b="1" i="0" u="none" strike="noStrike" cap="none" normalizeH="0" baseline="0" dirty="0">
                <a:ln>
                  <a:noFill/>
                </a:ln>
                <a:solidFill>
                  <a:schemeClr val="tx1"/>
                </a:solidFill>
                <a:effectLst/>
              </a:rPr>
              <a:t>(2025): </a:t>
            </a:r>
            <a:r>
              <a:rPr kumimoji="0" lang="en-US" altLang="en-US" i="0" u="none" strike="noStrike" cap="none" normalizeH="0" baseline="0" dirty="0">
                <a:ln>
                  <a:noFill/>
                </a:ln>
                <a:solidFill>
                  <a:schemeClr val="tx1"/>
                </a:solidFill>
                <a:effectLst/>
              </a:rPr>
              <a:t>replacement for Order 524. Expands the scope of mandatory encryption.</a:t>
            </a:r>
            <a:endParaRPr kumimoji="0" lang="en-US" altLang="en-US" b="0" i="0" u="none" strike="noStrike" cap="none" normalizeH="0" baseline="0" dirty="0">
              <a:ln>
                <a:noFill/>
              </a:ln>
              <a:solidFill>
                <a:schemeClr val="tx1"/>
              </a:solidFill>
              <a:effectLst/>
            </a:endParaRPr>
          </a:p>
        </p:txBody>
      </p:sp>
      <p:pic>
        <p:nvPicPr>
          <p:cNvPr id="7" name="Рисунок 6">
            <a:extLst>
              <a:ext uri="{FF2B5EF4-FFF2-40B4-BE49-F238E27FC236}">
                <a16:creationId xmlns:a16="http://schemas.microsoft.com/office/drawing/2014/main" id="{63E6E3A1-AE30-41DE-ADCF-F37A9BF8C76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19890" y="1704908"/>
            <a:ext cx="6504097" cy="3941877"/>
          </a:xfrm>
          <a:prstGeom prst="rect">
            <a:avLst/>
          </a:prstGeom>
        </p:spPr>
      </p:pic>
      <p:sp>
        <p:nvSpPr>
          <p:cNvPr id="3" name="Номер слайда 2">
            <a:extLst>
              <a:ext uri="{FF2B5EF4-FFF2-40B4-BE49-F238E27FC236}">
                <a16:creationId xmlns:a16="http://schemas.microsoft.com/office/drawing/2014/main" id="{455D3893-009D-4196-8C85-5575CCB520AD}"/>
              </a:ext>
            </a:extLst>
          </p:cNvPr>
          <p:cNvSpPr>
            <a:spLocks noGrp="1"/>
          </p:cNvSpPr>
          <p:nvPr>
            <p:ph type="sldNum" sz="quarter" idx="12"/>
          </p:nvPr>
        </p:nvSpPr>
        <p:spPr/>
        <p:txBody>
          <a:bodyPr/>
          <a:lstStyle/>
          <a:p>
            <a:fld id="{14DDCE2C-1EAC-4FD7-9FCA-CDAC6ED86490}" type="slidenum">
              <a:rPr lang="en-US" smtClean="0"/>
              <a:t>6</a:t>
            </a:fld>
            <a:endParaRPr lang="en-US"/>
          </a:p>
        </p:txBody>
      </p:sp>
    </p:spTree>
    <p:extLst>
      <p:ext uri="{BB962C8B-B14F-4D97-AF65-F5344CB8AC3E}">
        <p14:creationId xmlns:p14="http://schemas.microsoft.com/office/powerpoint/2010/main" val="3940483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a:extLst>
              <a:ext uri="{FF2B5EF4-FFF2-40B4-BE49-F238E27FC236}">
                <a16:creationId xmlns:a16="http://schemas.microsoft.com/office/drawing/2014/main" id="{19ED2525-820D-497E-B625-FDF73C1973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8010" y="1505230"/>
            <a:ext cx="5823990" cy="3878777"/>
          </a:xfrm>
          <a:prstGeom prst="rect">
            <a:avLst/>
          </a:prstGeom>
        </p:spPr>
      </p:pic>
      <p:sp>
        <p:nvSpPr>
          <p:cNvPr id="2" name="Заголовок 1">
            <a:extLst>
              <a:ext uri="{FF2B5EF4-FFF2-40B4-BE49-F238E27FC236}">
                <a16:creationId xmlns:a16="http://schemas.microsoft.com/office/drawing/2014/main" id="{7BD2B6AD-D4E4-4770-9E15-93812DDBC04C}"/>
              </a:ext>
            </a:extLst>
          </p:cNvPr>
          <p:cNvSpPr>
            <a:spLocks noGrp="1"/>
          </p:cNvSpPr>
          <p:nvPr>
            <p:ph type="title"/>
          </p:nvPr>
        </p:nvSpPr>
        <p:spPr/>
        <p:txBody>
          <a:bodyPr>
            <a:normAutofit/>
          </a:bodyPr>
          <a:lstStyle/>
          <a:p>
            <a:r>
              <a:rPr lang="en-US" dirty="0"/>
              <a:t>Domestic Cryptographic Standards</a:t>
            </a:r>
          </a:p>
        </p:txBody>
      </p:sp>
      <p:pic>
        <p:nvPicPr>
          <p:cNvPr id="9" name="Рисунок 8">
            <a:extLst>
              <a:ext uri="{FF2B5EF4-FFF2-40B4-BE49-F238E27FC236}">
                <a16:creationId xmlns:a16="http://schemas.microsoft.com/office/drawing/2014/main" id="{B3D910F0-EBED-4D6E-8A0B-CD9A5504AB83}"/>
              </a:ext>
            </a:extLst>
          </p:cNvPr>
          <p:cNvPicPr>
            <a:picLocks noChangeAspect="1"/>
          </p:cNvPicPr>
          <p:nvPr/>
        </p:nvPicPr>
        <p:blipFill>
          <a:blip r:embed="rId4"/>
          <a:stretch>
            <a:fillRect/>
          </a:stretch>
        </p:blipFill>
        <p:spPr>
          <a:xfrm>
            <a:off x="5716314" y="3016251"/>
            <a:ext cx="941652" cy="738461"/>
          </a:xfrm>
          <a:prstGeom prst="rect">
            <a:avLst/>
          </a:prstGeom>
        </p:spPr>
      </p:pic>
      <p:sp>
        <p:nvSpPr>
          <p:cNvPr id="8" name="Rectangle 1">
            <a:extLst>
              <a:ext uri="{FF2B5EF4-FFF2-40B4-BE49-F238E27FC236}">
                <a16:creationId xmlns:a16="http://schemas.microsoft.com/office/drawing/2014/main" id="{078CA8BD-7609-45D2-B0E9-8FCFA40AAB09}"/>
              </a:ext>
            </a:extLst>
          </p:cNvPr>
          <p:cNvSpPr>
            <a:spLocks noChangeArrowheads="1"/>
          </p:cNvSpPr>
          <p:nvPr/>
        </p:nvSpPr>
        <p:spPr bwMode="auto">
          <a:xfrm>
            <a:off x="838200" y="1690688"/>
            <a:ext cx="610913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Russia uses </a:t>
            </a:r>
            <a:r>
              <a:rPr kumimoji="0" lang="en-US" altLang="en-US" sz="1800" b="1" i="0" u="none" strike="noStrike" cap="none" normalizeH="0" baseline="0" dirty="0">
                <a:ln>
                  <a:noFill/>
                </a:ln>
                <a:solidFill>
                  <a:schemeClr val="tx1"/>
                </a:solidFill>
                <a:effectLst/>
              </a:rPr>
              <a:t>GOST</a:t>
            </a:r>
            <a:r>
              <a:rPr kumimoji="0" lang="en-US" altLang="en-US" sz="1800" b="0" i="0" u="none" strike="noStrike" cap="none" normalizeH="0" baseline="0" dirty="0">
                <a:ln>
                  <a:noFill/>
                </a:ln>
                <a:solidFill>
                  <a:schemeClr val="tx1"/>
                </a:solidFill>
                <a:effectLst/>
              </a:rPr>
              <a:t> standards (“ГОСТ” – national state standards) to define cryptographic algorithms and protocols. Current standards (since 2018–2019) cover four main areas </a:t>
            </a:r>
            <a:r>
              <a:rPr kumimoji="0" lang="en-US" altLang="en-US" sz="1800" b="0" i="0" u="none" strike="noStrike" cap="none" normalizeH="0" baseline="0" dirty="0">
                <a:ln>
                  <a:noFill/>
                </a:ln>
                <a:solidFill>
                  <a:schemeClr val="tx1"/>
                </a:solidFill>
                <a:effectLst/>
                <a:hlinkClick r:id="rId5"/>
              </a:rPr>
              <a:t>habr.com</a:t>
            </a:r>
            <a:r>
              <a:rPr kumimoji="0" lang="en-US" altLang="en-US" sz="18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rPr>
              <a:t>Digital Signatures: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hlinkClick r:id="rId6"/>
              </a:rPr>
              <a:t>GOST R 34.10-2018 </a:t>
            </a:r>
            <a:endParaRPr lang="en-US" altLang="en-US" dirty="0"/>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rPr>
              <a:t>Hash Function:</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hlinkClick r:id="rId7"/>
              </a:rPr>
              <a:t>GOST R 34.11-2018 </a:t>
            </a:r>
            <a:endParaRPr kumimoji="0" lang="en-US" altLang="en-US" sz="1800" b="0" i="0" u="none" strike="noStrike" cap="none" normalizeH="0" baseline="0" dirty="0">
              <a:ln>
                <a:noFill/>
              </a:ln>
              <a:solidFill>
                <a:schemeClr val="tx1"/>
              </a:solidFill>
              <a:effectLs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rPr>
              <a:t>Block Ciphers: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hlinkClick r:id="rId8"/>
              </a:rPr>
              <a:t>GOST R 34.12-2018 </a:t>
            </a:r>
            <a:endParaRPr lang="en-US" altLang="en-US" dirty="0"/>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rPr>
              <a:t>Block Cipher Modes: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hlinkClick r:id="rId9"/>
              </a:rPr>
              <a:t>GOST R 34.13-2018 </a:t>
            </a:r>
            <a:endParaRPr lang="en-US" altLang="en-US" dirty="0"/>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endParaRPr>
          </a:p>
          <a:p>
            <a:pPr marR="0" lvl="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These GOST standards took effect in 2019 (approved by </a:t>
            </a:r>
            <a:r>
              <a:rPr kumimoji="0" lang="en-US" altLang="en-US" sz="1800" b="0" i="0" u="none" strike="noStrike" cap="none" normalizeH="0" baseline="0" dirty="0" err="1">
                <a:ln>
                  <a:noFill/>
                </a:ln>
                <a:solidFill>
                  <a:schemeClr val="tx1"/>
                </a:solidFill>
                <a:effectLst/>
              </a:rPr>
              <a:t>Rosstandart</a:t>
            </a:r>
            <a:r>
              <a:rPr kumimoji="0" lang="en-US" altLang="en-US" sz="1800" b="0" i="0" u="none" strike="noStrike" cap="none" normalizeH="0" baseline="0" dirty="0">
                <a:ln>
                  <a:noFill/>
                </a:ln>
                <a:solidFill>
                  <a:schemeClr val="tx1"/>
                </a:solidFill>
                <a:effectLst/>
              </a:rPr>
              <a:t>) and build upon earlier GOST versions </a:t>
            </a:r>
            <a:r>
              <a:rPr kumimoji="0" lang="en-US" altLang="en-US" sz="1800" b="0" i="0" u="none" strike="noStrike" cap="none" normalizeH="0" baseline="0" dirty="0">
                <a:ln>
                  <a:noFill/>
                </a:ln>
                <a:solidFill>
                  <a:schemeClr val="tx1"/>
                </a:solidFill>
                <a:effectLst/>
                <a:hlinkClick r:id="rId5"/>
              </a:rPr>
              <a:t>habr.com</a:t>
            </a:r>
            <a:r>
              <a:rPr kumimoji="0" lang="en-US" altLang="en-US" sz="1800" b="0" i="0" u="none" strike="noStrike" cap="none" normalizeH="0" baseline="0" dirty="0">
                <a:ln>
                  <a:noFill/>
                </a:ln>
                <a:solidFill>
                  <a:schemeClr val="tx1"/>
                </a:solidFill>
                <a:effectLst/>
              </a:rPr>
              <a:t> by </a:t>
            </a:r>
            <a:r>
              <a:rPr kumimoji="0" lang="en-US" altLang="en-US" sz="1800" b="0" i="0" u="none" strike="noStrike" cap="none" normalizeH="0" baseline="0" dirty="0">
                <a:ln>
                  <a:noFill/>
                </a:ln>
                <a:solidFill>
                  <a:schemeClr val="tx1"/>
                </a:solidFill>
                <a:effectLst/>
                <a:hlinkClick r:id="rId10"/>
              </a:rPr>
              <a:t>TC26</a:t>
            </a:r>
            <a:r>
              <a:rPr kumimoji="0" lang="en-US" altLang="en-US" sz="1800" b="0" i="0" u="none" strike="noStrike" cap="none" normalizeH="0" baseline="0" dirty="0">
                <a:ln>
                  <a:noFill/>
                </a:ln>
                <a:solidFill>
                  <a:schemeClr val="tx1"/>
                </a:solidFill>
                <a:effectLst/>
              </a:rPr>
              <a:t>. They ensure interoperability and security for any certified Russian crypto implementations.</a:t>
            </a:r>
          </a:p>
        </p:txBody>
      </p:sp>
      <p:sp>
        <p:nvSpPr>
          <p:cNvPr id="11" name="TextBox 10">
            <a:extLst>
              <a:ext uri="{FF2B5EF4-FFF2-40B4-BE49-F238E27FC236}">
                <a16:creationId xmlns:a16="http://schemas.microsoft.com/office/drawing/2014/main" id="{A683385B-5C64-43BA-A969-3E699C14F05E}"/>
              </a:ext>
            </a:extLst>
          </p:cNvPr>
          <p:cNvSpPr txBox="1"/>
          <p:nvPr/>
        </p:nvSpPr>
        <p:spPr>
          <a:xfrm>
            <a:off x="838200" y="6308209"/>
            <a:ext cx="6096000" cy="369332"/>
          </a:xfrm>
          <a:prstGeom prst="rect">
            <a:avLst/>
          </a:prstGeom>
          <a:noFill/>
        </p:spPr>
        <p:txBody>
          <a:bodyPr wrap="square">
            <a:spAutoFit/>
          </a:bodyPr>
          <a:lstStyle/>
          <a:p>
            <a:r>
              <a:rPr lang="en-US" dirty="0">
                <a:hlinkClick r:id="rId11"/>
              </a:rPr>
              <a:t>https://habr.com/ru/articles/530816/</a:t>
            </a:r>
            <a:r>
              <a:rPr lang="en-US" dirty="0"/>
              <a:t> </a:t>
            </a:r>
          </a:p>
        </p:txBody>
      </p:sp>
      <p:sp>
        <p:nvSpPr>
          <p:cNvPr id="3" name="Номер слайда 2">
            <a:extLst>
              <a:ext uri="{FF2B5EF4-FFF2-40B4-BE49-F238E27FC236}">
                <a16:creationId xmlns:a16="http://schemas.microsoft.com/office/drawing/2014/main" id="{9BE14241-B248-4881-A63B-837E9C673BC8}"/>
              </a:ext>
            </a:extLst>
          </p:cNvPr>
          <p:cNvSpPr>
            <a:spLocks noGrp="1"/>
          </p:cNvSpPr>
          <p:nvPr>
            <p:ph type="sldNum" sz="quarter" idx="12"/>
          </p:nvPr>
        </p:nvSpPr>
        <p:spPr/>
        <p:txBody>
          <a:bodyPr/>
          <a:lstStyle/>
          <a:p>
            <a:fld id="{14DDCE2C-1EAC-4FD7-9FCA-CDAC6ED86490}" type="slidenum">
              <a:rPr lang="en-US" smtClean="0"/>
              <a:t>7</a:t>
            </a:fld>
            <a:endParaRPr lang="en-US"/>
          </a:p>
        </p:txBody>
      </p:sp>
    </p:spTree>
    <p:extLst>
      <p:ext uri="{BB962C8B-B14F-4D97-AF65-F5344CB8AC3E}">
        <p14:creationId xmlns:p14="http://schemas.microsoft.com/office/powerpoint/2010/main" val="2023849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D2B6AD-D4E4-4770-9E15-93812DDBC04C}"/>
              </a:ext>
            </a:extLst>
          </p:cNvPr>
          <p:cNvSpPr>
            <a:spLocks noGrp="1"/>
          </p:cNvSpPr>
          <p:nvPr>
            <p:ph type="title"/>
          </p:nvPr>
        </p:nvSpPr>
        <p:spPr/>
        <p:txBody>
          <a:bodyPr>
            <a:normAutofit/>
          </a:bodyPr>
          <a:lstStyle/>
          <a:p>
            <a:r>
              <a:rPr lang="en-US" dirty="0"/>
              <a:t>Domestic Cryptographic Algorithms</a:t>
            </a:r>
          </a:p>
        </p:txBody>
      </p:sp>
      <p:pic>
        <p:nvPicPr>
          <p:cNvPr id="10" name="Рисунок 9">
            <a:extLst>
              <a:ext uri="{FF2B5EF4-FFF2-40B4-BE49-F238E27FC236}">
                <a16:creationId xmlns:a16="http://schemas.microsoft.com/office/drawing/2014/main" id="{FEAE99CF-03EC-4E80-853D-21661D132E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23218" y="1340461"/>
            <a:ext cx="1920679" cy="1079998"/>
          </a:xfrm>
          <a:prstGeom prst="rect">
            <a:avLst/>
          </a:prstGeom>
        </p:spPr>
      </p:pic>
      <p:sp>
        <p:nvSpPr>
          <p:cNvPr id="7" name="Rectangle 1">
            <a:extLst>
              <a:ext uri="{FF2B5EF4-FFF2-40B4-BE49-F238E27FC236}">
                <a16:creationId xmlns:a16="http://schemas.microsoft.com/office/drawing/2014/main" id="{026821A0-2A20-490C-BDBD-AAB9C4B42A56}"/>
              </a:ext>
            </a:extLst>
          </p:cNvPr>
          <p:cNvSpPr>
            <a:spLocks noChangeArrowheads="1"/>
          </p:cNvSpPr>
          <p:nvPr/>
        </p:nvSpPr>
        <p:spPr bwMode="auto">
          <a:xfrm>
            <a:off x="838200" y="1690688"/>
            <a:ext cx="793432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err="1">
                <a:ln>
                  <a:noFill/>
                </a:ln>
                <a:solidFill>
                  <a:schemeClr val="tx1"/>
                </a:solidFill>
                <a:effectLst/>
              </a:rPr>
              <a:t>Kuznechik</a:t>
            </a:r>
            <a:r>
              <a:rPr kumimoji="0" lang="en-US" altLang="en-US" b="0" i="0" u="none" strike="noStrike" cap="none" normalizeH="0" baseline="0" dirty="0">
                <a:ln>
                  <a:noFill/>
                </a:ln>
                <a:solidFill>
                  <a:schemeClr val="tx1"/>
                </a:solidFill>
                <a:effectLst/>
              </a:rPr>
              <a:t> (“Grasshopper”): Russia’s 128-bit block cipher (GOST R 34.12-2015/2018). Uses a substitution-permutation network with 10 rounds and a 256-bit key </a:t>
            </a:r>
            <a:r>
              <a:rPr kumimoji="0" lang="en-US" altLang="en-US" b="0" i="0" u="none" strike="noStrike" cap="none" normalizeH="0" baseline="0" dirty="0">
                <a:ln>
                  <a:noFill/>
                </a:ln>
                <a:solidFill>
                  <a:schemeClr val="tx1"/>
                </a:solidFill>
                <a:effectLst/>
                <a:hlinkClick r:id="rId4"/>
              </a:rPr>
              <a:t>habr.com</a:t>
            </a:r>
            <a:r>
              <a:rPr kumimoji="0" lang="en-US" altLang="en-US" b="0" i="0" u="none" strike="noStrike" cap="none" normalizeH="0" baseline="0" dirty="0">
                <a:ln>
                  <a:noFill/>
                </a:ln>
                <a:solidFill>
                  <a:schemeClr val="tx1"/>
                </a:solidFill>
                <a:effectLst/>
              </a:rPr>
              <a:t>. </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rPr>
              <a:t>Magma:</a:t>
            </a:r>
            <a:r>
              <a:rPr kumimoji="0" lang="en-US" altLang="en-US" b="0" i="0" u="none" strike="noStrike" cap="none" normalizeH="0" baseline="0" dirty="0">
                <a:ln>
                  <a:noFill/>
                </a:ln>
                <a:solidFill>
                  <a:schemeClr val="tx1"/>
                </a:solidFill>
                <a:effectLst/>
              </a:rPr>
              <a:t> The updated name for the classic Soviet GOST 28147-89 cipher (64-bit block, 256-bit key, 32-round Feistel) </a:t>
            </a:r>
            <a:r>
              <a:rPr kumimoji="0" lang="en-US" altLang="en-US" b="0" i="0" u="none" strike="noStrike" cap="none" normalizeH="0" baseline="0" dirty="0">
                <a:ln>
                  <a:noFill/>
                </a:ln>
                <a:solidFill>
                  <a:schemeClr val="tx1"/>
                </a:solidFill>
                <a:effectLst/>
                <a:hlinkClick r:id="rId4"/>
              </a:rPr>
              <a:t>habr.com</a:t>
            </a:r>
            <a:r>
              <a:rPr kumimoji="0" lang="en-US" altLang="en-US" b="0" i="0" u="none" strike="noStrike" cap="none" normalizeH="0" baseline="0" dirty="0">
                <a:ln>
                  <a:noFill/>
                </a:ln>
                <a:solidFill>
                  <a:schemeClr val="tx1"/>
                </a:solidFill>
                <a:effectLst/>
              </a:rPr>
              <a:t>. </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err="1">
                <a:ln>
                  <a:noFill/>
                </a:ln>
                <a:solidFill>
                  <a:schemeClr val="tx1"/>
                </a:solidFill>
                <a:effectLst/>
              </a:rPr>
              <a:t>Streebog</a:t>
            </a:r>
            <a:r>
              <a:rPr kumimoji="0" lang="en-US" altLang="en-US" b="1" i="0" u="none" strike="noStrike" cap="none" normalizeH="0" baseline="0" dirty="0">
                <a:ln>
                  <a:noFill/>
                </a:ln>
                <a:solidFill>
                  <a:schemeClr val="tx1"/>
                </a:solidFill>
                <a:effectLst/>
              </a:rPr>
              <a:t> Hash:</a:t>
            </a:r>
            <a:r>
              <a:rPr kumimoji="0" lang="en-US" altLang="en-US" b="0" i="0" u="none" strike="noStrike" cap="none" normalizeH="0" baseline="0" dirty="0">
                <a:ln>
                  <a:noFill/>
                </a:ln>
                <a:solidFill>
                  <a:schemeClr val="tx1"/>
                </a:solidFill>
                <a:effectLst/>
              </a:rPr>
              <a:t> The GOST hash function (GOST 34.11-2012/2018). Outputs 256-bit or 512-bit hashes </a:t>
            </a:r>
            <a:r>
              <a:rPr kumimoji="0" lang="en-US" altLang="en-US" b="0" i="0" u="none" strike="noStrike" cap="none" normalizeH="0" baseline="0" dirty="0">
                <a:ln>
                  <a:noFill/>
                </a:ln>
                <a:solidFill>
                  <a:schemeClr val="tx1"/>
                </a:solidFill>
                <a:effectLst/>
                <a:hlinkClick r:id="rId5"/>
              </a:rPr>
              <a:t>habr.com</a:t>
            </a:r>
            <a:r>
              <a:rPr kumimoji="0" lang="en-US" altLang="en-US" b="0" i="0" u="none" strike="noStrike" cap="none" normalizeH="0" baseline="0" dirty="0">
                <a:ln>
                  <a:noFill/>
                </a:ln>
                <a:solidFill>
                  <a:schemeClr val="tx1"/>
                </a:solidFill>
                <a:effectLst/>
              </a:rPr>
              <a:t>. </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rPr>
              <a:t>GOST Digital Signature:</a:t>
            </a:r>
            <a:r>
              <a:rPr kumimoji="0" lang="en-US" altLang="en-US" b="0" i="0" u="none" strike="noStrike" cap="none" normalizeH="0" baseline="0" dirty="0">
                <a:ln>
                  <a:noFill/>
                </a:ln>
                <a:solidFill>
                  <a:schemeClr val="tx1"/>
                </a:solidFill>
                <a:effectLst/>
              </a:rPr>
              <a:t> GOST 34.10-2012/2018 defines the signature scheme using specified elliptic curves and </a:t>
            </a:r>
            <a:r>
              <a:rPr kumimoji="0" lang="en-US" altLang="en-US" b="0" i="0" u="none" strike="noStrike" cap="none" normalizeH="0" baseline="0" dirty="0" err="1">
                <a:ln>
                  <a:noFill/>
                </a:ln>
                <a:solidFill>
                  <a:schemeClr val="tx1"/>
                </a:solidFill>
                <a:effectLst/>
              </a:rPr>
              <a:t>Streebog</a:t>
            </a:r>
            <a:r>
              <a:rPr kumimoji="0" lang="en-US" altLang="en-US" b="0" i="0" u="none" strike="noStrike" cap="none" normalizeH="0" baseline="0" dirty="0">
                <a:ln>
                  <a:noFill/>
                </a:ln>
                <a:solidFill>
                  <a:schemeClr val="tx1"/>
                </a:solidFill>
                <a:effectLst/>
              </a:rPr>
              <a:t> hash </a:t>
            </a:r>
            <a:r>
              <a:rPr kumimoji="0" lang="en-US" altLang="en-US" b="0" i="0" u="none" strike="noStrike" cap="none" normalizeH="0" baseline="0" dirty="0">
                <a:ln>
                  <a:noFill/>
                </a:ln>
                <a:solidFill>
                  <a:schemeClr val="tx1"/>
                </a:solidFill>
                <a:effectLst/>
                <a:hlinkClick r:id="rId6"/>
              </a:rPr>
              <a:t>habr.com</a:t>
            </a:r>
            <a:r>
              <a:rPr kumimoji="0" lang="en-US" altLang="en-US" b="0" i="0" u="none" strike="noStrike" cap="none" normalizeH="0" baseline="0" dirty="0">
                <a:ln>
                  <a:noFill/>
                </a:ln>
                <a:solidFill>
                  <a:schemeClr val="tx1"/>
                </a:solidFill>
                <a:effectLst/>
              </a:rPr>
              <a:t>. Widely used for signing documents, certificates, etc., within Russia.</a:t>
            </a:r>
          </a:p>
        </p:txBody>
      </p:sp>
      <p:sp>
        <p:nvSpPr>
          <p:cNvPr id="6" name="TextBox 5">
            <a:extLst>
              <a:ext uri="{FF2B5EF4-FFF2-40B4-BE49-F238E27FC236}">
                <a16:creationId xmlns:a16="http://schemas.microsoft.com/office/drawing/2014/main" id="{AADA8E05-6DDF-4C1F-AEA5-EAA25FD14CC4}"/>
              </a:ext>
            </a:extLst>
          </p:cNvPr>
          <p:cNvSpPr txBox="1"/>
          <p:nvPr/>
        </p:nvSpPr>
        <p:spPr>
          <a:xfrm>
            <a:off x="838201" y="4742782"/>
            <a:ext cx="10515600" cy="1477328"/>
          </a:xfrm>
          <a:prstGeom prst="rect">
            <a:avLst/>
          </a:prstGeom>
          <a:noFill/>
        </p:spPr>
        <p:txBody>
          <a:bodyPr wrap="square">
            <a:spAutoFit/>
          </a:bodyPr>
          <a:lstStyle/>
          <a:p>
            <a:pPr marR="0" lvl="0" algn="just"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rPr>
              <a:t>Popular Crypto Products and Libraries:</a:t>
            </a:r>
          </a:p>
          <a:p>
            <a:pPr marR="0" lvl="0" algn="just" defTabSz="914400" rtl="0" eaLnBrk="0" fontAlgn="base" latinLnBrk="0" hangingPunct="0">
              <a:lnSpc>
                <a:spcPct val="100000"/>
              </a:lnSpc>
              <a:spcBef>
                <a:spcPct val="0"/>
              </a:spcBef>
              <a:spcAft>
                <a:spcPct val="0"/>
              </a:spcAft>
              <a:buClrTx/>
              <a:buSzTx/>
              <a:tabLst/>
            </a:pPr>
            <a:r>
              <a:rPr kumimoji="0" lang="en-US" altLang="en-US" b="1" i="0" strike="noStrike" cap="none" normalizeH="0" baseline="0" dirty="0" err="1">
                <a:ln>
                  <a:noFill/>
                </a:ln>
                <a:solidFill>
                  <a:schemeClr val="tx1"/>
                </a:solidFill>
                <a:effectLst/>
              </a:rPr>
              <a:t>CryptoPro</a:t>
            </a:r>
            <a:r>
              <a:rPr kumimoji="0" lang="en-US" altLang="en-US" b="1" i="0" strike="noStrike" cap="none" normalizeH="0" baseline="0" dirty="0">
                <a:ln>
                  <a:noFill/>
                </a:ln>
                <a:solidFill>
                  <a:schemeClr val="tx1"/>
                </a:solidFill>
                <a:effectLst/>
              </a:rPr>
              <a:t> CSP</a:t>
            </a:r>
            <a:r>
              <a:rPr kumimoji="0" lang="en-US" altLang="en-US" b="0" i="0" strike="noStrike" cap="none" normalizeH="0" baseline="0" dirty="0">
                <a:ln>
                  <a:noFill/>
                </a:ln>
                <a:solidFill>
                  <a:schemeClr val="tx1"/>
                </a:solidFill>
                <a:effectLst/>
              </a:rPr>
              <a:t> (a popular Russian cryptographic provider) supports Magma and </a:t>
            </a:r>
            <a:r>
              <a:rPr kumimoji="0" lang="en-US" altLang="en-US" b="0" i="0" strike="noStrike" cap="none" normalizeH="0" baseline="0" dirty="0" err="1">
                <a:ln>
                  <a:noFill/>
                </a:ln>
                <a:solidFill>
                  <a:schemeClr val="tx1"/>
                </a:solidFill>
                <a:effectLst/>
              </a:rPr>
              <a:t>Kuznechik</a:t>
            </a:r>
            <a:r>
              <a:rPr kumimoji="0" lang="en-US" altLang="en-US" b="0" i="0" strike="noStrike" cap="none" normalizeH="0" baseline="0" dirty="0">
                <a:ln>
                  <a:noFill/>
                </a:ln>
                <a:solidFill>
                  <a:schemeClr val="tx1"/>
                </a:solidFill>
                <a:effectLst/>
              </a:rPr>
              <a:t> for encryption as of version 5.0 </a:t>
            </a:r>
            <a:r>
              <a:rPr kumimoji="0" lang="en-US" altLang="en-US" b="0" i="0" strike="noStrike" cap="none" normalizeH="0" baseline="0" dirty="0">
                <a:ln>
                  <a:noFill/>
                </a:ln>
                <a:solidFill>
                  <a:schemeClr val="tx1"/>
                </a:solidFill>
                <a:effectLst/>
                <a:hlinkClick r:id="rId7"/>
              </a:rPr>
              <a:t>support.cryptopro.ru</a:t>
            </a:r>
            <a:r>
              <a:rPr kumimoji="0" lang="en-US" altLang="en-US" b="0" i="0" strike="noStrike" cap="none" normalizeH="0" baseline="0" dirty="0">
                <a:ln>
                  <a:noFill/>
                </a:ln>
                <a:solidFill>
                  <a:schemeClr val="tx1"/>
                </a:solidFill>
                <a:effectLst/>
              </a:rPr>
              <a:t>. Many Russian browsers, banking systems, and government applications have added support for GOST algorithms (often alongside international ones). By 2024, domestic algorithms became </a:t>
            </a:r>
            <a:r>
              <a:rPr kumimoji="0" lang="en-US" altLang="en-US" b="0" i="1" strike="noStrike" cap="none" normalizeH="0" baseline="0" dirty="0">
                <a:ln>
                  <a:noFill/>
                </a:ln>
                <a:solidFill>
                  <a:schemeClr val="tx1"/>
                </a:solidFill>
                <a:effectLst/>
              </a:rPr>
              <a:t>mandatory</a:t>
            </a:r>
            <a:r>
              <a:rPr kumimoji="0" lang="en-US" altLang="en-US" b="0" i="0" strike="noStrike" cap="none" normalizeH="0" baseline="0" dirty="0">
                <a:ln>
                  <a:noFill/>
                </a:ln>
                <a:solidFill>
                  <a:schemeClr val="tx1"/>
                </a:solidFill>
                <a:effectLst/>
              </a:rPr>
              <a:t> in certain domains like payment systems </a:t>
            </a:r>
            <a:r>
              <a:rPr kumimoji="0" lang="en-US" altLang="en-US" b="0" i="0" strike="noStrike" cap="none" normalizeH="0" baseline="0" dirty="0">
                <a:ln>
                  <a:noFill/>
                </a:ln>
                <a:solidFill>
                  <a:schemeClr val="tx1"/>
                </a:solidFill>
                <a:effectLst/>
                <a:hlinkClick r:id="rId8"/>
              </a:rPr>
              <a:t>habr.com</a:t>
            </a:r>
            <a:r>
              <a:rPr kumimoji="0" lang="en-US" altLang="en-US" b="0" i="0" strike="noStrike" cap="none" normalizeH="0" baseline="0" dirty="0">
                <a:ln>
                  <a:noFill/>
                </a:ln>
                <a:solidFill>
                  <a:schemeClr val="tx1"/>
                </a:solidFill>
                <a:effectLst/>
              </a:rPr>
              <a:t>.</a:t>
            </a:r>
          </a:p>
        </p:txBody>
      </p:sp>
      <p:sp>
        <p:nvSpPr>
          <p:cNvPr id="9" name="TextBox 8">
            <a:extLst>
              <a:ext uri="{FF2B5EF4-FFF2-40B4-BE49-F238E27FC236}">
                <a16:creationId xmlns:a16="http://schemas.microsoft.com/office/drawing/2014/main" id="{ED405111-B244-4D46-9C07-15E089ED4A82}"/>
              </a:ext>
            </a:extLst>
          </p:cNvPr>
          <p:cNvSpPr txBox="1"/>
          <p:nvPr/>
        </p:nvSpPr>
        <p:spPr>
          <a:xfrm>
            <a:off x="838200" y="6340238"/>
            <a:ext cx="6096000" cy="369332"/>
          </a:xfrm>
          <a:prstGeom prst="rect">
            <a:avLst/>
          </a:prstGeom>
          <a:noFill/>
        </p:spPr>
        <p:txBody>
          <a:bodyPr wrap="square">
            <a:spAutoFit/>
          </a:bodyPr>
          <a:lstStyle/>
          <a:p>
            <a:r>
              <a:rPr lang="en-US" dirty="0">
                <a:hlinkClick r:id="rId9"/>
              </a:rPr>
              <a:t>https://gostcrypto.readthedocs.io/en/latest/intro.html</a:t>
            </a:r>
            <a:r>
              <a:rPr lang="en-US" dirty="0"/>
              <a:t> </a:t>
            </a:r>
          </a:p>
        </p:txBody>
      </p:sp>
      <p:sp>
        <p:nvSpPr>
          <p:cNvPr id="11" name="TextBox 10">
            <a:extLst>
              <a:ext uri="{FF2B5EF4-FFF2-40B4-BE49-F238E27FC236}">
                <a16:creationId xmlns:a16="http://schemas.microsoft.com/office/drawing/2014/main" id="{86F7BCA6-680F-428E-9A26-75DC3A7447F0}"/>
              </a:ext>
            </a:extLst>
          </p:cNvPr>
          <p:cNvSpPr txBox="1"/>
          <p:nvPr/>
        </p:nvSpPr>
        <p:spPr>
          <a:xfrm>
            <a:off x="10408733" y="2801236"/>
            <a:ext cx="945067" cy="830997"/>
          </a:xfrm>
          <a:prstGeom prst="rect">
            <a:avLst/>
          </a:prstGeom>
          <a:noFill/>
        </p:spPr>
        <p:txBody>
          <a:bodyPr wrap="square">
            <a:spAutoFit/>
          </a:bodyPr>
          <a:lstStyle/>
          <a:p>
            <a:r>
              <a:rPr lang="en-US" sz="4800" dirty="0"/>
              <a:t>🔥</a:t>
            </a:r>
          </a:p>
        </p:txBody>
      </p:sp>
      <p:pic>
        <p:nvPicPr>
          <p:cNvPr id="13" name="Рисунок 12">
            <a:extLst>
              <a:ext uri="{FF2B5EF4-FFF2-40B4-BE49-F238E27FC236}">
                <a16:creationId xmlns:a16="http://schemas.microsoft.com/office/drawing/2014/main" id="{2EC6DCCB-17A7-489F-823F-674E9CB2C81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854805" y="3115323"/>
            <a:ext cx="1471648" cy="1437687"/>
          </a:xfrm>
          <a:prstGeom prst="rect">
            <a:avLst/>
          </a:prstGeom>
        </p:spPr>
      </p:pic>
      <p:sp>
        <p:nvSpPr>
          <p:cNvPr id="3" name="Номер слайда 2">
            <a:extLst>
              <a:ext uri="{FF2B5EF4-FFF2-40B4-BE49-F238E27FC236}">
                <a16:creationId xmlns:a16="http://schemas.microsoft.com/office/drawing/2014/main" id="{C34B7B5A-664A-4076-8773-9EA0FD31EED3}"/>
              </a:ext>
            </a:extLst>
          </p:cNvPr>
          <p:cNvSpPr>
            <a:spLocks noGrp="1"/>
          </p:cNvSpPr>
          <p:nvPr>
            <p:ph type="sldNum" sz="quarter" idx="12"/>
          </p:nvPr>
        </p:nvSpPr>
        <p:spPr/>
        <p:txBody>
          <a:bodyPr/>
          <a:lstStyle/>
          <a:p>
            <a:fld id="{14DDCE2C-1EAC-4FD7-9FCA-CDAC6ED86490}" type="slidenum">
              <a:rPr lang="en-US" smtClean="0"/>
              <a:t>8</a:t>
            </a:fld>
            <a:endParaRPr lang="en-US"/>
          </a:p>
        </p:txBody>
      </p:sp>
    </p:spTree>
    <p:extLst>
      <p:ext uri="{BB962C8B-B14F-4D97-AF65-F5344CB8AC3E}">
        <p14:creationId xmlns:p14="http://schemas.microsoft.com/office/powerpoint/2010/main" val="1627777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D2B6AD-D4E4-4770-9E15-93812DDBC04C}"/>
              </a:ext>
            </a:extLst>
          </p:cNvPr>
          <p:cNvSpPr>
            <a:spLocks noGrp="1"/>
          </p:cNvSpPr>
          <p:nvPr>
            <p:ph type="title"/>
          </p:nvPr>
        </p:nvSpPr>
        <p:spPr/>
        <p:txBody>
          <a:bodyPr>
            <a:normAutofit/>
          </a:bodyPr>
          <a:lstStyle/>
          <a:p>
            <a:r>
              <a:rPr lang="en-US" dirty="0" err="1"/>
              <a:t>Kuznechik</a:t>
            </a:r>
            <a:r>
              <a:rPr lang="en-US" dirty="0"/>
              <a:t> - close look</a:t>
            </a:r>
          </a:p>
        </p:txBody>
      </p:sp>
      <p:pic>
        <p:nvPicPr>
          <p:cNvPr id="10" name="Рисунок 9">
            <a:extLst>
              <a:ext uri="{FF2B5EF4-FFF2-40B4-BE49-F238E27FC236}">
                <a16:creationId xmlns:a16="http://schemas.microsoft.com/office/drawing/2014/main" id="{FEAE99CF-03EC-4E80-853D-21661D132E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0046" y="360019"/>
            <a:ext cx="1920679" cy="1079998"/>
          </a:xfrm>
          <a:prstGeom prst="rect">
            <a:avLst/>
          </a:prstGeom>
        </p:spPr>
      </p:pic>
      <p:sp>
        <p:nvSpPr>
          <p:cNvPr id="12" name="TextBox 11">
            <a:extLst>
              <a:ext uri="{FF2B5EF4-FFF2-40B4-BE49-F238E27FC236}">
                <a16:creationId xmlns:a16="http://schemas.microsoft.com/office/drawing/2014/main" id="{7E2800E7-D309-4C89-9FB3-C1F6680245AF}"/>
              </a:ext>
            </a:extLst>
          </p:cNvPr>
          <p:cNvSpPr txBox="1"/>
          <p:nvPr/>
        </p:nvSpPr>
        <p:spPr>
          <a:xfrm>
            <a:off x="574224" y="1695794"/>
            <a:ext cx="4235669" cy="369332"/>
          </a:xfrm>
          <a:prstGeom prst="rect">
            <a:avLst/>
          </a:prstGeom>
          <a:noFill/>
        </p:spPr>
        <p:txBody>
          <a:bodyPr wrap="square">
            <a:spAutoFit/>
          </a:bodyPr>
          <a:lstStyle/>
          <a:p>
            <a:r>
              <a:rPr lang="en-US" dirty="0"/>
              <a:t>🔑 </a:t>
            </a:r>
            <a:r>
              <a:rPr lang="en-US" b="1" dirty="0"/>
              <a:t>Key Expansion (round key generation)</a:t>
            </a:r>
            <a:endParaRPr lang="en-US" dirty="0"/>
          </a:p>
        </p:txBody>
      </p:sp>
      <p:pic>
        <p:nvPicPr>
          <p:cNvPr id="8" name="Рисунок 7">
            <a:extLst>
              <a:ext uri="{FF2B5EF4-FFF2-40B4-BE49-F238E27FC236}">
                <a16:creationId xmlns:a16="http://schemas.microsoft.com/office/drawing/2014/main" id="{0DD55D14-07BE-4BF0-A1A8-BB4522CBD0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2597" y="2194694"/>
            <a:ext cx="3857296" cy="4164405"/>
          </a:xfrm>
          <a:prstGeom prst="rect">
            <a:avLst/>
          </a:prstGeom>
        </p:spPr>
      </p:pic>
      <p:sp>
        <p:nvSpPr>
          <p:cNvPr id="15" name="TextBox 14">
            <a:extLst>
              <a:ext uri="{FF2B5EF4-FFF2-40B4-BE49-F238E27FC236}">
                <a16:creationId xmlns:a16="http://schemas.microsoft.com/office/drawing/2014/main" id="{62A962D0-9148-4823-AEED-8C122E6EE91B}"/>
              </a:ext>
            </a:extLst>
          </p:cNvPr>
          <p:cNvSpPr txBox="1"/>
          <p:nvPr/>
        </p:nvSpPr>
        <p:spPr>
          <a:xfrm>
            <a:off x="6653136" y="1690688"/>
            <a:ext cx="4235669" cy="369332"/>
          </a:xfrm>
          <a:prstGeom prst="rect">
            <a:avLst/>
          </a:prstGeom>
          <a:noFill/>
        </p:spPr>
        <p:txBody>
          <a:bodyPr wrap="square">
            <a:spAutoFit/>
          </a:bodyPr>
          <a:lstStyle/>
          <a:p>
            <a:r>
              <a:rPr lang="en-US" dirty="0"/>
              <a:t>🔁 </a:t>
            </a:r>
            <a:r>
              <a:rPr lang="en-US" b="1" dirty="0"/>
              <a:t>Main Round Operations (10 total)</a:t>
            </a:r>
            <a:endParaRPr lang="en-US" dirty="0"/>
          </a:p>
        </p:txBody>
      </p:sp>
      <p:pic>
        <p:nvPicPr>
          <p:cNvPr id="17" name="Рисунок 16">
            <a:extLst>
              <a:ext uri="{FF2B5EF4-FFF2-40B4-BE49-F238E27FC236}">
                <a16:creationId xmlns:a16="http://schemas.microsoft.com/office/drawing/2014/main" id="{980AABBF-E6F2-4082-80F4-06AF12D849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0192" y="2189589"/>
            <a:ext cx="4841556" cy="4504912"/>
          </a:xfrm>
          <a:prstGeom prst="rect">
            <a:avLst/>
          </a:prstGeom>
        </p:spPr>
      </p:pic>
      <p:sp>
        <p:nvSpPr>
          <p:cNvPr id="18" name="TextBox 17">
            <a:extLst>
              <a:ext uri="{FF2B5EF4-FFF2-40B4-BE49-F238E27FC236}">
                <a16:creationId xmlns:a16="http://schemas.microsoft.com/office/drawing/2014/main" id="{93D8842F-7D3E-4CFD-9470-204B4C8FFA97}"/>
              </a:ext>
            </a:extLst>
          </p:cNvPr>
          <p:cNvSpPr txBox="1"/>
          <p:nvPr/>
        </p:nvSpPr>
        <p:spPr>
          <a:xfrm>
            <a:off x="5881908" y="2126025"/>
            <a:ext cx="1117994" cy="369332"/>
          </a:xfrm>
          <a:prstGeom prst="rect">
            <a:avLst/>
          </a:prstGeom>
          <a:noFill/>
        </p:spPr>
        <p:txBody>
          <a:bodyPr wrap="square">
            <a:spAutoFit/>
          </a:bodyPr>
          <a:lstStyle/>
          <a:p>
            <a:r>
              <a:rPr lang="en-US" dirty="0"/>
              <a:t>plaintext</a:t>
            </a:r>
          </a:p>
        </p:txBody>
      </p:sp>
      <p:sp>
        <p:nvSpPr>
          <p:cNvPr id="19" name="TextBox 18">
            <a:extLst>
              <a:ext uri="{FF2B5EF4-FFF2-40B4-BE49-F238E27FC236}">
                <a16:creationId xmlns:a16="http://schemas.microsoft.com/office/drawing/2014/main" id="{91D3E990-948E-46A5-9400-F5AC738EE47E}"/>
              </a:ext>
            </a:extLst>
          </p:cNvPr>
          <p:cNvSpPr txBox="1"/>
          <p:nvPr/>
        </p:nvSpPr>
        <p:spPr>
          <a:xfrm>
            <a:off x="5665076" y="6388733"/>
            <a:ext cx="1334826" cy="369332"/>
          </a:xfrm>
          <a:prstGeom prst="rect">
            <a:avLst/>
          </a:prstGeom>
          <a:noFill/>
        </p:spPr>
        <p:txBody>
          <a:bodyPr wrap="square">
            <a:spAutoFit/>
          </a:bodyPr>
          <a:lstStyle/>
          <a:p>
            <a:r>
              <a:rPr lang="en-US" dirty="0"/>
              <a:t>cyphertext</a:t>
            </a:r>
          </a:p>
        </p:txBody>
      </p:sp>
      <p:sp>
        <p:nvSpPr>
          <p:cNvPr id="20" name="TextBox 19">
            <a:extLst>
              <a:ext uri="{FF2B5EF4-FFF2-40B4-BE49-F238E27FC236}">
                <a16:creationId xmlns:a16="http://schemas.microsoft.com/office/drawing/2014/main" id="{DA1667EF-2CB2-443F-BEAE-A9D6E802ED04}"/>
              </a:ext>
            </a:extLst>
          </p:cNvPr>
          <p:cNvSpPr txBox="1"/>
          <p:nvPr/>
        </p:nvSpPr>
        <p:spPr>
          <a:xfrm>
            <a:off x="10542038" y="6388733"/>
            <a:ext cx="1117994" cy="369332"/>
          </a:xfrm>
          <a:prstGeom prst="rect">
            <a:avLst/>
          </a:prstGeom>
          <a:noFill/>
        </p:spPr>
        <p:txBody>
          <a:bodyPr wrap="square">
            <a:spAutoFit/>
          </a:bodyPr>
          <a:lstStyle/>
          <a:p>
            <a:r>
              <a:rPr lang="en-US" dirty="0"/>
              <a:t>plaintext</a:t>
            </a:r>
          </a:p>
        </p:txBody>
      </p:sp>
      <p:sp>
        <p:nvSpPr>
          <p:cNvPr id="21" name="TextBox 20">
            <a:extLst>
              <a:ext uri="{FF2B5EF4-FFF2-40B4-BE49-F238E27FC236}">
                <a16:creationId xmlns:a16="http://schemas.microsoft.com/office/drawing/2014/main" id="{B3BEC8D5-E18C-4C9A-A9EF-B32EFA853E25}"/>
              </a:ext>
            </a:extLst>
          </p:cNvPr>
          <p:cNvSpPr txBox="1"/>
          <p:nvPr/>
        </p:nvSpPr>
        <p:spPr>
          <a:xfrm>
            <a:off x="10686387" y="2071025"/>
            <a:ext cx="1334826" cy="369332"/>
          </a:xfrm>
          <a:prstGeom prst="rect">
            <a:avLst/>
          </a:prstGeom>
          <a:noFill/>
        </p:spPr>
        <p:txBody>
          <a:bodyPr wrap="square">
            <a:spAutoFit/>
          </a:bodyPr>
          <a:lstStyle/>
          <a:p>
            <a:r>
              <a:rPr lang="en-US" dirty="0"/>
              <a:t>cyphertext</a:t>
            </a:r>
          </a:p>
        </p:txBody>
      </p:sp>
      <p:sp>
        <p:nvSpPr>
          <p:cNvPr id="14" name="TextBox 13">
            <a:extLst>
              <a:ext uri="{FF2B5EF4-FFF2-40B4-BE49-F238E27FC236}">
                <a16:creationId xmlns:a16="http://schemas.microsoft.com/office/drawing/2014/main" id="{E049C57E-DB72-43B2-9AD1-56FD5141694D}"/>
              </a:ext>
            </a:extLst>
          </p:cNvPr>
          <p:cNvSpPr txBox="1"/>
          <p:nvPr/>
        </p:nvSpPr>
        <p:spPr>
          <a:xfrm>
            <a:off x="344905" y="6488667"/>
            <a:ext cx="3964336" cy="369332"/>
          </a:xfrm>
          <a:prstGeom prst="rect">
            <a:avLst/>
          </a:prstGeom>
          <a:noFill/>
        </p:spPr>
        <p:txBody>
          <a:bodyPr wrap="square">
            <a:spAutoFit/>
          </a:bodyPr>
          <a:lstStyle/>
          <a:p>
            <a:r>
              <a:rPr lang="en-US" dirty="0">
                <a:hlinkClick r:id="rId6"/>
              </a:rPr>
              <a:t>https://habr.com/ru/articles/459004/</a:t>
            </a:r>
            <a:r>
              <a:rPr lang="en-US" dirty="0"/>
              <a:t> </a:t>
            </a:r>
          </a:p>
        </p:txBody>
      </p:sp>
      <p:sp>
        <p:nvSpPr>
          <p:cNvPr id="4" name="Номер слайда 3">
            <a:extLst>
              <a:ext uri="{FF2B5EF4-FFF2-40B4-BE49-F238E27FC236}">
                <a16:creationId xmlns:a16="http://schemas.microsoft.com/office/drawing/2014/main" id="{EF40E3A4-A539-4426-9231-15288DECCFB1}"/>
              </a:ext>
            </a:extLst>
          </p:cNvPr>
          <p:cNvSpPr>
            <a:spLocks noGrp="1"/>
          </p:cNvSpPr>
          <p:nvPr>
            <p:ph type="sldNum" sz="quarter" idx="12"/>
          </p:nvPr>
        </p:nvSpPr>
        <p:spPr/>
        <p:txBody>
          <a:bodyPr/>
          <a:lstStyle/>
          <a:p>
            <a:fld id="{14DDCE2C-1EAC-4FD7-9FCA-CDAC6ED86490}" type="slidenum">
              <a:rPr lang="en-US" smtClean="0"/>
              <a:t>9</a:t>
            </a:fld>
            <a:endParaRPr lang="en-US"/>
          </a:p>
        </p:txBody>
      </p:sp>
    </p:spTree>
    <p:extLst>
      <p:ext uri="{BB962C8B-B14F-4D97-AF65-F5344CB8AC3E}">
        <p14:creationId xmlns:p14="http://schemas.microsoft.com/office/powerpoint/2010/main" val="2105110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D2B6AD-D4E4-4770-9E15-93812DDBC04C}"/>
              </a:ext>
            </a:extLst>
          </p:cNvPr>
          <p:cNvSpPr>
            <a:spLocks noGrp="1"/>
          </p:cNvSpPr>
          <p:nvPr>
            <p:ph type="title"/>
          </p:nvPr>
        </p:nvSpPr>
        <p:spPr>
          <a:xfrm>
            <a:off x="411685" y="365125"/>
            <a:ext cx="10515600" cy="1325563"/>
          </a:xfrm>
        </p:spPr>
        <p:txBody>
          <a:bodyPr>
            <a:normAutofit/>
          </a:bodyPr>
          <a:lstStyle/>
          <a:p>
            <a:r>
              <a:rPr lang="en-US" dirty="0"/>
              <a:t>3 “Hops” of </a:t>
            </a:r>
            <a:r>
              <a:rPr lang="en-US" dirty="0" err="1"/>
              <a:t>Kuznechik</a:t>
            </a:r>
            <a:endParaRPr lang="en-US" dirty="0"/>
          </a:p>
        </p:txBody>
      </p:sp>
      <p:sp>
        <p:nvSpPr>
          <p:cNvPr id="12" name="TextBox 11">
            <a:extLst>
              <a:ext uri="{FF2B5EF4-FFF2-40B4-BE49-F238E27FC236}">
                <a16:creationId xmlns:a16="http://schemas.microsoft.com/office/drawing/2014/main" id="{7E2800E7-D309-4C89-9FB3-C1F6680245AF}"/>
              </a:ext>
            </a:extLst>
          </p:cNvPr>
          <p:cNvSpPr txBox="1"/>
          <p:nvPr/>
        </p:nvSpPr>
        <p:spPr>
          <a:xfrm>
            <a:off x="3768256" y="1695794"/>
            <a:ext cx="1714657" cy="369332"/>
          </a:xfrm>
          <a:prstGeom prst="rect">
            <a:avLst/>
          </a:prstGeom>
          <a:noFill/>
        </p:spPr>
        <p:txBody>
          <a:bodyPr wrap="square">
            <a:spAutoFit/>
          </a:bodyPr>
          <a:lstStyle/>
          <a:p>
            <a:r>
              <a:rPr lang="en-US" b="1" dirty="0"/>
              <a:t>2. Substitution:</a:t>
            </a:r>
          </a:p>
        </p:txBody>
      </p:sp>
      <p:sp>
        <p:nvSpPr>
          <p:cNvPr id="15" name="TextBox 14">
            <a:extLst>
              <a:ext uri="{FF2B5EF4-FFF2-40B4-BE49-F238E27FC236}">
                <a16:creationId xmlns:a16="http://schemas.microsoft.com/office/drawing/2014/main" id="{62A962D0-9148-4823-AEED-8C122E6EE91B}"/>
              </a:ext>
            </a:extLst>
          </p:cNvPr>
          <p:cNvSpPr txBox="1"/>
          <p:nvPr/>
        </p:nvSpPr>
        <p:spPr>
          <a:xfrm>
            <a:off x="7292070" y="1690688"/>
            <a:ext cx="2569920" cy="369332"/>
          </a:xfrm>
          <a:prstGeom prst="rect">
            <a:avLst/>
          </a:prstGeom>
          <a:noFill/>
        </p:spPr>
        <p:txBody>
          <a:bodyPr wrap="square">
            <a:spAutoFit/>
          </a:bodyPr>
          <a:lstStyle/>
          <a:p>
            <a:r>
              <a:rPr lang="en-US" b="1" dirty="0"/>
              <a:t>3. Linear Transformation:</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2877621-301D-48D8-B829-0EF52F2FD465}"/>
                  </a:ext>
                </a:extLst>
              </p:cNvPr>
              <p:cNvSpPr txBox="1"/>
              <p:nvPr/>
            </p:nvSpPr>
            <p:spPr>
              <a:xfrm>
                <a:off x="1450428" y="1690688"/>
                <a:ext cx="150434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𝐵</m:t>
                      </m:r>
                      <m:r>
                        <a:rPr lang="en-US" i="1" dirty="0">
                          <a:latin typeface="Cambria Math" panose="02040503050406030204" pitchFamily="18" charset="0"/>
                        </a:rPr>
                        <m:t>′=</m:t>
                      </m:r>
                      <m:sSub>
                        <m:sSubPr>
                          <m:ctrlPr>
                            <a:rPr lang="en-US" altLang="en-US" i="1">
                              <a:latin typeface="Cambria Math" panose="02040503050406030204" pitchFamily="18" charset="0"/>
                            </a:rPr>
                          </m:ctrlPr>
                        </m:sSubPr>
                        <m:e>
                          <m:r>
                            <a:rPr lang="en-US" altLang="en-US" b="0" i="1" smtClean="0">
                              <a:latin typeface="Cambria Math" panose="02040503050406030204" pitchFamily="18" charset="0"/>
                            </a:rPr>
                            <m:t>𝐵</m:t>
                          </m:r>
                        </m:e>
                        <m:sub>
                          <m:r>
                            <a:rPr lang="en-US" altLang="en-US" i="1">
                              <a:latin typeface="Cambria Math" panose="02040503050406030204" pitchFamily="18" charset="0"/>
                            </a:rPr>
                            <m:t>𝑖</m:t>
                          </m:r>
                        </m:sub>
                      </m:sSub>
                      <m:r>
                        <m:rPr>
                          <m:nor/>
                        </m:rPr>
                        <a:rPr lang="en-US"/>
                        <m:t>​</m:t>
                      </m:r>
                      <m:r>
                        <a:rPr lang="en-US" i="1" dirty="0">
                          <a:latin typeface="Cambria Math" panose="02040503050406030204" pitchFamily="18" charset="0"/>
                        </a:rPr>
                        <m:t>​</m:t>
                      </m:r>
                      <m:r>
                        <a:rPr lang="en-US" i="1" dirty="0" err="1">
                          <a:latin typeface="Cambria Math" panose="02040503050406030204" pitchFamily="18" charset="0"/>
                        </a:rPr>
                        <m:t>⊕</m:t>
                      </m:r>
                      <m:sSub>
                        <m:sSubPr>
                          <m:ctrlPr>
                            <a:rPr lang="en-US" altLang="en-US" i="1">
                              <a:latin typeface="Cambria Math" panose="02040503050406030204" pitchFamily="18" charset="0"/>
                            </a:rPr>
                          </m:ctrlPr>
                        </m:sSubPr>
                        <m:e>
                          <m:r>
                            <a:rPr lang="en-US" altLang="en-US" i="1">
                              <a:latin typeface="Cambria Math" panose="02040503050406030204" pitchFamily="18" charset="0"/>
                            </a:rPr>
                            <m:t>𝐾</m:t>
                          </m:r>
                        </m:e>
                        <m:sub>
                          <m:r>
                            <a:rPr lang="en-US" altLang="en-US" i="1">
                              <a:latin typeface="Cambria Math" panose="02040503050406030204" pitchFamily="18" charset="0"/>
                            </a:rPr>
                            <m:t>𝑖</m:t>
                          </m:r>
                        </m:sub>
                      </m:sSub>
                      <m:r>
                        <m:rPr>
                          <m:nor/>
                        </m:rPr>
                        <a:rPr lang="en-US"/>
                        <m:t>​</m:t>
                      </m:r>
                      <m:r>
                        <a:rPr lang="en-US" i="1" dirty="0" smtClean="0">
                          <a:latin typeface="Cambria Math" panose="02040503050406030204" pitchFamily="18" charset="0"/>
                        </a:rPr>
                        <m:t>​</m:t>
                      </m:r>
                    </m:oMath>
                  </m:oMathPara>
                </a14:m>
                <a:endParaRPr lang="en-US" dirty="0"/>
              </a:p>
            </p:txBody>
          </p:sp>
        </mc:Choice>
        <mc:Fallback xmlns="">
          <p:sp>
            <p:nvSpPr>
              <p:cNvPr id="13" name="TextBox 12">
                <a:extLst>
                  <a:ext uri="{FF2B5EF4-FFF2-40B4-BE49-F238E27FC236}">
                    <a16:creationId xmlns:a16="http://schemas.microsoft.com/office/drawing/2014/main" id="{72877621-301D-48D8-B829-0EF52F2FD465}"/>
                  </a:ext>
                </a:extLst>
              </p:cNvPr>
              <p:cNvSpPr txBox="1">
                <a:spLocks noRot="1" noChangeAspect="1" noMove="1" noResize="1" noEditPoints="1" noAdjustHandles="1" noChangeArrowheads="1" noChangeShapeType="1" noTextEdit="1"/>
              </p:cNvSpPr>
              <p:nvPr/>
            </p:nvSpPr>
            <p:spPr>
              <a:xfrm>
                <a:off x="1450428" y="1690688"/>
                <a:ext cx="1504346" cy="369332"/>
              </a:xfrm>
              <a:prstGeom prst="rect">
                <a:avLst/>
              </a:prstGeom>
              <a:blipFill>
                <a:blip r:embed="rId3"/>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1">
                <a:extLst>
                  <a:ext uri="{FF2B5EF4-FFF2-40B4-BE49-F238E27FC236}">
                    <a16:creationId xmlns:a16="http://schemas.microsoft.com/office/drawing/2014/main" id="{9F3EB7D9-480F-464E-9E46-E436B53E1D51}"/>
                  </a:ext>
                </a:extLst>
              </p:cNvPr>
              <p:cNvSpPr>
                <a:spLocks noChangeArrowheads="1"/>
              </p:cNvSpPr>
              <p:nvPr/>
            </p:nvSpPr>
            <p:spPr bwMode="auto">
              <a:xfrm>
                <a:off x="531176" y="2216741"/>
                <a:ext cx="3019630" cy="116955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rPr>
                  <a:t>The </a:t>
                </a:r>
                <a:r>
                  <a:rPr kumimoji="0" lang="en-US" altLang="en-US" sz="1400" b="1" i="0" u="none" strike="noStrike" cap="none" normalizeH="0" baseline="0" dirty="0">
                    <a:ln>
                      <a:noFill/>
                    </a:ln>
                    <a:solidFill>
                      <a:schemeClr val="tx1"/>
                    </a:solidFill>
                    <a:effectLst/>
                  </a:rPr>
                  <a:t>plaintext block</a:t>
                </a:r>
                <a:r>
                  <a:rPr kumimoji="0" lang="en-US" altLang="en-US" sz="1400" b="0" i="0" u="none" strike="noStrike" cap="none" normalizeH="0" baseline="0" dirty="0">
                    <a:ln>
                      <a:noFill/>
                    </a:ln>
                    <a:solidFill>
                      <a:schemeClr val="tx1"/>
                    </a:solidFill>
                    <a:effectLst/>
                  </a:rPr>
                  <a:t> </a:t>
                </a:r>
                <a:r>
                  <a:rPr kumimoji="0" lang="en-US" altLang="en-US" sz="1400" b="0" i="1" u="none" strike="noStrike" cap="none" normalizeH="0" baseline="0" dirty="0">
                    <a:ln>
                      <a:noFill/>
                    </a:ln>
                    <a:solidFill>
                      <a:schemeClr val="tx1"/>
                    </a:solidFill>
                    <a:effectLst/>
                  </a:rPr>
                  <a:t>B</a:t>
                </a:r>
                <a:r>
                  <a:rPr kumimoji="0" lang="en-US" altLang="en-US" sz="1400" b="0" i="0" u="none" strike="noStrike" cap="none" normalizeH="0" baseline="0" dirty="0">
                    <a:ln>
                      <a:noFill/>
                    </a:ln>
                    <a:solidFill>
                      <a:schemeClr val="tx1"/>
                    </a:solidFill>
                    <a:effectLst/>
                  </a:rPr>
                  <a:t> (16 bytes = 128 bits) is </a:t>
                </a:r>
                <a:r>
                  <a:rPr kumimoji="0" lang="en-US" altLang="en-US" sz="1400" b="0" i="0" u="none" strike="noStrike" cap="none" normalizeH="0" baseline="0" dirty="0" err="1">
                    <a:ln>
                      <a:noFill/>
                    </a:ln>
                    <a:solidFill>
                      <a:schemeClr val="tx1"/>
                    </a:solidFill>
                    <a:effectLst/>
                  </a:rPr>
                  <a:t>XOR’ed</a:t>
                </a:r>
                <a:r>
                  <a:rPr kumimoji="0" lang="en-US" altLang="en-US" sz="1400" b="0" i="0" u="none" strike="noStrike" cap="none" normalizeH="0" baseline="0" dirty="0">
                    <a:ln>
                      <a:noFill/>
                    </a:ln>
                    <a:solidFill>
                      <a:schemeClr val="tx1"/>
                    </a:solidFill>
                    <a:effectLst/>
                  </a:rPr>
                  <a:t> </a:t>
                </a:r>
                <a:r>
                  <a:rPr kumimoji="0" lang="en-US" altLang="en-US" sz="1400" b="1" i="0" u="none" strike="noStrike" cap="none" normalizeH="0" baseline="0" dirty="0">
                    <a:ln>
                      <a:noFill/>
                    </a:ln>
                    <a:solidFill>
                      <a:schemeClr val="tx1"/>
                    </a:solidFill>
                    <a:effectLst/>
                  </a:rPr>
                  <a:t>byte-by-byte</a:t>
                </a:r>
                <a:r>
                  <a:rPr kumimoji="0" lang="en-US" altLang="en-US" sz="1400" b="0" i="0" u="none" strike="noStrike" cap="none" normalizeH="0" baseline="0" dirty="0">
                    <a:ln>
                      <a:noFill/>
                    </a:ln>
                    <a:solidFill>
                      <a:schemeClr val="tx1"/>
                    </a:solidFill>
                    <a:effectLst/>
                  </a:rPr>
                  <a:t> with the current </a:t>
                </a:r>
                <a:r>
                  <a:rPr kumimoji="0" lang="en-US" altLang="en-US" sz="1400" b="1" i="0" u="none" strike="noStrike" cap="none" normalizeH="0" baseline="0" dirty="0">
                    <a:ln>
                      <a:noFill/>
                    </a:ln>
                    <a:solidFill>
                      <a:schemeClr val="tx1"/>
                    </a:solidFill>
                    <a:effectLst/>
                  </a:rPr>
                  <a:t>round key</a:t>
                </a:r>
                <a:r>
                  <a:rPr kumimoji="0" lang="en-US" altLang="en-US" sz="1400" b="0" i="0" u="none" strike="noStrike" cap="none" normalizeH="0" baseline="0" dirty="0">
                    <a:ln>
                      <a:noFill/>
                    </a:ln>
                    <a:solidFill>
                      <a:schemeClr val="tx1"/>
                    </a:solidFill>
                    <a:effectLst/>
                  </a:rPr>
                  <a:t> </a:t>
                </a:r>
                <a14:m>
                  <m:oMath xmlns:m="http://schemas.openxmlformats.org/officeDocument/2006/math">
                    <m:sSub>
                      <m:sSubPr>
                        <m:ctrlPr>
                          <a:rPr kumimoji="0" lang="en-US" altLang="en-US" sz="1400" b="0" i="1" u="none" strike="noStrike" cap="none" normalizeH="0" baseline="0" smtClean="0">
                            <a:ln>
                              <a:noFill/>
                            </a:ln>
                            <a:solidFill>
                              <a:schemeClr val="tx1"/>
                            </a:solidFill>
                            <a:effectLst/>
                            <a:latin typeface="Cambria Math" panose="02040503050406030204" pitchFamily="18" charset="0"/>
                          </a:rPr>
                        </m:ctrlPr>
                      </m:sSubPr>
                      <m:e>
                        <m:r>
                          <a:rPr kumimoji="0" lang="en-US" altLang="en-US" sz="1400" b="0" i="1" u="none" strike="noStrike" cap="none" normalizeH="0" baseline="0" smtClean="0">
                            <a:ln>
                              <a:noFill/>
                            </a:ln>
                            <a:solidFill>
                              <a:schemeClr val="tx1"/>
                            </a:solidFill>
                            <a:effectLst/>
                            <a:latin typeface="Cambria Math" panose="02040503050406030204" pitchFamily="18" charset="0"/>
                          </a:rPr>
                          <m:t>𝐾</m:t>
                        </m:r>
                      </m:e>
                      <m:sub>
                        <m:r>
                          <a:rPr kumimoji="0" lang="en-US" altLang="en-US" sz="1400" b="0" i="1" u="none" strike="noStrike" cap="none" normalizeH="0" baseline="0" smtClean="0">
                            <a:ln>
                              <a:noFill/>
                            </a:ln>
                            <a:solidFill>
                              <a:schemeClr val="tx1"/>
                            </a:solidFill>
                            <a:effectLst/>
                            <a:latin typeface="Cambria Math" panose="02040503050406030204" pitchFamily="18" charset="0"/>
                          </a:rPr>
                          <m:t>𝑖</m:t>
                        </m:r>
                      </m:sub>
                    </m:sSub>
                  </m:oMath>
                </a14:m>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rPr>
                  <a:t>Example:</a:t>
                </a:r>
              </a:p>
            </p:txBody>
          </p:sp>
        </mc:Choice>
        <mc:Fallback xmlns="">
          <p:sp>
            <p:nvSpPr>
              <p:cNvPr id="3" name="Rectangle 1">
                <a:extLst>
                  <a:ext uri="{FF2B5EF4-FFF2-40B4-BE49-F238E27FC236}">
                    <a16:creationId xmlns:a16="http://schemas.microsoft.com/office/drawing/2014/main" id="{9F3EB7D9-480F-464E-9E46-E436B53E1D51}"/>
                  </a:ext>
                </a:extLst>
              </p:cNvPr>
              <p:cNvSpPr>
                <a:spLocks noRot="1" noChangeAspect="1" noMove="1" noResize="1" noEditPoints="1" noAdjustHandles="1" noChangeArrowheads="1" noChangeShapeType="1" noTextEdit="1"/>
              </p:cNvSpPr>
              <p:nvPr/>
            </p:nvSpPr>
            <p:spPr bwMode="auto">
              <a:xfrm>
                <a:off x="531176" y="2216741"/>
                <a:ext cx="3019630" cy="1169551"/>
              </a:xfrm>
              <a:prstGeom prst="rect">
                <a:avLst/>
              </a:prstGeom>
              <a:blipFill>
                <a:blip r:embed="rId4"/>
                <a:stretch>
                  <a:fillRect l="-606" t="-524" b="-523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16" name="TextBox 15">
            <a:extLst>
              <a:ext uri="{FF2B5EF4-FFF2-40B4-BE49-F238E27FC236}">
                <a16:creationId xmlns:a16="http://schemas.microsoft.com/office/drawing/2014/main" id="{7FC98FE0-5729-4224-897B-CE2DF803CCD5}"/>
              </a:ext>
            </a:extLst>
          </p:cNvPr>
          <p:cNvSpPr txBox="1"/>
          <p:nvPr/>
        </p:nvSpPr>
        <p:spPr>
          <a:xfrm>
            <a:off x="531175" y="1690688"/>
            <a:ext cx="1055287" cy="369332"/>
          </a:xfrm>
          <a:prstGeom prst="rect">
            <a:avLst/>
          </a:prstGeom>
          <a:noFill/>
        </p:spPr>
        <p:txBody>
          <a:bodyPr wrap="square">
            <a:spAutoFit/>
          </a:bodyPr>
          <a:lstStyle/>
          <a:p>
            <a:r>
              <a:rPr lang="en-US" b="1" dirty="0"/>
              <a:t>1. XOR:</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81A4C37-E54E-423A-A534-494498697B44}"/>
                  </a:ext>
                </a:extLst>
              </p:cNvPr>
              <p:cNvSpPr txBox="1"/>
              <p:nvPr/>
            </p:nvSpPr>
            <p:spPr>
              <a:xfrm>
                <a:off x="557334" y="3471709"/>
                <a:ext cx="205825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dirty="0">
                          <a:latin typeface="Cambria Math" panose="02040503050406030204" pitchFamily="18" charset="0"/>
                        </a:rPr>
                        <m:t>𝐵</m:t>
                      </m:r>
                      <m:r>
                        <m:rPr>
                          <m:nor/>
                        </m:rPr>
                        <a:rPr lang="en-US" sz="1600"/>
                        <m:t>=[0</m:t>
                      </m:r>
                      <m:r>
                        <m:rPr>
                          <m:nor/>
                        </m:rPr>
                        <a:rPr lang="en-US" sz="1600"/>
                        <m:t>x</m:t>
                      </m:r>
                      <m:r>
                        <m:rPr>
                          <m:nor/>
                        </m:rPr>
                        <a:rPr lang="en-US" sz="1600"/>
                        <m:t>88, 0</m:t>
                      </m:r>
                      <m:r>
                        <m:rPr>
                          <m:nor/>
                        </m:rPr>
                        <a:rPr lang="en-US" sz="1600"/>
                        <m:t>x</m:t>
                      </m:r>
                      <m:r>
                        <m:rPr>
                          <m:nor/>
                        </m:rPr>
                        <a:rPr lang="en-US" sz="1600"/>
                        <m:t>99, ..., 0</m:t>
                      </m:r>
                      <m:r>
                        <m:rPr>
                          <m:nor/>
                        </m:rPr>
                        <a:rPr lang="en-US" sz="1600"/>
                        <m:t>x</m:t>
                      </m:r>
                      <m:r>
                        <m:rPr>
                          <m:nor/>
                        </m:rPr>
                        <a:rPr lang="en-US" sz="1600"/>
                        <m:t>11]</m:t>
                      </m:r>
                    </m:oMath>
                  </m:oMathPara>
                </a14:m>
                <a:endParaRPr lang="en-US" sz="1600" dirty="0"/>
              </a:p>
            </p:txBody>
          </p:sp>
        </mc:Choice>
        <mc:Fallback xmlns="">
          <p:sp>
            <p:nvSpPr>
              <p:cNvPr id="4" name="TextBox 3">
                <a:extLst>
                  <a:ext uri="{FF2B5EF4-FFF2-40B4-BE49-F238E27FC236}">
                    <a16:creationId xmlns:a16="http://schemas.microsoft.com/office/drawing/2014/main" id="{881A4C37-E54E-423A-A534-494498697B44}"/>
                  </a:ext>
                </a:extLst>
              </p:cNvPr>
              <p:cNvSpPr txBox="1">
                <a:spLocks noRot="1" noChangeAspect="1" noMove="1" noResize="1" noEditPoints="1" noAdjustHandles="1" noChangeArrowheads="1" noChangeShapeType="1" noTextEdit="1"/>
              </p:cNvSpPr>
              <p:nvPr/>
            </p:nvSpPr>
            <p:spPr>
              <a:xfrm>
                <a:off x="557334" y="3471709"/>
                <a:ext cx="2058256" cy="246221"/>
              </a:xfrm>
              <a:prstGeom prst="rect">
                <a:avLst/>
              </a:prstGeom>
              <a:blipFill>
                <a:blip r:embed="rId5"/>
                <a:stretch>
                  <a:fillRect l="-1775" r="-2663" b="-3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C4A4A51-14FB-4CDA-B431-A694F6FE1C23}"/>
                  </a:ext>
                </a:extLst>
              </p:cNvPr>
              <p:cNvSpPr txBox="1"/>
              <p:nvPr/>
            </p:nvSpPr>
            <p:spPr>
              <a:xfrm>
                <a:off x="557334" y="3868970"/>
                <a:ext cx="211641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en-US" sz="1600" i="1">
                              <a:latin typeface="Cambria Math" panose="02040503050406030204" pitchFamily="18" charset="0"/>
                            </a:rPr>
                          </m:ctrlPr>
                        </m:sSubPr>
                        <m:e>
                          <m:r>
                            <a:rPr lang="en-US" altLang="en-US" sz="1600" i="1">
                              <a:latin typeface="Cambria Math" panose="02040503050406030204" pitchFamily="18" charset="0"/>
                            </a:rPr>
                            <m:t>𝐾</m:t>
                          </m:r>
                        </m:e>
                        <m:sub>
                          <m:r>
                            <a:rPr lang="en-US" altLang="en-US" sz="1600" i="1">
                              <a:latin typeface="Cambria Math" panose="02040503050406030204" pitchFamily="18" charset="0"/>
                            </a:rPr>
                            <m:t>𝑖</m:t>
                          </m:r>
                        </m:sub>
                      </m:sSub>
                      <m:r>
                        <m:rPr>
                          <m:nor/>
                        </m:rPr>
                        <a:rPr lang="en-US" sz="1600"/>
                        <m:t>​=[0</m:t>
                      </m:r>
                      <m:r>
                        <m:rPr>
                          <m:nor/>
                        </m:rPr>
                        <a:rPr lang="en-US" sz="1600"/>
                        <m:t>x</m:t>
                      </m:r>
                      <m:r>
                        <m:rPr>
                          <m:nor/>
                        </m:rPr>
                        <a:rPr lang="en-US" sz="1600"/>
                        <m:t>77, 0</m:t>
                      </m:r>
                      <m:r>
                        <m:rPr>
                          <m:nor/>
                        </m:rPr>
                        <a:rPr lang="en-US" sz="1600"/>
                        <m:t>x</m:t>
                      </m:r>
                      <m:r>
                        <m:rPr>
                          <m:nor/>
                        </m:rPr>
                        <a:rPr lang="en-US" sz="1600"/>
                        <m:t>66, ..., 0</m:t>
                      </m:r>
                      <m:r>
                        <m:rPr>
                          <m:nor/>
                        </m:rPr>
                        <a:rPr lang="en-US" sz="1600"/>
                        <m:t>x</m:t>
                      </m:r>
                      <m:r>
                        <m:rPr>
                          <m:nor/>
                        </m:rPr>
                        <a:rPr lang="en-US" sz="1600"/>
                        <m:t>88]</m:t>
                      </m:r>
                    </m:oMath>
                  </m:oMathPara>
                </a14:m>
                <a:endParaRPr lang="en-US" sz="1600" dirty="0"/>
              </a:p>
            </p:txBody>
          </p:sp>
        </mc:Choice>
        <mc:Fallback xmlns="">
          <p:sp>
            <p:nvSpPr>
              <p:cNvPr id="5" name="TextBox 4">
                <a:extLst>
                  <a:ext uri="{FF2B5EF4-FFF2-40B4-BE49-F238E27FC236}">
                    <a16:creationId xmlns:a16="http://schemas.microsoft.com/office/drawing/2014/main" id="{4C4A4A51-14FB-4CDA-B431-A694F6FE1C23}"/>
                  </a:ext>
                </a:extLst>
              </p:cNvPr>
              <p:cNvSpPr txBox="1">
                <a:spLocks noRot="1" noChangeAspect="1" noMove="1" noResize="1" noEditPoints="1" noAdjustHandles="1" noChangeArrowheads="1" noChangeShapeType="1" noTextEdit="1"/>
              </p:cNvSpPr>
              <p:nvPr/>
            </p:nvSpPr>
            <p:spPr>
              <a:xfrm>
                <a:off x="557334" y="3868970"/>
                <a:ext cx="2116412" cy="246221"/>
              </a:xfrm>
              <a:prstGeom prst="rect">
                <a:avLst/>
              </a:prstGeom>
              <a:blipFill>
                <a:blip r:embed="rId6"/>
                <a:stretch>
                  <a:fillRect l="-1724" r="-2299" b="-3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91D3524-08AA-40B6-B750-447A02293A7A}"/>
                  </a:ext>
                </a:extLst>
              </p:cNvPr>
              <p:cNvSpPr txBox="1"/>
              <p:nvPr/>
            </p:nvSpPr>
            <p:spPr>
              <a:xfrm>
                <a:off x="557334" y="4238135"/>
                <a:ext cx="267522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1600" smtClean="0"/>
                        <m:t>Then</m:t>
                      </m:r>
                      <m:r>
                        <m:rPr>
                          <m:nor/>
                        </m:rPr>
                        <a:rPr lang="en-US" sz="1600" smtClean="0"/>
                        <m:t>: </m:t>
                      </m:r>
                      <m:sSup>
                        <m:sSupPr>
                          <m:ctrlPr>
                            <a:rPr lang="en-US" sz="1600" i="1" dirty="0">
                              <a:latin typeface="Cambria Math" panose="02040503050406030204" pitchFamily="18" charset="0"/>
                            </a:rPr>
                          </m:ctrlPr>
                        </m:sSupPr>
                        <m:e>
                          <m:r>
                            <a:rPr lang="en-US" sz="1600" i="1" dirty="0">
                              <a:latin typeface="Cambria Math" panose="02040503050406030204" pitchFamily="18" charset="0"/>
                            </a:rPr>
                            <m:t>𝐵</m:t>
                          </m:r>
                        </m:e>
                        <m:sup>
                          <m:r>
                            <a:rPr lang="en-US" sz="1600" i="1" dirty="0">
                              <a:latin typeface="Cambria Math" panose="02040503050406030204" pitchFamily="18" charset="0"/>
                            </a:rPr>
                            <m:t>′</m:t>
                          </m:r>
                        </m:sup>
                      </m:sSup>
                      <m:r>
                        <m:rPr>
                          <m:nor/>
                        </m:rPr>
                        <a:rPr lang="en-US" sz="1600"/>
                        <m:t>[0]</m:t>
                      </m:r>
                      <m:r>
                        <a:rPr lang="en-US" sz="1600" b="0" i="1" dirty="0" smtClean="0">
                          <a:latin typeface="Cambria Math" panose="02040503050406030204" pitchFamily="18" charset="0"/>
                        </a:rPr>
                        <m:t>=</m:t>
                      </m:r>
                      <m:r>
                        <m:rPr>
                          <m:nor/>
                        </m:rPr>
                        <a:rPr lang="en-US" sz="1600"/>
                        <m:t>0</m:t>
                      </m:r>
                      <m:r>
                        <m:rPr>
                          <m:nor/>
                        </m:rPr>
                        <a:rPr lang="en-US" sz="1600"/>
                        <m:t>x</m:t>
                      </m:r>
                      <m:r>
                        <m:rPr>
                          <m:nor/>
                        </m:rPr>
                        <a:rPr lang="en-US" sz="1600"/>
                        <m:t>88⊕0</m:t>
                      </m:r>
                      <m:r>
                        <m:rPr>
                          <m:nor/>
                        </m:rPr>
                        <a:rPr lang="en-US" sz="1600"/>
                        <m:t>x</m:t>
                      </m:r>
                      <m:r>
                        <m:rPr>
                          <m:nor/>
                        </m:rPr>
                        <a:rPr lang="en-US" sz="1600"/>
                        <m:t>77, </m:t>
                      </m:r>
                      <m:r>
                        <m:rPr>
                          <m:nor/>
                        </m:rPr>
                        <a:rPr lang="en-US" sz="1600"/>
                        <m:t>etc</m:t>
                      </m:r>
                      <m:r>
                        <m:rPr>
                          <m:nor/>
                        </m:rPr>
                        <a:rPr lang="en-US" sz="1600"/>
                        <m:t>.</m:t>
                      </m:r>
                    </m:oMath>
                  </m:oMathPara>
                </a14:m>
                <a:endParaRPr lang="en-US" sz="1600" dirty="0"/>
              </a:p>
            </p:txBody>
          </p:sp>
        </mc:Choice>
        <mc:Fallback xmlns="">
          <p:sp>
            <p:nvSpPr>
              <p:cNvPr id="6" name="TextBox 5">
                <a:extLst>
                  <a:ext uri="{FF2B5EF4-FFF2-40B4-BE49-F238E27FC236}">
                    <a16:creationId xmlns:a16="http://schemas.microsoft.com/office/drawing/2014/main" id="{E91D3524-08AA-40B6-B750-447A02293A7A}"/>
                  </a:ext>
                </a:extLst>
              </p:cNvPr>
              <p:cNvSpPr txBox="1">
                <a:spLocks noRot="1" noChangeAspect="1" noMove="1" noResize="1" noEditPoints="1" noAdjustHandles="1" noChangeArrowheads="1" noChangeShapeType="1" noTextEdit="1"/>
              </p:cNvSpPr>
              <p:nvPr/>
            </p:nvSpPr>
            <p:spPr>
              <a:xfrm>
                <a:off x="557334" y="4238135"/>
                <a:ext cx="2675220" cy="246221"/>
              </a:xfrm>
              <a:prstGeom prst="rect">
                <a:avLst/>
              </a:prstGeom>
              <a:blipFill>
                <a:blip r:embed="rId7"/>
                <a:stretch>
                  <a:fillRect l="-1367" r="-911" b="-268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D460F7-ECDD-4D5D-BD0D-D6EFC3F60D5A}"/>
                  </a:ext>
                </a:extLst>
              </p:cNvPr>
              <p:cNvSpPr txBox="1"/>
              <p:nvPr/>
            </p:nvSpPr>
            <p:spPr>
              <a:xfrm>
                <a:off x="5246048" y="1690688"/>
                <a:ext cx="19850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𝐵</m:t>
                      </m:r>
                      <m:r>
                        <a:rPr lang="en-US" i="1" dirty="0" smtClean="0">
                          <a:latin typeface="Cambria Math" panose="02040503050406030204" pitchFamily="18" charset="0"/>
                        </a:rPr>
                        <m:t>′′</m:t>
                      </m:r>
                      <m:r>
                        <m:rPr>
                          <m:nor/>
                        </m:rPr>
                        <a:rPr lang="pl-PL"/>
                        <m:t>[</m:t>
                      </m:r>
                      <m:r>
                        <m:rPr>
                          <m:nor/>
                        </m:rPr>
                        <a:rPr lang="pl-PL" i="1"/>
                        <m:t>i</m:t>
                      </m:r>
                      <m:r>
                        <m:rPr>
                          <m:nor/>
                        </m:rPr>
                        <a:rPr lang="pl-PL"/>
                        <m:t>]</m:t>
                      </m:r>
                      <m:r>
                        <a:rPr lang="en-US" i="1" dirty="0">
                          <a:latin typeface="Cambria Math" panose="02040503050406030204" pitchFamily="18" charset="0"/>
                        </a:rPr>
                        <m:t>=</m:t>
                      </m:r>
                      <m:r>
                        <m:rPr>
                          <m:nor/>
                        </m:rPr>
                        <a:rPr lang="pl-PL" i="1"/>
                        <m:t>S</m:t>
                      </m:r>
                      <m:r>
                        <m:rPr>
                          <m:nor/>
                        </m:rPr>
                        <a:rPr lang="pl-PL"/>
                        <m:t>(</m:t>
                      </m:r>
                      <m:r>
                        <a:rPr lang="en-US" i="1" dirty="0" smtClean="0">
                          <a:latin typeface="Cambria Math" panose="02040503050406030204" pitchFamily="18" charset="0"/>
                        </a:rPr>
                        <m:t>𝐵</m:t>
                      </m:r>
                      <m:r>
                        <a:rPr lang="en-US" i="1" dirty="0" smtClean="0">
                          <a:latin typeface="Cambria Math" panose="02040503050406030204" pitchFamily="18" charset="0"/>
                        </a:rPr>
                        <m:t>′</m:t>
                      </m:r>
                      <m:r>
                        <m:rPr>
                          <m:nor/>
                        </m:rPr>
                        <a:rPr lang="pl-PL"/>
                        <m:t>[</m:t>
                      </m:r>
                      <m:r>
                        <m:rPr>
                          <m:nor/>
                        </m:rPr>
                        <a:rPr lang="pl-PL" i="1"/>
                        <m:t>i</m:t>
                      </m:r>
                      <m:r>
                        <m:rPr>
                          <m:nor/>
                        </m:rPr>
                        <a:rPr lang="pl-PL"/>
                        <m:t>])</m:t>
                      </m:r>
                    </m:oMath>
                  </m:oMathPara>
                </a14:m>
                <a:endParaRPr lang="en-US" dirty="0"/>
              </a:p>
            </p:txBody>
          </p:sp>
        </mc:Choice>
        <mc:Fallback xmlns="">
          <p:sp>
            <p:nvSpPr>
              <p:cNvPr id="22" name="TextBox 21">
                <a:extLst>
                  <a:ext uri="{FF2B5EF4-FFF2-40B4-BE49-F238E27FC236}">
                    <a16:creationId xmlns:a16="http://schemas.microsoft.com/office/drawing/2014/main" id="{34D460F7-ECDD-4D5D-BD0D-D6EFC3F60D5A}"/>
                  </a:ext>
                </a:extLst>
              </p:cNvPr>
              <p:cNvSpPr txBox="1">
                <a:spLocks noRot="1" noChangeAspect="1" noMove="1" noResize="1" noEditPoints="1" noAdjustHandles="1" noChangeArrowheads="1" noChangeShapeType="1" noTextEdit="1"/>
              </p:cNvSpPr>
              <p:nvPr/>
            </p:nvSpPr>
            <p:spPr>
              <a:xfrm>
                <a:off x="5246048" y="1690688"/>
                <a:ext cx="1985001" cy="369332"/>
              </a:xfrm>
              <a:prstGeom prst="rect">
                <a:avLst/>
              </a:prstGeom>
              <a:blipFill>
                <a:blip r:embed="rId8"/>
                <a:stretch>
                  <a:fillRect b="-98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2">
                <a:extLst>
                  <a:ext uri="{FF2B5EF4-FFF2-40B4-BE49-F238E27FC236}">
                    <a16:creationId xmlns:a16="http://schemas.microsoft.com/office/drawing/2014/main" id="{70CCB263-31D4-49D5-BAD7-20A2B2D52F3E}"/>
                  </a:ext>
                </a:extLst>
              </p:cNvPr>
              <p:cNvSpPr>
                <a:spLocks noChangeArrowheads="1"/>
              </p:cNvSpPr>
              <p:nvPr/>
            </p:nvSpPr>
            <p:spPr bwMode="auto">
              <a:xfrm>
                <a:off x="3768256" y="2216741"/>
                <a:ext cx="380246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rPr>
                  <a:t>Each byte in the </a:t>
                </a:r>
                <a:r>
                  <a:rPr kumimoji="0" lang="en-US" altLang="en-US" sz="1400" b="0" i="0" u="none" strike="noStrike" cap="none" normalizeH="0" baseline="0" dirty="0" err="1">
                    <a:ln>
                      <a:noFill/>
                    </a:ln>
                    <a:solidFill>
                      <a:schemeClr val="tx1"/>
                    </a:solidFill>
                    <a:effectLst/>
                  </a:rPr>
                  <a:t>XOR’ed</a:t>
                </a:r>
                <a:r>
                  <a:rPr kumimoji="0" lang="en-US" altLang="en-US" sz="1400" b="0" i="0" u="none" strike="noStrike" cap="none" normalizeH="0" baseline="0" dirty="0">
                    <a:ln>
                      <a:noFill/>
                    </a:ln>
                    <a:solidFill>
                      <a:schemeClr val="tx1"/>
                    </a:solidFill>
                    <a:effectLst/>
                  </a:rPr>
                  <a:t> block is replaced using an </a:t>
                </a:r>
                <a:r>
                  <a:rPr kumimoji="0" lang="en-US" altLang="en-US" sz="1400" b="1" i="0" u="none" strike="noStrike" cap="none" normalizeH="0" baseline="0" dirty="0">
                    <a:ln>
                      <a:noFill/>
                    </a:ln>
                    <a:solidFill>
                      <a:schemeClr val="tx1"/>
                    </a:solidFill>
                    <a:effectLst/>
                  </a:rPr>
                  <a:t>S-box</a:t>
                </a:r>
                <a:r>
                  <a:rPr kumimoji="0" lang="en-US" altLang="en-US" sz="1400" b="0" i="0" u="none" strike="noStrike" cap="none" normalizeH="0" baseline="0" dirty="0">
                    <a:ln>
                      <a:noFill/>
                    </a:ln>
                    <a:solidFill>
                      <a:schemeClr val="tx1"/>
                    </a:solidFill>
                    <a:effectLst/>
                  </a:rPr>
                  <a:t> — a </a:t>
                </a:r>
                <a14:m>
                  <m:oMath xmlns:m="http://schemas.openxmlformats.org/officeDocument/2006/math">
                    <m:sSub>
                      <m:sSubPr>
                        <m:ctrlPr>
                          <a:rPr kumimoji="0" lang="en-US" altLang="en-US" sz="1400" b="0" i="1" u="none" strike="noStrike" cap="none" normalizeH="0" baseline="0" dirty="0" smtClean="0">
                            <a:ln>
                              <a:noFill/>
                            </a:ln>
                            <a:solidFill>
                              <a:schemeClr val="tx1"/>
                            </a:solidFill>
                            <a:effectLst/>
                            <a:latin typeface="Cambria Math" panose="02040503050406030204" pitchFamily="18" charset="0"/>
                          </a:rPr>
                        </m:ctrlPr>
                      </m:sSubPr>
                      <m:e>
                        <m:r>
                          <a:rPr kumimoji="0" lang="en-US" altLang="en-US" sz="1400" b="0" i="1" u="none" strike="noStrike" cap="none" normalizeH="0" baseline="0" dirty="0" smtClean="0">
                            <a:ln>
                              <a:noFill/>
                            </a:ln>
                            <a:solidFill>
                              <a:schemeClr val="tx1"/>
                            </a:solidFill>
                            <a:effectLst/>
                            <a:latin typeface="Cambria Math" panose="02040503050406030204" pitchFamily="18" charset="0"/>
                          </a:rPr>
                          <m:t>256</m:t>
                        </m:r>
                      </m:e>
                      <m:sub>
                        <m:r>
                          <a:rPr kumimoji="0" lang="en-US" altLang="en-US" sz="1400" b="0" i="1" u="none" strike="noStrike" cap="none" normalizeH="0" baseline="0" dirty="0" smtClean="0">
                            <a:ln>
                              <a:noFill/>
                            </a:ln>
                            <a:solidFill>
                              <a:schemeClr val="tx1"/>
                            </a:solidFill>
                            <a:effectLst/>
                            <a:latin typeface="Cambria Math" panose="02040503050406030204" pitchFamily="18" charset="0"/>
                          </a:rPr>
                          <m:t>10</m:t>
                        </m:r>
                      </m:sub>
                    </m:sSub>
                  </m:oMath>
                </a14:m>
                <a:r>
                  <a:rPr kumimoji="0" lang="en-US" altLang="en-US" sz="1400" b="0" i="0" u="none" strike="noStrike" cap="none" normalizeH="0" baseline="0" dirty="0">
                    <a:ln>
                      <a:noFill/>
                    </a:ln>
                    <a:solidFill>
                      <a:schemeClr val="tx1"/>
                    </a:solidFill>
                    <a:effectLst/>
                  </a:rPr>
                  <a:t>-entry lookup table.</a:t>
                </a:r>
              </a:p>
            </p:txBody>
          </p:sp>
        </mc:Choice>
        <mc:Fallback xmlns="">
          <p:sp>
            <p:nvSpPr>
              <p:cNvPr id="7" name="Rectangle 2">
                <a:extLst>
                  <a:ext uri="{FF2B5EF4-FFF2-40B4-BE49-F238E27FC236}">
                    <a16:creationId xmlns:a16="http://schemas.microsoft.com/office/drawing/2014/main" id="{70CCB263-31D4-49D5-BAD7-20A2B2D52F3E}"/>
                  </a:ext>
                </a:extLst>
              </p:cNvPr>
              <p:cNvSpPr>
                <a:spLocks noRot="1" noChangeAspect="1" noMove="1" noResize="1" noEditPoints="1" noAdjustHandles="1" noChangeArrowheads="1" noChangeShapeType="1" noTextEdit="1"/>
              </p:cNvSpPr>
              <p:nvPr/>
            </p:nvSpPr>
            <p:spPr bwMode="auto">
              <a:xfrm>
                <a:off x="3768256" y="2216741"/>
                <a:ext cx="3802460" cy="523220"/>
              </a:xfrm>
              <a:prstGeom prst="rect">
                <a:avLst/>
              </a:prstGeom>
              <a:blipFill>
                <a:blip r:embed="rId9"/>
                <a:stretch>
                  <a:fillRect l="-481" t="-2353" r="-801" b="-1294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23" name="TextBox 22">
            <a:extLst>
              <a:ext uri="{FF2B5EF4-FFF2-40B4-BE49-F238E27FC236}">
                <a16:creationId xmlns:a16="http://schemas.microsoft.com/office/drawing/2014/main" id="{0663D585-6D81-4508-A8CA-C43B2B3F3C11}"/>
              </a:ext>
            </a:extLst>
          </p:cNvPr>
          <p:cNvSpPr txBox="1"/>
          <p:nvPr/>
        </p:nvSpPr>
        <p:spPr>
          <a:xfrm>
            <a:off x="3683297" y="5715739"/>
            <a:ext cx="4181707" cy="5232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rPr>
              <a:t>Introduces </a:t>
            </a:r>
            <a:r>
              <a:rPr kumimoji="0" lang="en-US" altLang="en-US" sz="1400" b="1" i="0" u="none" strike="noStrike" cap="none" normalizeH="0" baseline="0" dirty="0">
                <a:ln>
                  <a:noFill/>
                </a:ln>
                <a:solidFill>
                  <a:schemeClr val="tx1"/>
                </a:solidFill>
                <a:effectLst/>
              </a:rPr>
              <a:t>nonlinearity</a:t>
            </a:r>
            <a:r>
              <a:rPr kumimoji="0" lang="en-US" altLang="en-US" sz="1400" b="0" i="0" u="none" strike="noStrike" cap="none" normalizeH="0" baseline="0" dirty="0">
                <a:ln>
                  <a:noFill/>
                </a:ln>
                <a:solidFill>
                  <a:schemeClr val="tx1"/>
                </a:solidFill>
                <a:effectLst/>
              </a:rPr>
              <a:t> — critical for resisting differential and linear cryptanalysis.</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C435A86-559D-410C-B6A1-319F00704B05}"/>
                  </a:ext>
                </a:extLst>
              </p:cNvPr>
              <p:cNvSpPr txBox="1"/>
              <p:nvPr/>
            </p:nvSpPr>
            <p:spPr>
              <a:xfrm>
                <a:off x="3768256" y="5315052"/>
                <a:ext cx="1165384" cy="246221"/>
              </a:xfrm>
              <a:prstGeom prst="rect">
                <a:avLst/>
              </a:prstGeom>
              <a:noFill/>
            </p:spPr>
            <p:txBody>
              <a:bodyPr wrap="none" lIns="0" tIns="0" rIns="0" bIns="0" rtlCol="0">
                <a:spAutoFit/>
              </a:bodyPr>
              <a:lstStyle/>
              <a:p>
                <a14:m>
                  <m:oMath xmlns:m="http://schemas.openxmlformats.org/officeDocument/2006/math">
                    <m:r>
                      <m:rPr>
                        <m:nor/>
                      </m:rPr>
                      <a:rPr lang="en-US" sz="1600"/>
                      <m:t>S</m:t>
                    </m:r>
                    <m:r>
                      <m:rPr>
                        <m:nor/>
                      </m:rPr>
                      <a:rPr lang="en-US" sz="1600"/>
                      <m:t>(0</m:t>
                    </m:r>
                    <m:r>
                      <m:rPr>
                        <m:nor/>
                      </m:rPr>
                      <a:rPr lang="en-US" sz="1600"/>
                      <m:t>x</m:t>
                    </m:r>
                    <m:r>
                      <m:rPr>
                        <m:nor/>
                      </m:rPr>
                      <a:rPr lang="en-US" sz="1600"/>
                      <m:t>00)=0</m:t>
                    </m:r>
                    <m:r>
                      <m:rPr>
                        <m:nor/>
                      </m:rPr>
                      <a:rPr lang="en-US" sz="1600"/>
                      <m:t>xFC</m:t>
                    </m:r>
                  </m:oMath>
                </a14:m>
                <a:r>
                  <a:rPr lang="en-US" sz="1600" dirty="0"/>
                  <a:t>,</a:t>
                </a:r>
              </a:p>
            </p:txBody>
          </p:sp>
        </mc:Choice>
        <mc:Fallback xmlns="">
          <p:sp>
            <p:nvSpPr>
              <p:cNvPr id="24" name="TextBox 23">
                <a:extLst>
                  <a:ext uri="{FF2B5EF4-FFF2-40B4-BE49-F238E27FC236}">
                    <a16:creationId xmlns:a16="http://schemas.microsoft.com/office/drawing/2014/main" id="{EC435A86-559D-410C-B6A1-319F00704B05}"/>
                  </a:ext>
                </a:extLst>
              </p:cNvPr>
              <p:cNvSpPr txBox="1">
                <a:spLocks noRot="1" noChangeAspect="1" noMove="1" noResize="1" noEditPoints="1" noAdjustHandles="1" noChangeArrowheads="1" noChangeShapeType="1" noTextEdit="1"/>
              </p:cNvSpPr>
              <p:nvPr/>
            </p:nvSpPr>
            <p:spPr>
              <a:xfrm>
                <a:off x="3768256" y="5315052"/>
                <a:ext cx="1165384" cy="246221"/>
              </a:xfrm>
              <a:prstGeom prst="rect">
                <a:avLst/>
              </a:prstGeom>
              <a:blipFill>
                <a:blip r:embed="rId10"/>
                <a:stretch>
                  <a:fillRect l="-7853" t="-27500" r="-10471" b="-50000"/>
                </a:stretch>
              </a:blipFill>
            </p:spPr>
            <p:txBody>
              <a:bodyPr/>
              <a:lstStyle/>
              <a:p>
                <a:r>
                  <a:rPr lang="en-US">
                    <a:noFill/>
                  </a:rPr>
                  <a:t> </a:t>
                </a:r>
              </a:p>
            </p:txBody>
          </p:sp>
        </mc:Fallback>
      </mc:AlternateContent>
      <p:pic>
        <p:nvPicPr>
          <p:cNvPr id="18" name="Рисунок 17">
            <a:extLst>
              <a:ext uri="{FF2B5EF4-FFF2-40B4-BE49-F238E27FC236}">
                <a16:creationId xmlns:a16="http://schemas.microsoft.com/office/drawing/2014/main" id="{8652C3E7-6C00-4D0E-BAA1-F4EB217321C0}"/>
              </a:ext>
            </a:extLst>
          </p:cNvPr>
          <p:cNvPicPr>
            <a:picLocks noChangeAspect="1"/>
          </p:cNvPicPr>
          <p:nvPr/>
        </p:nvPicPr>
        <p:blipFill>
          <a:blip r:embed="rId11"/>
          <a:stretch>
            <a:fillRect/>
          </a:stretch>
        </p:blipFill>
        <p:spPr>
          <a:xfrm>
            <a:off x="3768256" y="2852789"/>
            <a:ext cx="3802459" cy="2038852"/>
          </a:xfrm>
          <a:prstGeom prst="rect">
            <a:avLst/>
          </a:prstGeom>
        </p:spPr>
      </p:pic>
      <p:sp>
        <p:nvSpPr>
          <p:cNvPr id="26" name="TextBox 25">
            <a:extLst>
              <a:ext uri="{FF2B5EF4-FFF2-40B4-BE49-F238E27FC236}">
                <a16:creationId xmlns:a16="http://schemas.microsoft.com/office/drawing/2014/main" id="{7C786CDF-3914-462C-8F98-0F0D4A918416}"/>
              </a:ext>
            </a:extLst>
          </p:cNvPr>
          <p:cNvSpPr txBox="1"/>
          <p:nvPr/>
        </p:nvSpPr>
        <p:spPr>
          <a:xfrm>
            <a:off x="3719237" y="4938539"/>
            <a:ext cx="4204182" cy="30777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400" dirty="0"/>
              <a:t>where higher 4 bits = row, lower 4 bits = column #</a:t>
            </a:r>
            <a:endParaRPr kumimoji="0" lang="en-US" altLang="en-US" sz="1400" b="0" i="0" u="none" strike="noStrike" cap="none" normalizeH="0" baseline="0" dirty="0">
              <a:ln>
                <a:noFill/>
              </a:ln>
              <a:solidFill>
                <a:schemeClr val="tx1"/>
              </a:solidFill>
              <a:effectLst/>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0FB9800-F875-4198-9D15-BF8198C3E34B}"/>
                  </a:ext>
                </a:extLst>
              </p:cNvPr>
              <p:cNvSpPr txBox="1"/>
              <p:nvPr/>
            </p:nvSpPr>
            <p:spPr>
              <a:xfrm>
                <a:off x="4933640" y="5318597"/>
                <a:ext cx="270118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1600" smtClean="0"/>
                        <m:t>..., </m:t>
                      </m:r>
                      <m:r>
                        <m:rPr>
                          <m:nor/>
                        </m:rPr>
                        <a:rPr lang="en-US" sz="1600" smtClean="0"/>
                        <m:t>S</m:t>
                      </m:r>
                      <m:r>
                        <m:rPr>
                          <m:nor/>
                        </m:rPr>
                        <a:rPr lang="en-US" sz="1600" smtClean="0"/>
                        <m:t>(</m:t>
                      </m:r>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0</m:t>
                          </m:r>
                          <m:r>
                            <a:rPr lang="en-US" sz="1600" b="0" i="1" smtClean="0">
                              <a:latin typeface="Cambria Math" panose="02040503050406030204" pitchFamily="18" charset="0"/>
                            </a:rPr>
                            <m:t>𝑥𝐹𝐹</m:t>
                          </m:r>
                        </m:e>
                        <m:sub>
                          <m:r>
                            <a:rPr lang="en-US" sz="1600" b="0" i="1" smtClean="0">
                              <a:latin typeface="Cambria Math" panose="02040503050406030204" pitchFamily="18" charset="0"/>
                            </a:rPr>
                            <m:t>16</m:t>
                          </m:r>
                        </m:sub>
                      </m:sSub>
                      <m:r>
                        <m:rPr>
                          <m:nor/>
                        </m:rPr>
                        <a:rPr lang="en-US" sz="1600"/>
                        <m:t>)</m:t>
                      </m:r>
                      <m:r>
                        <m:rPr>
                          <m:nor/>
                        </m:rPr>
                        <a:rPr lang="en-US" sz="1600" b="0" i="0" smtClean="0"/>
                        <m:t> </m:t>
                      </m:r>
                      <m:r>
                        <m:rPr>
                          <m:nor/>
                        </m:rPr>
                        <a:rPr lang="en-US" sz="1600"/>
                        <m:t>=</m:t>
                      </m:r>
                      <m:r>
                        <m:rPr>
                          <m:nor/>
                        </m:rPr>
                        <a:rPr lang="en-US" sz="1600" b="0" i="0" smtClean="0"/>
                        <m:t> </m:t>
                      </m:r>
                      <m:sSub>
                        <m:sSubPr>
                          <m:ctrlPr>
                            <a:rPr lang="en-US" altLang="en-US" sz="1600" i="1" dirty="0">
                              <a:latin typeface="Cambria Math" panose="02040503050406030204" pitchFamily="18" charset="0"/>
                            </a:rPr>
                          </m:ctrlPr>
                        </m:sSubPr>
                        <m:e>
                          <m:r>
                            <a:rPr lang="en-US" altLang="en-US" sz="1600" b="0" i="1" dirty="0" smtClean="0">
                              <a:latin typeface="Cambria Math" panose="02040503050406030204" pitchFamily="18" charset="0"/>
                            </a:rPr>
                            <m:t>182</m:t>
                          </m:r>
                        </m:e>
                        <m:sub>
                          <m:r>
                            <a:rPr lang="en-US" altLang="en-US" sz="1600" i="1" dirty="0">
                              <a:latin typeface="Cambria Math" panose="02040503050406030204" pitchFamily="18" charset="0"/>
                            </a:rPr>
                            <m:t>10</m:t>
                          </m:r>
                        </m:sub>
                      </m:sSub>
                      <m:r>
                        <m:rPr>
                          <m:nor/>
                        </m:rPr>
                        <a:rPr lang="en-US" altLang="en-US" sz="1600" b="0" i="0" dirty="0" smtClean="0">
                          <a:latin typeface="Cambria Math" panose="02040503050406030204" pitchFamily="18" charset="0"/>
                        </a:rPr>
                        <m:t> </m:t>
                      </m:r>
                      <m:r>
                        <m:rPr>
                          <m:nor/>
                        </m:rPr>
                        <a:rPr lang="en-US" sz="1600" b="0" i="0" smtClean="0"/>
                        <m:t>= </m:t>
                      </m:r>
                      <m:sSub>
                        <m:sSubPr>
                          <m:ctrlPr>
                            <a:rPr lang="en-US" sz="1600" i="1">
                              <a:latin typeface="Cambria Math" panose="02040503050406030204" pitchFamily="18" charset="0"/>
                            </a:rPr>
                          </m:ctrlPr>
                        </m:sSubPr>
                        <m:e>
                          <m:r>
                            <a:rPr lang="en-US" sz="1600" i="1">
                              <a:latin typeface="Cambria Math" panose="02040503050406030204" pitchFamily="18" charset="0"/>
                            </a:rPr>
                            <m:t>0</m:t>
                          </m:r>
                          <m:r>
                            <a:rPr lang="en-US" sz="1600" b="0" i="1" smtClean="0">
                              <a:latin typeface="Cambria Math" panose="02040503050406030204" pitchFamily="18" charset="0"/>
                            </a:rPr>
                            <m:t>𝑥𝐵</m:t>
                          </m:r>
                          <m:r>
                            <a:rPr lang="en-US" sz="1600" b="0" i="1" smtClean="0">
                              <a:latin typeface="Cambria Math" panose="02040503050406030204" pitchFamily="18" charset="0"/>
                            </a:rPr>
                            <m:t>6</m:t>
                          </m:r>
                        </m:e>
                        <m:sub>
                          <m:r>
                            <a:rPr lang="en-US" sz="1600" i="1">
                              <a:latin typeface="Cambria Math" panose="02040503050406030204" pitchFamily="18" charset="0"/>
                            </a:rPr>
                            <m:t>16</m:t>
                          </m:r>
                        </m:sub>
                      </m:sSub>
                    </m:oMath>
                  </m:oMathPara>
                </a14:m>
                <a:endParaRPr lang="en-US" sz="1600" dirty="0"/>
              </a:p>
            </p:txBody>
          </p:sp>
        </mc:Choice>
        <mc:Fallback xmlns="">
          <p:sp>
            <p:nvSpPr>
              <p:cNvPr id="27" name="TextBox 26">
                <a:extLst>
                  <a:ext uri="{FF2B5EF4-FFF2-40B4-BE49-F238E27FC236}">
                    <a16:creationId xmlns:a16="http://schemas.microsoft.com/office/drawing/2014/main" id="{80FB9800-F875-4198-9D15-BF8198C3E34B}"/>
                  </a:ext>
                </a:extLst>
              </p:cNvPr>
              <p:cNvSpPr txBox="1">
                <a:spLocks noRot="1" noChangeAspect="1" noMove="1" noResize="1" noEditPoints="1" noAdjustHandles="1" noChangeArrowheads="1" noChangeShapeType="1" noTextEdit="1"/>
              </p:cNvSpPr>
              <p:nvPr/>
            </p:nvSpPr>
            <p:spPr>
              <a:xfrm>
                <a:off x="4933640" y="5318597"/>
                <a:ext cx="2701188" cy="246221"/>
              </a:xfrm>
              <a:prstGeom prst="rect">
                <a:avLst/>
              </a:prstGeom>
              <a:blipFill>
                <a:blip r:embed="rId12"/>
                <a:stretch>
                  <a:fillRect b="-268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E0648D7-73A5-428B-9B0D-28F871213597}"/>
                  </a:ext>
                </a:extLst>
              </p:cNvPr>
              <p:cNvSpPr txBox="1"/>
              <p:nvPr/>
            </p:nvSpPr>
            <p:spPr>
              <a:xfrm>
                <a:off x="9796302" y="1736854"/>
                <a:ext cx="226196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𝐵</m:t>
                      </m:r>
                      <m:r>
                        <a:rPr lang="en-US" i="1" dirty="0" smtClean="0">
                          <a:latin typeface="Cambria Math" panose="02040503050406030204" pitchFamily="18" charset="0"/>
                        </a:rPr>
                        <m:t>′′′=</m:t>
                      </m:r>
                      <m:r>
                        <m:rPr>
                          <m:nor/>
                        </m:rPr>
                        <a:rPr lang="pt-BR" i="1"/>
                        <m:t>L</m:t>
                      </m:r>
                      <m:r>
                        <m:rPr>
                          <m:nor/>
                        </m:rPr>
                        <a:rPr lang="pt-BR"/>
                        <m:t>(</m:t>
                      </m:r>
                      <m:r>
                        <a:rPr lang="en-US" i="1" dirty="0">
                          <a:latin typeface="Cambria Math" panose="02040503050406030204" pitchFamily="18" charset="0"/>
                        </a:rPr>
                        <m:t>𝐵</m:t>
                      </m:r>
                      <m:r>
                        <a:rPr lang="en-US" i="1" dirty="0">
                          <a:latin typeface="Cambria Math" panose="02040503050406030204" pitchFamily="18" charset="0"/>
                        </a:rPr>
                        <m:t>′′</m:t>
                      </m:r>
                      <m:r>
                        <m:rPr>
                          <m:nor/>
                        </m:rPr>
                        <a:rPr lang="pt-BR"/>
                        <m:t>)</m:t>
                      </m:r>
                      <m:r>
                        <a:rPr lang="en-US" i="1">
                          <a:latin typeface="Cambria Math" panose="02040503050406030204" pitchFamily="18" charset="0"/>
                        </a:rPr>
                        <m:t>=</m:t>
                      </m:r>
                      <m:sSup>
                        <m:sSupPr>
                          <m:ctrlPr>
                            <a:rPr lang="pt-BR"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16</m:t>
                          </m:r>
                        </m:sup>
                      </m:sSup>
                      <m:r>
                        <m:rPr>
                          <m:nor/>
                        </m:rPr>
                        <a:rPr lang="pt-BR"/>
                        <m:t>(</m:t>
                      </m:r>
                      <m:r>
                        <a:rPr lang="en-US" i="1" dirty="0">
                          <a:latin typeface="Cambria Math" panose="02040503050406030204" pitchFamily="18" charset="0"/>
                        </a:rPr>
                        <m:t>𝐵</m:t>
                      </m:r>
                      <m:r>
                        <a:rPr lang="en-US" i="1" dirty="0">
                          <a:latin typeface="Cambria Math" panose="02040503050406030204" pitchFamily="18" charset="0"/>
                        </a:rPr>
                        <m:t>′′</m:t>
                      </m:r>
                      <m:r>
                        <m:rPr>
                          <m:nor/>
                        </m:rPr>
                        <a:rPr lang="pt-BR"/>
                        <m:t>)</m:t>
                      </m:r>
                    </m:oMath>
                  </m:oMathPara>
                </a14:m>
                <a:endParaRPr lang="en-US" dirty="0"/>
              </a:p>
            </p:txBody>
          </p:sp>
        </mc:Choice>
        <mc:Fallback xmlns="">
          <p:sp>
            <p:nvSpPr>
              <p:cNvPr id="20" name="TextBox 19">
                <a:extLst>
                  <a:ext uri="{FF2B5EF4-FFF2-40B4-BE49-F238E27FC236}">
                    <a16:creationId xmlns:a16="http://schemas.microsoft.com/office/drawing/2014/main" id="{FE0648D7-73A5-428B-9B0D-28F871213597}"/>
                  </a:ext>
                </a:extLst>
              </p:cNvPr>
              <p:cNvSpPr txBox="1">
                <a:spLocks noRot="1" noChangeAspect="1" noMove="1" noResize="1" noEditPoints="1" noAdjustHandles="1" noChangeArrowheads="1" noChangeShapeType="1" noTextEdit="1"/>
              </p:cNvSpPr>
              <p:nvPr/>
            </p:nvSpPr>
            <p:spPr>
              <a:xfrm>
                <a:off x="9796302" y="1736854"/>
                <a:ext cx="2261966" cy="276999"/>
              </a:xfrm>
              <a:prstGeom prst="rect">
                <a:avLst/>
              </a:prstGeom>
              <a:blipFill>
                <a:blip r:embed="rId13"/>
                <a:stretch>
                  <a:fillRect l="-2426" t="-4444" r="-3504" b="-31111"/>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6AB2A432-24A7-4C59-AFFC-4A233C7DD0BB}"/>
              </a:ext>
            </a:extLst>
          </p:cNvPr>
          <p:cNvSpPr txBox="1"/>
          <p:nvPr/>
        </p:nvSpPr>
        <p:spPr>
          <a:xfrm>
            <a:off x="7788166" y="2223317"/>
            <a:ext cx="4181704" cy="523220"/>
          </a:xfrm>
          <a:prstGeom prst="rect">
            <a:avLst/>
          </a:prstGeom>
          <a:noFill/>
        </p:spPr>
        <p:txBody>
          <a:bodyPr wrap="square">
            <a:spAutoFit/>
          </a:bodyPr>
          <a:lstStyle/>
          <a:p>
            <a:r>
              <a:rPr lang="en-US" sz="1400" dirty="0"/>
              <a:t>The </a:t>
            </a:r>
            <a:r>
              <a:rPr lang="en-US" sz="1400" b="1" dirty="0"/>
              <a:t>L function</a:t>
            </a:r>
            <a:r>
              <a:rPr lang="en-US" sz="1400" dirty="0"/>
              <a:t> in </a:t>
            </a:r>
            <a:r>
              <a:rPr lang="en-US" sz="1400" dirty="0" err="1"/>
              <a:t>Kuznechik</a:t>
            </a:r>
            <a:r>
              <a:rPr lang="en-US" sz="1400" dirty="0"/>
              <a:t> is essentially defined as </a:t>
            </a:r>
            <a:r>
              <a:rPr lang="en-US" sz="1400" b="1" dirty="0"/>
              <a:t>16 successive applications of the R function</a:t>
            </a:r>
            <a:r>
              <a:rPr lang="en-US" sz="1400" dirty="0"/>
              <a:t>:</a:t>
            </a:r>
          </a:p>
        </p:txBody>
      </p:sp>
      <p:sp>
        <p:nvSpPr>
          <p:cNvPr id="30" name="TextBox 29">
            <a:extLst>
              <a:ext uri="{FF2B5EF4-FFF2-40B4-BE49-F238E27FC236}">
                <a16:creationId xmlns:a16="http://schemas.microsoft.com/office/drawing/2014/main" id="{B87020F3-DA5F-4DA6-AFB8-60D93FD4E01D}"/>
              </a:ext>
            </a:extLst>
          </p:cNvPr>
          <p:cNvSpPr txBox="1"/>
          <p:nvPr/>
        </p:nvSpPr>
        <p:spPr>
          <a:xfrm>
            <a:off x="7788166" y="2858731"/>
            <a:ext cx="4337068" cy="523220"/>
          </a:xfrm>
          <a:prstGeom prst="rect">
            <a:avLst/>
          </a:prstGeom>
          <a:noFill/>
        </p:spPr>
        <p:txBody>
          <a:bodyPr wrap="square">
            <a:spAutoFit/>
          </a:bodyPr>
          <a:lstStyle/>
          <a:p>
            <a:r>
              <a:rPr lang="en-US" sz="1400" dirty="0"/>
              <a:t>16 rounds of a function R, where we compute new block by shifting each byte by 1 byte to the right:</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9E3E08C-D5FB-4A7B-AAB3-EB40D590291E}"/>
                  </a:ext>
                </a:extLst>
              </p:cNvPr>
              <p:cNvSpPr txBox="1"/>
              <p:nvPr/>
            </p:nvSpPr>
            <p:spPr>
              <a:xfrm>
                <a:off x="8518846" y="3421057"/>
                <a:ext cx="2846998" cy="264881"/>
              </a:xfrm>
              <a:prstGeom prst="rect">
                <a:avLst/>
              </a:prstGeom>
              <a:noFill/>
            </p:spPr>
            <p:txBody>
              <a:bodyPr wrap="none" lIns="0" tIns="0" rIns="0" bIns="0" rtlCol="0">
                <a:spAutoFit/>
              </a:bodyPr>
              <a:lstStyle/>
              <a:p>
                <a14:m>
                  <m:oMath xmlns:m="http://schemas.openxmlformats.org/officeDocument/2006/math">
                    <m:sSup>
                      <m:sSupPr>
                        <m:ctrlPr>
                          <a:rPr lang="en-US" sz="1600" i="1" dirty="0" smtClean="0">
                            <a:latin typeface="Cambria Math" panose="02040503050406030204" pitchFamily="18" charset="0"/>
                          </a:rPr>
                        </m:ctrlPr>
                      </m:sSupPr>
                      <m:e>
                        <m:r>
                          <a:rPr lang="en-US" sz="1600" i="1" dirty="0" smtClean="0">
                            <a:latin typeface="Cambria Math" panose="02040503050406030204" pitchFamily="18" charset="0"/>
                          </a:rPr>
                          <m:t>𝐵</m:t>
                        </m:r>
                      </m:e>
                      <m:sup>
                        <m:r>
                          <a:rPr lang="en-US" sz="1600" i="1" dirty="0" smtClean="0">
                            <a:latin typeface="Cambria Math" panose="02040503050406030204" pitchFamily="18" charset="0"/>
                          </a:rPr>
                          <m:t>′′′</m:t>
                        </m:r>
                      </m:sup>
                    </m:sSup>
                    <m:r>
                      <m:rPr>
                        <m:nor/>
                      </m:rPr>
                      <a:rPr lang="en-US" sz="1600" dirty="0"/>
                      <m:t>=&gt;</m:t>
                    </m:r>
                    <m:sSubSup>
                      <m:sSubSupPr>
                        <m:ctrlPr>
                          <a:rPr lang="en-US" sz="1600" i="1" dirty="0" smtClean="0">
                            <a:latin typeface="Cambria Math" panose="02040503050406030204" pitchFamily="18" charset="0"/>
                          </a:rPr>
                        </m:ctrlPr>
                      </m:sSubSupPr>
                      <m:e>
                        <m:r>
                          <a:rPr lang="en-US" sz="1600" b="0" i="1" dirty="0" smtClean="0">
                            <a:latin typeface="Cambria Math" panose="02040503050406030204" pitchFamily="18" charset="0"/>
                          </a:rPr>
                          <m:t> </m:t>
                        </m:r>
                        <m:r>
                          <a:rPr lang="en-US" sz="1600" b="0" i="1" dirty="0" smtClean="0">
                            <a:latin typeface="Cambria Math" panose="02040503050406030204" pitchFamily="18" charset="0"/>
                          </a:rPr>
                          <m:t>𝑎</m:t>
                        </m:r>
                      </m:e>
                      <m:sub>
                        <m:r>
                          <a:rPr lang="en-US" sz="1600" b="0" i="1" dirty="0" smtClean="0">
                            <a:latin typeface="Cambria Math" panose="02040503050406030204" pitchFamily="18" charset="0"/>
                          </a:rPr>
                          <m:t>15</m:t>
                        </m:r>
                      </m:sub>
                      <m:sup>
                        <m:r>
                          <a:rPr lang="en-US" sz="1600" b="0" i="1" dirty="0" smtClean="0">
                            <a:latin typeface="Cambria Math" panose="02040503050406030204" pitchFamily="18" charset="0"/>
                          </a:rPr>
                          <m:t> </m:t>
                        </m:r>
                        <m:r>
                          <a:rPr lang="en-US" sz="1600" i="1" dirty="0" smtClean="0">
                            <a:latin typeface="Cambria Math" panose="02040503050406030204" pitchFamily="18" charset="0"/>
                          </a:rPr>
                          <m:t>′</m:t>
                        </m:r>
                      </m:sup>
                    </m:sSubSup>
                    <m:r>
                      <a:rPr lang="en-US" sz="1600" b="0" i="1" smtClean="0">
                        <a:latin typeface="Cambria Math" panose="02040503050406030204" pitchFamily="18" charset="0"/>
                      </a:rPr>
                      <m:t>= </m:t>
                    </m:r>
                    <m:nary>
                      <m:naryPr>
                        <m:chr m:val="∑"/>
                        <m:ctrlPr>
                          <a:rPr lang="en-US" sz="1600" i="1" smtClean="0">
                            <a:latin typeface="Cambria Math" panose="02040503050406030204" pitchFamily="18" charset="0"/>
                          </a:rPr>
                        </m:ctrlPr>
                      </m:naryPr>
                      <m:sub>
                        <m:r>
                          <m:rPr>
                            <m:brk m:alnAt="23"/>
                          </m:rPr>
                          <a:rPr lang="en-US" sz="1600" b="0" i="1" smtClean="0">
                            <a:latin typeface="Cambria Math" panose="02040503050406030204" pitchFamily="18" charset="0"/>
                          </a:rPr>
                          <m:t>𝑖</m:t>
                        </m:r>
                        <m:r>
                          <a:rPr lang="en-US" sz="1600" b="0" i="1" smtClean="0">
                            <a:latin typeface="Cambria Math" panose="02040503050406030204" pitchFamily="18" charset="0"/>
                          </a:rPr>
                          <m:t>=0</m:t>
                        </m:r>
                      </m:sub>
                      <m:sup>
                        <m:r>
                          <a:rPr lang="en-US" sz="1600" b="0" i="1" smtClean="0">
                            <a:latin typeface="Cambria Math" panose="02040503050406030204" pitchFamily="18" charset="0"/>
                          </a:rPr>
                          <m:t>15</m:t>
                        </m:r>
                      </m:sup>
                      <m:e>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𝑙</m:t>
                            </m:r>
                          </m:e>
                          <m:sub>
                            <m:r>
                              <a:rPr lang="en-US" sz="1600" b="0" i="1" smtClean="0">
                                <a:latin typeface="Cambria Math" panose="02040503050406030204" pitchFamily="18" charset="0"/>
                              </a:rPr>
                              <m:t>𝑖</m:t>
                            </m:r>
                          </m:sub>
                        </m:sSub>
                      </m:e>
                    </m:nary>
                    <m:r>
                      <m:rPr>
                        <m:nor/>
                      </m:rPr>
                      <a:rPr lang="it-IT" sz="1600"/>
                      <m:t>⋅</m:t>
                    </m:r>
                    <m:sSub>
                      <m:sSubPr>
                        <m:ctrlPr>
                          <a:rPr lang="en-US" sz="160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𝑎</m:t>
                        </m:r>
                      </m:e>
                      <m:sub>
                        <m:r>
                          <a:rPr lang="en-US" sz="1600" b="0" i="1" smtClean="0">
                            <a:latin typeface="Cambria Math" panose="02040503050406030204" pitchFamily="18" charset="0"/>
                            <a:ea typeface="Cambria Math" panose="02040503050406030204" pitchFamily="18" charset="0"/>
                          </a:rPr>
                          <m:t>𝑖</m:t>
                        </m:r>
                      </m:sub>
                    </m:sSub>
                    <m:r>
                      <a:rPr lang="en-US" sz="1600" b="0" i="1" smtClean="0">
                        <a:latin typeface="Cambria Math" panose="02040503050406030204" pitchFamily="18" charset="0"/>
                        <a:ea typeface="Cambria Math" panose="02040503050406030204" pitchFamily="18" charset="0"/>
                      </a:rPr>
                      <m:t> </m:t>
                    </m:r>
                    <m:r>
                      <m:rPr>
                        <m:nor/>
                      </m:rPr>
                      <a:rPr lang="it-IT" sz="1600"/>
                      <m:t>in</m:t>
                    </m:r>
                    <m:r>
                      <m:rPr>
                        <m:nor/>
                      </m:rPr>
                      <a:rPr lang="it-IT" sz="1600"/>
                      <m:t> </m:t>
                    </m:r>
                    <m:r>
                      <m:rPr>
                        <m:nor/>
                      </m:rPr>
                      <a:rPr lang="it-IT" sz="1600"/>
                      <m:t>GF</m:t>
                    </m:r>
                    <m:r>
                      <m:rPr>
                        <m:nor/>
                      </m:rPr>
                      <a:rPr lang="it-IT" sz="1600"/>
                      <m:t>(2⁸)</m:t>
                    </m:r>
                  </m:oMath>
                </a14:m>
                <a:r>
                  <a:rPr lang="en-US" sz="1600" dirty="0"/>
                  <a:t> </a:t>
                </a:r>
              </a:p>
            </p:txBody>
          </p:sp>
        </mc:Choice>
        <mc:Fallback xmlns="">
          <p:sp>
            <p:nvSpPr>
              <p:cNvPr id="32" name="TextBox 31">
                <a:extLst>
                  <a:ext uri="{FF2B5EF4-FFF2-40B4-BE49-F238E27FC236}">
                    <a16:creationId xmlns:a16="http://schemas.microsoft.com/office/drawing/2014/main" id="{E9E3E08C-D5FB-4A7B-AAB3-EB40D590291E}"/>
                  </a:ext>
                </a:extLst>
              </p:cNvPr>
              <p:cNvSpPr txBox="1">
                <a:spLocks noRot="1" noChangeAspect="1" noMove="1" noResize="1" noEditPoints="1" noAdjustHandles="1" noChangeArrowheads="1" noChangeShapeType="1" noTextEdit="1"/>
              </p:cNvSpPr>
              <p:nvPr/>
            </p:nvSpPr>
            <p:spPr>
              <a:xfrm>
                <a:off x="8518846" y="3421057"/>
                <a:ext cx="2846998" cy="264881"/>
              </a:xfrm>
              <a:prstGeom prst="rect">
                <a:avLst/>
              </a:prstGeom>
              <a:blipFill>
                <a:blip r:embed="rId14"/>
                <a:stretch>
                  <a:fillRect l="-2355" t="-147727" r="-1285" b="-231818"/>
                </a:stretch>
              </a:blipFill>
            </p:spPr>
            <p:txBody>
              <a:bodyPr/>
              <a:lstStyle/>
              <a:p>
                <a:r>
                  <a:rPr lang="en-US">
                    <a:noFill/>
                  </a:rPr>
                  <a:t> </a:t>
                </a:r>
              </a:p>
            </p:txBody>
          </p:sp>
        </mc:Fallback>
      </mc:AlternateContent>
      <p:sp>
        <p:nvSpPr>
          <p:cNvPr id="38" name="TextBox 37">
            <a:extLst>
              <a:ext uri="{FF2B5EF4-FFF2-40B4-BE49-F238E27FC236}">
                <a16:creationId xmlns:a16="http://schemas.microsoft.com/office/drawing/2014/main" id="{9E8FAC72-90B5-4170-AB1B-32824F0EF5C6}"/>
              </a:ext>
            </a:extLst>
          </p:cNvPr>
          <p:cNvSpPr txBox="1"/>
          <p:nvPr/>
        </p:nvSpPr>
        <p:spPr>
          <a:xfrm>
            <a:off x="7788165" y="4681547"/>
            <a:ext cx="4403834" cy="307777"/>
          </a:xfrm>
          <a:prstGeom prst="rect">
            <a:avLst/>
          </a:prstGeom>
          <a:noFill/>
        </p:spPr>
        <p:txBody>
          <a:bodyPr wrap="square">
            <a:spAutoFit/>
          </a:bodyPr>
          <a:lstStyle/>
          <a:p>
            <a:r>
              <a:rPr lang="en-US" sz="1400" i="1" dirty="0"/>
              <a:t>(148,32,133,16,194,192,1,251,1,192,194,16,133,32,148,1)</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F288C90-6AAE-42A4-A46B-26051AA2A557}"/>
                  </a:ext>
                </a:extLst>
              </p:cNvPr>
              <p:cNvSpPr txBox="1"/>
              <p:nvPr/>
            </p:nvSpPr>
            <p:spPr>
              <a:xfrm>
                <a:off x="7788165" y="3736626"/>
                <a:ext cx="4181705" cy="523220"/>
              </a:xfrm>
              <a:prstGeom prst="rect">
                <a:avLst/>
              </a:prstGeom>
              <a:noFill/>
            </p:spPr>
            <p:txBody>
              <a:bodyPr wrap="square">
                <a:spAutoFit/>
              </a:bodyPr>
              <a:lstStyle/>
              <a:p>
                <a:r>
                  <a:rPr lang="en-US" sz="1400" dirty="0"/>
                  <a:t>where </a:t>
                </a:r>
                <a14:m>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𝑙</m:t>
                        </m:r>
                      </m:e>
                      <m:sub>
                        <m:r>
                          <a:rPr lang="en-US" sz="1400" b="0" i="1" smtClean="0">
                            <a:latin typeface="Cambria Math" panose="02040503050406030204" pitchFamily="18" charset="0"/>
                          </a:rPr>
                          <m:t>𝑖</m:t>
                        </m:r>
                      </m:sub>
                    </m:sSub>
                  </m:oMath>
                </a14:m>
                <a:r>
                  <a:rPr lang="en-US" sz="1400" dirty="0"/>
                  <a:t> is one of the </a:t>
                </a:r>
                <a:r>
                  <a:rPr lang="en-US" sz="1400" b="1" dirty="0"/>
                  <a:t>below LSFR coefficients </a:t>
                </a:r>
                <a:r>
                  <a:rPr lang="en-US" sz="1400" dirty="0"/>
                  <a:t>of a </a:t>
                </a:r>
                <a:r>
                  <a:rPr lang="en-US" sz="1400" b="1" dirty="0"/>
                  <a:t>predefined vector</a:t>
                </a:r>
                <a:r>
                  <a:rPr lang="en-US" sz="1400" dirty="0"/>
                  <a:t>) and </a:t>
                </a:r>
                <a14:m>
                  <m:oMath xmlns:m="http://schemas.openxmlformats.org/officeDocument/2006/math">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 </m:t>
                        </m:r>
                        <m:r>
                          <a:rPr lang="en-US" sz="1400" i="1">
                            <a:latin typeface="Cambria Math" panose="02040503050406030204" pitchFamily="18" charset="0"/>
                            <a:ea typeface="Cambria Math" panose="02040503050406030204" pitchFamily="18" charset="0"/>
                          </a:rPr>
                          <m:t>𝑎</m:t>
                        </m:r>
                      </m:e>
                      <m:sub>
                        <m:r>
                          <a:rPr lang="en-US" sz="1400" i="1">
                            <a:latin typeface="Cambria Math" panose="02040503050406030204" pitchFamily="18" charset="0"/>
                            <a:ea typeface="Cambria Math" panose="02040503050406030204" pitchFamily="18" charset="0"/>
                          </a:rPr>
                          <m:t>𝑖</m:t>
                        </m:r>
                      </m:sub>
                    </m:sSub>
                    <m:r>
                      <a:rPr lang="en-US" sz="1400" i="1">
                        <a:latin typeface="Cambria Math" panose="02040503050406030204" pitchFamily="18" charset="0"/>
                        <a:ea typeface="Cambria Math" panose="02040503050406030204" pitchFamily="18" charset="0"/>
                      </a:rPr>
                      <m:t> </m:t>
                    </m:r>
                  </m:oMath>
                </a14:m>
                <a:r>
                  <a:rPr lang="en-US" sz="1400" dirty="0"/>
                  <a:t>​ are the </a:t>
                </a:r>
                <a14:m>
                  <m:oMath xmlns:m="http://schemas.openxmlformats.org/officeDocument/2006/math">
                    <m:r>
                      <a:rPr lang="en-US" sz="1400" b="1" i="1" dirty="0">
                        <a:latin typeface="Cambria Math" panose="02040503050406030204" pitchFamily="18" charset="0"/>
                      </a:rPr>
                      <m:t>𝑩</m:t>
                    </m:r>
                    <m:r>
                      <a:rPr lang="en-US" sz="1400" b="1" i="1" dirty="0">
                        <a:latin typeface="Cambria Math" panose="02040503050406030204" pitchFamily="18" charset="0"/>
                      </a:rPr>
                      <m:t>′′ </m:t>
                    </m:r>
                  </m:oMath>
                </a14:m>
                <a:r>
                  <a:rPr lang="en-US" sz="1400" dirty="0"/>
                  <a:t>block’s bytes.</a:t>
                </a:r>
              </a:p>
            </p:txBody>
          </p:sp>
        </mc:Choice>
        <mc:Fallback xmlns="">
          <p:sp>
            <p:nvSpPr>
              <p:cNvPr id="40" name="TextBox 39">
                <a:extLst>
                  <a:ext uri="{FF2B5EF4-FFF2-40B4-BE49-F238E27FC236}">
                    <a16:creationId xmlns:a16="http://schemas.microsoft.com/office/drawing/2014/main" id="{8F288C90-6AAE-42A4-A46B-26051AA2A557}"/>
                  </a:ext>
                </a:extLst>
              </p:cNvPr>
              <p:cNvSpPr txBox="1">
                <a:spLocks noRot="1" noChangeAspect="1" noMove="1" noResize="1" noEditPoints="1" noAdjustHandles="1" noChangeArrowheads="1" noChangeShapeType="1" noTextEdit="1"/>
              </p:cNvSpPr>
              <p:nvPr/>
            </p:nvSpPr>
            <p:spPr>
              <a:xfrm>
                <a:off x="7788165" y="3736626"/>
                <a:ext cx="4181705" cy="523220"/>
              </a:xfrm>
              <a:prstGeom prst="rect">
                <a:avLst/>
              </a:prstGeom>
              <a:blipFill>
                <a:blip r:embed="rId15"/>
                <a:stretch>
                  <a:fillRect l="-437" t="-2326" b="-104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A7AADCF-81F9-434C-B077-F92F304D15FA}"/>
                  </a:ext>
                </a:extLst>
              </p:cNvPr>
              <p:cNvSpPr txBox="1"/>
              <p:nvPr/>
            </p:nvSpPr>
            <p:spPr>
              <a:xfrm>
                <a:off x="7788165" y="5102150"/>
                <a:ext cx="4181706" cy="523220"/>
              </a:xfrm>
              <a:prstGeom prst="rect">
                <a:avLst/>
              </a:prstGeom>
              <a:noFill/>
            </p:spPr>
            <p:txBody>
              <a:bodyPr wrap="square">
                <a:spAutoFit/>
              </a:bodyPr>
              <a:lstStyle/>
              <a:p>
                <a:r>
                  <a:rPr lang="en-US" sz="1400" dirty="0"/>
                  <a:t>In </a:t>
                </a:r>
                <a:r>
                  <a:rPr lang="en-US" sz="1400" b="1" dirty="0"/>
                  <a:t>Galois Field GF(2⁸)</a:t>
                </a:r>
                <a:r>
                  <a:rPr lang="en-US" sz="1400" dirty="0"/>
                  <a:t>, each </a:t>
                </a:r>
                <a14:m>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𝑙</m:t>
                        </m:r>
                      </m:e>
                      <m:sub>
                        <m:r>
                          <a:rPr lang="en-US" sz="1400" b="0" i="1" smtClean="0">
                            <a:latin typeface="Cambria Math" panose="02040503050406030204" pitchFamily="18" charset="0"/>
                          </a:rPr>
                          <m:t>𝑖</m:t>
                        </m:r>
                      </m:sub>
                    </m:sSub>
                  </m:oMath>
                </a14:m>
                <a:r>
                  <a:rPr lang="en-US" sz="1400" dirty="0"/>
                  <a:t> byte (8-bit value) is interpreted as a </a:t>
                </a:r>
                <a:r>
                  <a:rPr lang="en-US" sz="1400" b="1" dirty="0"/>
                  <a:t>polynomial of degree ≤ 7</a:t>
                </a:r>
                <a:r>
                  <a:rPr lang="en-US" sz="1400" dirty="0"/>
                  <a:t>,</a:t>
                </a:r>
              </a:p>
            </p:txBody>
          </p:sp>
        </mc:Choice>
        <mc:Fallback xmlns="">
          <p:sp>
            <p:nvSpPr>
              <p:cNvPr id="42" name="TextBox 41">
                <a:extLst>
                  <a:ext uri="{FF2B5EF4-FFF2-40B4-BE49-F238E27FC236}">
                    <a16:creationId xmlns:a16="http://schemas.microsoft.com/office/drawing/2014/main" id="{7A7AADCF-81F9-434C-B077-F92F304D15FA}"/>
                  </a:ext>
                </a:extLst>
              </p:cNvPr>
              <p:cNvSpPr txBox="1">
                <a:spLocks noRot="1" noChangeAspect="1" noMove="1" noResize="1" noEditPoints="1" noAdjustHandles="1" noChangeArrowheads="1" noChangeShapeType="1" noTextEdit="1"/>
              </p:cNvSpPr>
              <p:nvPr/>
            </p:nvSpPr>
            <p:spPr>
              <a:xfrm>
                <a:off x="7788165" y="5102150"/>
                <a:ext cx="4181706" cy="523220"/>
              </a:xfrm>
              <a:prstGeom prst="rect">
                <a:avLst/>
              </a:prstGeom>
              <a:blipFill>
                <a:blip r:embed="rId16"/>
                <a:stretch>
                  <a:fillRect l="-437" t="-2326" b="-104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A95C809-6AB3-47FC-80AC-BE5838E8F3C8}"/>
                  </a:ext>
                </a:extLst>
              </p:cNvPr>
              <p:cNvSpPr txBox="1"/>
              <p:nvPr/>
            </p:nvSpPr>
            <p:spPr>
              <a:xfrm>
                <a:off x="7887479" y="5676058"/>
                <a:ext cx="4138441" cy="215444"/>
              </a:xfrm>
              <a:prstGeom prst="rect">
                <a:avLst/>
              </a:prstGeom>
              <a:noFill/>
            </p:spPr>
            <p:txBody>
              <a:bodyPr wrap="none" lIns="0" tIns="0" rIns="0" bIns="0" rtlCol="0">
                <a:spAutoFit/>
              </a:bodyPr>
              <a:lstStyle/>
              <a:p>
                <a:r>
                  <a:rPr lang="en-US" sz="1400" dirty="0"/>
                  <a:t>148 </a:t>
                </a:r>
                <a14:m>
                  <m:oMath xmlns:m="http://schemas.openxmlformats.org/officeDocument/2006/math">
                    <m:r>
                      <a:rPr lang="en-US" sz="1400" i="1">
                        <a:latin typeface="Cambria Math" panose="02040503050406030204" pitchFamily="18" charset="0"/>
                      </a:rPr>
                      <m:t>=</m:t>
                    </m:r>
                  </m:oMath>
                </a14:m>
                <a:r>
                  <a:rPr lang="en-US" sz="1400" dirty="0"/>
                  <a:t>  1001 0100 (binary) </a:t>
                </a:r>
                <a14:m>
                  <m:oMath xmlns:m="http://schemas.openxmlformats.org/officeDocument/2006/math">
                    <m:r>
                      <a:rPr lang="en-US" sz="1400" i="1">
                        <a:latin typeface="Cambria Math" panose="02040503050406030204" pitchFamily="18" charset="0"/>
                      </a:rPr>
                      <m:t>=</m:t>
                    </m:r>
                  </m:oMath>
                </a14:m>
                <a:r>
                  <a:rPr lang="en-US" sz="1400" dirty="0"/>
                  <a:t> 0x94 (hex) </a:t>
                </a:r>
                <a14:m>
                  <m:oMath xmlns:m="http://schemas.openxmlformats.org/officeDocument/2006/math">
                    <m:r>
                      <a:rPr lang="en-US" sz="1400" i="1">
                        <a:latin typeface="Cambria Math" panose="02040503050406030204" pitchFamily="18" charset="0"/>
                      </a:rPr>
                      <m:t>=</m:t>
                    </m:r>
                  </m:oMath>
                </a14:m>
                <a:r>
                  <a:rPr lang="en-US" sz="1400" dirty="0"/>
                  <a:t> </a:t>
                </a:r>
                <a14:m>
                  <m:oMath xmlns:m="http://schemas.openxmlformats.org/officeDocument/2006/math">
                    <m:sSup>
                      <m:sSupPr>
                        <m:ctrlPr>
                          <a:rPr lang="en-US" sz="1400" i="1" smtClean="0">
                            <a:latin typeface="Cambria Math" panose="02040503050406030204" pitchFamily="18" charset="0"/>
                          </a:rPr>
                        </m:ctrlPr>
                      </m:sSupPr>
                      <m:e>
                        <m:r>
                          <a:rPr lang="en-US" sz="1400" b="0" i="1" smtClean="0">
                            <a:latin typeface="Cambria Math" panose="02040503050406030204" pitchFamily="18" charset="0"/>
                          </a:rPr>
                          <m:t>𝑥</m:t>
                        </m:r>
                      </m:e>
                      <m:sup>
                        <m:r>
                          <a:rPr lang="en-US" sz="1400" b="0" i="1" smtClean="0">
                            <a:latin typeface="Cambria Math" panose="02040503050406030204" pitchFamily="18" charset="0"/>
                          </a:rPr>
                          <m:t>7</m:t>
                        </m:r>
                      </m:sup>
                    </m:sSup>
                    <m:r>
                      <a:rPr lang="en-US" sz="1400" b="0" i="1" smtClean="0">
                        <a:latin typeface="Cambria Math" panose="02040503050406030204" pitchFamily="18" charset="0"/>
                      </a:rPr>
                      <m:t>+</m:t>
                    </m:r>
                    <m:sSup>
                      <m:sSupPr>
                        <m:ctrlPr>
                          <a:rPr lang="en-US" sz="1400" i="1" smtClean="0">
                            <a:latin typeface="Cambria Math" panose="02040503050406030204" pitchFamily="18" charset="0"/>
                          </a:rPr>
                        </m:ctrlPr>
                      </m:sSupPr>
                      <m:e>
                        <m:r>
                          <a:rPr lang="en-US" sz="1400" b="0" i="1" smtClean="0">
                            <a:latin typeface="Cambria Math" panose="02040503050406030204" pitchFamily="18" charset="0"/>
                          </a:rPr>
                          <m:t>𝑥</m:t>
                        </m:r>
                      </m:e>
                      <m:sup>
                        <m:r>
                          <a:rPr lang="en-US" sz="1400" b="0" i="1" smtClean="0">
                            <a:latin typeface="Cambria Math" panose="02040503050406030204" pitchFamily="18" charset="0"/>
                          </a:rPr>
                          <m:t>4</m:t>
                        </m:r>
                      </m:sup>
                    </m:sSup>
                    <m:r>
                      <a:rPr lang="en-US" sz="1400" b="0" i="1" smtClean="0">
                        <a:latin typeface="Cambria Math" panose="02040503050406030204" pitchFamily="18" charset="0"/>
                      </a:rPr>
                      <m:t>+</m:t>
                    </m:r>
                    <m:sSup>
                      <m:sSupPr>
                        <m:ctrlPr>
                          <a:rPr lang="en-US" sz="1400" i="1" smtClean="0">
                            <a:latin typeface="Cambria Math" panose="02040503050406030204" pitchFamily="18" charset="0"/>
                          </a:rPr>
                        </m:ctrlPr>
                      </m:sSupPr>
                      <m:e>
                        <m:r>
                          <a:rPr lang="en-US" sz="1400" b="0" i="1" smtClean="0">
                            <a:latin typeface="Cambria Math" panose="02040503050406030204" pitchFamily="18" charset="0"/>
                          </a:rPr>
                          <m:t>𝑥</m:t>
                        </m:r>
                      </m:e>
                      <m:sup>
                        <m:r>
                          <a:rPr lang="en-US" sz="1400" b="0" i="1" smtClean="0">
                            <a:latin typeface="Cambria Math" panose="02040503050406030204" pitchFamily="18" charset="0"/>
                          </a:rPr>
                          <m:t>2</m:t>
                        </m:r>
                      </m:sup>
                    </m:sSup>
                  </m:oMath>
                </a14:m>
                <a:endParaRPr lang="en-US" sz="1400" dirty="0"/>
              </a:p>
            </p:txBody>
          </p:sp>
        </mc:Choice>
        <mc:Fallback xmlns="">
          <p:sp>
            <p:nvSpPr>
              <p:cNvPr id="44" name="TextBox 43">
                <a:extLst>
                  <a:ext uri="{FF2B5EF4-FFF2-40B4-BE49-F238E27FC236}">
                    <a16:creationId xmlns:a16="http://schemas.microsoft.com/office/drawing/2014/main" id="{4A95C809-6AB3-47FC-80AC-BE5838E8F3C8}"/>
                  </a:ext>
                </a:extLst>
              </p:cNvPr>
              <p:cNvSpPr txBox="1">
                <a:spLocks noRot="1" noChangeAspect="1" noMove="1" noResize="1" noEditPoints="1" noAdjustHandles="1" noChangeArrowheads="1" noChangeShapeType="1" noTextEdit="1"/>
              </p:cNvSpPr>
              <p:nvPr/>
            </p:nvSpPr>
            <p:spPr>
              <a:xfrm>
                <a:off x="7887479" y="5676058"/>
                <a:ext cx="4138441" cy="215444"/>
              </a:xfrm>
              <a:prstGeom prst="rect">
                <a:avLst/>
              </a:prstGeom>
              <a:blipFill>
                <a:blip r:embed="rId17"/>
                <a:stretch>
                  <a:fillRect l="-2651" t="-22857" b="-54286"/>
                </a:stretch>
              </a:blipFill>
            </p:spPr>
            <p:txBody>
              <a:bodyPr/>
              <a:lstStyle/>
              <a:p>
                <a:r>
                  <a:rPr lang="en-US">
                    <a:noFill/>
                  </a:rPr>
                  <a:t> </a:t>
                </a:r>
              </a:p>
            </p:txBody>
          </p:sp>
        </mc:Fallback>
      </mc:AlternateContent>
      <p:graphicFrame>
        <p:nvGraphicFramePr>
          <p:cNvPr id="51" name="Таблица 50">
            <a:extLst>
              <a:ext uri="{FF2B5EF4-FFF2-40B4-BE49-F238E27FC236}">
                <a16:creationId xmlns:a16="http://schemas.microsoft.com/office/drawing/2014/main" id="{33B8ECB8-AEC1-4EA2-B105-F2F7FBBF7BBB}"/>
              </a:ext>
            </a:extLst>
          </p:cNvPr>
          <p:cNvGraphicFramePr>
            <a:graphicFrameLocks noGrp="1"/>
          </p:cNvGraphicFramePr>
          <p:nvPr>
            <p:extLst>
              <p:ext uri="{D42A27DB-BD31-4B8C-83A1-F6EECF244321}">
                <p14:modId xmlns:p14="http://schemas.microsoft.com/office/powerpoint/2010/main" val="3847793763"/>
              </p:ext>
            </p:extLst>
          </p:nvPr>
        </p:nvGraphicFramePr>
        <p:xfrm>
          <a:off x="7865004" y="6012319"/>
          <a:ext cx="3565639" cy="548640"/>
        </p:xfrm>
        <a:graphic>
          <a:graphicData uri="http://schemas.openxmlformats.org/drawingml/2006/table">
            <a:tbl>
              <a:tblPr/>
              <a:tblGrid>
                <a:gridCol w="975072">
                  <a:extLst>
                    <a:ext uri="{9D8B030D-6E8A-4147-A177-3AD203B41FA5}">
                      <a16:colId xmlns:a16="http://schemas.microsoft.com/office/drawing/2014/main" val="3133750472"/>
                    </a:ext>
                  </a:extLst>
                </a:gridCol>
                <a:gridCol w="230785">
                  <a:extLst>
                    <a:ext uri="{9D8B030D-6E8A-4147-A177-3AD203B41FA5}">
                      <a16:colId xmlns:a16="http://schemas.microsoft.com/office/drawing/2014/main" val="4241703951"/>
                    </a:ext>
                  </a:extLst>
                </a:gridCol>
                <a:gridCol w="230785">
                  <a:extLst>
                    <a:ext uri="{9D8B030D-6E8A-4147-A177-3AD203B41FA5}">
                      <a16:colId xmlns:a16="http://schemas.microsoft.com/office/drawing/2014/main" val="2878862369"/>
                    </a:ext>
                  </a:extLst>
                </a:gridCol>
                <a:gridCol w="230785">
                  <a:extLst>
                    <a:ext uri="{9D8B030D-6E8A-4147-A177-3AD203B41FA5}">
                      <a16:colId xmlns:a16="http://schemas.microsoft.com/office/drawing/2014/main" val="955892343"/>
                    </a:ext>
                  </a:extLst>
                </a:gridCol>
                <a:gridCol w="230785">
                  <a:extLst>
                    <a:ext uri="{9D8B030D-6E8A-4147-A177-3AD203B41FA5}">
                      <a16:colId xmlns:a16="http://schemas.microsoft.com/office/drawing/2014/main" val="2775362422"/>
                    </a:ext>
                  </a:extLst>
                </a:gridCol>
                <a:gridCol w="230785">
                  <a:extLst>
                    <a:ext uri="{9D8B030D-6E8A-4147-A177-3AD203B41FA5}">
                      <a16:colId xmlns:a16="http://schemas.microsoft.com/office/drawing/2014/main" val="3668750669"/>
                    </a:ext>
                  </a:extLst>
                </a:gridCol>
                <a:gridCol w="230785">
                  <a:extLst>
                    <a:ext uri="{9D8B030D-6E8A-4147-A177-3AD203B41FA5}">
                      <a16:colId xmlns:a16="http://schemas.microsoft.com/office/drawing/2014/main" val="620031819"/>
                    </a:ext>
                  </a:extLst>
                </a:gridCol>
                <a:gridCol w="230785">
                  <a:extLst>
                    <a:ext uri="{9D8B030D-6E8A-4147-A177-3AD203B41FA5}">
                      <a16:colId xmlns:a16="http://schemas.microsoft.com/office/drawing/2014/main" val="2206993536"/>
                    </a:ext>
                  </a:extLst>
                </a:gridCol>
                <a:gridCol w="975072">
                  <a:extLst>
                    <a:ext uri="{9D8B030D-6E8A-4147-A177-3AD203B41FA5}">
                      <a16:colId xmlns:a16="http://schemas.microsoft.com/office/drawing/2014/main" val="63968660"/>
                    </a:ext>
                  </a:extLst>
                </a:gridCol>
              </a:tblGrid>
              <a:tr h="0">
                <a:tc>
                  <a:txBody>
                    <a:bodyPr/>
                    <a:lstStyle/>
                    <a:p>
                      <a:r>
                        <a:rPr lang="en-US" sz="800" dirty="0"/>
                        <a:t>Bit Position (left to right)</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n-US" sz="800" dirty="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n-US" sz="80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n-US" sz="8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n-US" sz="80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n-US" sz="80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n-US" sz="8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n-US" sz="8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n-US" sz="800" dirty="0"/>
                        <a:t>0</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9238543"/>
                  </a:ext>
                </a:extLst>
              </a:tr>
              <a:tr h="0">
                <a:tc>
                  <a:txBody>
                    <a:bodyPr/>
                    <a:lstStyle/>
                    <a:p>
                      <a:r>
                        <a:rPr lang="en-US" sz="800"/>
                        <a:t>Bit Value (0x94)</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US" sz="8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US" sz="8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US" sz="8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US" sz="8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US" sz="8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US" sz="8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US" sz="8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US" sz="800" dirty="0"/>
                        <a:t>0</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3090026300"/>
                  </a:ext>
                </a:extLst>
              </a:tr>
            </a:tbl>
          </a:graphicData>
        </a:graphic>
      </p:graphicFrame>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FA69DC7A-223D-4617-ABBD-63A96FA55947}"/>
                  </a:ext>
                </a:extLst>
              </p:cNvPr>
              <p:cNvSpPr txBox="1"/>
              <p:nvPr/>
            </p:nvSpPr>
            <p:spPr>
              <a:xfrm>
                <a:off x="8810814" y="4290833"/>
                <a:ext cx="2049518" cy="338554"/>
              </a:xfrm>
              <a:prstGeom prst="rect">
                <a:avLst/>
              </a:prstGeom>
              <a:noFill/>
            </p:spPr>
            <p:txBody>
              <a:bodyPr wrap="square">
                <a:spAutoFit/>
              </a:bodyPr>
              <a:lstStyle/>
              <a:p>
                <a14:m>
                  <m:oMath xmlns:m="http://schemas.openxmlformats.org/officeDocument/2006/math">
                    <m:sSup>
                      <m:sSupPr>
                        <m:ctrlPr>
                          <a:rPr lang="en-US" sz="1600" i="1" dirty="0">
                            <a:latin typeface="Cambria Math" panose="02040503050406030204" pitchFamily="18" charset="0"/>
                          </a:rPr>
                        </m:ctrlPr>
                      </m:sSupPr>
                      <m:e>
                        <m:r>
                          <a:rPr lang="en-US" sz="1600" i="1" dirty="0">
                            <a:latin typeface="Cambria Math" panose="02040503050406030204" pitchFamily="18" charset="0"/>
                          </a:rPr>
                          <m:t>𝐵</m:t>
                        </m:r>
                      </m:e>
                      <m:sup>
                        <m:r>
                          <a:rPr lang="en-US" sz="1600" i="1" dirty="0">
                            <a:latin typeface="Cambria Math" panose="02040503050406030204" pitchFamily="18" charset="0"/>
                          </a:rPr>
                          <m:t>′′</m:t>
                        </m:r>
                      </m:sup>
                    </m:sSup>
                    <m:r>
                      <a:rPr lang="en-US" sz="1600" i="1">
                        <a:latin typeface="Cambria Math" panose="02040503050406030204" pitchFamily="18" charset="0"/>
                      </a:rPr>
                      <m:t>=</m:t>
                    </m:r>
                  </m:oMath>
                </a14:m>
                <a:r>
                  <a:rPr lang="en-US" sz="1600" dirty="0"/>
                  <a:t> (</a:t>
                </a:r>
                <a14:m>
                  <m:oMath xmlns:m="http://schemas.openxmlformats.org/officeDocument/2006/math">
                    <m:sSub>
                      <m:sSubPr>
                        <m:ctrlPr>
                          <a:rPr lang="en-US" sz="160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𝑎</m:t>
                        </m:r>
                      </m:e>
                      <m:sub>
                        <m:r>
                          <a:rPr lang="en-US" sz="1600" b="0" i="1" smtClean="0">
                            <a:latin typeface="Cambria Math" panose="02040503050406030204" pitchFamily="18" charset="0"/>
                            <a:ea typeface="Cambria Math" panose="02040503050406030204" pitchFamily="18" charset="0"/>
                          </a:rPr>
                          <m:t>0</m:t>
                        </m:r>
                      </m:sub>
                    </m:sSub>
                    <m:r>
                      <a:rPr lang="en-US" sz="1600" b="0" i="1" smtClean="0">
                        <a:latin typeface="Cambria Math" panose="02040503050406030204" pitchFamily="18" charset="0"/>
                        <a:ea typeface="Cambria Math" panose="02040503050406030204" pitchFamily="18" charset="0"/>
                      </a:rPr>
                      <m:t> </m:t>
                    </m:r>
                  </m:oMath>
                </a14:m>
                <a:r>
                  <a:rPr lang="en-US" sz="1600" dirty="0"/>
                  <a:t>,</a:t>
                </a: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𝑎</m:t>
                        </m:r>
                      </m:e>
                      <m:sub>
                        <m:r>
                          <a:rPr lang="en-US" sz="1600" b="0" i="1" smtClean="0">
                            <a:latin typeface="Cambria Math" panose="02040503050406030204" pitchFamily="18" charset="0"/>
                            <a:ea typeface="Cambria Math" panose="02040503050406030204" pitchFamily="18" charset="0"/>
                          </a:rPr>
                          <m:t>1</m:t>
                        </m:r>
                      </m:sub>
                    </m:sSub>
                    <m:r>
                      <a:rPr lang="en-US" sz="1600" i="1">
                        <a:latin typeface="Cambria Math" panose="02040503050406030204" pitchFamily="18" charset="0"/>
                        <a:ea typeface="Cambria Math" panose="02040503050406030204" pitchFamily="18" charset="0"/>
                      </a:rPr>
                      <m:t> </m:t>
                    </m:r>
                  </m:oMath>
                </a14:m>
                <a:r>
                  <a:rPr lang="en-US" sz="1600" dirty="0"/>
                  <a:t>​,...,</a:t>
                </a: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𝑎</m:t>
                        </m:r>
                      </m:e>
                      <m:sub>
                        <m:r>
                          <a:rPr lang="en-US" sz="1600" b="0" i="1" smtClean="0">
                            <a:latin typeface="Cambria Math" panose="02040503050406030204" pitchFamily="18" charset="0"/>
                            <a:ea typeface="Cambria Math" panose="02040503050406030204" pitchFamily="18" charset="0"/>
                          </a:rPr>
                          <m:t>15</m:t>
                        </m:r>
                      </m:sub>
                    </m:sSub>
                  </m:oMath>
                </a14:m>
                <a:r>
                  <a:rPr lang="en-US" sz="1600" dirty="0"/>
                  <a:t>​)</a:t>
                </a:r>
              </a:p>
            </p:txBody>
          </p:sp>
        </mc:Choice>
        <mc:Fallback xmlns="">
          <p:sp>
            <p:nvSpPr>
              <p:cNvPr id="63" name="TextBox 62">
                <a:extLst>
                  <a:ext uri="{FF2B5EF4-FFF2-40B4-BE49-F238E27FC236}">
                    <a16:creationId xmlns:a16="http://schemas.microsoft.com/office/drawing/2014/main" id="{FA69DC7A-223D-4617-ABBD-63A96FA55947}"/>
                  </a:ext>
                </a:extLst>
              </p:cNvPr>
              <p:cNvSpPr txBox="1">
                <a:spLocks noRot="1" noChangeAspect="1" noMove="1" noResize="1" noEditPoints="1" noAdjustHandles="1" noChangeArrowheads="1" noChangeShapeType="1" noTextEdit="1"/>
              </p:cNvSpPr>
              <p:nvPr/>
            </p:nvSpPr>
            <p:spPr>
              <a:xfrm>
                <a:off x="8810814" y="4290833"/>
                <a:ext cx="2049518" cy="338554"/>
              </a:xfrm>
              <a:prstGeom prst="rect">
                <a:avLst/>
              </a:prstGeom>
              <a:blipFill>
                <a:blip r:embed="rId18"/>
                <a:stretch>
                  <a:fillRect t="-5455" r="-890" b="-23636"/>
                </a:stretch>
              </a:blipFill>
            </p:spPr>
            <p:txBody>
              <a:bodyPr/>
              <a:lstStyle/>
              <a:p>
                <a:r>
                  <a:rPr lang="en-US">
                    <a:noFill/>
                  </a:rPr>
                  <a:t> </a:t>
                </a:r>
              </a:p>
            </p:txBody>
          </p:sp>
        </mc:Fallback>
      </mc:AlternateContent>
      <p:pic>
        <p:nvPicPr>
          <p:cNvPr id="61" name="Рисунок 60">
            <a:extLst>
              <a:ext uri="{FF2B5EF4-FFF2-40B4-BE49-F238E27FC236}">
                <a16:creationId xmlns:a16="http://schemas.microsoft.com/office/drawing/2014/main" id="{0CB37655-7CD2-40F7-8E78-DD66F5FD4CAD}"/>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4933640" y="261164"/>
            <a:ext cx="6986846" cy="1335066"/>
          </a:xfrm>
          <a:prstGeom prst="rect">
            <a:avLst/>
          </a:prstGeom>
        </p:spPr>
      </p:pic>
      <p:sp>
        <p:nvSpPr>
          <p:cNvPr id="65" name="TextBox 64">
            <a:extLst>
              <a:ext uri="{FF2B5EF4-FFF2-40B4-BE49-F238E27FC236}">
                <a16:creationId xmlns:a16="http://schemas.microsoft.com/office/drawing/2014/main" id="{88449D9C-F45F-441E-A22E-03CECF8FF365}"/>
              </a:ext>
            </a:extLst>
          </p:cNvPr>
          <p:cNvSpPr txBox="1"/>
          <p:nvPr/>
        </p:nvSpPr>
        <p:spPr>
          <a:xfrm>
            <a:off x="396217" y="6393425"/>
            <a:ext cx="6101254" cy="369332"/>
          </a:xfrm>
          <a:prstGeom prst="rect">
            <a:avLst/>
          </a:prstGeom>
          <a:noFill/>
        </p:spPr>
        <p:txBody>
          <a:bodyPr wrap="square">
            <a:spAutoFit/>
          </a:bodyPr>
          <a:lstStyle/>
          <a:p>
            <a:r>
              <a:rPr lang="en-US" dirty="0">
                <a:hlinkClick r:id="rId20"/>
              </a:rPr>
              <a:t>https://habr.com/ru/articles/459004/</a:t>
            </a:r>
            <a:r>
              <a:rPr lang="en-US" dirty="0"/>
              <a:t> </a:t>
            </a:r>
          </a:p>
        </p:txBody>
      </p:sp>
      <p:sp>
        <p:nvSpPr>
          <p:cNvPr id="66" name="Номер слайда 65">
            <a:extLst>
              <a:ext uri="{FF2B5EF4-FFF2-40B4-BE49-F238E27FC236}">
                <a16:creationId xmlns:a16="http://schemas.microsoft.com/office/drawing/2014/main" id="{05E43E00-1BA1-4CA6-9999-993281F7D971}"/>
              </a:ext>
            </a:extLst>
          </p:cNvPr>
          <p:cNvSpPr>
            <a:spLocks noGrp="1"/>
          </p:cNvSpPr>
          <p:nvPr>
            <p:ph type="sldNum" sz="quarter" idx="12"/>
          </p:nvPr>
        </p:nvSpPr>
        <p:spPr/>
        <p:txBody>
          <a:bodyPr/>
          <a:lstStyle/>
          <a:p>
            <a:fld id="{14DDCE2C-1EAC-4FD7-9FCA-CDAC6ED86490}" type="slidenum">
              <a:rPr lang="en-US" smtClean="0"/>
              <a:t>10</a:t>
            </a:fld>
            <a:endParaRPr lang="en-US"/>
          </a:p>
        </p:txBody>
      </p:sp>
      <p:pic>
        <p:nvPicPr>
          <p:cNvPr id="10" name="Рисунок 9">
            <a:extLst>
              <a:ext uri="{FF2B5EF4-FFF2-40B4-BE49-F238E27FC236}">
                <a16:creationId xmlns:a16="http://schemas.microsoft.com/office/drawing/2014/main" id="{82E029D1-4331-4FF5-B98E-3BB8A92FCB05}"/>
              </a:ext>
            </a:extLst>
          </p:cNvPr>
          <p:cNvPicPr>
            <a:picLocks noChangeAspect="1"/>
          </p:cNvPicPr>
          <p:nvPr/>
        </p:nvPicPr>
        <p:blipFill>
          <a:blip r:embed="rId21"/>
          <a:stretch>
            <a:fillRect/>
          </a:stretch>
        </p:blipFill>
        <p:spPr>
          <a:xfrm>
            <a:off x="634915" y="4569773"/>
            <a:ext cx="1865565" cy="1644769"/>
          </a:xfrm>
          <a:prstGeom prst="rect">
            <a:avLst/>
          </a:prstGeom>
        </p:spPr>
      </p:pic>
    </p:spTree>
    <p:extLst>
      <p:ext uri="{BB962C8B-B14F-4D97-AF65-F5344CB8AC3E}">
        <p14:creationId xmlns:p14="http://schemas.microsoft.com/office/powerpoint/2010/main" val="3302609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D2B6AD-D4E4-4770-9E15-93812DDBC04C}"/>
              </a:ext>
            </a:extLst>
          </p:cNvPr>
          <p:cNvSpPr>
            <a:spLocks noGrp="1"/>
          </p:cNvSpPr>
          <p:nvPr>
            <p:ph type="title"/>
          </p:nvPr>
        </p:nvSpPr>
        <p:spPr/>
        <p:txBody>
          <a:bodyPr>
            <a:normAutofit/>
          </a:bodyPr>
          <a:lstStyle/>
          <a:p>
            <a:r>
              <a:rPr lang="en-US" dirty="0"/>
              <a:t>SKZI vendor responsibilities</a:t>
            </a:r>
          </a:p>
        </p:txBody>
      </p:sp>
      <p:sp>
        <p:nvSpPr>
          <p:cNvPr id="3" name="Rectangle 1">
            <a:extLst>
              <a:ext uri="{FF2B5EF4-FFF2-40B4-BE49-F238E27FC236}">
                <a16:creationId xmlns:a16="http://schemas.microsoft.com/office/drawing/2014/main" id="{413ED392-BEC6-49C2-AE0C-86AF84C436C1}"/>
              </a:ext>
            </a:extLst>
          </p:cNvPr>
          <p:cNvSpPr>
            <a:spLocks noChangeArrowheads="1"/>
          </p:cNvSpPr>
          <p:nvPr/>
        </p:nvSpPr>
        <p:spPr bwMode="auto">
          <a:xfrm>
            <a:off x="838200" y="2196815"/>
            <a:ext cx="60960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ru-RU" altLang="en-US" sz="1800" b="1" i="0" u="none" strike="noStrike" cap="none" normalizeH="0" baseline="0" dirty="0">
              <a:ln>
                <a:noFill/>
              </a:ln>
              <a:solidFill>
                <a:schemeClr val="tx1"/>
              </a:solidFill>
              <a:effectLst/>
            </a:endParaRPr>
          </a:p>
          <a:p>
            <a:pPr marL="342900" indent="-342900" eaLnBrk="0" fontAlgn="base" hangingPunct="0">
              <a:spcBef>
                <a:spcPct val="0"/>
              </a:spcBef>
              <a:spcAft>
                <a:spcPct val="0"/>
              </a:spcAft>
              <a:buFont typeface="+mj-lt"/>
              <a:buAutoNum type="arabicPeriod"/>
            </a:pPr>
            <a:r>
              <a:rPr lang="en-US" altLang="en-US" b="1" dirty="0"/>
              <a:t>Licensing of Providers (</a:t>
            </a:r>
            <a:r>
              <a:rPr lang="en-US" altLang="en-US" dirty="0"/>
              <a:t>Decree </a:t>
            </a:r>
            <a:r>
              <a:rPr lang="ru-RU" altLang="en-US" dirty="0">
                <a:hlinkClick r:id="rId3"/>
              </a:rPr>
              <a:t>№ 313</a:t>
            </a:r>
            <a:r>
              <a:rPr lang="en-US" altLang="en-US" dirty="0"/>
              <a:t>, </a:t>
            </a:r>
            <a:r>
              <a:rPr lang="ru-RU" altLang="en-US" dirty="0"/>
              <a:t>2012</a:t>
            </a:r>
            <a:r>
              <a:rPr lang="ru-RU" altLang="en-US" b="1" dirty="0"/>
              <a:t>)</a:t>
            </a:r>
            <a:endParaRPr kumimoji="0" lang="en-US" altLang="en-US" sz="1800" b="1"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rPr>
              <a:t>Mandatory Certification of SKZI*</a:t>
            </a:r>
            <a:endParaRPr kumimoji="0" lang="en-US" altLang="en-US" sz="180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rPr>
              <a:t>Import / Export Controls (</a:t>
            </a:r>
            <a:r>
              <a:rPr kumimoji="0" lang="en-US" altLang="en-US" sz="1800" i="0" u="none" strike="noStrike" cap="none" normalizeH="0" baseline="0" dirty="0">
                <a:ln>
                  <a:noFill/>
                </a:ln>
                <a:solidFill>
                  <a:schemeClr val="tx1"/>
                </a:solidFill>
                <a:effectLst/>
                <a:hlinkClick r:id="rId4"/>
              </a:rPr>
              <a:t>all rules listed here</a:t>
            </a:r>
            <a:r>
              <a:rPr kumimoji="0" lang="en-US" altLang="en-US" sz="1800" i="0" u="none" strike="noStrike" cap="none" normalizeH="0" baseline="0" dirty="0">
                <a:ln>
                  <a:noFill/>
                </a:ln>
                <a:solidFill>
                  <a:schemeClr val="tx1"/>
                </a:solidFill>
                <a:effectLst/>
              </a:rPr>
              <a:t>)</a:t>
            </a:r>
            <a:endParaRPr kumimoji="0" lang="en-US" altLang="en-US" sz="1800" b="1"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n-US" b="1" dirty="0"/>
              <a:t>Operational Compliance (</a:t>
            </a:r>
            <a:r>
              <a:rPr lang="en-US" altLang="en-US" dirty="0">
                <a:hlinkClick r:id="rId5"/>
              </a:rPr>
              <a:t>article about SKZI classes</a:t>
            </a:r>
            <a:r>
              <a:rPr lang="en-US" altLang="en-US" dirty="0"/>
              <a:t>)</a:t>
            </a:r>
            <a:endParaRPr kumimoji="0" lang="en-US" altLang="en-US" sz="1800" b="1" i="0" u="none" strike="noStrike" cap="none" normalizeH="0" baseline="0" dirty="0">
              <a:ln>
                <a:noFill/>
              </a:ln>
              <a:solidFill>
                <a:schemeClr val="tx1"/>
              </a:solidFill>
              <a:effectLst/>
            </a:endParaRPr>
          </a:p>
        </p:txBody>
      </p:sp>
      <p:sp>
        <p:nvSpPr>
          <p:cNvPr id="10" name="TextBox 9">
            <a:extLst>
              <a:ext uri="{FF2B5EF4-FFF2-40B4-BE49-F238E27FC236}">
                <a16:creationId xmlns:a16="http://schemas.microsoft.com/office/drawing/2014/main" id="{799FCC8C-720A-43EB-9480-875756495E82}"/>
              </a:ext>
            </a:extLst>
          </p:cNvPr>
          <p:cNvSpPr txBox="1"/>
          <p:nvPr/>
        </p:nvSpPr>
        <p:spPr>
          <a:xfrm>
            <a:off x="838200" y="1690688"/>
            <a:ext cx="6096000"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dirty="0"/>
              <a:t>There are several main aspects regarding licensing, import and use of cryptographic tools for information protection:</a:t>
            </a:r>
            <a:endParaRPr kumimoji="0" lang="en-US" altLang="en-US" sz="1800" i="0" u="none" strike="noStrike" cap="none" normalizeH="0" baseline="0" dirty="0">
              <a:ln>
                <a:noFill/>
              </a:ln>
              <a:solidFill>
                <a:schemeClr val="tx1"/>
              </a:solidFill>
              <a:effectLst/>
            </a:endParaRPr>
          </a:p>
        </p:txBody>
      </p:sp>
      <p:sp>
        <p:nvSpPr>
          <p:cNvPr id="13" name="TextBox 12">
            <a:extLst>
              <a:ext uri="{FF2B5EF4-FFF2-40B4-BE49-F238E27FC236}">
                <a16:creationId xmlns:a16="http://schemas.microsoft.com/office/drawing/2014/main" id="{853EE50D-D921-44D3-81AA-0094807D781F}"/>
              </a:ext>
            </a:extLst>
          </p:cNvPr>
          <p:cNvSpPr txBox="1"/>
          <p:nvPr/>
        </p:nvSpPr>
        <p:spPr>
          <a:xfrm>
            <a:off x="838200" y="4097941"/>
            <a:ext cx="6096000" cy="1200329"/>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rPr>
              <a:t>Process of SKZI certification: </a:t>
            </a:r>
          </a:p>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rPr>
              <a:t>prepare docs -&gt; submit to lab -&gt; checks compliance and robustness -&gt; assigned a class of SKZI -&gt; certificate issued -&gt; product added to the state register</a:t>
            </a:r>
            <a:endParaRPr kumimoji="0" lang="en-US" altLang="en-US" sz="1800" b="1" i="0" u="none" strike="noStrike" cap="none" normalizeH="0" baseline="0" dirty="0">
              <a:ln>
                <a:noFill/>
              </a:ln>
              <a:solidFill>
                <a:schemeClr val="tx1"/>
              </a:solidFill>
              <a:effectLst/>
            </a:endParaRPr>
          </a:p>
        </p:txBody>
      </p:sp>
      <p:pic>
        <p:nvPicPr>
          <p:cNvPr id="17" name="Рисунок 16">
            <a:extLst>
              <a:ext uri="{FF2B5EF4-FFF2-40B4-BE49-F238E27FC236}">
                <a16:creationId xmlns:a16="http://schemas.microsoft.com/office/drawing/2014/main" id="{BFC789FC-2040-4046-B622-6D222C3E19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18469" y="1460175"/>
            <a:ext cx="4035331" cy="5032700"/>
          </a:xfrm>
          <a:prstGeom prst="rect">
            <a:avLst/>
          </a:prstGeom>
        </p:spPr>
      </p:pic>
      <p:sp>
        <p:nvSpPr>
          <p:cNvPr id="19" name="TextBox 18">
            <a:extLst>
              <a:ext uri="{FF2B5EF4-FFF2-40B4-BE49-F238E27FC236}">
                <a16:creationId xmlns:a16="http://schemas.microsoft.com/office/drawing/2014/main" id="{7060F66F-8D86-496C-BE5A-7C2D4BD7F8BF}"/>
              </a:ext>
            </a:extLst>
          </p:cNvPr>
          <p:cNvSpPr txBox="1"/>
          <p:nvPr/>
        </p:nvSpPr>
        <p:spPr>
          <a:xfrm>
            <a:off x="824067" y="6368399"/>
            <a:ext cx="6361387" cy="369332"/>
          </a:xfrm>
          <a:prstGeom prst="rect">
            <a:avLst/>
          </a:prstGeom>
          <a:noFill/>
        </p:spPr>
        <p:txBody>
          <a:bodyPr wrap="square">
            <a:spAutoFit/>
          </a:bodyPr>
          <a:lstStyle/>
          <a:p>
            <a:r>
              <a:rPr lang="en-US" dirty="0">
                <a:hlinkClick r:id="rId7"/>
              </a:rPr>
              <a:t>https://habr.com/ru/companies/infotecs_official/articles/701546/</a:t>
            </a:r>
            <a:r>
              <a:rPr lang="en-US" dirty="0"/>
              <a:t> </a:t>
            </a:r>
          </a:p>
        </p:txBody>
      </p:sp>
      <p:sp>
        <p:nvSpPr>
          <p:cNvPr id="20" name="TextBox 19">
            <a:extLst>
              <a:ext uri="{FF2B5EF4-FFF2-40B4-BE49-F238E27FC236}">
                <a16:creationId xmlns:a16="http://schemas.microsoft.com/office/drawing/2014/main" id="{A6307587-3F8E-487F-B603-D6FBC170A216}"/>
              </a:ext>
            </a:extLst>
          </p:cNvPr>
          <p:cNvSpPr txBox="1"/>
          <p:nvPr/>
        </p:nvSpPr>
        <p:spPr>
          <a:xfrm>
            <a:off x="8305800" y="4097941"/>
            <a:ext cx="145831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dirty="0">
                <a:solidFill>
                  <a:schemeClr val="bg1"/>
                </a:solidFill>
              </a:rPr>
              <a:t>developer</a:t>
            </a:r>
            <a:endParaRPr kumimoji="0" lang="en-US" altLang="en-US" sz="1800" i="0" u="none" strike="noStrike" cap="none" normalizeH="0" baseline="0" dirty="0">
              <a:ln>
                <a:noFill/>
              </a:ln>
              <a:solidFill>
                <a:schemeClr val="bg1"/>
              </a:solidFill>
              <a:effectLst/>
            </a:endParaRPr>
          </a:p>
        </p:txBody>
      </p:sp>
      <p:sp>
        <p:nvSpPr>
          <p:cNvPr id="22" name="TextBox 21">
            <a:extLst>
              <a:ext uri="{FF2B5EF4-FFF2-40B4-BE49-F238E27FC236}">
                <a16:creationId xmlns:a16="http://schemas.microsoft.com/office/drawing/2014/main" id="{121419B6-8DEF-422F-980E-FCCA3BC9C5AF}"/>
              </a:ext>
            </a:extLst>
          </p:cNvPr>
          <p:cNvSpPr txBox="1"/>
          <p:nvPr/>
        </p:nvSpPr>
        <p:spPr>
          <a:xfrm>
            <a:off x="9555858" y="3622582"/>
            <a:ext cx="1458310" cy="707886"/>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lang="en-US" altLang="en-US" sz="2000" dirty="0">
                <a:solidFill>
                  <a:schemeClr val="bg1"/>
                </a:solidFill>
              </a:rPr>
              <a:t>SKZI Certification</a:t>
            </a:r>
            <a:endParaRPr kumimoji="0" lang="en-US" altLang="en-US" sz="2000" i="0" u="none" strike="noStrike" cap="none" normalizeH="0" baseline="0" dirty="0">
              <a:ln>
                <a:noFill/>
              </a:ln>
              <a:solidFill>
                <a:schemeClr val="bg1"/>
              </a:solidFill>
              <a:effectLst/>
            </a:endParaRPr>
          </a:p>
        </p:txBody>
      </p:sp>
      <p:sp>
        <p:nvSpPr>
          <p:cNvPr id="24" name="TextBox 23">
            <a:extLst>
              <a:ext uri="{FF2B5EF4-FFF2-40B4-BE49-F238E27FC236}">
                <a16:creationId xmlns:a16="http://schemas.microsoft.com/office/drawing/2014/main" id="{957ACAE3-1916-482C-9B48-730979B75CFC}"/>
              </a:ext>
            </a:extLst>
          </p:cNvPr>
          <p:cNvSpPr txBox="1"/>
          <p:nvPr/>
        </p:nvSpPr>
        <p:spPr>
          <a:xfrm>
            <a:off x="824067" y="6043461"/>
            <a:ext cx="6096000" cy="307777"/>
          </a:xfrm>
          <a:prstGeom prst="rect">
            <a:avLst/>
          </a:prstGeom>
          <a:noFill/>
        </p:spPr>
        <p:txBody>
          <a:bodyPr wrap="square">
            <a:spAutoFit/>
          </a:bodyPr>
          <a:lstStyle/>
          <a:p>
            <a:r>
              <a:rPr kumimoji="0" lang="en-US" altLang="en-US" sz="1400" b="0" i="0" u="none" strike="noStrike" cap="none" normalizeH="0" baseline="0" dirty="0">
                <a:ln>
                  <a:noFill/>
                </a:ln>
                <a:solidFill>
                  <a:schemeClr val="tx1"/>
                </a:solidFill>
                <a:effectLst/>
              </a:rPr>
              <a:t>*SKZI - СКЗИ – “Means (tools) of Cryptographic Information Protection</a:t>
            </a:r>
            <a:endParaRPr lang="en-US" sz="1400" dirty="0"/>
          </a:p>
        </p:txBody>
      </p:sp>
      <p:sp>
        <p:nvSpPr>
          <p:cNvPr id="4" name="Номер слайда 3">
            <a:extLst>
              <a:ext uri="{FF2B5EF4-FFF2-40B4-BE49-F238E27FC236}">
                <a16:creationId xmlns:a16="http://schemas.microsoft.com/office/drawing/2014/main" id="{CED7CFD0-3FFB-4EF1-9585-BD3A2071E057}"/>
              </a:ext>
            </a:extLst>
          </p:cNvPr>
          <p:cNvSpPr>
            <a:spLocks noGrp="1"/>
          </p:cNvSpPr>
          <p:nvPr>
            <p:ph type="sldNum" sz="quarter" idx="12"/>
          </p:nvPr>
        </p:nvSpPr>
        <p:spPr/>
        <p:txBody>
          <a:bodyPr/>
          <a:lstStyle/>
          <a:p>
            <a:fld id="{14DDCE2C-1EAC-4FD7-9FCA-CDAC6ED86490}" type="slidenum">
              <a:rPr lang="en-US" smtClean="0"/>
              <a:t>11</a:t>
            </a:fld>
            <a:endParaRPr lang="en-US"/>
          </a:p>
        </p:txBody>
      </p:sp>
    </p:spTree>
    <p:extLst>
      <p:ext uri="{BB962C8B-B14F-4D97-AF65-F5344CB8AC3E}">
        <p14:creationId xmlns:p14="http://schemas.microsoft.com/office/powerpoint/2010/main" val="3305679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D2B6AD-D4E4-4770-9E15-93812DDBC04C}"/>
              </a:ext>
            </a:extLst>
          </p:cNvPr>
          <p:cNvSpPr>
            <a:spLocks noGrp="1"/>
          </p:cNvSpPr>
          <p:nvPr>
            <p:ph type="title"/>
          </p:nvPr>
        </p:nvSpPr>
        <p:spPr/>
        <p:txBody>
          <a:bodyPr>
            <a:normAutofit/>
          </a:bodyPr>
          <a:lstStyle/>
          <a:p>
            <a:r>
              <a:rPr lang="en-US" dirty="0"/>
              <a:t>Mapping table – laws, standards, etc.</a:t>
            </a:r>
          </a:p>
        </p:txBody>
      </p:sp>
      <p:graphicFrame>
        <p:nvGraphicFramePr>
          <p:cNvPr id="4" name="Таблица 3">
            <a:extLst>
              <a:ext uri="{FF2B5EF4-FFF2-40B4-BE49-F238E27FC236}">
                <a16:creationId xmlns:a16="http://schemas.microsoft.com/office/drawing/2014/main" id="{8AE78CEA-55E9-46FF-A412-52DAB25B576E}"/>
              </a:ext>
            </a:extLst>
          </p:cNvPr>
          <p:cNvGraphicFramePr>
            <a:graphicFrameLocks noGrp="1"/>
          </p:cNvGraphicFramePr>
          <p:nvPr>
            <p:extLst>
              <p:ext uri="{D42A27DB-BD31-4B8C-83A1-F6EECF244321}">
                <p14:modId xmlns:p14="http://schemas.microsoft.com/office/powerpoint/2010/main" val="2924463775"/>
              </p:ext>
            </p:extLst>
          </p:nvPr>
        </p:nvGraphicFramePr>
        <p:xfrm>
          <a:off x="967490" y="1538971"/>
          <a:ext cx="10257020" cy="5094628"/>
        </p:xfrm>
        <a:graphic>
          <a:graphicData uri="http://schemas.openxmlformats.org/drawingml/2006/table">
            <a:tbl>
              <a:tblPr/>
              <a:tblGrid>
                <a:gridCol w="2381268">
                  <a:extLst>
                    <a:ext uri="{9D8B030D-6E8A-4147-A177-3AD203B41FA5}">
                      <a16:colId xmlns:a16="http://schemas.microsoft.com/office/drawing/2014/main" val="3395663713"/>
                    </a:ext>
                  </a:extLst>
                </a:gridCol>
                <a:gridCol w="3937876">
                  <a:extLst>
                    <a:ext uri="{9D8B030D-6E8A-4147-A177-3AD203B41FA5}">
                      <a16:colId xmlns:a16="http://schemas.microsoft.com/office/drawing/2014/main" val="3526189537"/>
                    </a:ext>
                  </a:extLst>
                </a:gridCol>
                <a:gridCol w="3937876">
                  <a:extLst>
                    <a:ext uri="{9D8B030D-6E8A-4147-A177-3AD203B41FA5}">
                      <a16:colId xmlns:a16="http://schemas.microsoft.com/office/drawing/2014/main" val="4130849310"/>
                    </a:ext>
                  </a:extLst>
                </a:gridCol>
              </a:tblGrid>
              <a:tr h="200062">
                <a:tc>
                  <a:txBody>
                    <a:bodyPr/>
                    <a:lstStyle/>
                    <a:p>
                      <a:r>
                        <a:rPr lang="en-US" sz="1400" b="1"/>
                        <a:t>Aspect</a:t>
                      </a:r>
                    </a:p>
                  </a:txBody>
                  <a:tcPr marL="50015" marR="50015" marT="25008" marB="25008"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n-US" sz="1400" b="1" dirty="0"/>
                        <a:t>         China</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n-US" sz="1400" b="1" dirty="0"/>
                        <a:t>         Russia</a:t>
                      </a:r>
                    </a:p>
                  </a:txBody>
                  <a:tcPr marL="50015" marR="50015" marT="25008" marB="25008"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4539063"/>
                  </a:ext>
                </a:extLst>
              </a:tr>
              <a:tr h="800246">
                <a:tc>
                  <a:txBody>
                    <a:bodyPr/>
                    <a:lstStyle/>
                    <a:p>
                      <a:r>
                        <a:rPr lang="en-US" sz="1400" b="1" dirty="0"/>
                        <a:t>Legal Basis</a:t>
                      </a:r>
                      <a:endParaRPr lang="en-US" sz="1400" dirty="0"/>
                    </a:p>
                  </a:txBody>
                  <a:tcPr marL="50015" marR="50015" marT="25008" marB="25008"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Dedicated </a:t>
                      </a:r>
                      <a:r>
                        <a:rPr lang="en-US" sz="1400" b="1" dirty="0"/>
                        <a:t>Cryptography Law (2019)</a:t>
                      </a:r>
                      <a:r>
                        <a:rPr lang="en-US" sz="1400" dirty="0"/>
                        <a:t> with defined categories: </a:t>
                      </a:r>
                      <a:r>
                        <a:rPr lang="en-US" sz="1400" b="1" dirty="0"/>
                        <a:t>Core</a:t>
                      </a:r>
                      <a:r>
                        <a:rPr lang="en-US" sz="1400" dirty="0"/>
                        <a:t>, </a:t>
                      </a:r>
                      <a:r>
                        <a:rPr lang="en-US" sz="1400" b="1" dirty="0"/>
                        <a:t>Ordinary</a:t>
                      </a:r>
                      <a:r>
                        <a:rPr lang="en-US" sz="1400" dirty="0"/>
                        <a:t> (state secrets), </a:t>
                      </a:r>
                      <a:r>
                        <a:rPr lang="en-US" sz="1400" b="1" dirty="0"/>
                        <a:t>Commercial encryption</a:t>
                      </a:r>
                      <a:endParaRPr lang="en-US" sz="1400" dirty="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No single dedicated cryptography law; relies on broader legislation (</a:t>
                      </a:r>
                      <a:r>
                        <a:rPr lang="en-US" sz="1400" b="1" dirty="0"/>
                        <a:t>149-FZ</a:t>
                      </a:r>
                      <a:r>
                        <a:rPr lang="en-US" sz="1400" dirty="0"/>
                        <a:t>) and detailed </a:t>
                      </a:r>
                      <a:r>
                        <a:rPr lang="en-US" sz="1400" b="1" dirty="0"/>
                        <a:t>FSB orders</a:t>
                      </a:r>
                      <a:endParaRPr lang="en-US" sz="1400" dirty="0"/>
                    </a:p>
                  </a:txBody>
                  <a:tcPr marL="50015" marR="50015" marT="25008" marB="25008"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5845511"/>
                  </a:ext>
                </a:extLst>
              </a:tr>
              <a:tr h="650200">
                <a:tc>
                  <a:txBody>
                    <a:bodyPr/>
                    <a:lstStyle/>
                    <a:p>
                      <a:r>
                        <a:rPr lang="en-US" sz="1400" b="1" dirty="0"/>
                        <a:t>Regulatory Authorities</a:t>
                      </a:r>
                      <a:endParaRPr lang="en-US" sz="1400" dirty="0"/>
                    </a:p>
                  </a:txBody>
                  <a:tcPr marL="50015" marR="50015" marT="25008" marB="25008"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400" b="1" dirty="0"/>
                        <a:t>Regulation: </a:t>
                      </a:r>
                      <a:r>
                        <a:rPr lang="en-US" sz="1400" b="1" dirty="0">
                          <a:hlinkClick r:id="rId3"/>
                        </a:rPr>
                        <a:t>State Cryptography Administration (SCA)</a:t>
                      </a:r>
                      <a:r>
                        <a:rPr lang="en-US" sz="1400" dirty="0">
                          <a:hlinkClick r:id="rId3"/>
                        </a:rPr>
                        <a:t> </a:t>
                      </a:r>
                      <a:endParaRPr lang="en-US" sz="14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1" dirty="0"/>
                        <a:t>Research: </a:t>
                      </a:r>
                      <a:r>
                        <a:rPr lang="en-US" sz="1400" b="0" dirty="0"/>
                        <a:t>CAS</a:t>
                      </a:r>
                      <a:r>
                        <a:rPr lang="en-US" altLang="zh-CN" sz="1400" b="1" dirty="0"/>
                        <a:t>, </a:t>
                      </a:r>
                      <a:r>
                        <a:rPr lang="en-US" sz="1400" dirty="0">
                          <a:hlinkClick r:id="rId4"/>
                        </a:rPr>
                        <a:t>DACAS</a:t>
                      </a:r>
                      <a:r>
                        <a:rPr lang="en-US" sz="1400" dirty="0"/>
                        <a:t>, Universities, National Labs, </a:t>
                      </a:r>
                      <a:r>
                        <a:rPr lang="en-US" sz="1400" dirty="0">
                          <a:hlinkClick r:id="rId5"/>
                        </a:rPr>
                        <a:t>OSCCA</a:t>
                      </a:r>
                      <a:r>
                        <a:rPr lang="en-US" sz="1400" dirty="0"/>
                        <a:t> labs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1" dirty="0"/>
                        <a:t>Certification: </a:t>
                      </a:r>
                      <a:r>
                        <a:rPr lang="en-US" sz="1400" b="0" dirty="0"/>
                        <a:t>SCA,</a:t>
                      </a:r>
                      <a:r>
                        <a:rPr lang="en-US" sz="1400" b="1" dirty="0"/>
                        <a:t> </a:t>
                      </a:r>
                      <a:r>
                        <a:rPr lang="en-US" sz="1400" dirty="0"/>
                        <a:t>OSCCA (under SCA)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1" dirty="0"/>
                        <a:t>Standards</a:t>
                      </a:r>
                      <a:r>
                        <a:rPr lang="en-US" sz="1400" dirty="0"/>
                        <a:t>: </a:t>
                      </a:r>
                      <a:r>
                        <a:rPr lang="en-US" sz="1400" b="0" dirty="0"/>
                        <a:t>OSCCA/SCA</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400" b="1" dirty="0"/>
                        <a:t>Regulation: </a:t>
                      </a:r>
                      <a:r>
                        <a:rPr lang="en-US" sz="1400" b="0" dirty="0"/>
                        <a:t>Government and Federal Security Service (FSB)</a:t>
                      </a:r>
                    </a:p>
                    <a:p>
                      <a:pPr marL="171450" indent="-171450">
                        <a:buFont typeface="Arial" panose="020B0604020202020204" pitchFamily="34" charset="0"/>
                        <a:buChar char="•"/>
                      </a:pPr>
                      <a:r>
                        <a:rPr lang="en-US" sz="1400" b="1" dirty="0"/>
                        <a:t>Research: </a:t>
                      </a:r>
                      <a:r>
                        <a:rPr lang="en-US" sz="1400" b="0" dirty="0"/>
                        <a:t>Universities, National Labs, FSB labs</a:t>
                      </a:r>
                    </a:p>
                    <a:p>
                      <a:pPr marL="171450" indent="-171450">
                        <a:buFont typeface="Arial" panose="020B0604020202020204" pitchFamily="34" charset="0"/>
                        <a:buChar char="•"/>
                      </a:pPr>
                      <a:r>
                        <a:rPr lang="en-US" sz="1400" b="1" dirty="0"/>
                        <a:t>Certification: </a:t>
                      </a:r>
                      <a:r>
                        <a:rPr lang="en-US" sz="1400" b="0" dirty="0"/>
                        <a:t>Federal Security Service (FSB)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1" dirty="0"/>
                        <a:t>Standards</a:t>
                      </a:r>
                      <a:r>
                        <a:rPr lang="en-US" sz="1400" b="0" dirty="0"/>
                        <a:t>: Technical Committee 26</a:t>
                      </a:r>
                    </a:p>
                  </a:txBody>
                  <a:tcPr marL="50015" marR="50015" marT="25008" marB="25008"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4398014"/>
                  </a:ext>
                </a:extLst>
              </a:tr>
              <a:tr h="800246">
                <a:tc>
                  <a:txBody>
                    <a:bodyPr/>
                    <a:lstStyle/>
                    <a:p>
                      <a:r>
                        <a:rPr lang="en-US" sz="1400" b="1" dirty="0"/>
                        <a:t>Certification Regime</a:t>
                      </a:r>
                      <a:endParaRPr lang="en-US" sz="1400" dirty="0"/>
                    </a:p>
                  </a:txBody>
                  <a:tcPr marL="50015" marR="50015" marT="25008" marB="25008"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Mandatory </a:t>
                      </a:r>
                      <a:r>
                        <a:rPr lang="en-US" sz="1400" b="1" dirty="0"/>
                        <a:t>SCA certification</a:t>
                      </a:r>
                      <a:r>
                        <a:rPr lang="en-US" sz="1400" dirty="0"/>
                        <a:t> or cryptographic review for encryption products (especially commercial); strict import licensing</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Mandatory </a:t>
                      </a:r>
                      <a:r>
                        <a:rPr lang="en-US" sz="1400" b="1" dirty="0"/>
                        <a:t>FSB certification (SKZI)</a:t>
                      </a:r>
                      <a:r>
                        <a:rPr lang="en-US" sz="1400" dirty="0"/>
                        <a:t>; notification-based import control system</a:t>
                      </a:r>
                    </a:p>
                  </a:txBody>
                  <a:tcPr marL="50015" marR="50015" marT="25008" marB="25008"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3104655"/>
                  </a:ext>
                </a:extLst>
              </a:tr>
              <a:tr h="950292">
                <a:tc>
                  <a:txBody>
                    <a:bodyPr/>
                    <a:lstStyle/>
                    <a:p>
                      <a:r>
                        <a:rPr lang="en-US" sz="1400" b="1" dirty="0"/>
                        <a:t>Philosophy &amp; Strategy</a:t>
                      </a:r>
                      <a:endParaRPr lang="en-US" sz="1400" dirty="0"/>
                    </a:p>
                  </a:txBody>
                  <a:tcPr marL="50015" marR="50015" marT="25008" marB="25008"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Encourages domestic crypto industry growth, research, innovation under strict Party oversight</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Promotes domestic crypto industry (</a:t>
                      </a:r>
                      <a:r>
                        <a:rPr lang="en-US" sz="1400" dirty="0" err="1"/>
                        <a:t>CryptoPro</a:t>
                      </a:r>
                      <a:r>
                        <a:rPr lang="en-US" sz="1400" dirty="0"/>
                        <a:t>, </a:t>
                      </a:r>
                      <a:r>
                        <a:rPr lang="en-US" sz="1400" dirty="0" err="1"/>
                        <a:t>Infotecs</a:t>
                      </a:r>
                      <a:r>
                        <a:rPr lang="en-US" sz="1400" dirty="0"/>
                        <a:t>), strongly regulated under FSB supervision, emphasizes cryptographic sovereignty</a:t>
                      </a:r>
                    </a:p>
                  </a:txBody>
                  <a:tcPr marL="50015" marR="50015" marT="25008" marB="25008"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7597024"/>
                  </a:ext>
                </a:extLst>
              </a:tr>
              <a:tr h="950292">
                <a:tc>
                  <a:txBody>
                    <a:bodyPr/>
                    <a:lstStyle/>
                    <a:p>
                      <a:r>
                        <a:rPr lang="en-US" sz="1400" b="1"/>
                        <a:t>Mandatory Use</a:t>
                      </a:r>
                      <a:endParaRPr lang="en-US" sz="1400"/>
                    </a:p>
                  </a:txBody>
                  <a:tcPr marL="34534" marR="34534" marT="17267" marB="17267"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Required in government, military, banking, telecommunications, and critical infrastructure (since 2019)</a:t>
                      </a:r>
                    </a:p>
                  </a:txBody>
                  <a:tcPr marL="34534" marR="34534" marT="17267" marB="172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Required in government systems, financial services, critical infrastructure, and personal data systems (phased since 2019, reinforced by 2025)</a:t>
                      </a:r>
                    </a:p>
                  </a:txBody>
                  <a:tcPr marL="34534" marR="34534" marT="17267" marB="17267"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5789570"/>
                  </a:ext>
                </a:extLst>
              </a:tr>
            </a:tbl>
          </a:graphicData>
        </a:graphic>
      </p:graphicFrame>
      <p:pic>
        <p:nvPicPr>
          <p:cNvPr id="8" name="Рисунок 7">
            <a:extLst>
              <a:ext uri="{FF2B5EF4-FFF2-40B4-BE49-F238E27FC236}">
                <a16:creationId xmlns:a16="http://schemas.microsoft.com/office/drawing/2014/main" id="{5157A9A8-ADF1-4AA1-B77E-16B79A4BC6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20671" y="1584940"/>
            <a:ext cx="291228" cy="187413"/>
          </a:xfrm>
          <a:prstGeom prst="rect">
            <a:avLst/>
          </a:prstGeom>
        </p:spPr>
      </p:pic>
      <p:pic>
        <p:nvPicPr>
          <p:cNvPr id="16" name="Рисунок 15">
            <a:extLst>
              <a:ext uri="{FF2B5EF4-FFF2-40B4-BE49-F238E27FC236}">
                <a16:creationId xmlns:a16="http://schemas.microsoft.com/office/drawing/2014/main" id="{ACD6D62A-2635-4BE1-B63A-4708EF74343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339283" y="1579535"/>
            <a:ext cx="291228" cy="195123"/>
          </a:xfrm>
          <a:prstGeom prst="rect">
            <a:avLst/>
          </a:prstGeom>
        </p:spPr>
      </p:pic>
      <p:sp>
        <p:nvSpPr>
          <p:cNvPr id="7" name="Номер слайда 6">
            <a:extLst>
              <a:ext uri="{FF2B5EF4-FFF2-40B4-BE49-F238E27FC236}">
                <a16:creationId xmlns:a16="http://schemas.microsoft.com/office/drawing/2014/main" id="{1209AFC9-7B5A-48AD-A056-45F9E1BEC688}"/>
              </a:ext>
            </a:extLst>
          </p:cNvPr>
          <p:cNvSpPr>
            <a:spLocks noGrp="1"/>
          </p:cNvSpPr>
          <p:nvPr>
            <p:ph type="sldNum" sz="quarter" idx="12"/>
          </p:nvPr>
        </p:nvSpPr>
        <p:spPr/>
        <p:txBody>
          <a:bodyPr/>
          <a:lstStyle/>
          <a:p>
            <a:fld id="{14DDCE2C-1EAC-4FD7-9FCA-CDAC6ED86490}" type="slidenum">
              <a:rPr lang="en-US" smtClean="0"/>
              <a:t>12</a:t>
            </a:fld>
            <a:endParaRPr lang="en-US"/>
          </a:p>
        </p:txBody>
      </p:sp>
    </p:spTree>
    <p:extLst>
      <p:ext uri="{BB962C8B-B14F-4D97-AF65-F5344CB8AC3E}">
        <p14:creationId xmlns:p14="http://schemas.microsoft.com/office/powerpoint/2010/main" val="3595897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D2B6AD-D4E4-4770-9E15-93812DDBC04C}"/>
              </a:ext>
            </a:extLst>
          </p:cNvPr>
          <p:cNvSpPr>
            <a:spLocks noGrp="1"/>
          </p:cNvSpPr>
          <p:nvPr>
            <p:ph type="title"/>
          </p:nvPr>
        </p:nvSpPr>
        <p:spPr/>
        <p:txBody>
          <a:bodyPr>
            <a:normAutofit/>
          </a:bodyPr>
          <a:lstStyle/>
          <a:p>
            <a:r>
              <a:rPr lang="en-US" dirty="0"/>
              <a:t>Mapping table - Algorithms</a:t>
            </a:r>
          </a:p>
        </p:txBody>
      </p:sp>
      <p:graphicFrame>
        <p:nvGraphicFramePr>
          <p:cNvPr id="6" name="Таблица 5">
            <a:extLst>
              <a:ext uri="{FF2B5EF4-FFF2-40B4-BE49-F238E27FC236}">
                <a16:creationId xmlns:a16="http://schemas.microsoft.com/office/drawing/2014/main" id="{AD6397C6-40FE-4AEF-8FF8-CF83615E07FD}"/>
              </a:ext>
            </a:extLst>
          </p:cNvPr>
          <p:cNvGraphicFramePr>
            <a:graphicFrameLocks noGrp="1"/>
          </p:cNvGraphicFramePr>
          <p:nvPr>
            <p:extLst>
              <p:ext uri="{D42A27DB-BD31-4B8C-83A1-F6EECF244321}">
                <p14:modId xmlns:p14="http://schemas.microsoft.com/office/powerpoint/2010/main" val="804343852"/>
              </p:ext>
            </p:extLst>
          </p:nvPr>
        </p:nvGraphicFramePr>
        <p:xfrm>
          <a:off x="622299" y="1607817"/>
          <a:ext cx="10991630" cy="4746626"/>
        </p:xfrm>
        <a:graphic>
          <a:graphicData uri="http://schemas.openxmlformats.org/drawingml/2006/table">
            <a:tbl>
              <a:tblPr firstRow="1" firstCol="1" bandRow="1">
                <a:tableStyleId>{5C22544A-7EE6-4342-B048-85BDC9FD1C3A}</a:tableStyleId>
              </a:tblPr>
              <a:tblGrid>
                <a:gridCol w="1341794">
                  <a:extLst>
                    <a:ext uri="{9D8B030D-6E8A-4147-A177-3AD203B41FA5}">
                      <a16:colId xmlns:a16="http://schemas.microsoft.com/office/drawing/2014/main" val="3401415047"/>
                    </a:ext>
                  </a:extLst>
                </a:gridCol>
                <a:gridCol w="953426">
                  <a:extLst>
                    <a:ext uri="{9D8B030D-6E8A-4147-A177-3AD203B41FA5}">
                      <a16:colId xmlns:a16="http://schemas.microsoft.com/office/drawing/2014/main" val="1114528253"/>
                    </a:ext>
                  </a:extLst>
                </a:gridCol>
                <a:gridCol w="1423846">
                  <a:extLst>
                    <a:ext uri="{9D8B030D-6E8A-4147-A177-3AD203B41FA5}">
                      <a16:colId xmlns:a16="http://schemas.microsoft.com/office/drawing/2014/main" val="2094010329"/>
                    </a:ext>
                  </a:extLst>
                </a:gridCol>
                <a:gridCol w="2424188">
                  <a:extLst>
                    <a:ext uri="{9D8B030D-6E8A-4147-A177-3AD203B41FA5}">
                      <a16:colId xmlns:a16="http://schemas.microsoft.com/office/drawing/2014/main" val="3665973806"/>
                    </a:ext>
                  </a:extLst>
                </a:gridCol>
                <a:gridCol w="2424188">
                  <a:extLst>
                    <a:ext uri="{9D8B030D-6E8A-4147-A177-3AD203B41FA5}">
                      <a16:colId xmlns:a16="http://schemas.microsoft.com/office/drawing/2014/main" val="3153882494"/>
                    </a:ext>
                  </a:extLst>
                </a:gridCol>
                <a:gridCol w="2424188">
                  <a:extLst>
                    <a:ext uri="{9D8B030D-6E8A-4147-A177-3AD203B41FA5}">
                      <a16:colId xmlns:a16="http://schemas.microsoft.com/office/drawing/2014/main" val="1013835955"/>
                    </a:ext>
                  </a:extLst>
                </a:gridCol>
              </a:tblGrid>
              <a:tr h="0">
                <a:tc>
                  <a:txBody>
                    <a:bodyPr/>
                    <a:lstStyle/>
                    <a:p>
                      <a:pPr marL="0" marR="0" algn="ctr">
                        <a:lnSpc>
                          <a:spcPct val="107000"/>
                        </a:lnSpc>
                        <a:spcBef>
                          <a:spcPts val="0"/>
                        </a:spcBef>
                        <a:spcAft>
                          <a:spcPts val="0"/>
                        </a:spcAft>
                      </a:pPr>
                      <a:r>
                        <a:rPr lang="en-US" sz="1400" dirty="0">
                          <a:solidFill>
                            <a:schemeClr val="tx1"/>
                          </a:solidFill>
                          <a:effectLst/>
                        </a:rPr>
                        <a:t>Functions</a:t>
                      </a:r>
                      <a:endParaRPr lang="en-US" sz="14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9525" marR="9525" marT="9525" marB="9525"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dirty="0">
                          <a:solidFill>
                            <a:schemeClr val="tx1"/>
                          </a:solidFill>
                          <a:effectLst/>
                        </a:rPr>
                        <a:t>Key Type</a:t>
                      </a:r>
                      <a:endParaRPr lang="en-US" sz="14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dirty="0">
                          <a:solidFill>
                            <a:schemeClr val="tx1"/>
                          </a:solidFill>
                          <a:effectLst/>
                        </a:rPr>
                        <a:t>Category</a:t>
                      </a:r>
                      <a:endParaRPr lang="en-US" sz="14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dirty="0">
                          <a:solidFill>
                            <a:schemeClr val="tx1"/>
                          </a:solidFill>
                          <a:effectLst/>
                        </a:rPr>
                        <a:t>Algorithms (Russia 🇷🇺)</a:t>
                      </a:r>
                      <a:endParaRPr lang="en-US" sz="14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14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Algorithms (China CN)</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US" sz="14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Algorithms (USA US)</a:t>
                      </a:r>
                    </a:p>
                  </a:txBody>
                  <a:tcPr marL="9525" marR="9525" marT="9525" marB="9525"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2368255"/>
                  </a:ext>
                </a:extLst>
              </a:tr>
              <a:tr h="0">
                <a:tc>
                  <a:txBody>
                    <a:bodyPr/>
                    <a:lstStyle/>
                    <a:p>
                      <a:pPr marL="0" marR="0">
                        <a:lnSpc>
                          <a:spcPct val="107000"/>
                        </a:lnSpc>
                        <a:spcBef>
                          <a:spcPts val="0"/>
                        </a:spcBef>
                        <a:spcAft>
                          <a:spcPts val="0"/>
                        </a:spcAft>
                      </a:pPr>
                      <a:r>
                        <a:rPr lang="en-US" sz="1400" dirty="0">
                          <a:solidFill>
                            <a:schemeClr val="tx1"/>
                          </a:solidFill>
                          <a:effectLst/>
                        </a:rPr>
                        <a:t>Encryption</a:t>
                      </a:r>
                      <a:endParaRPr lang="en-US" sz="14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9525" marR="9525" marT="9525" marB="9525"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kern="1200">
                          <a:solidFill>
                            <a:schemeClr val="tx1"/>
                          </a:solidFill>
                          <a:effectLst/>
                          <a:latin typeface="+mn-lt"/>
                          <a:ea typeface="+mn-ea"/>
                          <a:cs typeface="+mn-cs"/>
                        </a:rPr>
                        <a:t>Symmetric</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kern="1200" dirty="0">
                          <a:solidFill>
                            <a:schemeClr val="tx1"/>
                          </a:solidFill>
                          <a:effectLst/>
                          <a:latin typeface="+mn-lt"/>
                          <a:ea typeface="+mn-ea"/>
                          <a:cs typeface="+mn-cs"/>
                        </a:rPr>
                        <a:t>Stream cipher</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b="1" kern="1200" dirty="0">
                          <a:solidFill>
                            <a:schemeClr val="tx1"/>
                          </a:solidFill>
                          <a:effectLst/>
                          <a:latin typeface="+mn-lt"/>
                          <a:ea typeface="+mn-ea"/>
                          <a:cs typeface="+mn-cs"/>
                        </a:rPr>
                        <a:t>None standardized</a:t>
                      </a:r>
                    </a:p>
                    <a:p>
                      <a:pPr marL="0" marR="0" algn="l" defTabSz="914400" rtl="0" eaLnBrk="1" latinLnBrk="0" hangingPunct="1">
                        <a:lnSpc>
                          <a:spcPct val="107000"/>
                        </a:lnSpc>
                        <a:spcBef>
                          <a:spcPts val="0"/>
                        </a:spcBef>
                        <a:spcAft>
                          <a:spcPts val="0"/>
                        </a:spcAft>
                      </a:pPr>
                      <a:r>
                        <a:rPr lang="en-US" sz="1400" kern="1200" dirty="0">
                          <a:solidFill>
                            <a:schemeClr val="tx1"/>
                          </a:solidFill>
                          <a:effectLst/>
                          <a:latin typeface="+mn-lt"/>
                          <a:ea typeface="+mn-ea"/>
                          <a:cs typeface="+mn-cs"/>
                        </a:rPr>
                        <a:t>use OFB/CFB/CTR modes with Magma or </a:t>
                      </a:r>
                      <a:r>
                        <a:rPr lang="en-US" sz="1400" kern="1200" dirty="0" err="1">
                          <a:solidFill>
                            <a:schemeClr val="tx1"/>
                          </a:solidFill>
                          <a:effectLst/>
                          <a:latin typeface="+mn-lt"/>
                          <a:ea typeface="+mn-ea"/>
                          <a:cs typeface="+mn-cs"/>
                        </a:rPr>
                        <a:t>Kuznechik</a:t>
                      </a:r>
                      <a:endParaRPr lang="en-US" sz="1400" kern="1200" dirty="0">
                        <a:solidFill>
                          <a:schemeClr val="tx1"/>
                        </a:solidFill>
                        <a:effectLst/>
                        <a:latin typeface="+mn-lt"/>
                        <a:ea typeface="+mn-ea"/>
                        <a:cs typeface="+mn-cs"/>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b="1" kern="1200" dirty="0">
                          <a:solidFill>
                            <a:schemeClr val="tx1"/>
                          </a:solidFill>
                          <a:effectLst/>
                          <a:latin typeface="+mn-lt"/>
                          <a:ea typeface="+mn-ea"/>
                          <a:cs typeface="+mn-cs"/>
                        </a:rPr>
                        <a:t>ZUC </a:t>
                      </a:r>
                      <a:r>
                        <a:rPr lang="de-DE" sz="1400" dirty="0"/>
                        <a:t>GM/T 0001-2012 ZUC stream </a:t>
                      </a:r>
                      <a:r>
                        <a:rPr lang="de-DE" sz="1400" dirty="0" err="1"/>
                        <a:t>cipher</a:t>
                      </a:r>
                      <a:endParaRPr lang="en-US" sz="1400" b="1" kern="1200" dirty="0">
                        <a:solidFill>
                          <a:schemeClr val="tx1"/>
                        </a:solidFill>
                        <a:effectLst/>
                        <a:latin typeface="+mn-lt"/>
                        <a:ea typeface="+mn-ea"/>
                        <a:cs typeface="+mn-cs"/>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b="1" kern="1200" dirty="0">
                          <a:solidFill>
                            <a:schemeClr val="tx1"/>
                          </a:solidFill>
                          <a:effectLst/>
                          <a:latin typeface="+mn-lt"/>
                          <a:ea typeface="+mn-ea"/>
                          <a:cs typeface="+mn-cs"/>
                        </a:rPr>
                        <a:t>RC4</a:t>
                      </a:r>
                    </a:p>
                  </a:txBody>
                  <a:tcPr marL="9525" marR="9525" marT="9525" marB="9525"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4127081"/>
                  </a:ext>
                </a:extLst>
              </a:tr>
              <a:tr h="0">
                <a:tc>
                  <a:txBody>
                    <a:bodyPr/>
                    <a:lstStyle/>
                    <a:p>
                      <a:pPr>
                        <a:lnSpc>
                          <a:spcPct val="107000"/>
                        </a:lnSpc>
                      </a:pPr>
                      <a:endParaRPr lang="en-US" sz="1400">
                        <a:solidFill>
                          <a:schemeClr val="tx1"/>
                        </a:solidFill>
                        <a:effectLst/>
                        <a:latin typeface="Calibri" panose="020F0502020204030204" pitchFamily="34" charset="0"/>
                        <a:cs typeface="Times New Roman" panose="02020603050405020304" pitchFamily="18" charset="0"/>
                      </a:endParaRPr>
                    </a:p>
                  </a:txBody>
                  <a:tcPr marL="9525" marR="9525" marT="9525" marB="9525"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endParaRPr lang="en-US" sz="1400" kern="1200">
                        <a:solidFill>
                          <a:schemeClr val="tx1"/>
                        </a:solidFill>
                        <a:effectLst/>
                        <a:latin typeface="+mn-lt"/>
                        <a:ea typeface="+mn-ea"/>
                        <a:cs typeface="+mn-cs"/>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kern="1200">
                          <a:solidFill>
                            <a:schemeClr val="tx1"/>
                          </a:solidFill>
                          <a:effectLst/>
                          <a:latin typeface="+mn-lt"/>
                          <a:ea typeface="+mn-ea"/>
                          <a:cs typeface="+mn-cs"/>
                        </a:rPr>
                        <a:t>Block cipher</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b="1" kern="1200" dirty="0" err="1">
                          <a:solidFill>
                            <a:schemeClr val="tx1"/>
                          </a:solidFill>
                          <a:effectLst/>
                          <a:latin typeface="+mn-lt"/>
                          <a:ea typeface="+mn-ea"/>
                          <a:cs typeface="+mn-cs"/>
                        </a:rPr>
                        <a:t>Kuznechik</a:t>
                      </a:r>
                      <a:r>
                        <a:rPr lang="en-US" sz="1400" kern="1200" dirty="0">
                          <a:solidFill>
                            <a:schemeClr val="tx1"/>
                          </a:solidFill>
                          <a:effectLst/>
                          <a:latin typeface="+mn-lt"/>
                          <a:ea typeface="+mn-ea"/>
                          <a:cs typeface="+mn-cs"/>
                        </a:rPr>
                        <a:t>, </a:t>
                      </a:r>
                      <a:r>
                        <a:rPr lang="en-US" sz="1400" b="1" kern="1200" dirty="0">
                          <a:solidFill>
                            <a:schemeClr val="tx1"/>
                          </a:solidFill>
                          <a:effectLst/>
                          <a:latin typeface="+mn-lt"/>
                          <a:ea typeface="+mn-ea"/>
                          <a:cs typeface="+mn-cs"/>
                        </a:rPr>
                        <a:t>Magma</a:t>
                      </a:r>
                      <a:r>
                        <a:rPr lang="en-US" sz="1400" kern="1200" dirty="0">
                          <a:solidFill>
                            <a:schemeClr val="tx1"/>
                          </a:solidFill>
                          <a:effectLst/>
                          <a:latin typeface="+mn-lt"/>
                          <a:ea typeface="+mn-ea"/>
                          <a:cs typeface="+mn-cs"/>
                        </a:rPr>
                        <a:t> (GOST R 34.12-2015/2018)</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dirty="0"/>
                        <a:t>SM4</a:t>
                      </a:r>
                      <a:r>
                        <a:rPr lang="en-US" sz="1400" dirty="0"/>
                        <a:t> Block size: 128-bit- Key size: 128-bit- Structure: 32-round Feistel network- Standard: GB/T 32907-2016</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dirty="0"/>
                        <a:t>AES</a:t>
                      </a:r>
                    </a:p>
                  </a:txBody>
                  <a:tcPr marL="9525" marR="9525" marT="9525" marB="9525"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1298204"/>
                  </a:ext>
                </a:extLst>
              </a:tr>
              <a:tr h="0">
                <a:tc>
                  <a:txBody>
                    <a:bodyPr/>
                    <a:lstStyle/>
                    <a:p>
                      <a:pPr>
                        <a:lnSpc>
                          <a:spcPct val="107000"/>
                        </a:lnSpc>
                      </a:pPr>
                      <a:endParaRPr lang="en-US" sz="1400">
                        <a:solidFill>
                          <a:schemeClr val="tx1"/>
                        </a:solidFill>
                        <a:effectLst/>
                        <a:latin typeface="Calibri" panose="020F0502020204030204" pitchFamily="34" charset="0"/>
                        <a:cs typeface="Times New Roman" panose="02020603050405020304" pitchFamily="18" charset="0"/>
                      </a:endParaRPr>
                    </a:p>
                  </a:txBody>
                  <a:tcPr marL="9525" marR="9525" marT="9525" marB="9525"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kern="1200" dirty="0">
                          <a:solidFill>
                            <a:schemeClr val="tx1"/>
                          </a:solidFill>
                          <a:effectLst/>
                          <a:latin typeface="+mn-lt"/>
                          <a:ea typeface="+mn-ea"/>
                          <a:cs typeface="+mn-cs"/>
                        </a:rPr>
                        <a:t>Public key</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kern="1200">
                          <a:solidFill>
                            <a:schemeClr val="tx1"/>
                          </a:solidFill>
                          <a:effectLst/>
                          <a:latin typeface="+mn-lt"/>
                          <a:ea typeface="+mn-ea"/>
                          <a:cs typeface="+mn-cs"/>
                        </a:rPr>
                        <a:t>General</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b="1" kern="1200" dirty="0">
                          <a:solidFill>
                            <a:schemeClr val="tx1"/>
                          </a:solidFill>
                          <a:effectLst/>
                          <a:latin typeface="+mn-lt"/>
                          <a:ea typeface="+mn-ea"/>
                          <a:cs typeface="+mn-cs"/>
                        </a:rPr>
                        <a:t>GOST R 34.10-2018 </a:t>
                      </a:r>
                      <a:r>
                        <a:rPr lang="en-US" sz="1400" kern="1200" dirty="0">
                          <a:solidFill>
                            <a:schemeClr val="tx1"/>
                          </a:solidFill>
                          <a:effectLst/>
                          <a:latin typeface="+mn-lt"/>
                          <a:ea typeface="+mn-ea"/>
                          <a:cs typeface="+mn-cs"/>
                        </a:rPr>
                        <a:t>(ECC), GOST R 34.10-2001 legacy</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dirty="0"/>
                        <a:t>SM2</a:t>
                      </a:r>
                      <a:r>
                        <a:rPr lang="en-US" sz="1400" dirty="0"/>
                        <a:t> (Elliptic Curve-based)- Key size: 256-bit ECC- Standard: GM/T 0003.2-2012</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dirty="0"/>
                        <a:t>RSA, </a:t>
                      </a:r>
                      <a:r>
                        <a:rPr lang="en-US" sz="1400" b="1" dirty="0" err="1"/>
                        <a:t>ElGamal</a:t>
                      </a:r>
                      <a:endParaRPr lang="en-US" sz="1400" b="1" dirty="0"/>
                    </a:p>
                  </a:txBody>
                  <a:tcPr marL="9525" marR="9525" marT="9525" marB="9525"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936108"/>
                  </a:ext>
                </a:extLst>
              </a:tr>
              <a:tr h="0">
                <a:tc>
                  <a:txBody>
                    <a:bodyPr/>
                    <a:lstStyle/>
                    <a:p>
                      <a:pPr marL="0" marR="0">
                        <a:lnSpc>
                          <a:spcPct val="107000"/>
                        </a:lnSpc>
                        <a:spcBef>
                          <a:spcPts val="0"/>
                        </a:spcBef>
                        <a:spcAft>
                          <a:spcPts val="0"/>
                        </a:spcAft>
                      </a:pPr>
                      <a:r>
                        <a:rPr lang="en-US" sz="1400">
                          <a:solidFill>
                            <a:schemeClr val="tx1"/>
                          </a:solidFill>
                          <a:effectLst/>
                        </a:rPr>
                        <a:t>Authentication</a:t>
                      </a:r>
                      <a:endParaRPr lang="en-US" sz="140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9525" marR="9525" marT="9525" marB="9525"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kern="1200" dirty="0">
                          <a:solidFill>
                            <a:schemeClr val="tx1"/>
                          </a:solidFill>
                          <a:effectLst/>
                          <a:latin typeface="+mn-lt"/>
                          <a:ea typeface="+mn-ea"/>
                          <a:cs typeface="+mn-cs"/>
                        </a:rPr>
                        <a:t>Symmetric</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kern="1200" dirty="0">
                          <a:solidFill>
                            <a:schemeClr val="tx1"/>
                          </a:solidFill>
                          <a:effectLst/>
                          <a:latin typeface="+mn-lt"/>
                          <a:ea typeface="+mn-ea"/>
                          <a:cs typeface="+mn-cs"/>
                        </a:rPr>
                        <a:t>Hash function</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b="1" kern="1200" dirty="0" err="1">
                          <a:solidFill>
                            <a:schemeClr val="tx1"/>
                          </a:solidFill>
                          <a:effectLst/>
                          <a:latin typeface="+mn-lt"/>
                          <a:ea typeface="+mn-ea"/>
                          <a:cs typeface="+mn-cs"/>
                        </a:rPr>
                        <a:t>Streebog</a:t>
                      </a:r>
                      <a:r>
                        <a:rPr lang="en-US" sz="1400" kern="1200" dirty="0">
                          <a:solidFill>
                            <a:schemeClr val="tx1"/>
                          </a:solidFill>
                          <a:effectLst/>
                          <a:latin typeface="+mn-lt"/>
                          <a:ea typeface="+mn-ea"/>
                          <a:cs typeface="+mn-cs"/>
                        </a:rPr>
                        <a:t> (GOST R 34.11-2012/2018), HMAC-GOST</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dirty="0"/>
                        <a:t>SM3</a:t>
                      </a:r>
                      <a:r>
                        <a:rPr lang="en-US" sz="1400" dirty="0"/>
                        <a:t> Output size: 256-bit hash- Block size: 512-bit- Standard: GM/T 0004-2012</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dirty="0"/>
                        <a:t>SHA, HMAC</a:t>
                      </a:r>
                    </a:p>
                  </a:txBody>
                  <a:tcPr marL="9525" marR="9525" marT="9525" marB="9525"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1655976"/>
                  </a:ext>
                </a:extLst>
              </a:tr>
              <a:tr h="0">
                <a:tc>
                  <a:txBody>
                    <a:bodyPr/>
                    <a:lstStyle/>
                    <a:p>
                      <a:pPr>
                        <a:lnSpc>
                          <a:spcPct val="107000"/>
                        </a:lnSpc>
                      </a:pPr>
                      <a:endParaRPr lang="en-US" sz="1400">
                        <a:solidFill>
                          <a:schemeClr val="tx1"/>
                        </a:solidFill>
                        <a:effectLst/>
                        <a:latin typeface="Calibri" panose="020F0502020204030204" pitchFamily="34" charset="0"/>
                        <a:cs typeface="Times New Roman" panose="02020603050405020304" pitchFamily="18" charset="0"/>
                      </a:endParaRPr>
                    </a:p>
                  </a:txBody>
                  <a:tcPr marL="9525" marR="9525" marT="9525" marB="9525"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kern="1200" dirty="0">
                          <a:solidFill>
                            <a:schemeClr val="tx1"/>
                          </a:solidFill>
                          <a:effectLst/>
                          <a:latin typeface="+mn-lt"/>
                          <a:ea typeface="+mn-ea"/>
                          <a:cs typeface="+mn-cs"/>
                        </a:rPr>
                        <a:t>Public key</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kern="1200" dirty="0">
                          <a:solidFill>
                            <a:schemeClr val="tx1"/>
                          </a:solidFill>
                          <a:effectLst/>
                          <a:latin typeface="+mn-lt"/>
                          <a:ea typeface="+mn-ea"/>
                          <a:cs typeface="+mn-cs"/>
                        </a:rPr>
                        <a:t>Digital signature</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b="1" kern="1200" dirty="0">
                          <a:solidFill>
                            <a:schemeClr val="tx1"/>
                          </a:solidFill>
                          <a:effectLst/>
                          <a:latin typeface="+mn-lt"/>
                          <a:ea typeface="+mn-ea"/>
                          <a:cs typeface="+mn-cs"/>
                        </a:rPr>
                        <a:t>GOST R 34.10-2018</a:t>
                      </a:r>
                      <a:r>
                        <a:rPr lang="en-US" sz="1400" kern="1200" dirty="0">
                          <a:solidFill>
                            <a:schemeClr val="tx1"/>
                          </a:solidFill>
                          <a:effectLst/>
                          <a:latin typeface="+mn-lt"/>
                          <a:ea typeface="+mn-ea"/>
                          <a:cs typeface="+mn-cs"/>
                        </a:rPr>
                        <a:t>, paired with </a:t>
                      </a:r>
                      <a:r>
                        <a:rPr lang="en-US" sz="1400" kern="1200" dirty="0" err="1">
                          <a:solidFill>
                            <a:schemeClr val="tx1"/>
                          </a:solidFill>
                          <a:effectLst/>
                          <a:latin typeface="+mn-lt"/>
                          <a:ea typeface="+mn-ea"/>
                          <a:cs typeface="+mn-cs"/>
                        </a:rPr>
                        <a:t>Streebog</a:t>
                      </a:r>
                      <a:endParaRPr lang="en-US" sz="1400" kern="1200" dirty="0">
                        <a:solidFill>
                          <a:schemeClr val="tx1"/>
                        </a:solidFill>
                        <a:effectLst/>
                        <a:latin typeface="+mn-lt"/>
                        <a:ea typeface="+mn-ea"/>
                        <a:cs typeface="+mn-cs"/>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b="1" kern="1200" dirty="0">
                          <a:solidFill>
                            <a:schemeClr val="tx1"/>
                          </a:solidFill>
                          <a:effectLst/>
                          <a:latin typeface="+mn-lt"/>
                          <a:ea typeface="+mn-ea"/>
                          <a:cs typeface="+mn-cs"/>
                        </a:rPr>
                        <a:t>SM2</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b="1" kern="1200" dirty="0">
                          <a:solidFill>
                            <a:schemeClr val="tx1"/>
                          </a:solidFill>
                          <a:effectLst/>
                          <a:latin typeface="+mn-lt"/>
                          <a:ea typeface="+mn-ea"/>
                          <a:cs typeface="+mn-cs"/>
                        </a:rPr>
                        <a:t>RSA</a:t>
                      </a:r>
                    </a:p>
                  </a:txBody>
                  <a:tcPr marL="9525" marR="9525" marT="9525" marB="9525"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3035382"/>
                  </a:ext>
                </a:extLst>
              </a:tr>
              <a:tr h="0">
                <a:tc>
                  <a:txBody>
                    <a:bodyPr/>
                    <a:lstStyle/>
                    <a:p>
                      <a:pPr marL="0" marR="0">
                        <a:lnSpc>
                          <a:spcPct val="107000"/>
                        </a:lnSpc>
                        <a:spcBef>
                          <a:spcPts val="0"/>
                        </a:spcBef>
                        <a:spcAft>
                          <a:spcPts val="0"/>
                        </a:spcAft>
                      </a:pPr>
                      <a:r>
                        <a:rPr lang="en-US" sz="1400">
                          <a:solidFill>
                            <a:schemeClr val="tx1"/>
                          </a:solidFill>
                          <a:effectLst/>
                        </a:rPr>
                        <a:t>Identification</a:t>
                      </a:r>
                      <a:endParaRPr lang="en-US" sz="140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9525" marR="9525" marT="9525" marB="9525"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kern="1200" dirty="0">
                          <a:solidFill>
                            <a:schemeClr val="tx1"/>
                          </a:solidFill>
                          <a:effectLst/>
                          <a:latin typeface="+mn-lt"/>
                          <a:ea typeface="+mn-ea"/>
                          <a:cs typeface="+mn-cs"/>
                        </a:rPr>
                        <a:t>Symmetric</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kern="1200">
                          <a:solidFill>
                            <a:schemeClr val="tx1"/>
                          </a:solidFill>
                          <a:effectLst/>
                          <a:latin typeface="+mn-lt"/>
                          <a:ea typeface="+mn-ea"/>
                          <a:cs typeface="+mn-cs"/>
                        </a:rPr>
                        <a:t>Identification</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b="1" kern="1200" dirty="0">
                          <a:solidFill>
                            <a:schemeClr val="tx1"/>
                          </a:solidFill>
                          <a:effectLst/>
                          <a:latin typeface="+mn-lt"/>
                          <a:ea typeface="+mn-ea"/>
                          <a:cs typeface="+mn-cs"/>
                        </a:rPr>
                        <a:t>None standardized</a:t>
                      </a:r>
                    </a:p>
                    <a:p>
                      <a:pPr marL="0" marR="0" algn="l" defTabSz="914400" rtl="0" eaLnBrk="1" latinLnBrk="0" hangingPunct="1">
                        <a:lnSpc>
                          <a:spcPct val="107000"/>
                        </a:lnSpc>
                        <a:spcBef>
                          <a:spcPts val="0"/>
                        </a:spcBef>
                        <a:spcAft>
                          <a:spcPts val="0"/>
                        </a:spcAft>
                      </a:pPr>
                      <a:r>
                        <a:rPr lang="en-US" sz="1400" kern="1200" dirty="0">
                          <a:solidFill>
                            <a:schemeClr val="tx1"/>
                          </a:solidFill>
                          <a:effectLst/>
                          <a:latin typeface="+mn-lt"/>
                          <a:ea typeface="+mn-ea"/>
                          <a:cs typeface="+mn-cs"/>
                        </a:rPr>
                        <a:t>Russian equivalents in SKZI systems (e.g., </a:t>
                      </a:r>
                      <a:r>
                        <a:rPr lang="en-US" sz="1400" kern="1200" dirty="0" err="1">
                          <a:solidFill>
                            <a:schemeClr val="tx1"/>
                          </a:solidFill>
                          <a:effectLst/>
                          <a:latin typeface="+mn-lt"/>
                          <a:ea typeface="+mn-ea"/>
                          <a:cs typeface="+mn-cs"/>
                        </a:rPr>
                        <a:t>CryptoPro</a:t>
                      </a:r>
                      <a:r>
                        <a:rPr lang="en-US" sz="1400" kern="1200" dirty="0">
                          <a:solidFill>
                            <a:schemeClr val="tx1"/>
                          </a:solidFill>
                          <a:effectLst/>
                          <a:latin typeface="+mn-lt"/>
                          <a:ea typeface="+mn-ea"/>
                          <a:cs typeface="+mn-cs"/>
                        </a:rPr>
                        <a:t> ID), </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400" b="1" kern="1200" dirty="0">
                          <a:solidFill>
                            <a:schemeClr val="tx1"/>
                          </a:solidFill>
                          <a:effectLst/>
                          <a:latin typeface="+mn-lt"/>
                          <a:ea typeface="+mn-ea"/>
                          <a:cs typeface="+mn-cs"/>
                        </a:rPr>
                        <a:t>None standardized</a:t>
                      </a:r>
                      <a:r>
                        <a:rPr lang="en-US" sz="1400" b="0" kern="1200" dirty="0">
                          <a:solidFill>
                            <a:schemeClr val="tx1"/>
                          </a:solidFill>
                          <a:effectLst/>
                          <a:latin typeface="+mn-lt"/>
                          <a:ea typeface="+mn-ea"/>
                          <a:cs typeface="+mn-cs"/>
                        </a:rPr>
                        <a:t> </a:t>
                      </a:r>
                    </a:p>
                    <a:p>
                      <a:pPr marL="0" marR="0" lvl="0" indent="0" algn="l" defTabSz="914400" rtl="0" eaLnBrk="1" fontAlgn="auto" latinLnBrk="0" hangingPunct="1">
                        <a:lnSpc>
                          <a:spcPct val="107000"/>
                        </a:lnSpc>
                        <a:spcBef>
                          <a:spcPts val="0"/>
                        </a:spcBef>
                        <a:spcAft>
                          <a:spcPts val="0"/>
                        </a:spcAft>
                        <a:buClrTx/>
                        <a:buSzTx/>
                        <a:buFontTx/>
                        <a:buNone/>
                        <a:tabLst/>
                        <a:defRPr/>
                      </a:pPr>
                      <a:r>
                        <a:rPr lang="en-US" sz="1400" b="0" kern="1200" dirty="0">
                          <a:solidFill>
                            <a:schemeClr val="tx1"/>
                          </a:solidFill>
                          <a:effectLst/>
                          <a:latin typeface="+mn-lt"/>
                          <a:ea typeface="+mn-ea"/>
                          <a:cs typeface="+mn-cs"/>
                        </a:rPr>
                        <a:t>(didn’t find anything)</a:t>
                      </a:r>
                      <a:endParaRPr lang="en-US" sz="1400" b="1" kern="1200" dirty="0">
                        <a:solidFill>
                          <a:schemeClr val="tx1"/>
                        </a:solidFill>
                        <a:effectLst/>
                        <a:latin typeface="+mn-lt"/>
                        <a:ea typeface="+mn-ea"/>
                        <a:cs typeface="+mn-cs"/>
                      </a:endParaRPr>
                    </a:p>
                    <a:p>
                      <a:pPr marL="0" marR="0" algn="l" defTabSz="914400" rtl="0" eaLnBrk="1" latinLnBrk="0" hangingPunct="1">
                        <a:lnSpc>
                          <a:spcPct val="107000"/>
                        </a:lnSpc>
                        <a:spcBef>
                          <a:spcPts val="0"/>
                        </a:spcBef>
                        <a:spcAft>
                          <a:spcPts val="0"/>
                        </a:spcAft>
                      </a:pPr>
                      <a:endParaRPr lang="en-US" sz="1400" kern="1200" dirty="0">
                        <a:solidFill>
                          <a:schemeClr val="tx1"/>
                        </a:solidFill>
                        <a:effectLst/>
                        <a:latin typeface="+mn-lt"/>
                        <a:ea typeface="+mn-ea"/>
                        <a:cs typeface="+mn-cs"/>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defTabSz="914400" rtl="0" eaLnBrk="1" latinLnBrk="0" hangingPunct="1">
                        <a:lnSpc>
                          <a:spcPct val="107000"/>
                        </a:lnSpc>
                        <a:spcBef>
                          <a:spcPts val="0"/>
                        </a:spcBef>
                        <a:spcAft>
                          <a:spcPts val="0"/>
                        </a:spcAft>
                      </a:pPr>
                      <a:r>
                        <a:rPr lang="en-US" sz="1400" b="1" kern="1200" dirty="0">
                          <a:solidFill>
                            <a:schemeClr val="tx1"/>
                          </a:solidFill>
                          <a:effectLst/>
                          <a:latin typeface="+mn-lt"/>
                          <a:ea typeface="+mn-ea"/>
                          <a:cs typeface="+mn-cs"/>
                        </a:rPr>
                        <a:t>NS, Kerberos</a:t>
                      </a:r>
                    </a:p>
                  </a:txBody>
                  <a:tcPr marL="9525" marR="9525" marT="9525" marB="9525"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521549"/>
                  </a:ext>
                </a:extLst>
              </a:tr>
              <a:tr h="0">
                <a:tc>
                  <a:txBody>
                    <a:bodyPr/>
                    <a:lstStyle/>
                    <a:p>
                      <a:pPr>
                        <a:lnSpc>
                          <a:spcPct val="107000"/>
                        </a:lnSpc>
                      </a:pPr>
                      <a:endParaRPr lang="en-US" sz="1400">
                        <a:solidFill>
                          <a:schemeClr val="tx1"/>
                        </a:solidFill>
                        <a:effectLst/>
                        <a:latin typeface="Calibri" panose="020F0502020204030204" pitchFamily="34" charset="0"/>
                        <a:cs typeface="Times New Roman" panose="02020603050405020304" pitchFamily="18" charset="0"/>
                      </a:endParaRPr>
                    </a:p>
                  </a:txBody>
                  <a:tcPr marL="9525" marR="9525" marT="9525" marB="9525"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marL="0" marR="0" algn="l" defTabSz="914400" rtl="0" eaLnBrk="1" latinLnBrk="0" hangingPunct="1">
                        <a:lnSpc>
                          <a:spcPct val="107000"/>
                        </a:lnSpc>
                        <a:spcBef>
                          <a:spcPts val="0"/>
                        </a:spcBef>
                        <a:spcAft>
                          <a:spcPts val="0"/>
                        </a:spcAft>
                      </a:pPr>
                      <a:r>
                        <a:rPr lang="en-US" sz="1400" kern="1200" dirty="0">
                          <a:solidFill>
                            <a:schemeClr val="tx1"/>
                          </a:solidFill>
                          <a:effectLst/>
                          <a:latin typeface="+mn-lt"/>
                          <a:ea typeface="+mn-ea"/>
                          <a:cs typeface="+mn-cs"/>
                        </a:rPr>
                        <a:t>Public key</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marL="0" marR="0" algn="l" defTabSz="914400" rtl="0" eaLnBrk="1" latinLnBrk="0" hangingPunct="1">
                        <a:lnSpc>
                          <a:spcPct val="107000"/>
                        </a:lnSpc>
                        <a:spcBef>
                          <a:spcPts val="0"/>
                        </a:spcBef>
                        <a:spcAft>
                          <a:spcPts val="0"/>
                        </a:spcAft>
                      </a:pPr>
                      <a:r>
                        <a:rPr lang="en-US" sz="1400" kern="1200">
                          <a:solidFill>
                            <a:schemeClr val="tx1"/>
                          </a:solidFill>
                          <a:effectLst/>
                          <a:latin typeface="+mn-lt"/>
                          <a:ea typeface="+mn-ea"/>
                          <a:cs typeface="+mn-cs"/>
                        </a:rPr>
                        <a:t>Digital signature</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marL="0" marR="0" algn="l" defTabSz="914400" rtl="0" eaLnBrk="1" latinLnBrk="0" hangingPunct="1">
                        <a:lnSpc>
                          <a:spcPct val="107000"/>
                        </a:lnSpc>
                        <a:spcBef>
                          <a:spcPts val="0"/>
                        </a:spcBef>
                        <a:spcAft>
                          <a:spcPts val="0"/>
                        </a:spcAft>
                      </a:pPr>
                      <a:r>
                        <a:rPr lang="en-US" sz="1400" b="1" kern="1200" dirty="0">
                          <a:solidFill>
                            <a:schemeClr val="tx1"/>
                          </a:solidFill>
                          <a:effectLst/>
                          <a:latin typeface="+mn-lt"/>
                          <a:ea typeface="+mn-ea"/>
                          <a:cs typeface="+mn-cs"/>
                        </a:rPr>
                        <a:t>GOST R 34.10-2018</a:t>
                      </a:r>
                      <a:r>
                        <a:rPr lang="en-US" sz="1400" kern="1200" dirty="0">
                          <a:solidFill>
                            <a:schemeClr val="tx1"/>
                          </a:solidFill>
                          <a:effectLst/>
                          <a:latin typeface="+mn-lt"/>
                          <a:ea typeface="+mn-ea"/>
                          <a:cs typeface="+mn-cs"/>
                        </a:rPr>
                        <a:t>, used in secure login and identity tokens</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marL="0" marR="0" algn="l" defTabSz="914400" rtl="0" eaLnBrk="1" latinLnBrk="0" hangingPunct="1">
                        <a:lnSpc>
                          <a:spcPct val="107000"/>
                        </a:lnSpc>
                        <a:spcBef>
                          <a:spcPts val="0"/>
                        </a:spcBef>
                        <a:spcAft>
                          <a:spcPts val="0"/>
                        </a:spcAft>
                      </a:pPr>
                      <a:r>
                        <a:rPr lang="en-US" sz="1400" b="1" kern="1200" dirty="0">
                          <a:solidFill>
                            <a:schemeClr val="tx1"/>
                          </a:solidFill>
                          <a:effectLst/>
                          <a:latin typeface="+mn-lt"/>
                          <a:ea typeface="+mn-ea"/>
                          <a:cs typeface="+mn-cs"/>
                        </a:rPr>
                        <a:t>SM2</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marL="0" marR="0" algn="l" defTabSz="914400" rtl="0" eaLnBrk="1" latinLnBrk="0" hangingPunct="1">
                        <a:lnSpc>
                          <a:spcPct val="107000"/>
                        </a:lnSpc>
                        <a:spcBef>
                          <a:spcPts val="0"/>
                        </a:spcBef>
                        <a:spcAft>
                          <a:spcPts val="0"/>
                        </a:spcAft>
                      </a:pPr>
                      <a:r>
                        <a:rPr lang="en-US" sz="1400" b="1" kern="1200" dirty="0">
                          <a:solidFill>
                            <a:schemeClr val="tx1"/>
                          </a:solidFill>
                          <a:effectLst/>
                          <a:latin typeface="+mn-lt"/>
                          <a:ea typeface="+mn-ea"/>
                          <a:cs typeface="+mn-cs"/>
                        </a:rPr>
                        <a:t>RSA</a:t>
                      </a:r>
                    </a:p>
                  </a:txBody>
                  <a:tcPr marL="9525" marR="9525" marT="9525" marB="9525"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964757758"/>
                  </a:ext>
                </a:extLst>
              </a:tr>
            </a:tbl>
          </a:graphicData>
        </a:graphic>
      </p:graphicFrame>
      <p:pic>
        <p:nvPicPr>
          <p:cNvPr id="8" name="Рисунок 7">
            <a:extLst>
              <a:ext uri="{FF2B5EF4-FFF2-40B4-BE49-F238E27FC236}">
                <a16:creationId xmlns:a16="http://schemas.microsoft.com/office/drawing/2014/main" id="{5157A9A8-ADF1-4AA1-B77E-16B79A4BC6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8217" y="1617848"/>
            <a:ext cx="330815" cy="212889"/>
          </a:xfrm>
          <a:prstGeom prst="rect">
            <a:avLst/>
          </a:prstGeom>
        </p:spPr>
      </p:pic>
      <p:pic>
        <p:nvPicPr>
          <p:cNvPr id="16" name="Рисунок 15">
            <a:extLst>
              <a:ext uri="{FF2B5EF4-FFF2-40B4-BE49-F238E27FC236}">
                <a16:creationId xmlns:a16="http://schemas.microsoft.com/office/drawing/2014/main" id="{ACD6D62A-2635-4BE1-B63A-4708EF7434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84564" y="1607037"/>
            <a:ext cx="330816" cy="221647"/>
          </a:xfrm>
          <a:prstGeom prst="rect">
            <a:avLst/>
          </a:prstGeom>
        </p:spPr>
      </p:pic>
      <p:pic>
        <p:nvPicPr>
          <p:cNvPr id="12" name="Рисунок 11">
            <a:extLst>
              <a:ext uri="{FF2B5EF4-FFF2-40B4-BE49-F238E27FC236}">
                <a16:creationId xmlns:a16="http://schemas.microsoft.com/office/drawing/2014/main" id="{20E6C6D4-3A83-4F10-B07A-9C79D5E23280}"/>
              </a:ext>
            </a:extLst>
          </p:cNvPr>
          <p:cNvPicPr>
            <a:picLocks noChangeAspect="1"/>
          </p:cNvPicPr>
          <p:nvPr/>
        </p:nvPicPr>
        <p:blipFill>
          <a:blip r:embed="rId5"/>
          <a:stretch>
            <a:fillRect/>
          </a:stretch>
        </p:blipFill>
        <p:spPr>
          <a:xfrm>
            <a:off x="9240839" y="1644803"/>
            <a:ext cx="333007" cy="177825"/>
          </a:xfrm>
          <a:prstGeom prst="rect">
            <a:avLst/>
          </a:prstGeom>
        </p:spPr>
      </p:pic>
      <p:sp>
        <p:nvSpPr>
          <p:cNvPr id="14" name="TextBox 13">
            <a:extLst>
              <a:ext uri="{FF2B5EF4-FFF2-40B4-BE49-F238E27FC236}">
                <a16:creationId xmlns:a16="http://schemas.microsoft.com/office/drawing/2014/main" id="{734C807E-D07A-4178-9564-AA467FCBD0EC}"/>
              </a:ext>
            </a:extLst>
          </p:cNvPr>
          <p:cNvSpPr txBox="1"/>
          <p:nvPr/>
        </p:nvSpPr>
        <p:spPr>
          <a:xfrm>
            <a:off x="7254222" y="5889037"/>
            <a:ext cx="1685925" cy="523220"/>
          </a:xfrm>
          <a:prstGeom prst="rect">
            <a:avLst/>
          </a:prstGeom>
          <a:noFill/>
        </p:spPr>
        <p:txBody>
          <a:bodyPr wrap="square">
            <a:spAutoFit/>
          </a:bodyPr>
          <a:lstStyle/>
          <a:p>
            <a:r>
              <a:rPr lang="zh-CN" altLang="en-US" sz="1400" b="1" dirty="0"/>
              <a:t>商密</a:t>
            </a:r>
            <a:r>
              <a:rPr lang="en-US" altLang="zh-CN" sz="1400" dirty="0"/>
              <a:t>(</a:t>
            </a:r>
            <a:r>
              <a:rPr lang="en-US" sz="1400" dirty="0" err="1"/>
              <a:t>shāng</a:t>
            </a:r>
            <a:r>
              <a:rPr lang="en-US" sz="1400" dirty="0"/>
              <a:t> </a:t>
            </a:r>
            <a:r>
              <a:rPr lang="en-US" sz="1400" dirty="0" err="1"/>
              <a:t>mì</a:t>
            </a:r>
            <a:r>
              <a:rPr lang="en-US" sz="1400" dirty="0"/>
              <a:t>) – commercial crypto</a:t>
            </a:r>
          </a:p>
        </p:txBody>
      </p:sp>
      <p:sp>
        <p:nvSpPr>
          <p:cNvPr id="13" name="Номер слайда 12">
            <a:extLst>
              <a:ext uri="{FF2B5EF4-FFF2-40B4-BE49-F238E27FC236}">
                <a16:creationId xmlns:a16="http://schemas.microsoft.com/office/drawing/2014/main" id="{FB801E5B-1E6D-4359-9483-AA7895AE936C}"/>
              </a:ext>
            </a:extLst>
          </p:cNvPr>
          <p:cNvSpPr>
            <a:spLocks noGrp="1"/>
          </p:cNvSpPr>
          <p:nvPr>
            <p:ph type="sldNum" sz="quarter" idx="12"/>
          </p:nvPr>
        </p:nvSpPr>
        <p:spPr/>
        <p:txBody>
          <a:bodyPr/>
          <a:lstStyle/>
          <a:p>
            <a:fld id="{14DDCE2C-1EAC-4FD7-9FCA-CDAC6ED86490}" type="slidenum">
              <a:rPr lang="en-US" smtClean="0"/>
              <a:t>13</a:t>
            </a:fld>
            <a:endParaRPr lang="en-US"/>
          </a:p>
        </p:txBody>
      </p:sp>
    </p:spTree>
    <p:extLst>
      <p:ext uri="{BB962C8B-B14F-4D97-AF65-F5344CB8AC3E}">
        <p14:creationId xmlns:p14="http://schemas.microsoft.com/office/powerpoint/2010/main" val="1337092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D2B6AD-D4E4-4770-9E15-93812DDBC04C}"/>
              </a:ext>
            </a:extLst>
          </p:cNvPr>
          <p:cNvSpPr>
            <a:spLocks noGrp="1"/>
          </p:cNvSpPr>
          <p:nvPr>
            <p:ph type="title"/>
          </p:nvPr>
        </p:nvSpPr>
        <p:spPr/>
        <p:txBody>
          <a:bodyPr>
            <a:normAutofit/>
          </a:bodyPr>
          <a:lstStyle/>
          <a:p>
            <a:r>
              <a:rPr lang="en-US" dirty="0"/>
              <a:t>Q&amp;A</a:t>
            </a:r>
          </a:p>
        </p:txBody>
      </p:sp>
      <p:sp>
        <p:nvSpPr>
          <p:cNvPr id="10" name="Rectangle 2">
            <a:extLst>
              <a:ext uri="{FF2B5EF4-FFF2-40B4-BE49-F238E27FC236}">
                <a16:creationId xmlns:a16="http://schemas.microsoft.com/office/drawing/2014/main" id="{2E06EAA4-9780-4ADB-8B6A-4A281B4B0FC4}"/>
              </a:ext>
            </a:extLst>
          </p:cNvPr>
          <p:cNvSpPr>
            <a:spLocks noChangeArrowheads="1"/>
          </p:cNvSpPr>
          <p:nvPr/>
        </p:nvSpPr>
        <p:spPr bwMode="auto">
          <a:xfrm>
            <a:off x="838200" y="1506022"/>
            <a:ext cx="10846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rPr>
              <a:t>Q1:</a:t>
            </a:r>
            <a:r>
              <a:rPr kumimoji="0" lang="en-US" altLang="en-US" sz="1800" b="0" i="0" u="none" strike="noStrike" cap="none" normalizeH="0" baseline="0" dirty="0">
                <a:ln>
                  <a:noFill/>
                </a:ln>
                <a:solidFill>
                  <a:schemeClr val="tx1"/>
                </a:solidFill>
                <a:effectLst/>
              </a:rPr>
              <a:t> What is the key difference between the legal basis of cryptography regulation in Russia and China?</a:t>
            </a:r>
          </a:p>
        </p:txBody>
      </p:sp>
      <p:sp>
        <p:nvSpPr>
          <p:cNvPr id="14" name="Rectangle 2">
            <a:extLst>
              <a:ext uri="{FF2B5EF4-FFF2-40B4-BE49-F238E27FC236}">
                <a16:creationId xmlns:a16="http://schemas.microsoft.com/office/drawing/2014/main" id="{BBEFADD6-5602-4875-805E-D8B176C0B3DF}"/>
              </a:ext>
            </a:extLst>
          </p:cNvPr>
          <p:cNvSpPr>
            <a:spLocks noChangeArrowheads="1"/>
          </p:cNvSpPr>
          <p:nvPr/>
        </p:nvSpPr>
        <p:spPr bwMode="auto">
          <a:xfrm>
            <a:off x="838200" y="1879356"/>
            <a:ext cx="1084667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Q2:</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dirty="0"/>
              <a:t>Who is primarily responsible for cryptographic certification and enforcement in Russia, and how does it differ from China’s approach?</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2">
            <a:extLst>
              <a:ext uri="{FF2B5EF4-FFF2-40B4-BE49-F238E27FC236}">
                <a16:creationId xmlns:a16="http://schemas.microsoft.com/office/drawing/2014/main" id="{5C10AB85-FF8B-439F-B76B-AE17443DE94E}"/>
              </a:ext>
            </a:extLst>
          </p:cNvPr>
          <p:cNvSpPr>
            <a:spLocks noChangeArrowheads="1"/>
          </p:cNvSpPr>
          <p:nvPr/>
        </p:nvSpPr>
        <p:spPr bwMode="auto">
          <a:xfrm>
            <a:off x="838200" y="2525687"/>
            <a:ext cx="10846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Q3:</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dirty="0"/>
              <a:t>Name at least two Russian GOST cryptographic algorithms and their primary use cases.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9D932A76-D5AF-46BF-A542-E268F34A28C1}"/>
              </a:ext>
            </a:extLst>
          </p:cNvPr>
          <p:cNvSpPr>
            <a:spLocks noChangeArrowheads="1"/>
          </p:cNvSpPr>
          <p:nvPr/>
        </p:nvSpPr>
        <p:spPr bwMode="auto">
          <a:xfrm>
            <a:off x="838200" y="2895019"/>
            <a:ext cx="1084667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Q4:</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dirty="0"/>
              <a:t>Why do Russia and China mandate using homegrown cryptographic algorithms in critical systems rather than international algorithms like AES or RSA?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2">
            <a:extLst>
              <a:ext uri="{FF2B5EF4-FFF2-40B4-BE49-F238E27FC236}">
                <a16:creationId xmlns:a16="http://schemas.microsoft.com/office/drawing/2014/main" id="{05F63930-F352-4F1C-8658-34C8870BD59A}"/>
              </a:ext>
            </a:extLst>
          </p:cNvPr>
          <p:cNvSpPr>
            <a:spLocks noChangeArrowheads="1"/>
          </p:cNvSpPr>
          <p:nvPr/>
        </p:nvSpPr>
        <p:spPr bwMode="auto">
          <a:xfrm>
            <a:off x="838200" y="3541350"/>
            <a:ext cx="1084667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Q5:</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dirty="0"/>
              <a:t>What does the Russian abbreviation SKZI (СKЗИ) stand for, and why is it important for cybersecurity compliance in Russia?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2">
            <a:extLst>
              <a:ext uri="{FF2B5EF4-FFF2-40B4-BE49-F238E27FC236}">
                <a16:creationId xmlns:a16="http://schemas.microsoft.com/office/drawing/2014/main" id="{07AB1120-F7EA-4A65-939B-7820777D4580}"/>
              </a:ext>
            </a:extLst>
          </p:cNvPr>
          <p:cNvSpPr>
            <a:spLocks noChangeArrowheads="1"/>
          </p:cNvSpPr>
          <p:nvPr/>
        </p:nvSpPr>
        <p:spPr bwMode="auto">
          <a:xfrm>
            <a:off x="838200" y="4187681"/>
            <a:ext cx="1084667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Q6:</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dirty="0"/>
              <a:t>How does the SM4 block cipher from China differ from Russia’s </a:t>
            </a:r>
            <a:r>
              <a:rPr lang="en-US" dirty="0" err="1"/>
              <a:t>Kuznechik</a:t>
            </a:r>
            <a:r>
              <a:rPr lang="en-US" dirty="0"/>
              <a:t> cipher in terms of key length and cipher structure?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2">
            <a:extLst>
              <a:ext uri="{FF2B5EF4-FFF2-40B4-BE49-F238E27FC236}">
                <a16:creationId xmlns:a16="http://schemas.microsoft.com/office/drawing/2014/main" id="{C74F267A-7009-4FA7-B560-88BACFCAA1EB}"/>
              </a:ext>
            </a:extLst>
          </p:cNvPr>
          <p:cNvSpPr>
            <a:spLocks noChangeArrowheads="1"/>
          </p:cNvSpPr>
          <p:nvPr/>
        </p:nvSpPr>
        <p:spPr bwMode="auto">
          <a:xfrm>
            <a:off x="838200" y="4834012"/>
            <a:ext cx="1084667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Q7:</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dirty="0"/>
              <a:t>What are the challenges when integrating national cryptographic standards (like GOST or SM algorithms) with international or global systems?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Номер слайда 2">
            <a:extLst>
              <a:ext uri="{FF2B5EF4-FFF2-40B4-BE49-F238E27FC236}">
                <a16:creationId xmlns:a16="http://schemas.microsoft.com/office/drawing/2014/main" id="{168ECAD3-EBAC-4F61-9375-60298C9EEE65}"/>
              </a:ext>
            </a:extLst>
          </p:cNvPr>
          <p:cNvSpPr>
            <a:spLocks noGrp="1"/>
          </p:cNvSpPr>
          <p:nvPr>
            <p:ph type="sldNum" sz="quarter" idx="12"/>
          </p:nvPr>
        </p:nvSpPr>
        <p:spPr/>
        <p:txBody>
          <a:bodyPr/>
          <a:lstStyle/>
          <a:p>
            <a:fld id="{14DDCE2C-1EAC-4FD7-9FCA-CDAC6ED86490}" type="slidenum">
              <a:rPr lang="en-US" smtClean="0"/>
              <a:t>14</a:t>
            </a:fld>
            <a:endParaRPr lang="en-US"/>
          </a:p>
        </p:txBody>
      </p:sp>
    </p:spTree>
    <p:extLst>
      <p:ext uri="{BB962C8B-B14F-4D97-AF65-F5344CB8AC3E}">
        <p14:creationId xmlns:p14="http://schemas.microsoft.com/office/powerpoint/2010/main" val="137442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160DDC23-F332-47BD-A17B-992E36A8F346}"/>
              </a:ext>
            </a:extLst>
          </p:cNvPr>
          <p:cNvSpPr>
            <a:spLocks noGrp="1"/>
          </p:cNvSpPr>
          <p:nvPr>
            <p:ph type="title"/>
          </p:nvPr>
        </p:nvSpPr>
        <p:spPr>
          <a:xfrm>
            <a:off x="838200" y="0"/>
            <a:ext cx="10515600" cy="1325563"/>
          </a:xfrm>
        </p:spPr>
        <p:txBody>
          <a:bodyPr/>
          <a:lstStyle/>
          <a:p>
            <a:r>
              <a:rPr lang="en-US" dirty="0"/>
              <a:t>Resources</a:t>
            </a:r>
          </a:p>
        </p:txBody>
      </p:sp>
      <p:sp>
        <p:nvSpPr>
          <p:cNvPr id="5" name="TextBox 4">
            <a:extLst>
              <a:ext uri="{FF2B5EF4-FFF2-40B4-BE49-F238E27FC236}">
                <a16:creationId xmlns:a16="http://schemas.microsoft.com/office/drawing/2014/main" id="{9808744A-017D-41BB-8B0B-4067B8C19729}"/>
              </a:ext>
            </a:extLst>
          </p:cNvPr>
          <p:cNvSpPr txBox="1"/>
          <p:nvPr/>
        </p:nvSpPr>
        <p:spPr>
          <a:xfrm>
            <a:off x="838200" y="1694895"/>
            <a:ext cx="6632028" cy="1477328"/>
          </a:xfrm>
          <a:prstGeom prst="rect">
            <a:avLst/>
          </a:prstGeom>
          <a:noFill/>
        </p:spPr>
        <p:txBody>
          <a:bodyPr wrap="square">
            <a:spAutoFit/>
          </a:bodyPr>
          <a:lstStyle/>
          <a:p>
            <a:pPr marL="342900" indent="-342900">
              <a:buFont typeface="+mj-lt"/>
              <a:buAutoNum type="arabicPeriod"/>
            </a:pPr>
            <a:r>
              <a:rPr lang="en-US" dirty="0">
                <a:hlinkClick r:id="rId3"/>
              </a:rPr>
              <a:t>Russian Cryptography Legislation explained</a:t>
            </a:r>
            <a:endParaRPr lang="en-US" dirty="0"/>
          </a:p>
          <a:p>
            <a:pPr marL="342900" indent="-342900">
              <a:buFont typeface="+mj-lt"/>
              <a:buAutoNum type="arabicPeriod"/>
            </a:pPr>
            <a:r>
              <a:rPr lang="en-US" dirty="0">
                <a:hlinkClick r:id="rId4"/>
              </a:rPr>
              <a:t>Explaining 4 main Russian standards</a:t>
            </a:r>
            <a:endParaRPr lang="en-US" dirty="0">
              <a:hlinkClick r:id="rId5"/>
            </a:endParaRPr>
          </a:p>
          <a:p>
            <a:pPr marL="342900" indent="-342900">
              <a:buFont typeface="+mj-lt"/>
              <a:buAutoNum type="arabicPeriod"/>
            </a:pPr>
            <a:r>
              <a:rPr lang="en-US" dirty="0">
                <a:hlinkClick r:id="rId5"/>
              </a:rPr>
              <a:t>Using GOST for </a:t>
            </a:r>
            <a:r>
              <a:rPr lang="en-US" dirty="0" err="1">
                <a:hlinkClick r:id="rId5"/>
              </a:rPr>
              <a:t>Runet</a:t>
            </a:r>
            <a:r>
              <a:rPr lang="en-US" dirty="0">
                <a:hlinkClick r:id="rId5"/>
              </a:rPr>
              <a:t> websites</a:t>
            </a:r>
            <a:endParaRPr lang="ru-RU" dirty="0"/>
          </a:p>
          <a:p>
            <a:pPr marL="342900" indent="-342900">
              <a:buFont typeface="+mj-lt"/>
              <a:buAutoNum type="arabicPeriod"/>
            </a:pPr>
            <a:r>
              <a:rPr lang="en-US" dirty="0">
                <a:hlinkClick r:id="rId6"/>
              </a:rPr>
              <a:t>Explaining </a:t>
            </a:r>
            <a:r>
              <a:rPr lang="en-US" dirty="0" err="1">
                <a:hlinkClick r:id="rId6"/>
              </a:rPr>
              <a:t>Kuznechik</a:t>
            </a:r>
            <a:r>
              <a:rPr lang="en-US" dirty="0">
                <a:hlinkClick r:id="rId6"/>
              </a:rPr>
              <a:t> (Grasshopper) Algorithm</a:t>
            </a:r>
            <a:endParaRPr lang="ru-RU" dirty="0"/>
          </a:p>
          <a:p>
            <a:pPr marL="342900" indent="-342900">
              <a:buFont typeface="+mj-lt"/>
              <a:buAutoNum type="arabicPeriod"/>
            </a:pPr>
            <a:r>
              <a:rPr lang="en-US" dirty="0">
                <a:hlinkClick r:id="rId7"/>
              </a:rPr>
              <a:t>Article about SKZI</a:t>
            </a:r>
            <a:r>
              <a:rPr lang="en-US" dirty="0"/>
              <a:t> </a:t>
            </a:r>
            <a:endParaRPr lang="ru-RU" dirty="0"/>
          </a:p>
        </p:txBody>
      </p:sp>
      <p:sp>
        <p:nvSpPr>
          <p:cNvPr id="6" name="TextBox 5">
            <a:extLst>
              <a:ext uri="{FF2B5EF4-FFF2-40B4-BE49-F238E27FC236}">
                <a16:creationId xmlns:a16="http://schemas.microsoft.com/office/drawing/2014/main" id="{F33ED457-888C-413E-B17B-7BDBEC0DDACB}"/>
              </a:ext>
            </a:extLst>
          </p:cNvPr>
          <p:cNvSpPr txBox="1"/>
          <p:nvPr/>
        </p:nvSpPr>
        <p:spPr>
          <a:xfrm>
            <a:off x="838200" y="1325563"/>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dirty="0"/>
              <a:t>Articles:</a:t>
            </a:r>
            <a:endParaRPr kumimoji="0" lang="en-US" altLang="en-US" sz="1800" i="0" u="none" strike="noStrike" cap="none" normalizeH="0" baseline="0" dirty="0">
              <a:ln>
                <a:noFill/>
              </a:ln>
              <a:solidFill>
                <a:schemeClr val="tx1"/>
              </a:solidFill>
              <a:effectLst/>
            </a:endParaRPr>
          </a:p>
        </p:txBody>
      </p:sp>
      <p:sp>
        <p:nvSpPr>
          <p:cNvPr id="7" name="TextBox 6">
            <a:extLst>
              <a:ext uri="{FF2B5EF4-FFF2-40B4-BE49-F238E27FC236}">
                <a16:creationId xmlns:a16="http://schemas.microsoft.com/office/drawing/2014/main" id="{0C797543-5AF2-472B-8C56-5E406150BE43}"/>
              </a:ext>
            </a:extLst>
          </p:cNvPr>
          <p:cNvSpPr txBox="1"/>
          <p:nvPr/>
        </p:nvSpPr>
        <p:spPr>
          <a:xfrm>
            <a:off x="838200" y="3587720"/>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dirty="0"/>
              <a:t>Orders:</a:t>
            </a:r>
            <a:endParaRPr kumimoji="0" lang="en-US" altLang="en-US" sz="1800" i="0" u="none" strike="noStrike" cap="none" normalizeH="0" baseline="0" dirty="0">
              <a:ln>
                <a:noFill/>
              </a:ln>
              <a:solidFill>
                <a:schemeClr val="tx1"/>
              </a:solidFill>
              <a:effectLst/>
            </a:endParaRPr>
          </a:p>
        </p:txBody>
      </p:sp>
      <p:sp>
        <p:nvSpPr>
          <p:cNvPr id="9" name="TextBox 8">
            <a:extLst>
              <a:ext uri="{FF2B5EF4-FFF2-40B4-BE49-F238E27FC236}">
                <a16:creationId xmlns:a16="http://schemas.microsoft.com/office/drawing/2014/main" id="{BA8251CA-E5F1-431D-BAEE-F90D468E7536}"/>
              </a:ext>
            </a:extLst>
          </p:cNvPr>
          <p:cNvSpPr txBox="1"/>
          <p:nvPr/>
        </p:nvSpPr>
        <p:spPr>
          <a:xfrm>
            <a:off x="838200" y="3977273"/>
            <a:ext cx="11427372" cy="1477328"/>
          </a:xfrm>
          <a:prstGeom prst="rect">
            <a:avLst/>
          </a:prstGeom>
          <a:noFill/>
        </p:spPr>
        <p:txBody>
          <a:bodyPr wrap="square">
            <a:spAutoFit/>
          </a:body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i="0" u="none" strike="noStrike" cap="none" normalizeH="0" baseline="0" dirty="0">
                <a:ln>
                  <a:noFill/>
                </a:ln>
                <a:solidFill>
                  <a:schemeClr val="tx1"/>
                </a:solidFill>
                <a:effectLst/>
                <a:hlinkClick r:id="rId8"/>
              </a:rPr>
              <a:t>FSB Order № 66 </a:t>
            </a:r>
            <a:r>
              <a:rPr kumimoji="0" lang="en-US" altLang="en-US" i="0" u="none" strike="noStrike" cap="none" normalizeH="0" baseline="0" dirty="0">
                <a:ln>
                  <a:noFill/>
                </a:ln>
                <a:solidFill>
                  <a:schemeClr val="tx1"/>
                </a:solidFill>
                <a:effectLst/>
              </a:rPr>
              <a:t>(2005): Requirements for crypto developers and vendors.</a:t>
            </a:r>
            <a:endParaRPr kumimoji="0" lang="ru-RU" altLang="en-US"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i="0" u="none" strike="noStrike" cap="none" normalizeH="0" baseline="0" dirty="0">
                <a:ln>
                  <a:noFill/>
                </a:ln>
                <a:solidFill>
                  <a:schemeClr val="tx1"/>
                </a:solidFill>
                <a:effectLst/>
                <a:hlinkClick r:id="rId9"/>
              </a:rPr>
              <a:t>FAPSI Order № 152 </a:t>
            </a:r>
            <a:r>
              <a:rPr kumimoji="0" lang="en-US" altLang="en-US" i="0" u="none" strike="noStrike" cap="none" normalizeH="0" baseline="0" dirty="0">
                <a:ln>
                  <a:noFill/>
                </a:ln>
                <a:solidFill>
                  <a:schemeClr val="tx1"/>
                </a:solidFill>
                <a:effectLst/>
              </a:rPr>
              <a:t>(2001)</a:t>
            </a:r>
            <a:r>
              <a:rPr lang="en-US" altLang="en-US" dirty="0"/>
              <a:t>: (outdated) Instruction for using crypto tools for sensitive information.</a:t>
            </a:r>
            <a:endParaRPr kumimoji="0" lang="ru-RU" altLang="en-US"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i="0" u="none" strike="noStrike" cap="none" normalizeH="0" baseline="0" dirty="0">
                <a:ln>
                  <a:noFill/>
                </a:ln>
                <a:solidFill>
                  <a:schemeClr val="tx1"/>
                </a:solidFill>
                <a:effectLst/>
                <a:hlinkClick r:id="rId10"/>
              </a:rPr>
              <a:t>FSB Order № 378 </a:t>
            </a:r>
            <a:r>
              <a:rPr kumimoji="0" lang="en-US" altLang="en-US" i="0" u="none" strike="noStrike" cap="none" normalizeH="0" baseline="0" dirty="0">
                <a:ln>
                  <a:noFill/>
                </a:ln>
                <a:solidFill>
                  <a:schemeClr val="tx1"/>
                </a:solidFill>
                <a:effectLst/>
              </a:rPr>
              <a:t>(2014): Requirements for protecting personal data with cryptography.</a:t>
            </a:r>
            <a:endParaRPr kumimoji="0" lang="ru-RU" altLang="en-US"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i="0" u="none" strike="noStrike" cap="none" normalizeH="0" baseline="0" dirty="0">
                <a:ln>
                  <a:noFill/>
                </a:ln>
                <a:solidFill>
                  <a:schemeClr val="tx1"/>
                </a:solidFill>
                <a:effectLst/>
                <a:hlinkClick r:id="rId11"/>
              </a:rPr>
              <a:t>FSB Order № 524 </a:t>
            </a:r>
            <a:r>
              <a:rPr kumimoji="0" lang="en-US" altLang="en-US" i="0" u="none" strike="noStrike" cap="none" normalizeH="0" baseline="0" dirty="0">
                <a:ln>
                  <a:noFill/>
                </a:ln>
                <a:solidFill>
                  <a:schemeClr val="tx1"/>
                </a:solidFill>
                <a:effectLst/>
              </a:rPr>
              <a:t>(2022)</a:t>
            </a:r>
            <a:r>
              <a:rPr lang="en-US" altLang="en-US" dirty="0"/>
              <a:t>: Requirements for protecting information in government IS using certified encryption tools.</a:t>
            </a:r>
            <a:endParaRPr kumimoji="0" lang="ru-RU" altLang="en-US"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i="0" u="none" strike="noStrike" cap="none" normalizeH="0" baseline="0" dirty="0">
                <a:ln>
                  <a:noFill/>
                </a:ln>
                <a:solidFill>
                  <a:schemeClr val="tx1"/>
                </a:solidFill>
                <a:effectLst/>
                <a:hlinkClick r:id="rId12"/>
              </a:rPr>
              <a:t>FSB Order № 117 </a:t>
            </a:r>
            <a:r>
              <a:rPr kumimoji="0" lang="en-US" altLang="en-US" i="0" u="none" strike="noStrike" cap="none" normalizeH="0" baseline="0" dirty="0">
                <a:ln>
                  <a:noFill/>
                </a:ln>
                <a:solidFill>
                  <a:schemeClr val="tx1"/>
                </a:solidFill>
                <a:effectLst/>
              </a:rPr>
              <a:t>(2025): replacement for Order 524. Expands the scope of mandatory encryption.</a:t>
            </a:r>
          </a:p>
        </p:txBody>
      </p:sp>
      <p:sp>
        <p:nvSpPr>
          <p:cNvPr id="10" name="TextBox 9">
            <a:extLst>
              <a:ext uri="{FF2B5EF4-FFF2-40B4-BE49-F238E27FC236}">
                <a16:creationId xmlns:a16="http://schemas.microsoft.com/office/drawing/2014/main" id="{5E137CFA-0840-44AB-9D15-7A6ED656CB24}"/>
              </a:ext>
            </a:extLst>
          </p:cNvPr>
          <p:cNvSpPr txBox="1"/>
          <p:nvPr/>
        </p:nvSpPr>
        <p:spPr>
          <a:xfrm>
            <a:off x="7470228" y="1325563"/>
            <a:ext cx="252511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dirty="0"/>
              <a:t>Other materials:</a:t>
            </a:r>
            <a:endParaRPr kumimoji="0" lang="en-US" altLang="en-US" sz="1800" i="0" u="none" strike="noStrike" cap="none" normalizeH="0" baseline="0" dirty="0">
              <a:ln>
                <a:noFill/>
              </a:ln>
              <a:solidFill>
                <a:schemeClr val="tx1"/>
              </a:solidFill>
              <a:effectLst/>
            </a:endParaRPr>
          </a:p>
        </p:txBody>
      </p:sp>
      <p:sp>
        <p:nvSpPr>
          <p:cNvPr id="12" name="TextBox 11">
            <a:extLst>
              <a:ext uri="{FF2B5EF4-FFF2-40B4-BE49-F238E27FC236}">
                <a16:creationId xmlns:a16="http://schemas.microsoft.com/office/drawing/2014/main" id="{F97F00F6-76B5-497E-B4CE-CFD3AFB0C6F3}"/>
              </a:ext>
            </a:extLst>
          </p:cNvPr>
          <p:cNvSpPr txBox="1"/>
          <p:nvPr/>
        </p:nvSpPr>
        <p:spPr>
          <a:xfrm>
            <a:off x="7470228" y="1694895"/>
            <a:ext cx="3883572" cy="1754326"/>
          </a:xfrm>
          <a:prstGeom prst="rect">
            <a:avLst/>
          </a:prstGeom>
          <a:noFill/>
        </p:spPr>
        <p:txBody>
          <a:bodyPr wrap="square">
            <a:spAutoFit/>
          </a:bodyPr>
          <a:lstStyle/>
          <a:p>
            <a:pPr marL="342900" indent="-342900">
              <a:buFont typeface="+mj-lt"/>
              <a:buAutoNum type="arabicPeriod"/>
            </a:pPr>
            <a:r>
              <a:rPr lang="en-US" dirty="0">
                <a:hlinkClick r:id="rId13"/>
              </a:rPr>
              <a:t>Federal law 149</a:t>
            </a:r>
            <a:endParaRPr lang="en-US" dirty="0"/>
          </a:p>
          <a:p>
            <a:pPr marL="342900" indent="-342900">
              <a:buFont typeface="+mj-lt"/>
              <a:buAutoNum type="arabicPeriod"/>
            </a:pPr>
            <a:r>
              <a:rPr lang="en-US" dirty="0">
                <a:hlinkClick r:id="rId14"/>
              </a:rPr>
              <a:t>Decree 313</a:t>
            </a:r>
            <a:endParaRPr lang="en-US" dirty="0"/>
          </a:p>
          <a:p>
            <a:pPr marL="342900" indent="-342900">
              <a:buFont typeface="+mj-lt"/>
              <a:buAutoNum type="arabicPeriod"/>
            </a:pPr>
            <a:r>
              <a:rPr lang="en-US" dirty="0">
                <a:hlinkClick r:id="rId15"/>
              </a:rPr>
              <a:t>Import/export rules</a:t>
            </a:r>
            <a:endParaRPr lang="en-US" dirty="0"/>
          </a:p>
          <a:p>
            <a:pPr marL="342900" indent="-342900">
              <a:buFont typeface="+mj-lt"/>
              <a:buAutoNum type="arabicPeriod"/>
            </a:pPr>
            <a:r>
              <a:rPr lang="en-US" dirty="0">
                <a:hlinkClick r:id="rId16"/>
              </a:rPr>
              <a:t>GOST Python library</a:t>
            </a:r>
            <a:endParaRPr lang="en-US" dirty="0"/>
          </a:p>
          <a:p>
            <a:pPr marL="342900" indent="-342900">
              <a:buFont typeface="+mj-lt"/>
              <a:buAutoNum type="arabicPeriod"/>
            </a:pPr>
            <a:r>
              <a:rPr lang="en-US" dirty="0">
                <a:hlinkClick r:id="rId17"/>
              </a:rPr>
              <a:t>Biggest Crypto Vendor in Russia</a:t>
            </a:r>
            <a:endParaRPr lang="en-US" dirty="0"/>
          </a:p>
          <a:p>
            <a:pPr marL="342900" indent="-342900">
              <a:buFont typeface="+mj-lt"/>
              <a:buAutoNum type="arabicPeriod"/>
            </a:pPr>
            <a:r>
              <a:rPr lang="en-US" dirty="0">
                <a:hlinkClick r:id="rId18"/>
              </a:rPr>
              <a:t>Tc26 standards</a:t>
            </a:r>
            <a:endParaRPr lang="en-US" dirty="0">
              <a:hlinkClick r:id="rId14"/>
            </a:endParaRPr>
          </a:p>
        </p:txBody>
      </p:sp>
      <p:sp>
        <p:nvSpPr>
          <p:cNvPr id="2" name="Номер слайда 1">
            <a:extLst>
              <a:ext uri="{FF2B5EF4-FFF2-40B4-BE49-F238E27FC236}">
                <a16:creationId xmlns:a16="http://schemas.microsoft.com/office/drawing/2014/main" id="{317B036D-3F5A-4670-9BB7-65ACC0B0C2FE}"/>
              </a:ext>
            </a:extLst>
          </p:cNvPr>
          <p:cNvSpPr>
            <a:spLocks noGrp="1"/>
          </p:cNvSpPr>
          <p:nvPr>
            <p:ph type="sldNum" sz="quarter" idx="12"/>
          </p:nvPr>
        </p:nvSpPr>
        <p:spPr/>
        <p:txBody>
          <a:bodyPr/>
          <a:lstStyle/>
          <a:p>
            <a:fld id="{14DDCE2C-1EAC-4FD7-9FCA-CDAC6ED86490}" type="slidenum">
              <a:rPr lang="en-US" smtClean="0"/>
              <a:t>15</a:t>
            </a:fld>
            <a:endParaRPr lang="en-US"/>
          </a:p>
        </p:txBody>
      </p:sp>
    </p:spTree>
    <p:extLst>
      <p:ext uri="{BB962C8B-B14F-4D97-AF65-F5344CB8AC3E}">
        <p14:creationId xmlns:p14="http://schemas.microsoft.com/office/powerpoint/2010/main" val="2400709505"/>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2425</TotalTime>
  <Words>4346</Words>
  <Application>Microsoft Office PowerPoint</Application>
  <PresentationFormat>Широкоэкранный</PresentationFormat>
  <Paragraphs>327</Paragraphs>
  <Slides>15</Slides>
  <Notes>15</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15</vt:i4>
      </vt:variant>
    </vt:vector>
  </HeadingPairs>
  <TitlesOfParts>
    <vt:vector size="20" baseType="lpstr">
      <vt:lpstr>Arial</vt:lpstr>
      <vt:lpstr>Calibri</vt:lpstr>
      <vt:lpstr>Calibri Light</vt:lpstr>
      <vt:lpstr>Cambria Math</vt:lpstr>
      <vt:lpstr>Тема Office</vt:lpstr>
      <vt:lpstr>Russian Cryptography: Laws, Standards and Algorithms</vt:lpstr>
      <vt:lpstr>Contents</vt:lpstr>
      <vt:lpstr>Introduction</vt:lpstr>
      <vt:lpstr>Legal Framework in Russia</vt:lpstr>
      <vt:lpstr>Key Regulatory Bodies and Organizations</vt:lpstr>
      <vt:lpstr>FSB Orders Regulating Cryptography</vt:lpstr>
      <vt:lpstr>Domestic Cryptographic Standards</vt:lpstr>
      <vt:lpstr>Domestic Cryptographic Algorithms</vt:lpstr>
      <vt:lpstr>Kuznechik - close look</vt:lpstr>
      <vt:lpstr>3 “Hops” of Kuznechik</vt:lpstr>
      <vt:lpstr>SKZI vendor responsibilities</vt:lpstr>
      <vt:lpstr>Mapping table – laws, standards, etc.</vt:lpstr>
      <vt:lpstr>Mapping table - Algorithms</vt:lpstr>
      <vt:lpstr>Q&amp;A</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and overview of Russian Information Security Law and Policies</dc:title>
  <dc:creator>Thinkpad</dc:creator>
  <cp:lastModifiedBy>Thinkpad</cp:lastModifiedBy>
  <cp:revision>437</cp:revision>
  <dcterms:created xsi:type="dcterms:W3CDTF">2025-03-04T05:29:58Z</dcterms:created>
  <dcterms:modified xsi:type="dcterms:W3CDTF">2025-07-12T12:23:01Z</dcterms:modified>
</cp:coreProperties>
</file>